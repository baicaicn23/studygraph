
<file path=[Content_Types].xml><?xml version="1.0" encoding="utf-8"?>
<Types xmlns="http://schemas.openxmlformats.org/package/2006/content-types">
  <Default Extension="png" ContentType="image/png"/>
  <Default Extension="xml" ContentType="application/xml"/>
  <Default Extension="rels" ContentType="application/vnd.openxmlformats-package.relationships+xml"/>
  <Override PartName="/docProps/custom.xml" ContentType="application/vnd.openxmlformats-officedocument.custom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theme/theme2.xml" ContentType="application/vnd.openxmlformats-officedocument.them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officeDocument/2006/relationships/custom-properties" Target="docProps/custom.xml" /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r="http://schemas.openxmlformats.org/officeDocument/2006/relationships" xmlns:p="http://schemas.openxmlformats.org/presentationml/2006/main" xmlns:a="http://schemas.openxmlformats.org/drawingml/2006/main" firstSlideNum="1">
  <p:sldMasterIdLst>
    <p:sldMasterId id="2147483648" r:id="rId0"/>
  </p:sldMasterIdLst>
  <p:notesMasterIdLst>
    <p:notesMasterId r:id="rId12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9" Type="http://schemas.openxmlformats.org/officeDocument/2006/relationships/slide" Target="slides/slide9.xml" /><Relationship Id="rId8" Type="http://schemas.openxmlformats.org/officeDocument/2006/relationships/slide" Target="slides/slide8.xml" /><Relationship Id="rId7" Type="http://schemas.openxmlformats.org/officeDocument/2006/relationships/slide" Target="slides/slide7.xml" /><Relationship Id="rId6" Type="http://schemas.openxmlformats.org/officeDocument/2006/relationships/slide" Target="slides/slide6.xml" /><Relationship Id="rId5" Type="http://schemas.openxmlformats.org/officeDocument/2006/relationships/slide" Target="slides/slide5.xml" /><Relationship Id="rId4" Type="http://schemas.openxmlformats.org/officeDocument/2006/relationships/slide" Target="slides/slide4.xml" /><Relationship Id="rId15" Type="http://schemas.openxmlformats.org/officeDocument/2006/relationships/viewProps" Target="viewProps.xml" /><Relationship Id="rId13" Type="http://schemas.openxmlformats.org/officeDocument/2006/relationships/presProps" Target="presProps.xml" /><Relationship Id="rId12" Type="http://schemas.openxmlformats.org/officeDocument/2006/relationships/notesMaster" Target="notesMasters/notesMaster1.xml" /><Relationship Id="rId11" Type="http://schemas.openxmlformats.org/officeDocument/2006/relationships/slide" Target="slides/slide11.xml" /><Relationship Id="rId3" Type="http://schemas.openxmlformats.org/officeDocument/2006/relationships/slide" Target="slides/slide3.xml" /><Relationship Id="rId1" Type="http://schemas.openxmlformats.org/officeDocument/2006/relationships/slide" Target="slides/slide1.xml" /><Relationship Id="rId2" Type="http://schemas.openxmlformats.org/officeDocument/2006/relationships/slide" Target="slides/slide2.xml" /><Relationship Id="rId14" Type="http://schemas.openxmlformats.org/officeDocument/2006/relationships/tableStyles" Target="tableStyles.xml" /><Relationship Id="rId10" Type="http://schemas.openxmlformats.org/officeDocument/2006/relationships/slide" Target="slides/slide10.xml" /><Relationship Id="rId0" Type="http://schemas.openxmlformats.org/officeDocument/2006/relationships/slideMaster" Target="slideMasters/slideMaster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r="http://schemas.openxmlformats.org/officeDocument/2006/relationships"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 width: 1280, height: 720, background: '#0E3F8C', padding: 0, position: 'relative', overflow: 'hidden', fontFamily: 'PingFang SC' }}&gt;&#10;&#10;  &lt;Box style={{ position: 'absolute', top: 0, left: 0, width: 1280, height: 6, background: '#3D7BD9' }} /&gt;&#10;&#10;  &lt;Box style={{ position: 'absolute', left: 76, top: 92, width: 640, flexDirection: 'column' }}&gt;&#10;&#10;    &lt;Text style={{ fontSize: 15, color: '#8FB2E0', letterSpacing: 1.2 }}&gt;&#10;      全国大学生数字媒体科技作品及创意竞赛 · 赛道十三 · 智慧教育与智能软件类&#10;    &lt;/Text&gt;&#10;&#10;    &lt;Text style={{ fontSize: 96, fontWeight: 'bold', color: '#FFFFFF', letterSpacing: 8, marginTop: 14 }}&gt;&#10;      知迹&#10;    &lt;/Text&gt;&#10;&#10;    &lt;Text style={{ fontSize: 24, color: '#FFFFFF', letterSpacing: 0.6, marginTop: 10 }}&gt;&#10;      面向大学生的 AI 学习私教与智能复习系统&#10;    &lt;/Text&gt;&#10;&#10;    &lt;Box style={{ width: 96, height: 2, background: '#3D7BD9', marginTop: 20 }} /&gt;&#10;&#10;    &lt;Text style={{ fontSize: 15.5, color: '#B9CCE8', marginTop: 20, lineHeight: 1.75 }}&gt;&#10;      核心命题：把一次学习回合做成一张可恢复、可拦截、可度量的状态图——而不是一个不可控的聊天框。&#10;    &lt;/Text&gt;&#10;&#10;    &lt;Text style={{ fontSize: 13.5, color: '#8FB2E0', marginTop: 24, lineHeight: 1.8 }}&gt;&#10;      技术栈　Python 3.12 · LangGraph · FastAPI + SSE&#10;      &lt;br /&gt;&#10;      　　　　　SQLite（FTS5 + 向量）· Next.js 16 · React 19 · MCP&#10;    &lt;/Text&gt;&#10;&#10;  &lt;/Box&gt;&#10;&#10;  &lt;Box style={{ position: 'absolute', left: 764, top: 92, width: 440, height: 356, background: 'rgba(255, 255, 255, 0.07)', borderRadius: 8, padding: 22, flexDirection: 'column' }}&gt;&#10;&#10;    &lt;Text style={{ fontSize: 14, color: '#8FB2E0', letterSpacing: 1.2 }}&gt;本次汇报回答三个问题&lt;/Text&gt;&#10;&#10;    &lt;Box style={{ flexDirection: 'column', marginTop: 18, gap: 20 }}&gt;&#10;&#10;      &lt;Box style={{ flexDirection: 'row', gap: 12 }}&gt;&#10;        &lt;Text style={{ fontSize: 20, fontWeight: 'bold', color: '#3D7BD9', width: 24 }}&gt;01&lt;/Text&gt;&#10;        &lt;Text style={{ fontSize: 15, color: '#FFFFFF', lineHeight: 1.6, width: 340 }}&gt;它解决的是什么问题？为什么值得做？&lt;/Text&gt;&#10;      &lt;/Box&gt;&#10;&#10;      &lt;Box style={{ flexDirection: 'row', gap: 12 }}&gt;&#10;        &lt;Text style={{ fontSize: 20, fontWeight: 'bold', color: '#3D7BD9', width: 24 }}&gt;02&lt;/Text&gt;&#10;        &lt;Text style={{ fontSize: 15, color: '#FFFFFF', lineHeight: 1.6, width: 340 }}&gt;怎么保证它不失控、不乱改数据？&lt;/Text&gt;&#10;      &lt;/Box&gt;&#10;&#10;      &lt;Box style={{ flexDirection: 'row', gap: 12 }}&gt;&#10;        &lt;Text style={{ fontSize: 20, fontWeight: 'bold', color: '#3D7BD9', width: 24 }}&gt;03&lt;/Text&gt;&#10;        &lt;Text style={{ fontSize: 15, color: '#FFFFFF', lineHeight: 1.6, width: 340 }}&gt;做到了哪一步？哪些还没做到？&lt;/Text&gt;&#10;      &lt;/Box&gt;&#10;&#10;    &lt;/Box&gt;&#10;&#10;    &lt;Text style={{ fontSize: 13, color: '#8FB2E0', lineHeight: 1.7, marginTop: 18 }}&gt;&#10;      全文结论先行：第 2 页给出三条结论，后续每页只负责证明其中一条。&#10;    &lt;/Text&gt;&#10;&#10;  &lt;/Box&gt;&#10;&#10;  &lt;Box style={{ position: 'absolute', left: 76, top: 504, width: 1128, height: 104, flexDirection: 'row', alignItems: 'center', borderTop: '1px solid rgba(255, 255, 255, 0.18)', paddingTop: 16 }}&gt;&#10;&#10;    &lt;Box style={{ width: 262, flexDirection: 'column' }}&gt;&#10;      &lt;Text style={{ fontSize: 30, fontWeight: 'bold', color: '#FFFFFF', lineHeight: 1 }}&gt;284&lt;/Text&gt;&#10;      &lt;Text style={{ fontSize: 13, color: '#B9CCE8', marginTop: 6 }}&gt;自动化测试（离线）&lt;/Text&gt;&#10;    &lt;/Box&gt;&#10;&#10;    &lt;Box style={{ width: 262, flexDirection: 'column' }}&gt;&#10;      &lt;Text style={{ fontSize: 30, fontWeight: 'bold', color: '#FFFFFF', lineHeight: 1 }}&gt;35&lt;/Text&gt;&#10;      &lt;Text style={{ fontSize: 13, color: '#B9CCE8', marginTop: 6 }}&gt;检索评测题（21 篇语料）&lt;/Text&gt;&#10;    &lt;/Box&gt;&#10;&#10;    &lt;Box style={{ width: 262, flexDirection: 'column' }}&gt;&#10;      &lt;Text style={{ fontSize: 30, fontWeight: 'bold', color: '#FFFFFF', lineHeight: 1 }}&gt;7&lt;/Text&gt;&#10;      &lt;Text style={{ fontSize: 13, color: '#B9CCE8', marginTop: 6 }}&gt;功能页面（全部可用）&lt;/Text&gt;&#10;    &lt;/Box&gt;&#10;&#10;    &lt;Box style={{ width: 262, flexDirection: 'column' }}&gt;&#10;      &lt;Text style={{ fontSize: 30, fontWeight: 'bold', color: '#FFFFFF', lineHeight: 1 }}&gt;1&lt;/Text&gt;&#10;      &lt;Text style={{ fontSize: 13, color: '#B9CCE8', marginTop: 6 }}&gt;个 SQLite 文件承载全部数据&lt;/Text&gt;&#10;    &lt;/Box&gt;&#10;&#10;  &lt;/Box&gt;&#10;&#10;  &lt;Box style={{ position: 'absolute', bottom: 0, left: 0, width: 1280, height: 56, background: 'rgba(255, 255, 255, 0.07)', flexDirection: 'row', alignItems: 'center', justifyContent: 'space-between', paddingLeft: 76, paddingRight: 76 }}&gt;&#10;    &lt;Text style={{ fontSize: 14, color: '#C9D8EF' }}&gt;汇报人：项目团队　|　指导教师：待填&lt;/Text&gt;&#10;    &lt;Text style={{ fontSize: 14, color: '#C9D8EF' }}&gt;2026 年 10 月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571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723900" y="876300"/>
            <a:ext cx="6096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90">
                <a:solidFill>
                  <a:srgbClr val="8FB2E0"/>
                </a:solidFill>
                <a:latin typeface="PingFang SC"/>
                <a:ea typeface="PingFang SC"/>
              </a:rPr>
              <a:t>全国大学生数字媒体科技作品及创意竞赛</a:t>
            </a:r>
            <a:r>
              <a:rPr lang="en-US" sz="1125" spc="90">
                <a:solidFill>
                  <a:srgbClr val="8FB2E0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90">
                <a:solidFill>
                  <a:srgbClr val="8FB2E0"/>
                </a:solidFill>
                <a:latin typeface="PingFang SC"/>
                <a:ea typeface="PingFang SC"/>
              </a:rPr>
              <a:t>赛道十三</a:t>
            </a:r>
            <a:r>
              <a:rPr lang="en-US" sz="1125" spc="90">
                <a:solidFill>
                  <a:srgbClr val="8FB2E0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90">
                <a:solidFill>
                  <a:srgbClr val="8FB2E0"/>
                </a:solidFill>
                <a:latin typeface="PingFang SC"/>
                <a:ea typeface="PingFang SC"/>
              </a:rPr>
              <a:t>智慧教育与智能软件类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723900" y="1181100"/>
            <a:ext cx="6096000" cy="1104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200" b="1" spc="600">
                <a:solidFill>
                  <a:srgbClr val="FFFFFF"/>
                </a:solidFill>
                <a:latin typeface="PingFang SC"/>
                <a:ea typeface="PingFang SC"/>
              </a:rPr>
              <a:t>知迹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723900" y="2381250"/>
            <a:ext cx="60960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spc="45">
                <a:solidFill>
                  <a:srgbClr val="FFFFFF"/>
                </a:solidFill>
                <a:latin typeface="PingFang SC"/>
                <a:ea typeface="PingFang SC"/>
              </a:rPr>
              <a:t>面向大学生的</a:t>
            </a:r>
            <a:r>
              <a:rPr lang="en-US" sz="1800" spc="45">
                <a:solidFill>
                  <a:srgbClr val="FFFFFF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1800" spc="45">
                <a:solidFill>
                  <a:srgbClr val="FFFFFF"/>
                </a:solidFill>
                <a:latin typeface="PingFang SC"/>
                <a:ea typeface="PingFang SC"/>
              </a:rPr>
              <a:t>学习私教与智能复习系统</a:t>
            </a:r>
            <a:endParaRPr/>
          </a:p>
        </p:txBody>
      </p:sp>
      <p:sp>
        <p:nvSpPr>
          <p:cNvPr id="7" name=""/>
          <p:cNvSpPr/>
          <p:nvPr/>
        </p:nvSpPr>
        <p:spPr>
          <a:xfrm rot="0" flipH="0" flipV="0">
            <a:off x="723900" y="2847975"/>
            <a:ext cx="9144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723900" y="3057525"/>
            <a:ext cx="609600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163">
                <a:solidFill>
                  <a:srgbClr val="B9CCE8"/>
                </a:solidFill>
                <a:latin typeface="PingFang SC"/>
                <a:ea typeface="PingFang SC"/>
              </a:rPr>
              <a:t>核心命题：把一次学习回合做成一张可恢复、可拦截、可度量的状态图——而不是一个不可控的聊天框。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23900" y="3914775"/>
            <a:ext cx="6096000" cy="5619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13">
                <a:solidFill>
                  <a:srgbClr val="8FB2E0"/>
                </a:solidFill>
                <a:latin typeface="PingFang SC"/>
                <a:ea typeface="PingFang SC"/>
              </a:rPr>
              <a:t>技术栈　</a:t>
            </a:r>
            <a:r>
              <a:rPr lang="en-US" sz="1013">
                <a:solidFill>
                  <a:srgbClr val="8FB2E0"/>
                </a:solidFill>
                <a:latin typeface="PingFang SC"/>
                <a:ea typeface="PingFang SC"/>
              </a:rPr>
              <a:t>Python 3.12 · LangGraph · FastAPI + SSE</a:t>
            </a:r>
            <a:endParaRPr/>
          </a:p>
          <a:p>
            <a:pPr>
              <a:lnSpc>
                <a:spcPct val="180000"/>
              </a:lnSpc>
            </a:pPr>
            <a:r>
              <a:rPr lang="zh-CN" sz="1013">
                <a:solidFill>
                  <a:srgbClr val="8FB2E0"/>
                </a:solidFill>
                <a:latin typeface="PingFang SC"/>
                <a:ea typeface="PingFang SC"/>
              </a:rPr>
              <a:t>　　　　　</a:t>
            </a:r>
            <a:r>
              <a:rPr lang="en-US" sz="1013">
                <a:solidFill>
                  <a:srgbClr val="8FB2E0"/>
                </a:solidFill>
                <a:latin typeface="PingFang SC"/>
                <a:ea typeface="PingFang SC"/>
              </a:rPr>
              <a:t>SQLite</a:t>
            </a:r>
            <a:r>
              <a:rPr lang="zh-CN" sz="1013">
                <a:solidFill>
                  <a:srgbClr val="8FB2E0"/>
                </a:solidFill>
                <a:latin typeface="PingFang SC"/>
                <a:ea typeface="PingFang SC"/>
              </a:rPr>
              <a:t>（</a:t>
            </a:r>
            <a:r>
              <a:rPr lang="en-US" sz="1013">
                <a:solidFill>
                  <a:srgbClr val="8FB2E0"/>
                </a:solidFill>
                <a:latin typeface="PingFang SC"/>
                <a:ea typeface="PingFang SC"/>
              </a:rPr>
              <a:t xml:space="preserve">FTS5 + </a:t>
            </a:r>
            <a:r>
              <a:rPr lang="zh-CN" sz="1013">
                <a:solidFill>
                  <a:srgbClr val="8FB2E0"/>
                </a:solidFill>
                <a:latin typeface="PingFang SC"/>
                <a:ea typeface="PingFang SC"/>
              </a:rPr>
              <a:t>向量）·</a:t>
            </a:r>
            <a:r>
              <a:rPr lang="en-US" sz="1013">
                <a:solidFill>
                  <a:srgbClr val="8FB2E0"/>
                </a:solidFill>
                <a:latin typeface="PingFang SC"/>
                <a:ea typeface="PingFang SC"/>
              </a:rPr>
              <a:t xml:space="preserve"> Next.js 16 · React 19 · MCP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7277100" y="876300"/>
            <a:ext cx="4191000" cy="3390900"/>
          </a:xfrm>
          <a:prstGeom prst="roundRect">
            <a:avLst>
              <a:gd name="adj" fmla="val 2247"/>
            </a:avLst>
          </a:prstGeom>
          <a:solidFill>
            <a:srgbClr val="FFFFFF">
              <a:alpha val="7000"/>
            </a:srgbClr>
          </a:solidFill>
          <a:ln/>
        </p:spPr>
        <p:txBody>
          <a:bodyPr/>
          <a:p/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7486650" y="1085850"/>
            <a:ext cx="3771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90">
                <a:solidFill>
                  <a:srgbClr val="8FB2E0"/>
                </a:solidFill>
                <a:latin typeface="PingFang SC"/>
                <a:ea typeface="PingFang SC"/>
              </a:rPr>
              <a:t>本次汇报回答三个问题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486650" y="1419225"/>
            <a:ext cx="2286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3D7BD9"/>
                </a:solidFill>
                <a:latin typeface="PingFang SC"/>
                <a:ea typeface="PingFang SC"/>
              </a:rPr>
              <a:t>01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7829550" y="1419225"/>
            <a:ext cx="323850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FFFFFF"/>
                </a:solidFill>
                <a:latin typeface="PingFang SC"/>
                <a:ea typeface="PingFang SC"/>
              </a:rPr>
              <a:t>它解决的是什么问题？为什么值得做？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7486650" y="1885950"/>
            <a:ext cx="2286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3D7BD9"/>
                </a:solidFill>
                <a:latin typeface="PingFang SC"/>
                <a:ea typeface="PingFang SC"/>
              </a:rPr>
              <a:t>02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7829550" y="1885950"/>
            <a:ext cx="323850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FFFFFF"/>
                </a:solidFill>
                <a:latin typeface="PingFang SC"/>
                <a:ea typeface="PingFang SC"/>
              </a:rPr>
              <a:t>怎么保证它不失控、不乱改数据？</a:t>
            </a:r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7486650" y="2352675"/>
            <a:ext cx="2286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3D7BD9"/>
                </a:solidFill>
                <a:latin typeface="PingFang SC"/>
                <a:ea typeface="PingFang SC"/>
              </a:rPr>
              <a:t>03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7829550" y="2352675"/>
            <a:ext cx="323850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FFFFFF"/>
                </a:solidFill>
                <a:latin typeface="PingFang SC"/>
                <a:ea typeface="PingFang SC"/>
              </a:rPr>
              <a:t>做到了哪一步？哪些还没做到？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486650" y="2800350"/>
            <a:ext cx="37719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75">
                <a:solidFill>
                  <a:srgbClr val="8FB2E0"/>
                </a:solidFill>
                <a:latin typeface="PingFang SC"/>
                <a:ea typeface="PingFang SC"/>
              </a:rPr>
              <a:t>全文结论先行：第</a:t>
            </a:r>
            <a:r>
              <a:rPr lang="en-US" sz="975">
                <a:solidFill>
                  <a:srgbClr val="8FB2E0"/>
                </a:solidFill>
                <a:latin typeface="PingFang SC"/>
                <a:ea typeface="PingFang SC"/>
              </a:rPr>
              <a:t xml:space="preserve"> 2 </a:t>
            </a:r>
            <a:r>
              <a:rPr lang="zh-CN" sz="975">
                <a:solidFill>
                  <a:srgbClr val="8FB2E0"/>
                </a:solidFill>
                <a:latin typeface="PingFang SC"/>
                <a:ea typeface="PingFang SC"/>
              </a:rPr>
              <a:t>页给出三条结论，后续每页只负责证明其中一条。</a:t>
            </a:r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723900" y="4800600"/>
            <a:ext cx="10744200" cy="990600"/>
          </a:xfrm>
          <a:custGeom>
            <a:pathLst>
              <a:path w="1128" h="104">
                <a:moveTo>
                  <a:pt x="0" y="0"/>
                </a:moveTo>
                <a:lnTo>
                  <a:pt x="1128" y="0"/>
                </a:lnTo>
                <a:lnTo>
                  <a:pt x="1128" y="1"/>
                </a:lnTo>
                <a:lnTo>
                  <a:pt x="0" y="1"/>
                </a:lnTo>
                <a:close/>
              </a:path>
            </a:pathLst>
          </a:custGeom>
          <a:solidFill>
            <a:srgbClr val="FFFFFF">
              <a:alpha val="18000"/>
            </a:srgbClr>
          </a:solidFill>
          <a:ln/>
        </p:spPr>
        <p:txBody>
          <a:bodyPr/>
          <a:p/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723900" y="5105400"/>
            <a:ext cx="24955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FFFF"/>
                </a:solidFill>
                <a:latin typeface="PingFang SC"/>
                <a:ea typeface="PingFang SC"/>
              </a:rPr>
              <a:t>284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723900" y="5505450"/>
            <a:ext cx="2495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B9CCE8"/>
                </a:solidFill>
                <a:latin typeface="PingFang SC"/>
                <a:ea typeface="PingFang SC"/>
              </a:rPr>
              <a:t>自动化测试（离线）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3219450" y="5105400"/>
            <a:ext cx="24955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FFFF"/>
                </a:solidFill>
                <a:latin typeface="PingFang SC"/>
                <a:ea typeface="PingFang SC"/>
              </a:rPr>
              <a:t>35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3219450" y="5505450"/>
            <a:ext cx="2495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B9CCE8"/>
                </a:solidFill>
                <a:latin typeface="PingFang SC"/>
                <a:ea typeface="PingFang SC"/>
              </a:rPr>
              <a:t>检索评测题（</a:t>
            </a:r>
            <a:r>
              <a:rPr lang="en-US" sz="975">
                <a:solidFill>
                  <a:srgbClr val="B9CCE8"/>
                </a:solidFill>
                <a:latin typeface="PingFang SC"/>
                <a:ea typeface="PingFang SC"/>
              </a:rPr>
              <a:t xml:space="preserve">21 </a:t>
            </a:r>
            <a:r>
              <a:rPr lang="zh-CN" sz="975">
                <a:solidFill>
                  <a:srgbClr val="B9CCE8"/>
                </a:solidFill>
                <a:latin typeface="PingFang SC"/>
                <a:ea typeface="PingFang SC"/>
              </a:rPr>
              <a:t>篇语料）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5715000" y="5105400"/>
            <a:ext cx="24955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FFFF"/>
                </a:solidFill>
                <a:latin typeface="PingFang SC"/>
                <a:ea typeface="PingFang SC"/>
              </a:rPr>
              <a:t>7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5715000" y="5505450"/>
            <a:ext cx="2495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B9CCE8"/>
                </a:solidFill>
                <a:latin typeface="PingFang SC"/>
                <a:ea typeface="PingFang SC"/>
              </a:rPr>
              <a:t>功能页面（全部可用）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8210550" y="5105400"/>
            <a:ext cx="24955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FFFF"/>
                </a:solidFill>
                <a:latin typeface="PingFang SC"/>
                <a:ea typeface="PingFang SC"/>
              </a:rPr>
              <a:t>1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8210550" y="5505450"/>
            <a:ext cx="2495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B9CCE8"/>
                </a:solidFill>
                <a:latin typeface="PingFang SC"/>
                <a:ea typeface="PingFang SC"/>
              </a:rPr>
              <a:t>个</a:t>
            </a:r>
            <a:r>
              <a:rPr lang="en-US" sz="975">
                <a:solidFill>
                  <a:srgbClr val="B9CCE8"/>
                </a:solidFill>
                <a:latin typeface="PingFang SC"/>
                <a:ea typeface="PingFang SC"/>
              </a:rPr>
              <a:t xml:space="preserve"> SQLite </a:t>
            </a:r>
            <a:r>
              <a:rPr lang="zh-CN" sz="975">
                <a:solidFill>
                  <a:srgbClr val="B9CCE8"/>
                </a:solidFill>
                <a:latin typeface="PingFang SC"/>
                <a:ea typeface="PingFang SC"/>
              </a:rPr>
              <a:t>文件承载全部数据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  <p:txBody>
          <a:bodyPr/>
          <a:p/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723900" y="6515100"/>
            <a:ext cx="2295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C9D8EF"/>
                </a:solidFill>
                <a:latin typeface="PingFang SC"/>
                <a:ea typeface="PingFang SC"/>
              </a:rPr>
              <a:t>汇报人：项目团队　</a:t>
            </a:r>
            <a:r>
              <a:rPr lang="en-US" sz="1050">
                <a:solidFill>
                  <a:srgbClr val="C9D8EF"/>
                </a:solidFill>
                <a:latin typeface="PingFang SC"/>
                <a:ea typeface="PingFang SC"/>
              </a:rPr>
              <a:t>|</a:t>
            </a:r>
            <a:r>
              <a:rPr lang="zh-CN" sz="1050">
                <a:solidFill>
                  <a:srgbClr val="C9D8EF"/>
                </a:solidFill>
                <a:latin typeface="PingFang SC"/>
                <a:ea typeface="PingFang SC"/>
              </a:rPr>
              <a:t>　指导教师：待填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10610850" y="6515100"/>
            <a:ext cx="857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C9D8EF"/>
                </a:solidFill>
                <a:latin typeface="PingFang SC"/>
                <a:ea typeface="PingFang SC"/>
              </a:rPr>
              <a:t xml:space="preserve">2026 </a:t>
            </a:r>
            <a:r>
              <a:rPr lang="zh-CN" sz="1050">
                <a:solidFill>
                  <a:srgbClr val="C9D8EF"/>
                </a:solidFill>
                <a:latin typeface="PingFang SC"/>
                <a:ea typeface="PingFang SC"/>
              </a:rPr>
              <a:t>年</a:t>
            </a:r>
            <a:r>
              <a:rPr lang="en-US" sz="1050">
                <a:solidFill>
                  <a:srgbClr val="C9D8EF"/>
                </a:solidFill>
                <a:latin typeface="PingFang SC"/>
                <a:ea typeface="PingFang SC"/>
              </a:rPr>
              <a:t xml:space="preserve"> 10 </a:t>
            </a:r>
            <a:r>
              <a:rPr lang="zh-CN" sz="1050">
                <a:solidFill>
                  <a:srgbClr val="C9D8EF"/>
                </a:solidFill>
                <a:latin typeface="PingFang SC"/>
                <a:ea typeface="PingFang SC"/>
              </a:rPr>
              <a:t>月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01" name="" descr="&lt;Slide style={{ width: 1280, height: 720, background: '#FFFFFF', padding: 0, position: 'relative', fontFamily: 'PingFang SC' }}&gt;&#10;&#10;  &lt;Box style={{ position: 'absolute', top: 0, left: 0, width: 1280, height: 64, background: '#1E4FA8' }} /&gt;&#10;  &lt;Text style={{ position: 'absolute', left: 76, top: 21, fontSize: 15, color: '#C9D8EF', letterSpacing: 1 }}&gt;知迹 · 答辩汇报&lt;/Text&gt;&#10;  &lt;Text style={{ position: 'absolute', left: 1010, top: 21, width: 194, textAlign: 'right', fontSize: 15, color: '#C9D8EF' }}&gt;导览与结论&lt;/Text&gt;&#10;&#10;  &lt;Box style={{ position: 'absolute', left: 76, top: 92, width: 1128 }}&gt;&#10;    &lt;Text style={{ fontSize: 31, fontWeight: 'bold', color: '#0E3F8C' }}&gt;三项工程约束，把「能答」变成「可交付」&lt;/Text&gt;&#10;    &lt;Text style={{ fontSize: 15.5, color: '#4A5568', marginTop: 10 }}&gt;本页是全文摘要：读完这一页即可掌握结论，后面每页只负责证明其中一条&lt;/Text&gt;&#10;  &lt;/Box&gt;&#10;&#10;  &lt;Box style={{ position: 'absolute', left: 76, top: 186, width: 460, height: 388, flexDirection: 'column' }}&gt;&#10;&#10;    &lt;Text style={{ fontSize: 13.5, color: '#3D7BD9', letterSpacing: 1.5 }}&gt;汇报路线（5 段）&lt;/Text&gt;&#10;&#10;    &lt;Box style={{ flexDirection: 'column', marginTop: 12 }}&gt;&#10;&#10;      &lt;Box style={{ flexDirection: 'row', height: 68, alignItems: 'flex-start', borderBottom: '1px solid #E5E7EB', paddingTop: 12 }}&gt;&#10;        &lt;Text style={{ fontSize: 13, fontWeight: 'bold', color: '#1E4FA8', width: 34 }}&gt;01&lt;/Text&gt;&#10;        &lt;Box style={{ flexDirection: 'column', width: 340 }}&gt;&#10;          &lt;Text style={{ fontSize: 15, fontWeight: 'bold', color: '#1A2230' }}&gt;背景与目标&lt;/Text&gt;&#10;          &lt;Text style={{ fontSize: 12.5, color: '#8B97A8', marginTop: 4 }}&gt;问题在哪、要做到什么&lt;/Text&gt;&#10;        &lt;/Box&gt;&#10;        &lt;Text style={{ fontSize: 12.5, color: '#8B97A8', width: 60, textAlign: 'right' }}&gt;p3&lt;/Text&gt;&#10;      &lt;/Box&gt;&#10;&#10;      &lt;Box style={{ flexDirection: 'row', height: 68, alignItems: 'flex-start', borderBottom: '1px solid #E5E7EB', paddingTop: 12 }}&gt;&#10;        &lt;Text style={{ fontSize: 13, fontWeight: 'bold', color: '#1E4FA8', width: 34 }}&gt;02&lt;/Text&gt;&#10;        &lt;Box style={{ flexDirection: 'column', width: 340 }}&gt;&#10;          &lt;Text style={{ fontSize: 15, fontWeight: 'bold', color: '#1A2230' }}&gt;技术选型与架构&lt;/Text&gt;&#10;          &lt;Text style={{ fontSize: 12.5, color: '#8B97A8', marginTop: 4 }}&gt;为什么选这些、怎么搭&lt;/Text&gt;&#10;        &lt;/Box&gt;&#10;        &lt;Text style={{ fontSize: 12.5, color: '#8B97A8', width: 60, textAlign: 'right' }}&gt;p4–5&lt;/Text&gt;&#10;      &lt;/Box&gt;&#10;&#10;      &lt;Box style={{ flexDirection: 'row', height: 68, alignItems: 'flex-start', borderBottom: '1px solid #E5E7EB', paddingTop: 12 }}&gt;&#10;        &lt;Text style={{ fontSize: 13, fontWeight: 'bold', color: '#1E4FA8', width: 34 }}&gt;03&lt;/Text&gt;&#10;        &lt;Box style={{ flexDirection: 'column', width: 340 }}&gt;&#10;          &lt;Text style={{ fontSize: 15, fontWeight: 'bold', color: '#1A2230' }}&gt;三项关键实现&lt;/Text&gt;&#10;          &lt;Text style={{ fontSize: 12.5, color: '#8B97A8', marginTop: 4 }}&gt;检索 / 可恢复 / 可度量&lt;/Text&gt;&#10;        &lt;/Box&gt;&#10;        &lt;Text style={{ fontSize: 12.5, color: '#8B97A8', width: 60, textAlign: 'right' }}&gt;p6–8&lt;/Text&gt;&#10;      &lt;/Box&gt;&#10;&#10;      &lt;Box style={{ flexDirection: 'row', height: 68, alignItems: 'flex-start', borderBottom: '1px solid #E5E7EB', paddingTop: 12 }}&gt;&#10;        &lt;Text style={{ fontSize: 13, fontWeight: 'bold', color: '#1E4FA8', width: 34 }}&gt;04&lt;/Text&gt;&#10;        &lt;Box style={{ flexDirection: 'column', width: 340 }}&gt;&#10;          &lt;Text style={{ fontSize: 15, fontWeight: 'bold', color: '#1A2230' }}&gt;实际使用与指标&lt;/Text&gt;&#10;          &lt;Text style={{ fontSize: 12.5, color: '#8B97A8', marginTop: 4 }}&gt;真实界面与实测数据&lt;/Text&gt;&#10;        &lt;/Box&gt;&#10;        &lt;Text style={{ fontSize: 12.5, color: '#8B97A8', width: 60, textAlign: 'right' }}&gt;p9–10&lt;/Text&gt;&#10;      &lt;/Box&gt;&#10;&#10;      &lt;Box style={{ flexDirection: 'row', height: 68, alignItems: 'flex-start', paddingTop: 12 }}&gt;&#10;        &lt;Text style={{ fontSize: 13, fontWeight: 'bold', color: '#1E4FA8', width: 34 }}&gt;05&lt;/Text&gt;&#10;        &lt;Box style={{ flexDirection: 'column', width: 340 }}&gt;&#10;          &lt;Text style={{ fontSize: 15, fontWeight: 'bold', color: '#1A2230' }}&gt;边界与下一步&lt;/Text&gt;&#10;          &lt;Text style={{ fontSize: 12.5, color: '#8B97A8', marginTop: 4 }}&gt;没做什么、接着做什么&lt;/Text&gt;&#10;        &lt;/Box&gt;&#10;        &lt;Text style={{ fontSize: 12.5, color: '#8B97A8', width: 60, textAlign: 'right' }}&gt;p11&lt;/Text&gt;&#10;      &lt;/Box&gt;&#10;&#10;    &lt;/Box&gt;&#10;&#10;  &lt;/Box&gt;&#10;&#10;  &lt;Box style={{ position: 'absolute', left: 588, top: 186, width: 616, height: 388, flexDirection: 'column' }}&gt;&#10;&#10;    &lt;Text style={{ fontSize: 13.5, color: '#3D7BD9', letterSpacing: 1.5 }}&gt;三条结论&lt;/Text&gt;&#10;&#10;    &lt;Box style={{ flexDirection: 'column', marginTop: 12 }}&gt;&#10;&#10;      &lt;Box style={{ flexDirection: 'column', height: 116, borderLeft: '3px solid #1E4FA8', paddingLeft: 14, paddingTop: 10 }}&gt;&#10;        &lt;Text style={{ fontSize: 15.5, fontWeight: 'bold', color: '#1A2230', lineHeight: 1.5 }}&gt;&#10;          一、把回合画成状态图，是「可恢复」与「可拦截」的共同前提&#10;        &lt;/Text&gt;&#10;        &lt;Text style={{ fontSize: 13, color: '#4A5568', lineHeight: 1.65, marginTop: 8 }}&gt;&#10;          四个失败点（断线 / 工具失败 / 忘事 / 越权写）各有对应机制，不是靠提示词嘱咐。见 p6–8。&#10;        &lt;/Text&gt;&#10;      &lt;/Box&gt;&#10;&#10;      &lt;Box style={{ flexDirection: 'column', height: 116, borderLeft: '3px solid #1E4FA8', paddingLeft: 14, paddingTop: 10 }}&gt;&#10;        &lt;Text style={{ fontSize: 15.5, fontWeight: 'bold', color: '#1A2230', lineHeight: 1.5 }}&gt;&#10;          二、四路召回 + 名次融合，补上了中文短词与同义异名的漏召回&#10;        &lt;/Text&gt;&#10;        &lt;Text style={{ fontSize: 13, color: '#4A5568', lineHeight: 1.65, marginTop: 8 }}&gt;&#10;          35 题里 34 题首次命中；接真实向量模型 35 题全中，且引用可落到「第 N 页」。见 p6。&#10;        &lt;/Text&gt;&#10;      &lt;/Box&gt;&#10;&#10;      &lt;Box style={{ flexDirection: 'column', height: 116, borderLeft: '3px solid #1E4FA8', paddingLeft: 14, paddingTop: 10 }}&gt;&#10;        &lt;Text style={{ fontSize: 15.5, fontWeight: 'bold', color: '#1A2230', lineHeight: 1.5 }}&gt;&#10;          三、质量不靠感觉：284 项测试与 0.05 容差构成自动拦截&#10;        &lt;/Text&gt;&#10;        &lt;Text style={{ fontSize: 13, color: '#4A5568', lineHeight: 1.65, marginTop: 8 }}&gt;&#10;          每次改动跑同一套考卷，掉出容差即命令非零退出，可直接接入提交前检查。见 p8。&#10;        &lt;/Text&gt;&#10;      &lt;/Box&gt;&#10;&#10;    &lt;/Box&gt;&#10;&#10;  &lt;/Box&gt;&#10;&#10;  &lt;Box style={{ position: 'absolute', left: 76, top: 580, width: 1128, height: 48, background: '#0E3F8C', borderRadius: 8, justifyContent: 'center', alignItems: 'center' }}&gt;&#10;    &lt;Text style={{ fontSize: 14.5, color: '#FFFFFF' }}&gt;&#10;      叙述方式：结论先行 → 逐项举证 → 主动说明边界；标题连起来读，即为完整论证&#10;    &lt;/Text&gt;&#10;  &lt;/Box&gt;&#10;&#10;  &lt;Box style={{ position: 'absolute', left: 76, bottom: 24, width: 1128, height: 22, flexDirection: 'row', alignItems: 'center', justifyContent: 'space-between' }}&gt;&#10;    &lt;Text style={{ fontSize: 13, color: '#8B97A8' }}&gt;知迹 · 基于大模型智能体的 AI 教育学习系统&lt;/Text&gt;&#10;    &lt;Text style={{ fontSize: 14, fontWeight: 'bold', color: '#0E3F8C' }}&gt;02 / 12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3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导览与结论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723900" y="876300"/>
            <a:ext cx="10744200" cy="3619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325" b="1">
                <a:solidFill>
                  <a:srgbClr val="0E3F8C"/>
                </a:solidFill>
                <a:latin typeface="PingFang SC"/>
                <a:ea typeface="PingFang SC"/>
              </a:rPr>
              <a:t>三项工程约束，把「能答」变成「可交付」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723900" y="1333500"/>
            <a:ext cx="107442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>
                <a:solidFill>
                  <a:srgbClr val="4A5568"/>
                </a:solidFill>
                <a:latin typeface="PingFang SC"/>
                <a:ea typeface="PingFang SC"/>
              </a:rPr>
              <a:t>本页是全文摘要：读完这一页即可掌握结论，后面每页只负责证明其中一条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723900" y="1771650"/>
            <a:ext cx="4381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spc="113">
                <a:solidFill>
                  <a:srgbClr val="3D7BD9"/>
                </a:solidFill>
                <a:latin typeface="PingFang SC"/>
                <a:ea typeface="PingFang SC"/>
              </a:rPr>
              <a:t>汇报路线（</a:t>
            </a:r>
            <a:r>
              <a:rPr lang="en-US" sz="1013" spc="113">
                <a:solidFill>
                  <a:srgbClr val="3D7BD9"/>
                </a:solidFill>
                <a:latin typeface="PingFang SC"/>
                <a:ea typeface="PingFang SC"/>
              </a:rPr>
              <a:t xml:space="preserve">5 </a:t>
            </a:r>
            <a:r>
              <a:rPr lang="zh-CN" sz="1013" spc="113">
                <a:solidFill>
                  <a:srgbClr val="3D7BD9"/>
                </a:solidFill>
                <a:latin typeface="PingFang SC"/>
                <a:ea typeface="PingFang SC"/>
              </a:rPr>
              <a:t>段）</a:t>
            </a:r>
            <a:endParaRPr/>
          </a:p>
        </p:txBody>
      </p:sp>
      <p:sp>
        <p:nvSpPr>
          <p:cNvPr id="109" name=""/>
          <p:cNvSpPr/>
          <p:nvPr/>
        </p:nvSpPr>
        <p:spPr>
          <a:xfrm rot="0" flipH="0" flipV="0">
            <a:off x="723900" y="2047875"/>
            <a:ext cx="4381500" cy="647700"/>
          </a:xfrm>
          <a:custGeom>
            <a:pathLst>
              <a:path w="460" h="68">
                <a:moveTo>
                  <a:pt x="0" y="67"/>
                </a:moveTo>
                <a:lnTo>
                  <a:pt x="460" y="67"/>
                </a:lnTo>
                <a:lnTo>
                  <a:pt x="460" y="68"/>
                </a:lnTo>
                <a:lnTo>
                  <a:pt x="0" y="68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723900" y="2162175"/>
            <a:ext cx="323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PingFang SC"/>
                <a:ea typeface="PingFang SC"/>
              </a:rPr>
              <a:t>01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1047750" y="2162175"/>
            <a:ext cx="3238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背景与目标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1047750" y="2371725"/>
            <a:ext cx="3238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问题在哪、要做到什么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4286250" y="2162175"/>
            <a:ext cx="571500" cy="14287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PingFang SC"/>
                <a:ea typeface="PingFang SC"/>
              </a:rPr>
              <a:t>p3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723900" y="2695575"/>
            <a:ext cx="4381500" cy="647700"/>
          </a:xfrm>
          <a:custGeom>
            <a:pathLst>
              <a:path w="460" h="68">
                <a:moveTo>
                  <a:pt x="0" y="67"/>
                </a:moveTo>
                <a:lnTo>
                  <a:pt x="460" y="67"/>
                </a:lnTo>
                <a:lnTo>
                  <a:pt x="460" y="68"/>
                </a:lnTo>
                <a:lnTo>
                  <a:pt x="0" y="68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723900" y="2809875"/>
            <a:ext cx="323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PingFang SC"/>
                <a:ea typeface="PingFang SC"/>
              </a:rPr>
              <a:t>02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1047750" y="2809875"/>
            <a:ext cx="3238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技术选型与架构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1047750" y="3019425"/>
            <a:ext cx="3238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为什么选这些、怎么搭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4286250" y="2809875"/>
            <a:ext cx="571500" cy="14287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PingFang SC"/>
                <a:ea typeface="PingFang SC"/>
              </a:rPr>
              <a:t>p4–5</a:t>
            </a:r>
            <a:endParaRPr/>
          </a:p>
        </p:txBody>
      </p:sp>
      <p:sp>
        <p:nvSpPr>
          <p:cNvPr id="119" name=""/>
          <p:cNvSpPr/>
          <p:nvPr/>
        </p:nvSpPr>
        <p:spPr>
          <a:xfrm rot="0" flipH="0" flipV="0">
            <a:off x="723900" y="3343275"/>
            <a:ext cx="4381500" cy="647700"/>
          </a:xfrm>
          <a:custGeom>
            <a:pathLst>
              <a:path w="460" h="68">
                <a:moveTo>
                  <a:pt x="0" y="67"/>
                </a:moveTo>
                <a:lnTo>
                  <a:pt x="460" y="67"/>
                </a:lnTo>
                <a:lnTo>
                  <a:pt x="460" y="68"/>
                </a:lnTo>
                <a:lnTo>
                  <a:pt x="0" y="68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723900" y="3457575"/>
            <a:ext cx="323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PingFang SC"/>
                <a:ea typeface="PingFang SC"/>
              </a:rPr>
              <a:t>03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1047750" y="3457575"/>
            <a:ext cx="3238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三项关键实现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1047750" y="3667125"/>
            <a:ext cx="3238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检索</a:t>
            </a:r>
            <a:r>
              <a:rPr lang="en-US" sz="938">
                <a:solidFill>
                  <a:srgbClr val="8B97A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可恢复</a:t>
            </a:r>
            <a:r>
              <a:rPr lang="en-US" sz="938">
                <a:solidFill>
                  <a:srgbClr val="8B97A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可度量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4286250" y="3457575"/>
            <a:ext cx="571500" cy="14287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PingFang SC"/>
                <a:ea typeface="PingFang SC"/>
              </a:rPr>
              <a:t>p6–8</a:t>
            </a:r>
            <a:endParaRPr/>
          </a:p>
        </p:txBody>
      </p:sp>
      <p:sp>
        <p:nvSpPr>
          <p:cNvPr id="124" name=""/>
          <p:cNvSpPr/>
          <p:nvPr/>
        </p:nvSpPr>
        <p:spPr>
          <a:xfrm rot="0" flipH="0" flipV="0">
            <a:off x="723900" y="3990975"/>
            <a:ext cx="4381500" cy="647700"/>
          </a:xfrm>
          <a:custGeom>
            <a:pathLst>
              <a:path w="460" h="68">
                <a:moveTo>
                  <a:pt x="0" y="67"/>
                </a:moveTo>
                <a:lnTo>
                  <a:pt x="460" y="67"/>
                </a:lnTo>
                <a:lnTo>
                  <a:pt x="460" y="68"/>
                </a:lnTo>
                <a:lnTo>
                  <a:pt x="0" y="68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723900" y="4105275"/>
            <a:ext cx="323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PingFang SC"/>
                <a:ea typeface="PingFang SC"/>
              </a:rPr>
              <a:t>04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1047750" y="4105275"/>
            <a:ext cx="3238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实际使用与指标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1047750" y="4314825"/>
            <a:ext cx="3238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真实界面与实测数据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4286250" y="4105275"/>
            <a:ext cx="571500" cy="14287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PingFang SC"/>
                <a:ea typeface="PingFang SC"/>
              </a:rPr>
              <a:t>p9–10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723900" y="4752975"/>
            <a:ext cx="323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PingFang SC"/>
                <a:ea typeface="PingFang SC"/>
              </a:rPr>
              <a:t>05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1047750" y="4752975"/>
            <a:ext cx="3238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边界与下一步</a:t>
            </a:r>
            <a:endParaRPr/>
          </a:p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1047750" y="4962525"/>
            <a:ext cx="3238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没做什么、接着做什么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4286250" y="4752975"/>
            <a:ext cx="571500" cy="14287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PingFang SC"/>
                <a:ea typeface="PingFang SC"/>
              </a:rPr>
              <a:t>p11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5600700" y="1771650"/>
            <a:ext cx="5867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spc="113">
                <a:solidFill>
                  <a:srgbClr val="3D7BD9"/>
                </a:solidFill>
                <a:latin typeface="PingFang SC"/>
                <a:ea typeface="PingFang SC"/>
              </a:rPr>
              <a:t>三条结论</a:t>
            </a:r>
            <a:endParaRPr/>
          </a:p>
        </p:txBody>
      </p:sp>
      <p:sp>
        <p:nvSpPr>
          <p:cNvPr id="134" name=""/>
          <p:cNvSpPr/>
          <p:nvPr/>
        </p:nvSpPr>
        <p:spPr>
          <a:xfrm rot="0" flipH="0" flipV="0">
            <a:off x="5600700" y="2047875"/>
            <a:ext cx="5895975" cy="1104900"/>
          </a:xfrm>
          <a:custGeom>
            <a:pathLst>
              <a:path w="619" h="116">
                <a:moveTo>
                  <a:pt x="0" y="0"/>
                </a:moveTo>
                <a:lnTo>
                  <a:pt x="3" y="0"/>
                </a:lnTo>
                <a:lnTo>
                  <a:pt x="3" y="116"/>
                </a:lnTo>
                <a:lnTo>
                  <a:pt x="0" y="116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5762625" y="2143125"/>
            <a:ext cx="5705475" cy="2667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63" b="1">
                <a:solidFill>
                  <a:srgbClr val="1A2230"/>
                </a:solidFill>
                <a:latin typeface="PingFang SC"/>
                <a:ea typeface="PingFang SC"/>
              </a:rPr>
              <a:t>一、把回合画成状态图，是「可恢复」与「可拦截」的共同前提</a:t>
            </a:r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5762625" y="2486025"/>
            <a:ext cx="5705475" cy="2476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四个失败点（断线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工具失败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忘事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越权写）各有对应机制，不是靠提示词嘱咐。见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p6–8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。</a:t>
            </a:r>
            <a:endParaRPr/>
          </a:p>
        </p:txBody>
      </p:sp>
      <p:sp>
        <p:nvSpPr>
          <p:cNvPr id="137" name=""/>
          <p:cNvSpPr/>
          <p:nvPr/>
        </p:nvSpPr>
        <p:spPr>
          <a:xfrm rot="0" flipH="0" flipV="0">
            <a:off x="5600700" y="3152775"/>
            <a:ext cx="5895975" cy="1104900"/>
          </a:xfrm>
          <a:custGeom>
            <a:pathLst>
              <a:path w="619" h="116">
                <a:moveTo>
                  <a:pt x="0" y="0"/>
                </a:moveTo>
                <a:lnTo>
                  <a:pt x="3" y="0"/>
                </a:lnTo>
                <a:lnTo>
                  <a:pt x="3" y="116"/>
                </a:lnTo>
                <a:lnTo>
                  <a:pt x="0" y="116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5762625" y="3248025"/>
            <a:ext cx="5705475" cy="2667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63" b="1">
                <a:solidFill>
                  <a:srgbClr val="1A2230"/>
                </a:solidFill>
                <a:latin typeface="PingFang SC"/>
                <a:ea typeface="PingFang SC"/>
              </a:rPr>
              <a:t>二、四路召回</a:t>
            </a:r>
            <a:r>
              <a:rPr lang="en-US" sz="1163" b="1">
                <a:solidFill>
                  <a:srgbClr val="1A2230"/>
                </a:solidFill>
                <a:latin typeface="PingFang SC"/>
                <a:ea typeface="PingFang SC"/>
              </a:rPr>
              <a:t xml:space="preserve"> + </a:t>
            </a:r>
            <a:r>
              <a:rPr lang="zh-CN" sz="1163" b="1">
                <a:solidFill>
                  <a:srgbClr val="1A2230"/>
                </a:solidFill>
                <a:latin typeface="PingFang SC"/>
                <a:ea typeface="PingFang SC"/>
              </a:rPr>
              <a:t>名次融合，补上了中文短词与同义异名的漏召回</a:t>
            </a:r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5762625" y="3590925"/>
            <a:ext cx="5705475" cy="2476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35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题里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34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题首次命中；接真实向量模型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35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题全中，且引用可落到「第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N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页」。见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p6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。</a:t>
            </a:r>
            <a:endParaRPr/>
          </a:p>
        </p:txBody>
      </p:sp>
      <p:sp>
        <p:nvSpPr>
          <p:cNvPr id="140" name=""/>
          <p:cNvSpPr/>
          <p:nvPr/>
        </p:nvSpPr>
        <p:spPr>
          <a:xfrm rot="0" flipH="0" flipV="0">
            <a:off x="5600700" y="4257675"/>
            <a:ext cx="5895975" cy="1104900"/>
          </a:xfrm>
          <a:custGeom>
            <a:pathLst>
              <a:path w="619" h="116">
                <a:moveTo>
                  <a:pt x="0" y="0"/>
                </a:moveTo>
                <a:lnTo>
                  <a:pt x="3" y="0"/>
                </a:lnTo>
                <a:lnTo>
                  <a:pt x="3" y="116"/>
                </a:lnTo>
                <a:lnTo>
                  <a:pt x="0" y="116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5762625" y="4352925"/>
            <a:ext cx="5705475" cy="2667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63" b="1">
                <a:solidFill>
                  <a:srgbClr val="1A2230"/>
                </a:solidFill>
                <a:latin typeface="PingFang SC"/>
                <a:ea typeface="PingFang SC"/>
              </a:rPr>
              <a:t>三、质量不靠感觉：</a:t>
            </a:r>
            <a:r>
              <a:rPr lang="en-US" sz="1163" b="1">
                <a:solidFill>
                  <a:srgbClr val="1A2230"/>
                </a:solidFill>
                <a:latin typeface="PingFang SC"/>
                <a:ea typeface="PingFang SC"/>
              </a:rPr>
              <a:t xml:space="preserve">284 </a:t>
            </a:r>
            <a:r>
              <a:rPr lang="zh-CN" sz="1163" b="1">
                <a:solidFill>
                  <a:srgbClr val="1A2230"/>
                </a:solidFill>
                <a:latin typeface="PingFang SC"/>
                <a:ea typeface="PingFang SC"/>
              </a:rPr>
              <a:t>项测试与</a:t>
            </a:r>
            <a:r>
              <a:rPr lang="en-US" sz="1163" b="1">
                <a:solidFill>
                  <a:srgbClr val="1A2230"/>
                </a:solidFill>
                <a:latin typeface="PingFang SC"/>
                <a:ea typeface="PingFang SC"/>
              </a:rPr>
              <a:t xml:space="preserve"> 0.05 </a:t>
            </a:r>
            <a:r>
              <a:rPr lang="zh-CN" sz="1163" b="1">
                <a:solidFill>
                  <a:srgbClr val="1A2230"/>
                </a:solidFill>
                <a:latin typeface="PingFang SC"/>
                <a:ea typeface="PingFang SC"/>
              </a:rPr>
              <a:t>容差构成自动拦截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5762625" y="4695825"/>
            <a:ext cx="5705475" cy="2476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每次改动跑同一套考卷，掉出容差即命令非零退出，可直接接入提交前检查。见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p8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。</a:t>
            </a:r>
            <a:endParaRPr/>
          </a:p>
        </p:txBody>
      </p:sp>
      <p:sp>
        <p:nvSpPr>
          <p:cNvPr id="143" name=""/>
          <p:cNvSpPr/>
          <p:nvPr/>
        </p:nvSpPr>
        <p:spPr>
          <a:xfrm rot="0" flipH="0" flipV="0">
            <a:off x="723900" y="5524500"/>
            <a:ext cx="10744200" cy="457200"/>
          </a:xfrm>
          <a:prstGeom prst="roundRect">
            <a:avLst>
              <a:gd name="adj" fmla="val 1666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3590925" y="5667375"/>
            <a:ext cx="5019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叙述方式：结论先行</a:t>
            </a:r>
            <a:r>
              <a:rPr lang="en-US" sz="1088">
                <a:solidFill>
                  <a:srgbClr val="FFFFFF"/>
                </a:solidFill>
                <a:latin typeface="PingFang SC"/>
                <a:ea typeface="PingFang SC"/>
              </a:rPr>
              <a:t xml:space="preserve"> → </a:t>
            </a: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逐项举证</a:t>
            </a:r>
            <a:r>
              <a:rPr lang="en-US" sz="1088">
                <a:solidFill>
                  <a:srgbClr val="FFFFFF"/>
                </a:solidFill>
                <a:latin typeface="PingFang SC"/>
                <a:ea typeface="PingFang SC"/>
              </a:rPr>
              <a:t xml:space="preserve"> → </a:t>
            </a: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主动说明边界；标题连起来读，即为完整论证</a:t>
            </a:r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2447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11010900" y="64484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02 / 12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47" name="" descr="&lt;Slide style={{ width: 1280, height: 720, background: '#FFFFFF', padding: 0, position: 'relative', fontFamily: 'PingFang SC' }}&gt;&#10;&#10;  &lt;Box style={{ position: 'absolute', top: 0, left: 0, width: 1280, height: 64, background: '#1E4FA8' }} /&gt;&#10;  &lt;Text style={{ position: 'absolute', left: 76, top: 21, fontSize: 15, color: '#C9D8EF', letterSpacing: 1 }}&gt;知迹 · 答辩汇报&lt;/Text&gt;&#10;  &lt;Text style={{ position: 'absolute', left: 1010, top: 21, width: 194, textAlign: 'right', fontSize: 15, color: '#C9D8EF' }}&gt;01 · 背景与目标&lt;/Text&gt;&#10;&#10;  &lt;Box style={{ position: 'absolute', left: 76, top: 92, width: 1128 }}&gt;&#10;    &lt;Text style={{ fontSize: 31, fontWeight: 'bold', color: '#0E3F8C' }}&gt;三个时刻的共性缺口：产出无法复用，复习成本被迫翻倍&lt;/Text&gt;&#10;    &lt;Text style={{ fontSize: 15.5, color: '#4A5568', marginTop: 10 }}&gt;问题不在「有没有工具」，而在「用完即弃」——讲义、结论、错因都没有留下可再用的形态&lt;/Text&gt;&#10;  &lt;/Box&gt;&#10;&#10;  &lt;Box style={{ position: 'absolute', left: 76, top: 190, width: 596, height: 396, flexDirection: 'column' }}&gt;&#10;&#10;    &lt;Text style={{ fontSize: 13.5, color: '#3D7BD9', letterSpacing: 1.5 }}&gt;现状观察（一学期时间轴）&lt;/Text&gt;&#10;&#10;    &lt;Box style={{ flexDirection: 'column', marginTop: 10 }}&gt;&#10;      &lt;Box style={{ flexDirection: 'column', height: 118, borderLeft: '3px solid #1E4FA8', paddingLeft: 14, paddingTop: 8 }}&gt;&#10;        &lt;Text style={{ fontSize: 17, fontWeight: 'bold', color: '#1A2230' }}&gt;上课中：讲义散在三处&lt;/Text&gt;&#10;        &lt;Text style={{ fontSize: 13.5, color: '#4A5568', lineHeight: 1.65, marginTop: 6 }}&gt;&#10;          课程平台、聊天记录、手机相册各存一半；同一页内容要翻三个地方才能凑齐。&#10;        &lt;/Text&gt;&#10;        &lt;Text style={{ fontSize: 12.5, color: '#8B97A8', marginTop: 6 }}&gt;产出状态：不可检索&lt;/Text&gt;&#10;      &lt;/Box&gt;&#10;&#10;      &lt;Box style={{ flexDirection: 'column', height: 118, borderLeft: '3px solid #1E4FA8', paddingLeft: 14, paddingTop: 8 }}&gt;&#10;        &lt;Text style={{ fontSize: 17, fontWeight: 'bold', color: '#1A2230' }}&gt;写作业：结论留在对话里&lt;/Text&gt;&#10;        &lt;Text style={{ fontSize: 13.5, color: '#4A5568', lineHeight: 1.65, marginTop: 6 }}&gt;&#10;          问完就走，答案没有进入任何可检索的结构；同类问题下次从零再问一遍。&#10;        &lt;/Text&gt;&#10;        &lt;Text style={{ fontSize: 12.5, color: '#8B97A8', marginTop: 6 }}&gt;产出状态：不可复用&lt;/Text&gt;&#10;      &lt;/Box&gt;&#10;&#10;      &lt;Box style={{ flexDirection: 'column', height: 118, borderLeft: '3px solid #D9534F', paddingLeft: 14, paddingTop: 8 }}&gt;&#10;        &lt;Text style={{ fontSize: 17, fontWeight: 'bold', color: '#D9534F' }}&gt;期末：资料在、题没有&lt;/Text&gt;&#10;        &lt;Text style={{ fontSize: 13.5, color: '#4A5568', lineHeight: 1.65, marginTop: 6 }}&gt;&#10;          只能重读讲义、重翻记录；练习量不足，薄弱点无法被定位。&#10;        &lt;/Text&gt;&#10;        &lt;Text style={{ fontSize: 12.5, color: '#8B97A8', marginTop: 6 }}&gt;产出状态：不可练&lt;/Text&gt;&#10;      &lt;/Box&gt;&#10;    &lt;/Box&gt;&#10;&#10;  &lt;/Box&gt;&#10;&#10;  &lt;Box style={{ position: 'absolute', left: 712, top: 190, width: 492, height: 396, flexDirection: 'column' }}&gt;&#10;&#10;    &lt;Text style={{ fontSize: 13.5, color: '#3D7BD9', letterSpacing: 1.5 }}&gt;由此定义四个可验证目标&lt;/Text&gt;&#10;&#10;    &lt;Box style={{ flexDirection: 'column', marginTop: 10 }}&gt;&#10;&#10;      &lt;Box style={{ flexDirection: 'column', height: 88, borderBottom: '1px solid #E5E7EB', paddingTop: 8 }}&gt;&#10;        &lt;Text style={{ fontSize: 14.5, fontWeight: 'bold', color: '#1A2230' }}&gt;G1　中断后可无损续跑&lt;/Text&gt;&#10;        &lt;Text style={{ fontSize: 12.5, color: '#4A5568', lineHeight: 1.6, marginTop: 6 }}&gt;判据：关页 / 断网后重新进入，能从未完成处继续&lt;/Text&gt;&#10;      &lt;/Box&gt;&#10;&#10;      &lt;Box style={{ flexDirection: 'column', height: 88, borderBottom: '1px solid #E5E7EB', paddingTop: 8 }}&gt;&#10;        &lt;Text style={{ fontSize: 14.5, fontWeight: 'bold', color: '#1A2230' }}&gt;G2　答案可追溯到具体页&lt;/Text&gt;&#10;        &lt;Text style={{ fontSize: 12.5, color: '#4A5568', lineHeight: 1.6, marginTop: 6 }}&gt;判据：引用带「第 N 页」，原件可打开核对&lt;/Text&gt;&#10;      &lt;/Box&gt;&#10;&#10;      &lt;Box style={{ flexDirection: 'column', height: 88, borderBottom: '1px solid #E5E7EB', paddingTop: 8 }}&gt;&#10;        &lt;Text style={{ fontSize: 14.5, fontWeight: 'bold', color: '#1A2230' }}&gt;G3　数据不被越权修改&lt;/Text&gt;&#10;        &lt;Text style={{ fontSize: 12.5, color: '#4A5568', lineHeight: 1.6, marginTop: 6 }}&gt;判据：所有写操作在执行层被拦，且在用户确认后落库&lt;/Text&gt;&#10;      &lt;/Box&gt;&#10;&#10;      &lt;Box style={{ flexDirection: 'column', height: 88, paddingTop: 8 }}&gt;&#10;        &lt;Text style={{ fontSize: 14.5, fontWeight: 'bold', color: '#1A2230' }}&gt;G4　改动好坏可被量化&lt;/Text&gt;&#10;        &lt;Text style={{ fontSize: 12.5, color: '#4A5568', lineHeight: 1.6, marginTop: 6 }}&gt;判据：固定考卷 + 基线，掉分自动拦截&lt;/Text&gt;&#10;      &lt;/Box&gt;&#10;&#10;    &lt;/Box&gt;&#10;&#10;  &lt;/Box&gt;&#10;&#10;  &lt;Box style={{ position: 'absolute', left: 76, top: 600, width: 1128, height: 46, background: '#F0F5FC', borderRadius: 8, justifyContent: 'center', alignItems: 'center' }}&gt;&#10;    &lt;Text style={{ fontSize: 14, color: '#1E4FA8' }}&gt;&#10;      四个目标与后文一一对应：G1 → p7，G2 → p6 与 p9，G3 → p7，G4 → p8 与 p10&#10;    &lt;/Text&gt;&#10;  &lt;/Box&gt;&#10;&#10;  &lt;Box style={{ position: 'absolute', left: 76, bottom: 24, width: 1128, height: 22, flexDirection: 'row', alignItems: 'center', justifyContent: 'space-between' }}&gt;&#10;    &lt;Text style={{ fontSize: 13, color: '#8B97A8' }}&gt;知迹 · 基于大模型智能体的 AI 教育学习系统&lt;/Text&gt;&#10;    &lt;Text style={{ fontSize: 14, fontWeight: 'bold', color: '#0E3F8C' }}&gt;03 / 12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9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01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背景与目标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723900" y="876300"/>
            <a:ext cx="10744200" cy="3619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325" b="1">
                <a:solidFill>
                  <a:srgbClr val="0E3F8C"/>
                </a:solidFill>
                <a:latin typeface="PingFang SC"/>
                <a:ea typeface="PingFang SC"/>
              </a:rPr>
              <a:t>三个时刻的共性缺口：产出无法复用，复习成本被迫翻倍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723900" y="1333500"/>
            <a:ext cx="107442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>
                <a:solidFill>
                  <a:srgbClr val="4A5568"/>
                </a:solidFill>
                <a:latin typeface="PingFang SC"/>
                <a:ea typeface="PingFang SC"/>
              </a:rPr>
              <a:t>问题不在「有没有工具」，而在「用完即弃」——讲义、结论、错因都没有留下可再用的形态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723900" y="1809750"/>
            <a:ext cx="5676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spc="113">
                <a:solidFill>
                  <a:srgbClr val="3D7BD9"/>
                </a:solidFill>
                <a:latin typeface="PingFang SC"/>
                <a:ea typeface="PingFang SC"/>
              </a:rPr>
              <a:t>现状观察（一学期时间轴）</a:t>
            </a:r>
            <a:endParaRPr/>
          </a:p>
        </p:txBody>
      </p:sp>
      <p:sp>
        <p:nvSpPr>
          <p:cNvPr id="155" name=""/>
          <p:cNvSpPr/>
          <p:nvPr/>
        </p:nvSpPr>
        <p:spPr>
          <a:xfrm rot="0" flipH="0" flipV="0">
            <a:off x="723900" y="2066925"/>
            <a:ext cx="5705475" cy="1123950"/>
          </a:xfrm>
          <a:custGeom>
            <a:pathLst>
              <a:path w="599" h="118">
                <a:moveTo>
                  <a:pt x="0" y="0"/>
                </a:moveTo>
                <a:lnTo>
                  <a:pt x="3" y="0"/>
                </a:lnTo>
                <a:lnTo>
                  <a:pt x="3" y="118"/>
                </a:lnTo>
                <a:lnTo>
                  <a:pt x="0" y="11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885825" y="2143125"/>
            <a:ext cx="55149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PingFang SC"/>
                <a:ea typeface="PingFang SC"/>
              </a:rPr>
              <a:t>上课中：讲义散在三处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885825" y="2400300"/>
            <a:ext cx="5514975" cy="257175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课程平台、聊天记录、手机相册各存一半；同一页内容要翻三个地方才能凑齐。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885825" y="2714625"/>
            <a:ext cx="55149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产出状态：不可检索</a:t>
            </a:r>
            <a:endParaRPr/>
          </a:p>
        </p:txBody>
      </p:sp>
      <p:sp>
        <p:nvSpPr>
          <p:cNvPr id="159" name=""/>
          <p:cNvSpPr/>
          <p:nvPr/>
        </p:nvSpPr>
        <p:spPr>
          <a:xfrm rot="0" flipH="0" flipV="0">
            <a:off x="723900" y="3190875"/>
            <a:ext cx="5705475" cy="1123950"/>
          </a:xfrm>
          <a:custGeom>
            <a:pathLst>
              <a:path w="599" h="118">
                <a:moveTo>
                  <a:pt x="0" y="0"/>
                </a:moveTo>
                <a:lnTo>
                  <a:pt x="3" y="0"/>
                </a:lnTo>
                <a:lnTo>
                  <a:pt x="3" y="118"/>
                </a:lnTo>
                <a:lnTo>
                  <a:pt x="0" y="11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885825" y="3267075"/>
            <a:ext cx="55149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PingFang SC"/>
                <a:ea typeface="PingFang SC"/>
              </a:rPr>
              <a:t>写作业：结论留在对话里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885825" y="3524250"/>
            <a:ext cx="5514975" cy="257175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问完就走，答案没有进入任何可检索的结构；同类问题下次从零再问一遍。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885825" y="3838575"/>
            <a:ext cx="55149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产出状态：不可复用</a:t>
            </a:r>
            <a:endParaRPr/>
          </a:p>
        </p:txBody>
      </p:sp>
      <p:sp>
        <p:nvSpPr>
          <p:cNvPr id="163" name=""/>
          <p:cNvSpPr/>
          <p:nvPr/>
        </p:nvSpPr>
        <p:spPr>
          <a:xfrm rot="0" flipH="0" flipV="0">
            <a:off x="723900" y="4314825"/>
            <a:ext cx="5705475" cy="1123950"/>
          </a:xfrm>
          <a:custGeom>
            <a:pathLst>
              <a:path w="599" h="118">
                <a:moveTo>
                  <a:pt x="0" y="0"/>
                </a:moveTo>
                <a:lnTo>
                  <a:pt x="3" y="0"/>
                </a:lnTo>
                <a:lnTo>
                  <a:pt x="3" y="118"/>
                </a:lnTo>
                <a:lnTo>
                  <a:pt x="0" y="118"/>
                </a:ln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885825" y="4391025"/>
            <a:ext cx="55149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D9534F"/>
                </a:solidFill>
                <a:latin typeface="PingFang SC"/>
                <a:ea typeface="PingFang SC"/>
              </a:rPr>
              <a:t>期末：资料在、题没有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885825" y="4648200"/>
            <a:ext cx="5514975" cy="257175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只能重读讲义、重翻记录；练习量不足，薄弱点无法被定位。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885825" y="4962525"/>
            <a:ext cx="55149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产出状态：不可练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6781800" y="1809750"/>
            <a:ext cx="4686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spc="113">
                <a:solidFill>
                  <a:srgbClr val="3D7BD9"/>
                </a:solidFill>
                <a:latin typeface="PingFang SC"/>
                <a:ea typeface="PingFang SC"/>
              </a:rPr>
              <a:t>由此定义四个可验证目标</a:t>
            </a:r>
            <a:endParaRPr/>
          </a:p>
        </p:txBody>
      </p:sp>
      <p:sp>
        <p:nvSpPr>
          <p:cNvPr id="168" name=""/>
          <p:cNvSpPr/>
          <p:nvPr/>
        </p:nvSpPr>
        <p:spPr>
          <a:xfrm rot="0" flipH="0" flipV="0">
            <a:off x="6781800" y="2066925"/>
            <a:ext cx="4686300" cy="838200"/>
          </a:xfrm>
          <a:custGeom>
            <a:pathLst>
              <a:path w="492" h="88">
                <a:moveTo>
                  <a:pt x="0" y="87"/>
                </a:moveTo>
                <a:lnTo>
                  <a:pt x="492" y="87"/>
                </a:lnTo>
                <a:lnTo>
                  <a:pt x="492" y="88"/>
                </a:lnTo>
                <a:lnTo>
                  <a:pt x="0" y="88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6781800" y="2143125"/>
            <a:ext cx="4686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PingFang SC"/>
                <a:ea typeface="PingFang SC"/>
              </a:rPr>
              <a:t>G1</a:t>
            </a:r>
            <a:r>
              <a:rPr lang="zh-CN" sz="1088" b="1">
                <a:solidFill>
                  <a:srgbClr val="1A2230"/>
                </a:solidFill>
                <a:latin typeface="PingFang SC"/>
                <a:ea typeface="PingFang SC"/>
              </a:rPr>
              <a:t>　中断后可无损续跑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6781800" y="2371725"/>
            <a:ext cx="4686300" cy="2286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判据：关页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断网后重新进入，能从未完成处继续</a:t>
            </a:r>
            <a:endParaRPr/>
          </a:p>
        </p:txBody>
      </p:sp>
      <p:sp>
        <p:nvSpPr>
          <p:cNvPr id="171" name=""/>
          <p:cNvSpPr/>
          <p:nvPr/>
        </p:nvSpPr>
        <p:spPr>
          <a:xfrm rot="0" flipH="0" flipV="0">
            <a:off x="6781800" y="2905125"/>
            <a:ext cx="4686300" cy="838200"/>
          </a:xfrm>
          <a:custGeom>
            <a:pathLst>
              <a:path w="492" h="88">
                <a:moveTo>
                  <a:pt x="0" y="87"/>
                </a:moveTo>
                <a:lnTo>
                  <a:pt x="492" y="87"/>
                </a:lnTo>
                <a:lnTo>
                  <a:pt x="492" y="88"/>
                </a:lnTo>
                <a:lnTo>
                  <a:pt x="0" y="88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6781800" y="2981325"/>
            <a:ext cx="4686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PingFang SC"/>
                <a:ea typeface="PingFang SC"/>
              </a:rPr>
              <a:t>G2</a:t>
            </a:r>
            <a:r>
              <a:rPr lang="zh-CN" sz="1088" b="1">
                <a:solidFill>
                  <a:srgbClr val="1A2230"/>
                </a:solidFill>
                <a:latin typeface="PingFang SC"/>
                <a:ea typeface="PingFang SC"/>
              </a:rPr>
              <a:t>　答案可追溯到具体页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6781800" y="3209925"/>
            <a:ext cx="4686300" cy="2286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判据：引用带「第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N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页」，原件可打开核对</a:t>
            </a:r>
            <a:endParaRPr/>
          </a:p>
        </p:txBody>
      </p:sp>
      <p:sp>
        <p:nvSpPr>
          <p:cNvPr id="174" name=""/>
          <p:cNvSpPr/>
          <p:nvPr/>
        </p:nvSpPr>
        <p:spPr>
          <a:xfrm rot="0" flipH="0" flipV="0">
            <a:off x="6781800" y="3743325"/>
            <a:ext cx="4686300" cy="838200"/>
          </a:xfrm>
          <a:custGeom>
            <a:pathLst>
              <a:path w="492" h="88">
                <a:moveTo>
                  <a:pt x="0" y="87"/>
                </a:moveTo>
                <a:lnTo>
                  <a:pt x="492" y="87"/>
                </a:lnTo>
                <a:lnTo>
                  <a:pt x="492" y="88"/>
                </a:lnTo>
                <a:lnTo>
                  <a:pt x="0" y="88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6781800" y="3819525"/>
            <a:ext cx="4686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PingFang SC"/>
                <a:ea typeface="PingFang SC"/>
              </a:rPr>
              <a:t>G3</a:t>
            </a:r>
            <a:r>
              <a:rPr lang="zh-CN" sz="1088" b="1">
                <a:solidFill>
                  <a:srgbClr val="1A2230"/>
                </a:solidFill>
                <a:latin typeface="PingFang SC"/>
                <a:ea typeface="PingFang SC"/>
              </a:rPr>
              <a:t>　数据不被越权修改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6781800" y="4048125"/>
            <a:ext cx="4686300" cy="2286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判据：所有写操作在执行层被拦，且在用户确认后落库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6781800" y="4657725"/>
            <a:ext cx="4686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PingFang SC"/>
                <a:ea typeface="PingFang SC"/>
              </a:rPr>
              <a:t>G4</a:t>
            </a:r>
            <a:r>
              <a:rPr lang="zh-CN" sz="1088" b="1">
                <a:solidFill>
                  <a:srgbClr val="1A2230"/>
                </a:solidFill>
                <a:latin typeface="PingFang SC"/>
                <a:ea typeface="PingFang SC"/>
              </a:rPr>
              <a:t>　改动好坏可被量化</a:t>
            </a:r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6781800" y="4886325"/>
            <a:ext cx="4686300" cy="2286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判据：固定考卷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+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基线，掉分自动拦截</a:t>
            </a:r>
            <a:endParaRPr/>
          </a:p>
        </p:txBody>
      </p:sp>
      <p:sp>
        <p:nvSpPr>
          <p:cNvPr id="179" name=""/>
          <p:cNvSpPr/>
          <p:nvPr/>
        </p:nvSpPr>
        <p:spPr>
          <a:xfrm rot="0" flipH="0" flipV="0">
            <a:off x="723900" y="5715000"/>
            <a:ext cx="10744200" cy="438150"/>
          </a:xfrm>
          <a:prstGeom prst="roundRect">
            <a:avLst>
              <a:gd name="adj" fmla="val 1739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3590925" y="5857875"/>
            <a:ext cx="5019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1E4FA8"/>
                </a:solidFill>
                <a:latin typeface="PingFang SC"/>
                <a:ea typeface="PingFang SC"/>
              </a:rPr>
              <a:t>四个目标与后文一一对应：</a:t>
            </a:r>
            <a:r>
              <a:rPr lang="en-US" sz="1050">
                <a:solidFill>
                  <a:srgbClr val="1E4FA8"/>
                </a:solidFill>
                <a:latin typeface="PingFang SC"/>
                <a:ea typeface="PingFang SC"/>
              </a:rPr>
              <a:t>G1 → p7</a:t>
            </a:r>
            <a:r>
              <a:rPr lang="zh-CN" sz="1050">
                <a:solidFill>
                  <a:srgbClr val="1E4FA8"/>
                </a:solidFill>
                <a:latin typeface="PingFang SC"/>
                <a:ea typeface="PingFang SC"/>
              </a:rPr>
              <a:t>，</a:t>
            </a:r>
            <a:r>
              <a:rPr lang="en-US" sz="1050">
                <a:solidFill>
                  <a:srgbClr val="1E4FA8"/>
                </a:solidFill>
                <a:latin typeface="PingFang SC"/>
                <a:ea typeface="PingFang SC"/>
              </a:rPr>
              <a:t xml:space="preserve">G2 → p6 </a:t>
            </a:r>
            <a:r>
              <a:rPr lang="zh-CN" sz="1050">
                <a:solidFill>
                  <a:srgbClr val="1E4FA8"/>
                </a:solidFill>
                <a:latin typeface="PingFang SC"/>
                <a:ea typeface="PingFang SC"/>
              </a:rPr>
              <a:t>与</a:t>
            </a:r>
            <a:r>
              <a:rPr lang="en-US" sz="1050">
                <a:solidFill>
                  <a:srgbClr val="1E4FA8"/>
                </a:solidFill>
                <a:latin typeface="PingFang SC"/>
                <a:ea typeface="PingFang SC"/>
              </a:rPr>
              <a:t xml:space="preserve"> p9</a:t>
            </a:r>
            <a:r>
              <a:rPr lang="zh-CN" sz="1050">
                <a:solidFill>
                  <a:srgbClr val="1E4FA8"/>
                </a:solidFill>
                <a:latin typeface="PingFang SC"/>
                <a:ea typeface="PingFang SC"/>
              </a:rPr>
              <a:t>，</a:t>
            </a:r>
            <a:r>
              <a:rPr lang="en-US" sz="1050">
                <a:solidFill>
                  <a:srgbClr val="1E4FA8"/>
                </a:solidFill>
                <a:latin typeface="PingFang SC"/>
                <a:ea typeface="PingFang SC"/>
              </a:rPr>
              <a:t>G3 → p7</a:t>
            </a:r>
            <a:r>
              <a:rPr lang="zh-CN" sz="1050">
                <a:solidFill>
                  <a:srgbClr val="1E4FA8"/>
                </a:solidFill>
                <a:latin typeface="PingFang SC"/>
                <a:ea typeface="PingFang SC"/>
              </a:rPr>
              <a:t>，</a:t>
            </a:r>
            <a:r>
              <a:rPr lang="en-US" sz="1050">
                <a:solidFill>
                  <a:srgbClr val="1E4FA8"/>
                </a:solidFill>
                <a:latin typeface="PingFang SC"/>
                <a:ea typeface="PingFang SC"/>
              </a:rPr>
              <a:t xml:space="preserve">G4 → p8 </a:t>
            </a:r>
            <a:r>
              <a:rPr lang="zh-CN" sz="1050">
                <a:solidFill>
                  <a:srgbClr val="1E4FA8"/>
                </a:solidFill>
                <a:latin typeface="PingFang SC"/>
                <a:ea typeface="PingFang SC"/>
              </a:rPr>
              <a:t>与</a:t>
            </a:r>
            <a:r>
              <a:rPr lang="en-US" sz="1050">
                <a:solidFill>
                  <a:srgbClr val="1E4FA8"/>
                </a:solidFill>
                <a:latin typeface="PingFang SC"/>
                <a:ea typeface="PingFang SC"/>
              </a:rPr>
              <a:t xml:space="preserve"> p10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2447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11010900" y="64484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03 / 12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83" name="" descr="&lt;Slide style={{ width: 1280, height: 720, background: '#FFFFFF', padding: 0, position: 'relative', fontFamily: 'PingFang SC' }}&gt;&#10;&#10;  &lt;Box style={{ position: 'absolute', top: 0, left: 0, width: 1280, height: 64, background: '#1E4FA8' }} /&gt;&#10;  &lt;Text style={{ position: 'absolute', left: 76, top: 21, fontSize: 15, color: '#C9D8EF', letterSpacing: 1 }}&gt;知迹 · 答辩汇报&lt;/Text&gt;&#10;  &lt;Text style={{ position: 'absolute', left: 1010, top: 21, width: 194, textAlign: 'right', fontSize: 15, color: '#C9D8EF' }}&gt;02 · 技术选型与架构&lt;/Text&gt;&#10;&#10;  &lt;Box style={{ position: 'absolute', left: 76, top: 92, width: 1128 }}&gt;&#10;    &lt;Text style={{ fontSize: 31, fontWeight: 'bold', color: '#0E3F8C' }}&gt;选型原则是「零运维、可离线、可评测」，不是追新&lt;/Text&gt;&#10;    &lt;Text style={{ fontSize: 15.5, color: '#4A5568', marginTop: 10 }}&gt;每一层都写清「承担什么」与「为什么不用更常见的替代方案」，便于评审追问&lt;/Text&gt;&#10;  &lt;/Box&gt;&#10;&#10;  &lt;Box style={{ position: 'absolute', left: 76, top: 186, width: 1128, height: 40, flexDirection: 'row', alignItems: 'center', background: '#1E4FA8', borderRadius: 6, paddingLeft: 14 }}&gt;&#10;    &lt;Text style={{ fontSize: 13, fontWeight: 'bold', color: '#FFFFFF', width: 130 }}&gt;层次&lt;/Text&gt;&#10;    &lt;Text style={{ fontSize: 13, fontWeight: 'bold', color: '#FFFFFF', width: 250 }}&gt;选型&lt;/Text&gt;&#10;    &lt;Text style={{ fontSize: 13, fontWeight: 'bold', color: '#FFFFFF', width: 320 }}&gt;承担什么&lt;/Text&gt;&#10;    &lt;Text style={{ fontSize: 13, fontWeight: 'bold', color: '#FFFFFF', width: 390 }}&gt;为什么不选更常见的替代方案&lt;/Text&gt;&#10;  &lt;/Box&gt;&#10;&#10;  &lt;Box style={{ position: 'absolute', left: 76, top: 230, width: 1128, height: 354, flexDirection: 'column' }}&gt;&#10;&#10;    &lt;Box style={{ flexDirection: 'row', height: 58, alignItems: 'center', borderBottom: '1px solid #E5E7EB', paddingLeft: 14 }}&gt;&#10;      &lt;Text style={{ fontSize: 13.5, color: '#1A2230', width: 130 }}&gt;编排&lt;/Text&gt;&#10;      &lt;Text style={{ fontSize: 13.5, fontWeight: 'bold', color: '#1E4FA8', width: 250 }}&gt;LangGraph 显式状态图&lt;/Text&gt;&#10;      &lt;Text style={{ fontSize: 13, color: '#4A5568', width: 320 }}&gt;回合路由、工具循环、检查点、中断恢复&lt;/Text&gt;&#10;      &lt;Text style={{ fontSize: 13, color: '#4A5568', width: 390 }}&gt;自研状态机要重复实现断点与中断，成本更高&lt;/Text&gt;&#10;    &lt;/Box&gt;&#10;&#10;    &lt;Box style={{ flexDirection: 'row', height: 58, alignItems: 'center', borderBottom: '1px solid #E5E7EB', paddingLeft: 14 }}&gt;&#10;      &lt;Text style={{ fontSize: 13.5, color: '#1A2230', width: 130 }}&gt;服务&lt;/Text&gt;&#10;      &lt;Text style={{ fontSize: 13.5, fontWeight: 'bold', color: '#1E4FA8', width: 250 }}&gt;FastAPI + SSE&lt;/Text&gt;&#10;      &lt;Text style={{ fontSize: 13, color: '#4A5568', width: 320 }}&gt;流式下发步骤、回传人工确认结果&lt;/Text&gt;&#10;      &lt;Text style={{ fontSize: 13, color: '#4A5568', width: 390 }}&gt;同步框架难以做到「边算边推」，过程不可见&lt;/Text&gt;&#10;    &lt;/Box&gt;&#10;&#10;    &lt;Box style={{ flexDirection: 'row', height: 58, alignItems: 'center', borderBottom: '1px solid #E5E7EB', paddingLeft: 14 }}&gt;&#10;      &lt;Text style={{ fontSize: 13.5, color: '#1A2230', width: 130 }}&gt;存储&lt;/Text&gt;&#10;      &lt;Text style={{ fontSize: 13.5, fontWeight: 'bold', color: '#1E4FA8', width: 250 }}&gt;SQLite（FTS5 + 向量表）&lt;/Text&gt;&#10;      &lt;Text style={{ fontSize: 13, color: '#4A5568', width: 320 }}&gt;单文件承载全部业务数据与检索索引&lt;/Text&gt;&#10;      &lt;Text style={{ fontSize: 13, color: '#4A5568', width: 390 }}&gt;换 MySQL 会牺牲中文检索与离线演示，收益为零&lt;/Text&gt;&#10;    &lt;/Box&gt;&#10;&#10;    &lt;Box style={{ flexDirection: 'row', height: 58, alignItems: 'center', borderBottom: '1px solid #E5E7EB', paddingLeft: 14 }}&gt;&#10;      &lt;Text style={{ fontSize: 13.5, color: '#1A2230', width: 130 }}&gt;检索&lt;/Text&gt;&#10;      &lt;Text style={{ fontSize: 13.5, fontWeight: 'bold', color: '#1E4FA8', width: 250 }}&gt;trigram 全文 + 向量 + LIKE + 加权 RRF&lt;/Text&gt;&#10;      &lt;Text style={{ fontSize: 13, color: '#4A5568', width: 320 }}&gt;中文短词、同义异名、语义近似的多路覆盖&lt;/Text&gt;&#10;      &lt;Text style={{ fontSize: 13, color: '#4A5568', width: 390 }}&gt;纯向量会漏专有名词与两字词，纯关键词漏同义&lt;/Text&gt;&#10;    &lt;/Box&gt;&#10;&#10;    &lt;Box style={{ flexDirection: 'row', height: 58, alignItems: 'center', borderBottom: '1px solid #E5E7EB', paddingLeft: 14 }}&gt;&#10;      &lt;Text style={{ fontSize: 13.5, color: '#1A2230', width: 130 }}&gt;前端&lt;/Text&gt;&#10;      &lt;Text style={{ fontSize: 13.5, fontWeight: 'bold', color: '#1E4FA8', width: 250 }}&gt;Next.js 16（App Router）&lt;/Text&gt;&#10;      &lt;Text style={{ fontSize: 13, color: '#4A5568', width: 320 }}&gt;页面路由、流式渲染、交互态管理&lt;/Text&gt;&#10;      &lt;Text style={{ fontSize: 13, color: '#4A5568', width: 390 }}&gt;纯 SPA 处理流式与多页状态更绕&lt;/Text&gt;&#10;    &lt;/Box&gt;&#10;&#10;    &lt;Box style={{ flexDirection: 'row', height: 58, alignItems: 'center', paddingLeft: 14 }}&gt;&#10;      &lt;Text style={{ fontSize: 13.5, color: '#1A2230', width: 130 }}&gt;工具协议&lt;/Text&gt;&#10;      &lt;Text style={{ fontSize: 13.5, fontWeight: 'bold', color: '#1E4FA8', width: 250 }}&gt;MCP（自写 stdio 客户端）&lt;/Text&gt;&#10;      &lt;Text style={{ fontSize: 13, color: '#4A5568', width: 320 }}&gt;外部工具即插即用、跨宿主复用&lt;/Text&gt;&#10;      &lt;Text style={{ fontSize: 13, color: '#4A5568', width: 390 }}&gt;自研协议没有生态，也谈不上复用&lt;/Text&gt;&#10;    &lt;/Box&gt;&#10;&#10;  &lt;/Box&gt;&#10;&#10;  &lt;Box style={{ position: 'absolute', left: 76, top: 596, width: 1128, height: 46, background: '#F0F5FC', borderRadius: 8, justifyContent: 'center', alignItems: 'center' }}&gt;&#10;    &lt;Text style={{ fontSize: 14, color: '#1E4FA8' }}&gt;&#10;      结果：整条链路可在离线状态跑通（测试与评测零 API 消耗），这是能反复验证的前提&#10;    &lt;/Text&gt;&#10;  &lt;/Box&gt;&#10;&#10;  &lt;Box style={{ position: 'absolute', left: 76, bottom: 24, width: 1128, height: 22, flexDirection: 'row', alignItems: 'center', justifyContent: 'space-between' }}&gt;&#10;    &lt;Text style={{ fontSize: 13, color: '#8B97A8' }}&gt;知迹 · 基于大模型智能体的 AI 教育学习系统&lt;/Text&gt;&#10;    &lt;Text style={{ fontSize: 14, fontWeight: 'bold', color: '#0E3F8C' }}&gt;04 / 12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85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02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技术选型与架构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723900" y="876300"/>
            <a:ext cx="10744200" cy="3619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325" b="1">
                <a:solidFill>
                  <a:srgbClr val="0E3F8C"/>
                </a:solidFill>
                <a:latin typeface="PingFang SC"/>
                <a:ea typeface="PingFang SC"/>
              </a:rPr>
              <a:t>选型原则是「零运维、可离线、可评测」，不是追新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723900" y="1333500"/>
            <a:ext cx="107442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>
                <a:solidFill>
                  <a:srgbClr val="4A5568"/>
                </a:solidFill>
                <a:latin typeface="PingFang SC"/>
                <a:ea typeface="PingFang SC"/>
              </a:rPr>
              <a:t>每一层都写清「承担什么」与「为什么不用更常见的替代方案」，便于评审追问</a:t>
            </a:r>
            <a:endParaRPr/>
          </a:p>
        </p:txBody>
      </p:sp>
      <p:sp>
        <p:nvSpPr>
          <p:cNvPr id="190" name=""/>
          <p:cNvSpPr/>
          <p:nvPr/>
        </p:nvSpPr>
        <p:spPr>
          <a:xfrm rot="0" flipH="0" flipV="0">
            <a:off x="723900" y="1771650"/>
            <a:ext cx="10744200" cy="381000"/>
          </a:xfrm>
          <a:prstGeom prst="roundRect">
            <a:avLst>
              <a:gd name="adj" fmla="val 1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857250" y="1885950"/>
            <a:ext cx="1238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FFFFFF"/>
                </a:solidFill>
                <a:latin typeface="PingFang SC"/>
                <a:ea typeface="PingFang SC"/>
              </a:rPr>
              <a:t>层次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2095500" y="1885950"/>
            <a:ext cx="2381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FFFFFF"/>
                </a:solidFill>
                <a:latin typeface="PingFang SC"/>
                <a:ea typeface="PingFang SC"/>
              </a:rPr>
              <a:t>选型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4476750" y="1885950"/>
            <a:ext cx="3048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FFFFFF"/>
                </a:solidFill>
                <a:latin typeface="PingFang SC"/>
                <a:ea typeface="PingFang SC"/>
              </a:rPr>
              <a:t>承担什么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7524750" y="1885950"/>
            <a:ext cx="3714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FFFFFF"/>
                </a:solidFill>
                <a:latin typeface="PingFang SC"/>
                <a:ea typeface="PingFang SC"/>
              </a:rPr>
              <a:t>为什么不选更常见的替代方案</a:t>
            </a:r>
            <a:endParaRPr/>
          </a:p>
        </p:txBody>
      </p:sp>
      <p:sp>
        <p:nvSpPr>
          <p:cNvPr id="195" name=""/>
          <p:cNvSpPr/>
          <p:nvPr/>
        </p:nvSpPr>
        <p:spPr>
          <a:xfrm rot="0" flipH="0" flipV="0">
            <a:off x="723900" y="2190750"/>
            <a:ext cx="10744200" cy="552450"/>
          </a:xfrm>
          <a:custGeom>
            <a:pathLst>
              <a:path w="1128" h="58">
                <a:moveTo>
                  <a:pt x="0" y="57"/>
                </a:moveTo>
                <a:lnTo>
                  <a:pt x="1128" y="57"/>
                </a:lnTo>
                <a:lnTo>
                  <a:pt x="1128" y="58"/>
                </a:lnTo>
                <a:lnTo>
                  <a:pt x="0" y="58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857250" y="2381250"/>
            <a:ext cx="1238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1A2230"/>
                </a:solidFill>
                <a:latin typeface="PingFang SC"/>
                <a:ea typeface="PingFang SC"/>
              </a:rPr>
              <a:t>编排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2095500" y="2381250"/>
            <a:ext cx="2381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PingFang SC"/>
                <a:ea typeface="PingFang SC"/>
              </a:rPr>
              <a:t xml:space="preserve">LangGraph </a:t>
            </a:r>
            <a:r>
              <a:rPr lang="zh-CN" sz="1013" b="1">
                <a:solidFill>
                  <a:srgbClr val="1E4FA8"/>
                </a:solidFill>
                <a:latin typeface="PingFang SC"/>
                <a:ea typeface="PingFang SC"/>
              </a:rPr>
              <a:t>显式状态图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4476750" y="2390775"/>
            <a:ext cx="3048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回合路由、工具循环、检查点、中断恢复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7524750" y="2390775"/>
            <a:ext cx="3714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自研状态机要重复实现断点与中断，成本更高</a:t>
            </a:r>
            <a:endParaRPr/>
          </a:p>
        </p:txBody>
      </p:sp>
      <p:sp>
        <p:nvSpPr>
          <p:cNvPr id="200" name=""/>
          <p:cNvSpPr/>
          <p:nvPr/>
        </p:nvSpPr>
        <p:spPr>
          <a:xfrm rot="0" flipH="0" flipV="0">
            <a:off x="723900" y="2743200"/>
            <a:ext cx="10744200" cy="552450"/>
          </a:xfrm>
          <a:custGeom>
            <a:pathLst>
              <a:path w="1128" h="58">
                <a:moveTo>
                  <a:pt x="0" y="57"/>
                </a:moveTo>
                <a:lnTo>
                  <a:pt x="1128" y="57"/>
                </a:lnTo>
                <a:lnTo>
                  <a:pt x="1128" y="58"/>
                </a:lnTo>
                <a:lnTo>
                  <a:pt x="0" y="58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857250" y="2933700"/>
            <a:ext cx="1238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1A2230"/>
                </a:solidFill>
                <a:latin typeface="PingFang SC"/>
                <a:ea typeface="PingFang SC"/>
              </a:rPr>
              <a:t>服务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2095500" y="2933700"/>
            <a:ext cx="2381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PingFang SC"/>
                <a:ea typeface="PingFang SC"/>
              </a:rPr>
              <a:t>FastAPI + SSE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4476750" y="2943225"/>
            <a:ext cx="3048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流式下发步骤、回传人工确认结果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7524750" y="2943225"/>
            <a:ext cx="3714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同步框架难以做到「边算边推」，过程不可见</a:t>
            </a:r>
            <a:endParaRPr/>
          </a:p>
        </p:txBody>
      </p:sp>
      <p:sp>
        <p:nvSpPr>
          <p:cNvPr id="205" name=""/>
          <p:cNvSpPr/>
          <p:nvPr/>
        </p:nvSpPr>
        <p:spPr>
          <a:xfrm rot="0" flipH="0" flipV="0">
            <a:off x="723900" y="3295650"/>
            <a:ext cx="10744200" cy="552450"/>
          </a:xfrm>
          <a:custGeom>
            <a:pathLst>
              <a:path w="1128" h="58">
                <a:moveTo>
                  <a:pt x="0" y="57"/>
                </a:moveTo>
                <a:lnTo>
                  <a:pt x="1128" y="57"/>
                </a:lnTo>
                <a:lnTo>
                  <a:pt x="1128" y="58"/>
                </a:lnTo>
                <a:lnTo>
                  <a:pt x="0" y="58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857250" y="3486150"/>
            <a:ext cx="1238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1A2230"/>
                </a:solidFill>
                <a:latin typeface="PingFang SC"/>
                <a:ea typeface="PingFang SC"/>
              </a:rPr>
              <a:t>存储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2095500" y="3486150"/>
            <a:ext cx="2381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PingFang SC"/>
                <a:ea typeface="PingFang SC"/>
              </a:rPr>
              <a:t>SQLite</a:t>
            </a:r>
            <a:r>
              <a:rPr lang="zh-CN" sz="1013" b="1">
                <a:solidFill>
                  <a:srgbClr val="1E4FA8"/>
                </a:solidFill>
                <a:latin typeface="PingFang SC"/>
                <a:ea typeface="PingFang SC"/>
              </a:rPr>
              <a:t>（</a:t>
            </a:r>
            <a:r>
              <a:rPr lang="en-US" sz="1013" b="1">
                <a:solidFill>
                  <a:srgbClr val="1E4FA8"/>
                </a:solidFill>
                <a:latin typeface="PingFang SC"/>
                <a:ea typeface="PingFang SC"/>
              </a:rPr>
              <a:t xml:space="preserve">FTS5 + </a:t>
            </a:r>
            <a:r>
              <a:rPr lang="zh-CN" sz="1013" b="1">
                <a:solidFill>
                  <a:srgbClr val="1E4FA8"/>
                </a:solidFill>
                <a:latin typeface="PingFang SC"/>
                <a:ea typeface="PingFang SC"/>
              </a:rPr>
              <a:t>向量表）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4476750" y="3495675"/>
            <a:ext cx="3048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单文件承载全部业务数据与检索索引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7524750" y="3495675"/>
            <a:ext cx="3714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换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MySQL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会牺牲中文检索与离线演示，收益为零</a:t>
            </a:r>
            <a:endParaRPr/>
          </a:p>
        </p:txBody>
      </p:sp>
      <p:sp>
        <p:nvSpPr>
          <p:cNvPr id="210" name=""/>
          <p:cNvSpPr/>
          <p:nvPr/>
        </p:nvSpPr>
        <p:spPr>
          <a:xfrm rot="0" flipH="0" flipV="0">
            <a:off x="723900" y="3848100"/>
            <a:ext cx="10744200" cy="552450"/>
          </a:xfrm>
          <a:custGeom>
            <a:pathLst>
              <a:path w="1128" h="58">
                <a:moveTo>
                  <a:pt x="0" y="57"/>
                </a:moveTo>
                <a:lnTo>
                  <a:pt x="1128" y="57"/>
                </a:lnTo>
                <a:lnTo>
                  <a:pt x="1128" y="58"/>
                </a:lnTo>
                <a:lnTo>
                  <a:pt x="0" y="58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857250" y="4038600"/>
            <a:ext cx="1238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1A2230"/>
                </a:solidFill>
                <a:latin typeface="PingFang SC"/>
                <a:ea typeface="PingFang SC"/>
              </a:rPr>
              <a:t>检索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2095500" y="4038600"/>
            <a:ext cx="2381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PingFang SC"/>
                <a:ea typeface="PingFang SC"/>
              </a:rPr>
              <a:t xml:space="preserve">trigram </a:t>
            </a:r>
            <a:r>
              <a:rPr lang="zh-CN" sz="1013" b="1">
                <a:solidFill>
                  <a:srgbClr val="1E4FA8"/>
                </a:solidFill>
                <a:latin typeface="PingFang SC"/>
                <a:ea typeface="PingFang SC"/>
              </a:rPr>
              <a:t>全文</a:t>
            </a:r>
            <a:r>
              <a:rPr lang="en-US" sz="1013" b="1">
                <a:solidFill>
                  <a:srgbClr val="1E4FA8"/>
                </a:solidFill>
                <a:latin typeface="PingFang SC"/>
                <a:ea typeface="PingFang SC"/>
              </a:rPr>
              <a:t xml:space="preserve"> + </a:t>
            </a:r>
            <a:r>
              <a:rPr lang="zh-CN" sz="1013" b="1">
                <a:solidFill>
                  <a:srgbClr val="1E4FA8"/>
                </a:solidFill>
                <a:latin typeface="PingFang SC"/>
                <a:ea typeface="PingFang SC"/>
              </a:rPr>
              <a:t>向量</a:t>
            </a:r>
            <a:r>
              <a:rPr lang="en-US" sz="1013" b="1">
                <a:solidFill>
                  <a:srgbClr val="1E4FA8"/>
                </a:solidFill>
                <a:latin typeface="PingFang SC"/>
                <a:ea typeface="PingFang SC"/>
              </a:rPr>
              <a:t xml:space="preserve"> + LIKE + </a:t>
            </a:r>
            <a:r>
              <a:rPr lang="zh-CN" sz="1013" b="1">
                <a:solidFill>
                  <a:srgbClr val="1E4FA8"/>
                </a:solidFill>
                <a:latin typeface="PingFang SC"/>
                <a:ea typeface="PingFang SC"/>
              </a:rPr>
              <a:t>加权</a:t>
            </a:r>
            <a:r>
              <a:rPr lang="en-US" sz="1013" b="1">
                <a:solidFill>
                  <a:srgbClr val="1E4FA8"/>
                </a:solidFill>
                <a:latin typeface="PingFang SC"/>
                <a:ea typeface="PingFang SC"/>
              </a:rPr>
              <a:t xml:space="preserve"> RRF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4476750" y="4048125"/>
            <a:ext cx="3048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中文短词、同义异名、语义近似的多路覆盖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7524750" y="4048125"/>
            <a:ext cx="3714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纯向量会漏专有名词与两字词，纯关键词漏同义</a:t>
            </a:r>
            <a:endParaRPr/>
          </a:p>
        </p:txBody>
      </p:sp>
      <p:sp>
        <p:nvSpPr>
          <p:cNvPr id="215" name=""/>
          <p:cNvSpPr/>
          <p:nvPr/>
        </p:nvSpPr>
        <p:spPr>
          <a:xfrm rot="0" flipH="0" flipV="0">
            <a:off x="723900" y="4400550"/>
            <a:ext cx="10744200" cy="552450"/>
          </a:xfrm>
          <a:custGeom>
            <a:pathLst>
              <a:path w="1128" h="58">
                <a:moveTo>
                  <a:pt x="0" y="57"/>
                </a:moveTo>
                <a:lnTo>
                  <a:pt x="1128" y="57"/>
                </a:lnTo>
                <a:lnTo>
                  <a:pt x="1128" y="58"/>
                </a:lnTo>
                <a:lnTo>
                  <a:pt x="0" y="58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857250" y="4591050"/>
            <a:ext cx="1238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1A2230"/>
                </a:solidFill>
                <a:latin typeface="PingFang SC"/>
                <a:ea typeface="PingFang SC"/>
              </a:rPr>
              <a:t>前端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2095500" y="4591050"/>
            <a:ext cx="2381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PingFang SC"/>
                <a:ea typeface="PingFang SC"/>
              </a:rPr>
              <a:t>Next.js 16</a:t>
            </a:r>
            <a:r>
              <a:rPr lang="zh-CN" sz="1013" b="1">
                <a:solidFill>
                  <a:srgbClr val="1E4FA8"/>
                </a:solidFill>
                <a:latin typeface="PingFang SC"/>
                <a:ea typeface="PingFang SC"/>
              </a:rPr>
              <a:t>（</a:t>
            </a:r>
            <a:r>
              <a:rPr lang="en-US" sz="1013" b="1">
                <a:solidFill>
                  <a:srgbClr val="1E4FA8"/>
                </a:solidFill>
                <a:latin typeface="PingFang SC"/>
                <a:ea typeface="PingFang SC"/>
              </a:rPr>
              <a:t>App Router</a:t>
            </a:r>
            <a:r>
              <a:rPr lang="zh-CN" sz="1013" b="1">
                <a:solidFill>
                  <a:srgbClr val="1E4FA8"/>
                </a:solidFill>
                <a:latin typeface="PingFang SC"/>
                <a:ea typeface="PingFang SC"/>
              </a:rPr>
              <a:t>）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4476750" y="4600575"/>
            <a:ext cx="3048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页面路由、流式渲染、交互态管理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7524750" y="4600575"/>
            <a:ext cx="3714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纯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SPA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处理流式与多页状态更绕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857250" y="5153025"/>
            <a:ext cx="1238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1A2230"/>
                </a:solidFill>
                <a:latin typeface="PingFang SC"/>
                <a:ea typeface="PingFang SC"/>
              </a:rPr>
              <a:t>工具协议</a:t>
            </a:r>
            <a:endParaRPr/>
          </a:p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2095500" y="5153025"/>
            <a:ext cx="2381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PingFang SC"/>
                <a:ea typeface="PingFang SC"/>
              </a:rPr>
              <a:t>MCP</a:t>
            </a:r>
            <a:r>
              <a:rPr lang="zh-CN" sz="1013" b="1">
                <a:solidFill>
                  <a:srgbClr val="1E4FA8"/>
                </a:solidFill>
                <a:latin typeface="PingFang SC"/>
                <a:ea typeface="PingFang SC"/>
              </a:rPr>
              <a:t>（自写</a:t>
            </a:r>
            <a:r>
              <a:rPr lang="en-US" sz="1013" b="1">
                <a:solidFill>
                  <a:srgbClr val="1E4FA8"/>
                </a:solidFill>
                <a:latin typeface="PingFang SC"/>
                <a:ea typeface="PingFang SC"/>
              </a:rPr>
              <a:t xml:space="preserve"> stdio </a:t>
            </a:r>
            <a:r>
              <a:rPr lang="zh-CN" sz="1013" b="1">
                <a:solidFill>
                  <a:srgbClr val="1E4FA8"/>
                </a:solidFill>
                <a:latin typeface="PingFang SC"/>
                <a:ea typeface="PingFang SC"/>
              </a:rPr>
              <a:t>客户端）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4476750" y="5153025"/>
            <a:ext cx="3048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外部工具即插即用、跨宿主复用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7524750" y="5153025"/>
            <a:ext cx="3714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自研协议没有生态，也谈不上复用</a:t>
            </a:r>
            <a:endParaRPr/>
          </a:p>
        </p:txBody>
      </p:sp>
      <p:sp>
        <p:nvSpPr>
          <p:cNvPr id="224" name=""/>
          <p:cNvSpPr/>
          <p:nvPr/>
        </p:nvSpPr>
        <p:spPr>
          <a:xfrm rot="0" flipH="0" flipV="0">
            <a:off x="723900" y="5676900"/>
            <a:ext cx="10744200" cy="438150"/>
          </a:xfrm>
          <a:prstGeom prst="roundRect">
            <a:avLst>
              <a:gd name="adj" fmla="val 1739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3552825" y="5819775"/>
            <a:ext cx="5095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1E4FA8"/>
                </a:solidFill>
                <a:latin typeface="PingFang SC"/>
                <a:ea typeface="PingFang SC"/>
              </a:rPr>
              <a:t>结果：整条链路可在离线状态跑通（测试与评测零</a:t>
            </a:r>
            <a:r>
              <a:rPr lang="en-US" sz="1050">
                <a:solidFill>
                  <a:srgbClr val="1E4FA8"/>
                </a:solidFill>
                <a:latin typeface="PingFang SC"/>
                <a:ea typeface="PingFang SC"/>
              </a:rPr>
              <a:t xml:space="preserve"> API </a:t>
            </a:r>
            <a:r>
              <a:rPr lang="zh-CN" sz="1050">
                <a:solidFill>
                  <a:srgbClr val="1E4FA8"/>
                </a:solidFill>
                <a:latin typeface="PingFang SC"/>
                <a:ea typeface="PingFang SC"/>
              </a:rPr>
              <a:t>消耗），这是能反复验证的前提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2447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11010900" y="64484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04 / 12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228" name="" descr="&lt;Slide style={{ width: 1280, height: 720, background: '#FFFFFF', padding: 0, position: 'relative', fontFamily: 'PingFang SC' }}&gt;&#10;&#10;  &lt;Box style={{ position: 'absolute', top: 0, left: 0, width: 1280, height: 64, background: '#1E4FA8' }} /&gt;&#10;  &lt;Text style={{ position: 'absolute', left: 76, top: 21, fontSize: 15, color: '#C9D8EF', letterSpacing: 1 }}&gt;知迹 · 答辩汇报&lt;/Text&gt;&#10;  &lt;Text style={{ position: 'absolute', left: 1010, top: 21, width: 194, textAlign: 'right', fontSize: 15, color: '#C9D8EF' }}&gt;02 · 技术选型与架构&lt;/Text&gt;&#10;&#10;  &lt;Box style={{ position: 'absolute', left: 76, top: 92, width: 1128 }}&gt;&#10;    &lt;Text style={{ fontSize: 31, fontWeight: 'bold', color: '#0E3F8C' }}&gt;依赖单向朝内、回合画成图：可维护性与可解释性同时成立&lt;/Text&gt;&#10;    &lt;Text style={{ fontSize: 15.5, color: '#4A5568', marginTop: 10 }}&gt;左：四层边界（谁可以依赖谁）；右：一次学习回合的四个节点（停在哪、从哪续）&lt;/Text&gt;&#10;  &lt;/Box&gt;&#10;&#10;  &lt;Box style={{ position: 'absolute', left: 76, top: 190, width: 640, height: 372, flexDirection: 'column' }}&gt;&#10;&#10;    &lt;Text style={{ fontSize: 13.5, color: '#3D7BD9', letterSpacing: 1.5 }}&gt;四层边界　依赖只朝内&lt;/Text&gt;&#10;&#10;    &lt;Box style={{ flexDirection: 'column', marginTop: 12, gap: 8 }}&gt;&#10;&#10;      &lt;Box style={{ width: 640, height: 54, background: '#F0F5FC', borderLeft: '4px solid #1E4FA8', flexDirection: 'row', alignItems: 'center', paddingLeft: 14, gap: 10 }}&gt;&#10;        &lt;Text style={{ fontSize: 14, fontWeight: 'bold', color: '#1E4FA8', width: 120 }}&gt;interfaces&lt;/Text&gt;&#10;        &lt;Text style={{ fontSize: 13, color: '#4A5568', width: 480 }}&gt;API 与流式接口（组合根，唯一允许依赖全部的一层）&lt;/Text&gt;&#10;      &lt;/Box&gt;&#10;&#10;      &lt;Box style={{ width: 590, height: 54, background: '#F0F5FC', borderLeft: '4px solid #1E4FA8', flexDirection: 'row', alignItems: 'center', paddingLeft: 14, gap: 10 }}&gt;&#10;        &lt;Text style={{ fontSize: 14, fontWeight: 'bold', color: '#1E4FA8', width: 120 }}&gt;application&lt;/Text&gt;&#10;        &lt;Text style={{ fontSize: 13, color: '#4A5568', width: 430 }}&gt;用例编排、端口定义、LangGraph 状态图&lt;/Text&gt;&#10;      &lt;/Box&gt;&#10;&#10;      &lt;Box style={{ width: 540, height: 54, background: '#E8EFF8', borderLeft: '4px solid #1E4FA8', flexDirection: 'row', alignItems: 'center', paddingLeft: 14, gap: 10 }}&gt;&#10;        &lt;Text style={{ fontSize: 14, fontWeight: 'bold', color: '#1E4FA8', width: 120 }}&gt;domain&lt;/Text&gt;&#10;        &lt;Text style={{ fontSize: 13, color: '#4A5568', width: 380 }}&gt;纯函数：路由、切块、融合排序、排期、护栏&lt;/Text&gt;&#10;      &lt;/Box&gt;&#10;&#10;      &lt;Box style={{ width: 490, height: 54, background: '#F7F9FC', borderLeft: '4px solid #3D7BD9', flexDirection: 'row', alignItems: 'center', paddingLeft: 14, gap: 10 }}&gt;&#10;        &lt;Text style={{ fontSize: 14, fontWeight: 'bold', color: '#3D7BD9', width: 120 }}&gt;infrastructure&lt;/Text&gt;&#10;        &lt;Text style={{ fontSize: 13, color: '#4A5568', width: 330 }}&gt;SQLite、模型调用、向量、文件解析&lt;/Text&gt;&#10;      &lt;/Box&gt;&#10;&#10;    &lt;/Box&gt;&#10;&#10;    &lt;Text style={{ fontSize: 13.5, color: '#4A5568', lineHeight: 1.7, marginTop: 16 }}&gt;&#10;      收益：领域层不依赖网络与模型，因此检索权重、排期规则可以在离线状态下被单测覆盖——284 项测试正是建立在这条边界上。&#10;    &lt;/Text&gt;&#10;&#10;  &lt;/Box&gt;&#10;&#10;  &lt;Box style={{ position: 'absolute', left: 756, top: 190, width: 448, height: 372, flexDirection: 'column' }}&gt;&#10;&#10;    &lt;Text style={{ fontSize: 13.5, color: '#3D7BD9', letterSpacing: 1.5 }}&gt;一次回合　四个节点&lt;/Text&gt;&#10;&#10;    &lt;Box style={{ flexDirection: 'column', marginTop: 12, gap: 6 }}&gt;&#10;&#10;      &lt;Box style={{ height: 56, background: '#F7F9FC', borderRadius: 6, flexDirection: 'row', alignItems: 'center', paddingLeft: 14, gap: 10 }}&gt;&#10;        &lt;Text style={{ fontSize: 13, fontWeight: 'bold', color: '#1E4FA8', width: 74 }}&gt;route&lt;/Text&gt;&#10;        &lt;Text style={{ fontSize: 13, color: '#4A5568', width: 330 }}&gt;判意图：讲解 / 练习 / 规划 / 检索 / 计算&lt;/Text&gt;&#10;      &lt;/Box&gt;&#10;&#10;      &lt;Box style={{ height: 56, background: '#F7F9FC', borderRadius: 6, flexDirection: 'row', alignItems: 'center', paddingLeft: 14, gap: 10 }}&gt;&#10;        &lt;Text style={{ fontSize: 13, fontWeight: 'bold', color: '#1E4FA8', width: 74 }}&gt;plan&lt;/Text&gt;&#10;        &lt;Text style={{ fontSize: 13, color: '#4A5568', width: 330 }}&gt;复杂任务才规划，简单请求直接进模型&lt;/Text&gt;&#10;      &lt;/Box&gt;&#10;&#10;      &lt;Box style={{ height: 56, background: '#E8EFF8', borderRadius: 6, flexDirection: 'row', alignItems: 'center', paddingLeft: 14, gap: 10 }}&gt;&#10;        &lt;Text style={{ fontSize: 13, fontWeight: 'bold', color: '#1E4FA8', width: 74 }}&gt;agent&lt;/Text&gt;&#10;        &lt;Text style={{ fontSize: 13, color: '#4A5568', width: 330 }}&gt;模型推理，决定调哪个工具&lt;/Text&gt;&#10;      &lt;/Box&gt;&#10;&#10;      &lt;Box style={{ height: 56, background: '#F0F5FC', borderRadius: 6, flexDirection: 'row', alignItems: 'center', paddingLeft: 14, gap: 10 }}&gt;&#10;        &lt;Text style={{ fontSize: 13, fontWeight: 'bold', color: '#1E4FA8', width: 74 }}&gt;tools&lt;/Text&gt;&#10;        &lt;Text style={{ fontSize: 13, color: '#4A5568', width: 330 }}&gt;执行工具、回填结果，可回到 agent&lt;/Text&gt;&#10;      &lt;/Box&gt;&#10;&#10;    &lt;/Box&gt;&#10;&#10;    &lt;Text style={{ fontSize: 13.5, color: '#4A5568', lineHeight: 1.7, marginTop: 14 }}&gt;&#10;      每个节点执行后都落一次检查点：这就是「关掉页面还能接着跑」与「写库前停下等你确认」共同的技术前提。&#10;    &lt;/Text&gt;&#10;&#10;  &lt;/Box&gt;&#10;&#10;  &lt;Box style={{ position: 'absolute', left: 76, top: 588, width: 1128, height: 46, background: '#0E3F8C', borderRadius: 8, justifyContent: 'center', alignItems: 'center' }}&gt;&#10;    &lt;Text style={{ fontSize: 14, color: '#FFFFFF' }}&gt;&#10;      评审关注点：为什么不分微服务？—— 单机单用户场景下，分层足以隔离变化，微服务只会增加部署与调试成本&#10;    &lt;/Text&gt;&#10;  &lt;/Box&gt;&#10;&#10;  &lt;Box style={{ position: 'absolute', left: 76, bottom: 24, width: 1128, height: 22, flexDirection: 'row', alignItems: 'center', justifyContent: 'space-between' }}&gt;&#10;    &lt;Text style={{ fontSize: 13, color: '#8B97A8' }}&gt;知迹 · 基于大模型智能体的 AI 教育学习系统&lt;/Text&gt;&#10;    &lt;Text style={{ fontSize: 14, fontWeight: 'bold', color: '#0E3F8C' }}&gt;05 / 11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0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02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技术选型与架构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723900" y="876300"/>
            <a:ext cx="10744200" cy="3619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325" b="1">
                <a:solidFill>
                  <a:srgbClr val="0E3F8C"/>
                </a:solidFill>
                <a:latin typeface="PingFang SC"/>
                <a:ea typeface="PingFang SC"/>
              </a:rPr>
              <a:t>依赖单向朝内、回合画成图：可维护性与可解释性同时成立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723900" y="1333500"/>
            <a:ext cx="107442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>
                <a:solidFill>
                  <a:srgbClr val="4A5568"/>
                </a:solidFill>
                <a:latin typeface="PingFang SC"/>
                <a:ea typeface="PingFang SC"/>
              </a:rPr>
              <a:t>左：四层边界（谁可以依赖谁）；右：一次学习回合的四个节点（停在哪、从哪续）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723900" y="1809750"/>
            <a:ext cx="6096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spc="113">
                <a:solidFill>
                  <a:srgbClr val="3D7BD9"/>
                </a:solidFill>
                <a:latin typeface="PingFang SC"/>
                <a:ea typeface="PingFang SC"/>
              </a:rPr>
              <a:t>四层边界　依赖只朝内</a:t>
            </a:r>
            <a:endParaRPr/>
          </a:p>
        </p:txBody>
      </p:sp>
      <p:sp>
        <p:nvSpPr>
          <p:cNvPr id="236" name=""/>
          <p:cNvSpPr/>
          <p:nvPr/>
        </p:nvSpPr>
        <p:spPr>
          <a:xfrm rot="0" flipH="0" flipV="0">
            <a:off x="762000" y="2085975"/>
            <a:ext cx="6057900" cy="51435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37" name=""/>
          <p:cNvSpPr/>
          <p:nvPr/>
        </p:nvSpPr>
        <p:spPr>
          <a:xfrm rot="0" flipH="0" flipV="0">
            <a:off x="723900" y="2085975"/>
            <a:ext cx="6096000" cy="514350"/>
          </a:xfrm>
          <a:custGeom>
            <a:pathLst>
              <a:path w="640" h="54">
                <a:moveTo>
                  <a:pt x="0" y="0"/>
                </a:moveTo>
                <a:lnTo>
                  <a:pt x="4" y="0"/>
                </a:lnTo>
                <a:lnTo>
                  <a:pt x="4" y="54"/>
                </a:lnTo>
                <a:lnTo>
                  <a:pt x="0" y="54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895350" y="2266950"/>
            <a:ext cx="1143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PingFang SC"/>
                <a:ea typeface="PingFang SC"/>
              </a:rPr>
              <a:t>interfaces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2133600" y="2266950"/>
            <a:ext cx="4572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API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与流式接口（组合根，唯一允许依赖全部的一层）</a:t>
            </a:r>
            <a:endParaRPr/>
          </a:p>
        </p:txBody>
      </p:sp>
      <p:sp>
        <p:nvSpPr>
          <p:cNvPr id="240" name=""/>
          <p:cNvSpPr/>
          <p:nvPr/>
        </p:nvSpPr>
        <p:spPr>
          <a:xfrm rot="0" flipH="0" flipV="0">
            <a:off x="762000" y="2676525"/>
            <a:ext cx="5581650" cy="51435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41" name=""/>
          <p:cNvSpPr/>
          <p:nvPr/>
        </p:nvSpPr>
        <p:spPr>
          <a:xfrm rot="0" flipH="0" flipV="0">
            <a:off x="723900" y="2676525"/>
            <a:ext cx="5619750" cy="514350"/>
          </a:xfrm>
          <a:custGeom>
            <a:pathLst>
              <a:path w="590" h="54">
                <a:moveTo>
                  <a:pt x="0" y="0"/>
                </a:moveTo>
                <a:lnTo>
                  <a:pt x="4" y="0"/>
                </a:lnTo>
                <a:lnTo>
                  <a:pt x="4" y="54"/>
                </a:lnTo>
                <a:lnTo>
                  <a:pt x="0" y="54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895350" y="2857500"/>
            <a:ext cx="1143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PingFang SC"/>
                <a:ea typeface="PingFang SC"/>
              </a:rPr>
              <a:t>application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2133600" y="2857500"/>
            <a:ext cx="409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用例编排、端口定义、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LangGraph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状态图</a:t>
            </a:r>
            <a:endParaRPr/>
          </a:p>
        </p:txBody>
      </p:sp>
      <p:sp>
        <p:nvSpPr>
          <p:cNvPr id="244" name=""/>
          <p:cNvSpPr/>
          <p:nvPr/>
        </p:nvSpPr>
        <p:spPr>
          <a:xfrm rot="0" flipH="0" flipV="0">
            <a:off x="762000" y="3267075"/>
            <a:ext cx="5105400" cy="5143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45" name=""/>
          <p:cNvSpPr/>
          <p:nvPr/>
        </p:nvSpPr>
        <p:spPr>
          <a:xfrm rot="0" flipH="0" flipV="0">
            <a:off x="723900" y="3267075"/>
            <a:ext cx="5143500" cy="514350"/>
          </a:xfrm>
          <a:custGeom>
            <a:pathLst>
              <a:path w="540" h="54">
                <a:moveTo>
                  <a:pt x="0" y="0"/>
                </a:moveTo>
                <a:lnTo>
                  <a:pt x="4" y="0"/>
                </a:lnTo>
                <a:lnTo>
                  <a:pt x="4" y="54"/>
                </a:lnTo>
                <a:lnTo>
                  <a:pt x="0" y="54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895350" y="3448050"/>
            <a:ext cx="1143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PingFang SC"/>
                <a:ea typeface="PingFang SC"/>
              </a:rPr>
              <a:t>domain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2133600" y="3448050"/>
            <a:ext cx="3619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纯函数：路由、切块、融合排序、排期、护栏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762000" y="3857625"/>
            <a:ext cx="4629150" cy="5143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49" name=""/>
          <p:cNvSpPr/>
          <p:nvPr/>
        </p:nvSpPr>
        <p:spPr>
          <a:xfrm rot="0" flipH="0" flipV="0">
            <a:off x="723900" y="3857625"/>
            <a:ext cx="4667250" cy="514350"/>
          </a:xfrm>
          <a:custGeom>
            <a:pathLst>
              <a:path w="490" h="54">
                <a:moveTo>
                  <a:pt x="0" y="0"/>
                </a:moveTo>
                <a:lnTo>
                  <a:pt x="4" y="0"/>
                </a:lnTo>
                <a:lnTo>
                  <a:pt x="4" y="54"/>
                </a:lnTo>
                <a:lnTo>
                  <a:pt x="0" y="54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895350" y="4038600"/>
            <a:ext cx="1143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3D7BD9"/>
                </a:solidFill>
                <a:latin typeface="PingFang SC"/>
                <a:ea typeface="PingFang SC"/>
              </a:rPr>
              <a:t>infrastructure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2133600" y="4038600"/>
            <a:ext cx="3143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>SQLite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、模型调用、向量、文件解析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723900" y="4524375"/>
            <a:ext cx="60960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收益：领域层不依赖网络与模型，因此检索权重、排期规则可以在离线状态下被单测覆盖——</a:t>
            </a:r>
            <a:r>
              <a:rPr lang="en-US" sz="1013">
                <a:solidFill>
                  <a:srgbClr val="4A5568"/>
                </a:solidFill>
                <a:latin typeface="PingFang SC"/>
                <a:ea typeface="PingFang SC"/>
              </a:rPr>
              <a:t xml:space="preserve">284 </a:t>
            </a: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项测试正是建立在这条边界上。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7200900" y="1809750"/>
            <a:ext cx="426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spc="113">
                <a:solidFill>
                  <a:srgbClr val="3D7BD9"/>
                </a:solidFill>
                <a:latin typeface="PingFang SC"/>
                <a:ea typeface="PingFang SC"/>
              </a:rPr>
              <a:t>一次回合　四个节点</a:t>
            </a:r>
            <a:endParaRPr/>
          </a:p>
        </p:txBody>
      </p:sp>
      <p:sp>
        <p:nvSpPr>
          <p:cNvPr id="254" name=""/>
          <p:cNvSpPr/>
          <p:nvPr/>
        </p:nvSpPr>
        <p:spPr>
          <a:xfrm rot="0" flipH="0" flipV="0">
            <a:off x="7200900" y="2085975"/>
            <a:ext cx="4267200" cy="533400"/>
          </a:xfrm>
          <a:prstGeom prst="roundRect">
            <a:avLst>
              <a:gd name="adj" fmla="val 1071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7334250" y="2276475"/>
            <a:ext cx="704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PingFang SC"/>
                <a:ea typeface="PingFang SC"/>
              </a:rPr>
              <a:t>route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8134350" y="2276475"/>
            <a:ext cx="3143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判意图：讲解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练习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规划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检索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计算</a:t>
            </a:r>
            <a:endParaRPr/>
          </a:p>
        </p:txBody>
      </p:sp>
      <p:sp>
        <p:nvSpPr>
          <p:cNvPr id="257" name=""/>
          <p:cNvSpPr/>
          <p:nvPr/>
        </p:nvSpPr>
        <p:spPr>
          <a:xfrm rot="0" flipH="0" flipV="0">
            <a:off x="7200900" y="2676525"/>
            <a:ext cx="4267200" cy="533400"/>
          </a:xfrm>
          <a:prstGeom prst="roundRect">
            <a:avLst>
              <a:gd name="adj" fmla="val 1071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7334250" y="2867025"/>
            <a:ext cx="704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PingFang SC"/>
                <a:ea typeface="PingFang SC"/>
              </a:rPr>
              <a:t>plan</a:t>
            </a:r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8134350" y="2867025"/>
            <a:ext cx="3143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复杂任务才规划，简单请求直接进模型</a:t>
            </a:r>
            <a:endParaRPr/>
          </a:p>
        </p:txBody>
      </p:sp>
      <p:sp>
        <p:nvSpPr>
          <p:cNvPr id="260" name=""/>
          <p:cNvSpPr/>
          <p:nvPr/>
        </p:nvSpPr>
        <p:spPr>
          <a:xfrm rot="0" flipH="0" flipV="0">
            <a:off x="7200900" y="3267075"/>
            <a:ext cx="4267200" cy="533400"/>
          </a:xfrm>
          <a:prstGeom prst="roundRect">
            <a:avLst>
              <a:gd name="adj" fmla="val 1071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7334250" y="3457575"/>
            <a:ext cx="704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PingFang SC"/>
                <a:ea typeface="PingFang SC"/>
              </a:rPr>
              <a:t>agent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8134350" y="3457575"/>
            <a:ext cx="3143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模型推理，决定调哪个工具</a:t>
            </a:r>
            <a:endParaRPr/>
          </a:p>
        </p:txBody>
      </p:sp>
      <p:sp>
        <p:nvSpPr>
          <p:cNvPr id="263" name=""/>
          <p:cNvSpPr/>
          <p:nvPr/>
        </p:nvSpPr>
        <p:spPr>
          <a:xfrm rot="0" flipH="0" flipV="0">
            <a:off x="7200900" y="3857625"/>
            <a:ext cx="4267200" cy="533400"/>
          </a:xfrm>
          <a:prstGeom prst="roundRect">
            <a:avLst>
              <a:gd name="adj" fmla="val 10714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7334250" y="4048125"/>
            <a:ext cx="704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PingFang SC"/>
                <a:ea typeface="PingFang SC"/>
              </a:rPr>
              <a:t>tools</a:t>
            </a:r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8134350" y="4048125"/>
            <a:ext cx="3143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执行工具、回填结果，可回到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agent</a:t>
            </a:r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7200900" y="4524375"/>
            <a:ext cx="42672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每个节点执行后都落一次检查点：这就是「关掉页面还能接着跑」与「写库前停下等你确认」共同的技术前提。</a:t>
            </a:r>
            <a:endParaRPr/>
          </a:p>
        </p:txBody>
      </p:sp>
      <p:sp>
        <p:nvSpPr>
          <p:cNvPr id="267" name=""/>
          <p:cNvSpPr/>
          <p:nvPr/>
        </p:nvSpPr>
        <p:spPr>
          <a:xfrm rot="0" flipH="0" flipV="0">
            <a:off x="723900" y="5600700"/>
            <a:ext cx="10744200" cy="438150"/>
          </a:xfrm>
          <a:prstGeom prst="roundRect">
            <a:avLst>
              <a:gd name="adj" fmla="val 1739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2809875" y="5743575"/>
            <a:ext cx="65817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/>
                </a:solidFill>
                <a:latin typeface="PingFang SC"/>
                <a:ea typeface="PingFang SC"/>
              </a:rPr>
              <a:t>评审关注点：为什么不分微服务？——</a:t>
            </a:r>
            <a:r>
              <a:rPr lang="en-US" sz="1050">
                <a:solidFill>
                  <a:srgbClr val="FFFFFF"/>
                </a:solidFill>
                <a:latin typeface="PingFang SC"/>
                <a:ea typeface="PingFang SC"/>
              </a:rPr>
              <a:t xml:space="preserve"> </a:t>
            </a:r>
            <a:r>
              <a:rPr lang="zh-CN" sz="1050">
                <a:solidFill>
                  <a:srgbClr val="FFFFFF"/>
                </a:solidFill>
                <a:latin typeface="PingFang SC"/>
                <a:ea typeface="PingFang SC"/>
              </a:rPr>
              <a:t>单机单用户场景下，分层足以隔离变化，微服务只会增加部署与调试成本</a:t>
            </a:r>
            <a:endParaRPr/>
          </a:p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2447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11039475" y="6448425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05 / 11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271" name="" descr="&lt;Slide style={{ width: 1280, height: 720, background: '#FFFFFF', padding: 0, position: 'relative', fontFamily: 'PingFang SC' }}&gt;&#10;&#10;  &lt;Box style={{ position: 'absolute', top: 0, left: 0, width: 1280, height: 64, background: '#1E4FA8' }} /&gt;&#10;  &lt;Text style={{ position: 'absolute', left: 76, top: 21, fontSize: 15, color: '#C9D8EF', letterSpacing: 1 }}&gt;知迹 · 答辩汇报&lt;/Text&gt;&#10;  &lt;Text style={{ position: 'absolute', left: 1010, top: 21, width: 194, textAlign: 'right', fontSize: 15, color: '#C9D8EF' }}&gt;03 · 关键实现 ① 检索&lt;/Text&gt;&#10;&#10;  &lt;Box style={{ position: 'absolute', left: 76, top: 92, width: 1128 }}&gt;&#10;    &lt;Text style={{ fontSize: 31, fontWeight: 'bold', color: '#0E3F8C' }}&gt;四路召回同时补上「中文短词」与「同义异名」两类漏召回&lt;/Text&gt;&#10;    &lt;Text style={{ fontSize: 15.5, color: '#4A5568', marginTop: 10 }}&gt;四条通道不是堆料：每一条都对应一个实测过的漏召回场景，关掉任一条都能看到指标变化&lt;/Text&gt;&#10;  &lt;/Box&gt;&#10;&#10;  &lt;Box style={{ position: 'absolute', left: 76, top: 186, width: 1128, height: 150, flexDirection: 'row' }}&gt;&#10;&#10;    &lt;Box style={{ width: 256, flexDirection: 'column' }}&gt;&#10;      &lt;Text style={{ fontSize: 12.5, color: '#8B97A8' }}&gt;通道一&lt;/Text&gt;&#10;      &lt;Text style={{ fontSize: 16, fontWeight: 'bold', color: '#1A2230', marginTop: 6 }}&gt;原查询全文&lt;/Text&gt;&#10;      &lt;Text style={{ fontSize: 13, color: '#4A5568', lineHeight: 1.65, marginTop: 8 }}&gt;trigram 分词，中文也能命中&lt;/Text&gt;&#10;      &lt;Text style={{ fontSize: 12, color: '#D9534F', marginTop: 8 }}&gt;局限：错一个字就漏&lt;/Text&gt;&#10;    &lt;/Box&gt;&#10;&#10;    &lt;Box style={{ width: 1, height: 130, background: '#E5E7EB', marginLeft: 12, marginRight: 12 }} /&gt;&#10;&#10;    &lt;Box style={{ width: 256, flexDirection: 'column' }}&gt;&#10;      &lt;Text style={{ fontSize: 12.5, color: '#8B97A8' }}&gt;通道二&lt;/Text&gt;&#10;      &lt;Text style={{ fontSize: 16, fontWeight: 'bold', color: '#1A2230', marginTop: 6 }}&gt;同义 / 中英扩写&lt;/Text&gt;&#10;      &lt;Text style={{ fontSize: 13, color: '#4A5568', lineHeight: 1.65, marginTop: 8 }}&gt;本征值 → 特征值；queue → 队列&lt;/Text&gt;&#10;      &lt;Text style={{ fontSize: 12, color: '#D9534F', marginTop: 8 }}&gt;局限：靠词典，推断有噪声&lt;/Text&gt;&#10;    &lt;/Box&gt;&#10;&#10;    &lt;Box style={{ width: 1, height: 130, background: '#E5E7EB', marginLeft: 12, marginRight: 12 }} /&gt;&#10;&#10;    &lt;Box style={{ width: 256, flexDirection: 'column' }}&gt;&#10;      &lt;Text style={{ fontSize: 12.5, color: '#8B97A8' }}&gt;通道三&lt;/Text&gt;&#10;      &lt;Text style={{ fontSize: 16, fontWeight: 'bold', color: '#1A2230', marginTop: 6 }}&gt;两字词 LIKE&lt;/Text&gt;&#10;      &lt;Text style={{ fontSize: 13, color: '#4A5568', lineHeight: 1.65, marginTop: 8 }}&gt;「秩」「队列」进不了 trigram 索引&lt;/Text&gt;&#10;      &lt;Text style={{ fontSize: 12, color: '#D9534F', marginTop: 8 }}&gt;局限：按覆盖度排序，精度中等&lt;/Text&gt;&#10;    &lt;/Box&gt;&#10;&#10;    &lt;Box style={{ width: 1, height: 130, background: '#E5E7EB', marginLeft: 12, marginRight: 12 }} /&gt;&#10;&#10;    &lt;Box style={{ width: 256, flexDirection: 'column' }}&gt;&#10;      &lt;Text style={{ fontSize: 12.5, color: '#8B97A8' }}&gt;通道四&lt;/Text&gt;&#10;      &lt;Text style={{ fontSize: 16, fontWeight: 'bold', color: '#1A2230', marginTop: 6 }}&gt;向量语义&lt;/Text&gt;&#10;      &lt;Text style={{ fontSize: 13, color: '#4A5568', lineHeight: 1.65, marginTop: 8 }}&gt;字面全不同、意思相近仍可召回&lt;/Text&gt;&#10;      &lt;Text style={{ fontSize: 12, color: '#D9534F', marginTop: 8 }}&gt;局限：无真实模型时不可靠&lt;/Text&gt;&#10;    &lt;/Box&gt;&#10;&#10;  &lt;/Box&gt;&#10;&#10;  &lt;Box style={{ position: 'absolute', left: 76, top: 356, width: 1128, height: 92, flexDirection: 'row', gap: 20 }}&gt;&#10;&#10;    &lt;Box style={{ width: 554, flexDirection: 'column', borderLeft: '3px solid #1E4FA8', paddingLeft: 14 }}&gt;&#10;      &lt;Text style={{ fontSize: 15, fontWeight: 'bold', color: '#1A2230' }}&gt;融合：只按名次加权，不把分数硬加&lt;/Text&gt;&#10;      &lt;Text style={{ fontSize: 13, color: '#4A5568', lineHeight: 1.65, marginTop: 6 }}&gt;&#10;        关键词得分与余弦相似度单位不同，直接相加会让某一通道垄断结果。用加权名次融合（k=60），扩写通道降到 0.5。&#10;      &lt;/Text&gt;&#10;    &lt;/Box&gt;&#10;&#10;    &lt;Box style={{ width: 554, flexDirection: 'column', borderLeft: '3px solid #3D7BD9', paddingLeft: 14 }}&gt;&#10;      &lt;Text style={{ fontSize: 15, fontWeight: 'bold', color: '#1A2230' }}&gt;精排：融合后再按字面证据重排一次&lt;/Text&gt;&#10;      &lt;Text style={{ fontSize: 13, color: '#4A5568', lineHeight: 1.65, marginTop: 6 }}&gt;&#10;        原查询覆盖 0.50 / 扩写覆盖 0.15 / 标题命中 0.35；只调顺序，不增删候选。&#10;      &lt;/Text&gt;&#10;    &lt;/Box&gt;&#10;&#10;  &lt;/Box&gt;&#10;&#10;  &lt;Box style={{ position: 'absolute', left: 76, top: 466, width: 1128, height: 40, flexDirection: 'row', alignItems: 'center', background: '#1E4FA8', borderRadius: 6, paddingLeft: 14 }}&gt;&#10;    &lt;Text style={{ fontSize: 12.5, fontWeight: 'bold', color: '#FFFFFF', width: 300 }}&gt;消融口径（35 题 / 21 篇语料）&lt;/Text&gt;&#10;    &lt;Text style={{ fontSize: 12.5, fontWeight: 'bold', color: '#FFFFFF', width: 240 }}&gt;Hit@3&lt;/Text&gt;&#10;    &lt;Text style={{ fontSize: 12.5, fontWeight: 'bold', color: '#FFFFFF', width: 240 }}&gt;MRR&lt;/Text&gt;&#10;    &lt;Text style={{ fontSize: 12.5, fontWeight: 'bold', color: '#FFFFFF', width: 300 }}&gt;说明&lt;/Text&gt;&#10;  &lt;/Box&gt;&#10;&#10;  &lt;Box style={{ position: 'absolute', left: 76, top: 510, width: 1128, height: 108, flexDirection: 'column' }}&gt;&#10;&#10;    &lt;Box style={{ flexDirection: 'row', height: 52, alignItems: 'center', borderBottom: '1px solid #E5E7EB', paddingLeft: 14 }}&gt;&#10;      &lt;Text style={{ fontSize: 13.5, color: '#1A2230', width: 300 }}&gt;开启精排（当前默认）&lt;/Text&gt;&#10;      &lt;Text style={{ fontSize: 13.5, fontWeight: 'bold', color: '#1E4FA8', width: 240 }}&gt;0.9714&lt;/Text&gt;&#10;      &lt;Text style={{ fontSize: 13.5, fontWeight: 'bold', color: '#1E4FA8', width: 240 }}&gt;0.9714&lt;/Text&gt;&#10;      &lt;Text style={{ fontSize: 12.5, color: '#4A5568', width: 300 }}&gt;34 / 35 首次命中且全部排第 1&lt;/Text&gt;&#10;    &lt;/Box&gt;&#10;&#10;    &lt;Box style={{ flexDirection: 'row', height: 52, alignItems: 'center', paddingLeft: 14 }}&gt;&#10;      &lt;Text style={{ fontSize: 13.5, color: '#1A2230', width: 300 }}&gt;关闭精排（消融对照）&lt;/Text&gt;&#10;      &lt;Text style={{ fontSize: 13.5, color: '#4A5568', width: 240 }}&gt;0.9714&lt;/Text&gt;&#10;      &lt;Text style={{ fontSize: 13.5, color: '#D9534F', width: 240 }}&gt;0.9571&lt;/Text&gt;&#10;      &lt;Text style={{ fontSize: 12.5, color: '#4A5568', width: 300 }}&gt;命中数不变，排序质量下降&lt;/Text&gt;&#10;    &lt;/Box&gt;&#10;&#10;  &lt;/Box&gt;&#10;&#10;  &lt;Box style={{ position: 'absolute', left: 76, bottom: 24, width: 1128, height: 22, flexDirection: 'row', alignItems: 'center', justifyContent: 'space-between' }}&gt;&#10;    &lt;Text style={{ fontSize: 13, color: '#8B97A8' }}&gt;口径：确定性词面向量下测得；接真实向量模型时 35 题全中。第 N 页出处见 p9&lt;/Text&gt;&#10;    &lt;Text style={{ fontSize: 14, fontWeight: 'bold', color: '#0E3F8C' }}&gt;06 / 11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73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03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关键实现</a:t>
            </a: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 ①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检索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723900" y="876300"/>
            <a:ext cx="10744200" cy="3619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325" b="1">
                <a:solidFill>
                  <a:srgbClr val="0E3F8C"/>
                </a:solidFill>
                <a:latin typeface="PingFang SC"/>
                <a:ea typeface="PingFang SC"/>
              </a:rPr>
              <a:t>四路召回同时补上「中文短词」与「同义异名」两类漏召回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723900" y="1333500"/>
            <a:ext cx="107442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>
                <a:solidFill>
                  <a:srgbClr val="4A5568"/>
                </a:solidFill>
                <a:latin typeface="PingFang SC"/>
                <a:ea typeface="PingFang SC"/>
              </a:rPr>
              <a:t>四条通道不是堆料：每一条都对应一个实测过的漏召回场景，关掉任一条都能看到指标变化</a:t>
            </a:r>
            <a:endParaRPr/>
          </a:p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723900" y="1771650"/>
            <a:ext cx="2438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通道一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723900" y="1971675"/>
            <a:ext cx="2438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PingFang SC"/>
                <a:ea typeface="PingFang SC"/>
              </a:rPr>
              <a:t>原查询全文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723900" y="2238375"/>
            <a:ext cx="2438400" cy="2476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trigram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分词，中文也能命中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723900" y="2562225"/>
            <a:ext cx="2438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D9534F"/>
                </a:solidFill>
                <a:latin typeface="PingFang SC"/>
                <a:ea typeface="PingFang SC"/>
              </a:rPr>
              <a:t>局限：错一个字就漏</a:t>
            </a:r>
            <a:endParaRPr/>
          </a:p>
        </p:txBody>
      </p:sp>
      <p:sp>
        <p:nvSpPr>
          <p:cNvPr id="282" name=""/>
          <p:cNvSpPr/>
          <p:nvPr/>
        </p:nvSpPr>
        <p:spPr>
          <a:xfrm rot="0" flipH="0" flipV="0">
            <a:off x="3276600" y="1771650"/>
            <a:ext cx="9525" cy="123825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p/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3400425" y="1771650"/>
            <a:ext cx="2438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通道二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3400425" y="1971675"/>
            <a:ext cx="2438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PingFang SC"/>
                <a:ea typeface="PingFang SC"/>
              </a:rPr>
              <a:t>同义</a:t>
            </a:r>
            <a:r>
              <a:rPr lang="en-US" sz="1200" b="1">
                <a:solidFill>
                  <a:srgbClr val="1A2230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1200" b="1">
                <a:solidFill>
                  <a:srgbClr val="1A2230"/>
                </a:solidFill>
                <a:latin typeface="PingFang SC"/>
                <a:ea typeface="PingFang SC"/>
              </a:rPr>
              <a:t>中英扩写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3400425" y="2238375"/>
            <a:ext cx="2438400" cy="2476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本征值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→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特征值；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queue →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队列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3400425" y="2562225"/>
            <a:ext cx="2438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D9534F"/>
                </a:solidFill>
                <a:latin typeface="PingFang SC"/>
                <a:ea typeface="PingFang SC"/>
              </a:rPr>
              <a:t>局限：靠词典，推断有噪声</a:t>
            </a:r>
            <a:endParaRPr/>
          </a:p>
        </p:txBody>
      </p:sp>
      <p:sp>
        <p:nvSpPr>
          <p:cNvPr id="287" name=""/>
          <p:cNvSpPr/>
          <p:nvPr/>
        </p:nvSpPr>
        <p:spPr>
          <a:xfrm rot="0" flipH="0" flipV="0">
            <a:off x="5953125" y="1771650"/>
            <a:ext cx="9525" cy="123825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p/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6076950" y="1771650"/>
            <a:ext cx="2438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通道三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6076950" y="1971675"/>
            <a:ext cx="2438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PingFang SC"/>
                <a:ea typeface="PingFang SC"/>
              </a:rPr>
              <a:t>两字词</a:t>
            </a:r>
            <a:r>
              <a:rPr lang="en-US" sz="1200" b="1">
                <a:solidFill>
                  <a:srgbClr val="1A2230"/>
                </a:solidFill>
                <a:latin typeface="PingFang SC"/>
                <a:ea typeface="PingFang SC"/>
              </a:rPr>
              <a:t xml:space="preserve"> LIKE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6076950" y="2238375"/>
            <a:ext cx="2438400" cy="2476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「秩」「队列」进不了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trigram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索引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6076950" y="2562225"/>
            <a:ext cx="2438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D9534F"/>
                </a:solidFill>
                <a:latin typeface="PingFang SC"/>
                <a:ea typeface="PingFang SC"/>
              </a:rPr>
              <a:t>局限：按覆盖度排序，精度中等</a:t>
            </a:r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8629650" y="1771650"/>
            <a:ext cx="9525" cy="123825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p/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8753475" y="1771650"/>
            <a:ext cx="2438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通道四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8753475" y="1971675"/>
            <a:ext cx="2438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PingFang SC"/>
                <a:ea typeface="PingFang SC"/>
              </a:rPr>
              <a:t>向量语义</a:t>
            </a:r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8753475" y="2238375"/>
            <a:ext cx="2438400" cy="2476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字面全不同、意思相近仍可召回</a:t>
            </a:r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8753475" y="2562225"/>
            <a:ext cx="2438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D9534F"/>
                </a:solidFill>
                <a:latin typeface="PingFang SC"/>
                <a:ea typeface="PingFang SC"/>
              </a:rPr>
              <a:t>局限：无真实模型时不可靠</a:t>
            </a:r>
            <a:endParaRPr/>
          </a:p>
        </p:txBody>
      </p:sp>
      <p:sp>
        <p:nvSpPr>
          <p:cNvPr id="297" name=""/>
          <p:cNvSpPr/>
          <p:nvPr/>
        </p:nvSpPr>
        <p:spPr>
          <a:xfrm rot="0" flipH="0" flipV="0">
            <a:off x="723900" y="3390900"/>
            <a:ext cx="5276850" cy="876300"/>
          </a:xfrm>
          <a:custGeom>
            <a:pathLst>
              <a:path w="554" h="92">
                <a:moveTo>
                  <a:pt x="0" y="0"/>
                </a:moveTo>
                <a:lnTo>
                  <a:pt x="3" y="0"/>
                </a:lnTo>
                <a:lnTo>
                  <a:pt x="3" y="92"/>
                </a:lnTo>
                <a:lnTo>
                  <a:pt x="0" y="9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885825" y="3390900"/>
            <a:ext cx="5114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融合：只按名次加权，不把分数硬加</a:t>
            </a:r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885825" y="3619500"/>
            <a:ext cx="5114925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关键词得分与余弦相似度单位不同，直接相加会让某一通道垄断结果。用加权名次融合（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>k=60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），扩写通道降到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0.5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。</a:t>
            </a:r>
            <a:endParaRPr/>
          </a:p>
        </p:txBody>
      </p:sp>
      <p:sp>
        <p:nvSpPr>
          <p:cNvPr id="300" name=""/>
          <p:cNvSpPr/>
          <p:nvPr/>
        </p:nvSpPr>
        <p:spPr>
          <a:xfrm rot="0" flipH="0" flipV="0">
            <a:off x="6191250" y="3390900"/>
            <a:ext cx="5276850" cy="876300"/>
          </a:xfrm>
          <a:custGeom>
            <a:pathLst>
              <a:path w="554" h="92">
                <a:moveTo>
                  <a:pt x="0" y="0"/>
                </a:moveTo>
                <a:lnTo>
                  <a:pt x="3" y="0"/>
                </a:lnTo>
                <a:lnTo>
                  <a:pt x="3" y="92"/>
                </a:lnTo>
                <a:lnTo>
                  <a:pt x="0" y="92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6353175" y="3390900"/>
            <a:ext cx="5114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精排：融合后再按字面证据重排一次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6353175" y="3619500"/>
            <a:ext cx="5114925" cy="2476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原查询覆盖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0.50 /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扩写覆盖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0.15 /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标题命中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0.35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；只调顺序，不增删候选。</a:t>
            </a:r>
            <a:endParaRPr/>
          </a:p>
        </p:txBody>
      </p:sp>
      <p:sp>
        <p:nvSpPr>
          <p:cNvPr id="303" name=""/>
          <p:cNvSpPr/>
          <p:nvPr/>
        </p:nvSpPr>
        <p:spPr>
          <a:xfrm rot="0" flipH="0" flipV="0">
            <a:off x="723900" y="4438650"/>
            <a:ext cx="10744200" cy="381000"/>
          </a:xfrm>
          <a:prstGeom prst="roundRect">
            <a:avLst>
              <a:gd name="adj" fmla="val 1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857250" y="4562475"/>
            <a:ext cx="2857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FFFFFF"/>
                </a:solidFill>
                <a:latin typeface="PingFang SC"/>
                <a:ea typeface="PingFang SC"/>
              </a:rPr>
              <a:t>消融口径（</a:t>
            </a:r>
            <a:r>
              <a:rPr lang="en-US" sz="938" b="1">
                <a:solidFill>
                  <a:srgbClr val="FFFFFF"/>
                </a:solidFill>
                <a:latin typeface="PingFang SC"/>
                <a:ea typeface="PingFang SC"/>
              </a:rPr>
              <a:t xml:space="preserve">35 </a:t>
            </a:r>
            <a:r>
              <a:rPr lang="zh-CN" sz="938" b="1">
                <a:solidFill>
                  <a:srgbClr val="FFFFFF"/>
                </a:solidFill>
                <a:latin typeface="PingFang SC"/>
                <a:ea typeface="PingFang SC"/>
              </a:rPr>
              <a:t>题</a:t>
            </a:r>
            <a:r>
              <a:rPr lang="en-US" sz="938" b="1">
                <a:solidFill>
                  <a:srgbClr val="FFFFFF"/>
                </a:solidFill>
                <a:latin typeface="PingFang SC"/>
                <a:ea typeface="PingFang SC"/>
              </a:rPr>
              <a:t xml:space="preserve"> / 21 </a:t>
            </a:r>
            <a:r>
              <a:rPr lang="zh-CN" sz="938" b="1">
                <a:solidFill>
                  <a:srgbClr val="FFFFFF"/>
                </a:solidFill>
                <a:latin typeface="PingFang SC"/>
                <a:ea typeface="PingFang SC"/>
              </a:rPr>
              <a:t>篇语料）</a:t>
            </a:r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3714750" y="4562475"/>
            <a:ext cx="2286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FFFFFF"/>
                </a:solidFill>
                <a:latin typeface="PingFang SC"/>
                <a:ea typeface="PingFang SC"/>
              </a:rPr>
              <a:t>Hit@3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6000750" y="4562475"/>
            <a:ext cx="2286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FFFFFF"/>
                </a:solidFill>
                <a:latin typeface="PingFang SC"/>
                <a:ea typeface="PingFang SC"/>
              </a:rPr>
              <a:t>MRR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8286750" y="4562475"/>
            <a:ext cx="2857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FFFFFF"/>
                </a:solidFill>
                <a:latin typeface="PingFang SC"/>
                <a:ea typeface="PingFang SC"/>
              </a:rPr>
              <a:t>说明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723900" y="4857750"/>
            <a:ext cx="10744200" cy="495300"/>
          </a:xfrm>
          <a:custGeom>
            <a:pathLst>
              <a:path w="1128" h="52">
                <a:moveTo>
                  <a:pt x="0" y="51"/>
                </a:moveTo>
                <a:lnTo>
                  <a:pt x="1128" y="51"/>
                </a:lnTo>
                <a:lnTo>
                  <a:pt x="1128" y="52"/>
                </a:lnTo>
                <a:lnTo>
                  <a:pt x="0" y="52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857250" y="5019675"/>
            <a:ext cx="2857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1A2230"/>
                </a:solidFill>
                <a:latin typeface="PingFang SC"/>
                <a:ea typeface="PingFang SC"/>
              </a:rPr>
              <a:t>开启精排（当前默认）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3714750" y="5019675"/>
            <a:ext cx="2286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PingFang SC"/>
                <a:ea typeface="PingFang SC"/>
              </a:rPr>
              <a:t>0.9714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6000750" y="5019675"/>
            <a:ext cx="2286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PingFang SC"/>
                <a:ea typeface="PingFang SC"/>
              </a:rPr>
              <a:t>0.9714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8286750" y="5029200"/>
            <a:ext cx="2857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34 / 35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首次命中且全部排第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1</a:t>
            </a:r>
            <a:endParaRPr/>
          </a:p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857250" y="5524500"/>
            <a:ext cx="2857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1A2230"/>
                </a:solidFill>
                <a:latin typeface="PingFang SC"/>
                <a:ea typeface="PingFang SC"/>
              </a:rPr>
              <a:t>关闭精排（消融对照）</a:t>
            </a:r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3714750" y="5524500"/>
            <a:ext cx="2286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PingFang SC"/>
                <a:ea typeface="PingFang SC"/>
              </a:rPr>
              <a:t>0.9714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6000750" y="5524500"/>
            <a:ext cx="2286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D9534F"/>
                </a:solidFill>
                <a:latin typeface="PingFang SC"/>
                <a:ea typeface="PingFang SC"/>
              </a:rPr>
              <a:t>0.9571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8286750" y="5534025"/>
            <a:ext cx="2857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命中数不变，排序质量下降</a:t>
            </a:r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4438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口径：确定性词面向量下测得；接真实向量模型时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35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题全中。第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N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页出处见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p9</a:t>
            </a:r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11039475" y="6448425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06 / 11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319" name="" descr="&lt;Slide style={{ width: 1280, height: 720, background: '#FFFFFF', padding: 0, position: 'relative', fontFamily: 'PingFang SC' }}&gt;&#10;&#10;  &lt;Box style={{ position: 'absolute', top: 0, left: 0, width: 1280, height: 64, background: '#1E4FA8' }} /&gt;&#10;  &lt;Text style={{ position: 'absolute', left: 76, top: 21, fontSize: 15, color: '#C9D8EF', letterSpacing: 1 }}&gt;知迹 · 答辩汇报&lt;/Text&gt;&#10;  &lt;Text style={{ position: 'absolute', left: 1010, top: 21, width: 194, textAlign: 'right', fontSize: 15, color: '#C9D8EF' }}&gt;03 · 关键实现 ② 执行边界&lt;/Text&gt;&#10;&#10;  &lt;Box style={{ position: 'absolute', left: 76, top: 92, width: 1128 }}&gt;&#10;    &lt;Text style={{ fontSize: 31, fontWeight: 'bold', color: '#0E3F8C' }}&gt;检查点负责「接着跑」，权限两层负责「改不了」&lt;/Text&gt;&#10;    &lt;Text style={{ fontSize: 15.5, color: '#4A5568', marginTop: 10 }}&gt;这两件事都落在执行层：不是提示词嘱咐，而是流程上过不去&lt;/Text&gt;&#10;  &lt;/Box&gt;&#10;&#10;  &lt;Box style={{ position: 'absolute', left: 76, top: 190, width: 560, height: 270, flexDirection: 'column' }}&gt;&#10;&#10;    &lt;Text style={{ fontSize: 13.5, color: '#3D7BD9', letterSpacing: 1.5 }}&gt;可恢复：三个必要件&lt;/Text&gt;&#10;&#10;    &lt;Box style={{ flexDirection: 'column', marginTop: 10 }}&gt;&#10;      &lt;Box style={{ flexDirection: 'column', height: 78, borderLeft: '3px solid #1E4FA8', paddingLeft: 12, paddingTop: 6 }}&gt;&#10;        &lt;Text style={{ fontSize: 15, fontWeight: 'bold', color: '#1A2230' }}&gt;检查点：每步结束落一次状态&lt;/Text&gt;&#10;        &lt;Text style={{ fontSize: 13, color: '#4A5568', lineHeight: 1.6, marginTop: 5 }}&gt;存在 SQLite，与消息一起持久化，进程重启也不丢&lt;/Text&gt;&#10;      &lt;/Box&gt;&#10;      &lt;Box style={{ flexDirection: 'column', height: 78, borderLeft: '3px solid #1E4FA8', paddingLeft: 12, paddingTop: 6 }}&gt;&#10;        &lt;Text style={{ fontSize: 15, fontWeight: 'bold', color: '#1A2230' }}&gt;中断：写操作前主动暂停&lt;/Text&gt;&#10;        &lt;Text style={{ fontSize: 13, color: '#4A5568', lineHeight: 1.6, marginTop: 5 }}&gt;图停在中断点，等待用户确认，而非直接执行&lt;/Text&gt;&#10;      &lt;/Box&gt;&#10;      &lt;Box style={{ flexDirection: 'column', height: 78, borderLeft: '3px solid #1E4FA8', paddingLeft: 12, paddingTop: 6 }}&gt;&#10;        &lt;Text style={{ fontSize: 15, fontWeight: 'bold', color: '#1A2230' }}&gt;恢复：从检查点继续&lt;/Text&gt;&#10;        &lt;Text style={{ fontSize: 13, color: '#4A5568', lineHeight: 1.6, marginTop: 5 }}&gt;确认后按原路径续跑，无需重放整段对话&lt;/Text&gt;&#10;      &lt;/Box&gt;&#10;    &lt;/Box&gt;&#10;&#10;  &lt;/Box&gt;&#10;&#10;  &lt;Box style={{ position: 'absolute', left: 700, top: 190, width: 504, height: 276, flexDirection: 'column' }}&gt;&#10;&#10;    &lt;Text style={{ fontSize: 13.5, color: '#3D7BD9', letterSpacing: 1.5 }}&gt;权限两层：看得见 ≠ 跑得动&lt;/Text&gt;&#10;&#10;    &lt;Box style={{ flexDirection: 'row', height: 34, alignItems: 'center', background: '#1E4FA8', borderRadius: 4, paddingLeft: 10, marginTop: 10 }}&gt;&#10;      &lt;Text style={{ fontSize: 12, fontWeight: 'bold', color: '#FFFFFF', width: 120 }}&gt;子角色&lt;/Text&gt;&#10;      &lt;Text style={{ fontSize: 12, fontWeight: 'bold', color: '#FFFFFF', width: 190 }}&gt;模型可见工具&lt;/Text&gt;&#10;      &lt;Text style={{ fontSize: 12, fontWeight: 'bold', color: '#FFFFFF', width: 160 }}&gt;执行层处置&lt;/Text&gt;&#10;    &lt;/Box&gt;&#10;&#10;    &lt;Box style={{ flexDirection: 'row', height: 52, alignItems: 'center', borderBottom: '1px solid #E5E7EB', paddingLeft: 10 }}&gt;&#10;      &lt;Text style={{ fontSize: 12.5, color: '#1A2230', width: 120 }}&gt;讲解 / 检索&lt;/Text&gt;&#10;      &lt;Text style={{ fontSize: 12.5, color: '#4A5568', width: 190 }}&gt;全部工具&lt;/Text&gt;&#10;      &lt;Text style={{ fontSize: 12.5, color: '#1E4FA8', width: 160 }}&gt;放行（写需确认）&lt;/Text&gt;&#10;    &lt;/Box&gt;&#10;&#10;    &lt;Box style={{ flexDirection: 'row', height: 52, alignItems: 'center', borderBottom: '1px solid #E5E7EB', paddingLeft: 10 }}&gt;&#10;      &lt;Text style={{ fontSize: 12.5, color: '#1A2230', width: 120 }}&gt;练习&lt;/Text&gt;&#10;      &lt;Text style={{ fontSize: 12.5, color: '#4A5568', width: 190 }}&gt;只读工具&lt;/Text&gt;&#10;      &lt;Text style={{ fontSize: 12.5, color: '#D9534F', width: 160 }}&gt;写操作直接拒绝&lt;/Text&gt;&#10;    &lt;/Box&gt;&#10;&#10;    &lt;Box style={{ flexDirection: 'row', height: 52, alignItems: 'center', paddingLeft: 10 }}&gt;&#10;      &lt;Text style={{ fontSize: 12.5, color: '#1A2230', width: 120 }}&gt;进度&lt;/Text&gt;&#10;      &lt;Text style={{ fontSize: 12.5, color: '#4A5568', width: 190 }}&gt;无工具&lt;/Text&gt;&#10;      &lt;Text style={{ fontSize: 12.5, color: '#D9534F', width: 160 }}&gt;一律拦截&lt;/Text&gt;&#10;    &lt;/Box&gt;&#10;&#10;    &lt;Text style={{ fontSize: 12.5, color: '#8B97A8', lineHeight: 1.6, marginTop: 8 }}&gt;&#10;      为什么必须两层：只遮列表，模型仍会说出被禁工具名而失败；只拦执行，模型会反复重试浪费轮数。&#10;    &lt;/Text&gt;&#10;&#10;  &lt;/Box&gt;&#10;&#10;  &lt;Box style={{ position: 'absolute', left: 76, top: 470, width: 1128, height: 82, background: '#F0F5FC', borderRadius: 8, flexDirection: 'row', alignItems: 'center', paddingLeft: 20, paddingRight: 20 }}&gt;&#10;&#10;    &lt;Text style={{ fontSize: 12.5, color: '#3D7BD9', width: 78 }}&gt;写操作&lt;/Text&gt;&#10;    &lt;Text style={{ fontSize: 13, color: '#1A2230', width: 150 }}&gt;模型发起落库&lt;/Text&gt;&#10;&#10;    &lt;Text style={{ fontSize: 13, color: '#3D7BD9', width: 30 }}&gt;→&lt;/Text&gt;&#10;    &lt;Text style={{ fontSize: 12.5, color: '#3D7BD9', width: 78 }}&gt;第 2 步&lt;/Text&gt;&#10;    &lt;Text style={{ fontSize: 13, color: '#1A2230', width: 190 }}&gt;图在中断点暂停&lt;/Text&gt;&#10;&#10;    &lt;Text style={{ fontSize: 13, color: '#3D7BD9', width: 30 }}&gt;→&lt;/Text&gt;&#10;    &lt;Text style={{ fontSize: 12.5, color: '#3D7BD9', width: 78 }}&gt;第 3 步&lt;/Text&gt;&#10;    &lt;Text style={{ fontSize: 13, color: '#1A2230', width: 190 }}&gt;用户点确认&lt;/Text&gt;&#10;&#10;    &lt;Text style={{ fontSize: 13, color: '#3D7BD9', width: 30 }}&gt;→&lt;/Text&gt;&#10;    &lt;Text style={{ fontSize: 12.5, color: '#3D7BD9', width: 78 }}&gt;第 4 步&lt;/Text&gt;&#10;    &lt;Text style={{ fontSize: 13, color: '#1A2230', width: 170 }}&gt;从检查点恢复并落库&lt;/Text&gt;&#10;&#10;  &lt;/Box&gt;&#10;&#10;  &lt;Box style={{ position: 'absolute', left: 76, top: 568, width: 1128, height: 46, background: '#0E3F8C', borderRadius: 8, justifyContent: 'center', alignItems: 'center' }}&gt;&#10;    &lt;Text style={{ fontSize: 14, color: '#FFFFFF' }}&gt;&#10;      证据：状态图 + 检查点 + 中断恢复均有回归测试；练习角色调用写工具时，执行层返回拒绝，数据未被修改&#10;    &lt;/Text&gt;&#10;  &lt;/Box&gt;&#10;&#10;  &lt;Box style={{ position: 'absolute', left: 76, bottom: 24, width: 1128, height: 22, flexDirection: 'row', alignItems: 'center', justifyContent: 'space-between' }}&gt;&#10;    &lt;Text style={{ fontSize: 13, color: '#8B97A8' }}&gt;知迹 · 基于大模型智能体的 AI 教育学习系统&lt;/Text&gt;&#10;    &lt;Text style={{ fontSize: 14, fontWeight: 'bold', color: '#0E3F8C' }}&gt;07 / 11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1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03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关键实现</a:t>
            </a: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 ②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执行边界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723900" y="876300"/>
            <a:ext cx="10744200" cy="3619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325" b="1">
                <a:solidFill>
                  <a:srgbClr val="0E3F8C"/>
                </a:solidFill>
                <a:latin typeface="PingFang SC"/>
                <a:ea typeface="PingFang SC"/>
              </a:rPr>
              <a:t>检查点负责「接着跑」，权限两层负责「改不了」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723900" y="1333500"/>
            <a:ext cx="107442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>
                <a:solidFill>
                  <a:srgbClr val="4A5568"/>
                </a:solidFill>
                <a:latin typeface="PingFang SC"/>
                <a:ea typeface="PingFang SC"/>
              </a:rPr>
              <a:t>这两件事都落在执行层：不是提示词嘱咐，而是流程上过不去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723900" y="1809750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spc="113">
                <a:solidFill>
                  <a:srgbClr val="3D7BD9"/>
                </a:solidFill>
                <a:latin typeface="PingFang SC"/>
                <a:ea typeface="PingFang SC"/>
              </a:rPr>
              <a:t>可恢复：三个必要件</a:t>
            </a:r>
            <a:endParaRPr/>
          </a:p>
        </p:txBody>
      </p:sp>
      <p:sp>
        <p:nvSpPr>
          <p:cNvPr id="327" name=""/>
          <p:cNvSpPr/>
          <p:nvPr/>
        </p:nvSpPr>
        <p:spPr>
          <a:xfrm rot="0" flipH="0" flipV="0">
            <a:off x="723900" y="2066925"/>
            <a:ext cx="5362575" cy="742950"/>
          </a:xfrm>
          <a:custGeom>
            <a:pathLst>
              <a:path w="563" h="78">
                <a:moveTo>
                  <a:pt x="0" y="0"/>
                </a:moveTo>
                <a:lnTo>
                  <a:pt x="3" y="0"/>
                </a:lnTo>
                <a:lnTo>
                  <a:pt x="3" y="78"/>
                </a:lnTo>
                <a:lnTo>
                  <a:pt x="0" y="7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866775" y="2124075"/>
            <a:ext cx="5191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检查点：每步结束落一次状态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866775" y="2343150"/>
            <a:ext cx="5191125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存在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SQLite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，与消息一起持久化，进程重启也不丢</a:t>
            </a:r>
            <a:endParaRPr/>
          </a:p>
        </p:txBody>
      </p:sp>
      <p:sp>
        <p:nvSpPr>
          <p:cNvPr id="330" name=""/>
          <p:cNvSpPr/>
          <p:nvPr/>
        </p:nvSpPr>
        <p:spPr>
          <a:xfrm rot="0" flipH="0" flipV="0">
            <a:off x="723900" y="2809875"/>
            <a:ext cx="5362575" cy="742950"/>
          </a:xfrm>
          <a:custGeom>
            <a:pathLst>
              <a:path w="563" h="78">
                <a:moveTo>
                  <a:pt x="0" y="0"/>
                </a:moveTo>
                <a:lnTo>
                  <a:pt x="3" y="0"/>
                </a:lnTo>
                <a:lnTo>
                  <a:pt x="3" y="78"/>
                </a:lnTo>
                <a:lnTo>
                  <a:pt x="0" y="7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866775" y="2867025"/>
            <a:ext cx="5191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中断：写操作前主动暂停</a:t>
            </a:r>
            <a:endParaRPr/>
          </a:p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866775" y="3086100"/>
            <a:ext cx="5191125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图停在中断点，等待用户确认，而非直接执行</a:t>
            </a:r>
            <a:endParaRPr/>
          </a:p>
        </p:txBody>
      </p:sp>
      <p:sp>
        <p:nvSpPr>
          <p:cNvPr id="333" name=""/>
          <p:cNvSpPr/>
          <p:nvPr/>
        </p:nvSpPr>
        <p:spPr>
          <a:xfrm rot="0" flipH="0" flipV="0">
            <a:off x="723900" y="3552825"/>
            <a:ext cx="5362575" cy="742950"/>
          </a:xfrm>
          <a:custGeom>
            <a:pathLst>
              <a:path w="563" h="78">
                <a:moveTo>
                  <a:pt x="0" y="0"/>
                </a:moveTo>
                <a:lnTo>
                  <a:pt x="3" y="0"/>
                </a:lnTo>
                <a:lnTo>
                  <a:pt x="3" y="78"/>
                </a:lnTo>
                <a:lnTo>
                  <a:pt x="0" y="7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866775" y="3609975"/>
            <a:ext cx="5191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恢复：从检查点继续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866775" y="3829050"/>
            <a:ext cx="5191125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确认后按原路径续跑，无需重放整段对话</a:t>
            </a:r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6667500" y="1809750"/>
            <a:ext cx="480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spc="113">
                <a:solidFill>
                  <a:srgbClr val="3D7BD9"/>
                </a:solidFill>
                <a:latin typeface="PingFang SC"/>
                <a:ea typeface="PingFang SC"/>
              </a:rPr>
              <a:t>权限两层：看得见</a:t>
            </a:r>
            <a:r>
              <a:rPr lang="en-US" sz="1013" spc="113">
                <a:solidFill>
                  <a:srgbClr val="3D7BD9"/>
                </a:solidFill>
                <a:latin typeface="PingFang SC"/>
                <a:ea typeface="PingFang SC"/>
              </a:rPr>
              <a:t xml:space="preserve"> ≠ </a:t>
            </a:r>
            <a:r>
              <a:rPr lang="zh-CN" sz="1013" spc="113">
                <a:solidFill>
                  <a:srgbClr val="3D7BD9"/>
                </a:solidFill>
                <a:latin typeface="PingFang SC"/>
                <a:ea typeface="PingFang SC"/>
              </a:rPr>
              <a:t>跑得动</a:t>
            </a:r>
            <a:endParaRPr/>
          </a:p>
        </p:txBody>
      </p:sp>
      <p:sp>
        <p:nvSpPr>
          <p:cNvPr id="337" name=""/>
          <p:cNvSpPr/>
          <p:nvPr/>
        </p:nvSpPr>
        <p:spPr>
          <a:xfrm rot="0" flipH="0" flipV="0">
            <a:off x="6667500" y="2066925"/>
            <a:ext cx="4800600" cy="323850"/>
          </a:xfrm>
          <a:prstGeom prst="roundRect">
            <a:avLst>
              <a:gd name="adj" fmla="val 1176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6762750" y="2162175"/>
            <a:ext cx="1143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FFFFFF"/>
                </a:solidFill>
                <a:latin typeface="PingFang SC"/>
                <a:ea typeface="PingFang SC"/>
              </a:rPr>
              <a:t>子角色</a:t>
            </a:r>
            <a:endParaRPr/>
          </a:p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7905750" y="2162175"/>
            <a:ext cx="1809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FFFFFF"/>
                </a:solidFill>
                <a:latin typeface="PingFang SC"/>
                <a:ea typeface="PingFang SC"/>
              </a:rPr>
              <a:t>模型可见工具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9715500" y="2162175"/>
            <a:ext cx="1524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FFFFFF"/>
                </a:solidFill>
                <a:latin typeface="PingFang SC"/>
                <a:ea typeface="PingFang SC"/>
              </a:rPr>
              <a:t>执行层处置</a:t>
            </a:r>
            <a:endParaRPr/>
          </a:p>
        </p:txBody>
      </p:sp>
      <p:sp>
        <p:nvSpPr>
          <p:cNvPr id="341" name=""/>
          <p:cNvSpPr/>
          <p:nvPr/>
        </p:nvSpPr>
        <p:spPr>
          <a:xfrm rot="0" flipH="0" flipV="0">
            <a:off x="6667500" y="2390775"/>
            <a:ext cx="4800600" cy="495300"/>
          </a:xfrm>
          <a:custGeom>
            <a:pathLst>
              <a:path w="504" h="52">
                <a:moveTo>
                  <a:pt x="0" y="51"/>
                </a:moveTo>
                <a:lnTo>
                  <a:pt x="504" y="51"/>
                </a:lnTo>
                <a:lnTo>
                  <a:pt x="504" y="52"/>
                </a:lnTo>
                <a:lnTo>
                  <a:pt x="0" y="52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6762750" y="2562225"/>
            <a:ext cx="1143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1A2230"/>
                </a:solidFill>
                <a:latin typeface="PingFang SC"/>
                <a:ea typeface="PingFang SC"/>
              </a:rPr>
              <a:t>讲解</a:t>
            </a:r>
            <a:r>
              <a:rPr lang="en-US" sz="938">
                <a:solidFill>
                  <a:srgbClr val="1A2230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938">
                <a:solidFill>
                  <a:srgbClr val="1A2230"/>
                </a:solidFill>
                <a:latin typeface="PingFang SC"/>
                <a:ea typeface="PingFang SC"/>
              </a:rPr>
              <a:t>检索</a:t>
            </a:r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7905750" y="2562225"/>
            <a:ext cx="1809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全部工具</a:t>
            </a:r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9715500" y="2562225"/>
            <a:ext cx="1524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1E4FA8"/>
                </a:solidFill>
                <a:latin typeface="PingFang SC"/>
                <a:ea typeface="PingFang SC"/>
              </a:rPr>
              <a:t>放行（写需确认）</a:t>
            </a:r>
            <a:endParaRPr/>
          </a:p>
        </p:txBody>
      </p:sp>
      <p:sp>
        <p:nvSpPr>
          <p:cNvPr id="345" name=""/>
          <p:cNvSpPr/>
          <p:nvPr/>
        </p:nvSpPr>
        <p:spPr>
          <a:xfrm rot="0" flipH="0" flipV="0">
            <a:off x="6667500" y="2886075"/>
            <a:ext cx="4800600" cy="495300"/>
          </a:xfrm>
          <a:custGeom>
            <a:pathLst>
              <a:path w="504" h="52">
                <a:moveTo>
                  <a:pt x="0" y="51"/>
                </a:moveTo>
                <a:lnTo>
                  <a:pt x="504" y="51"/>
                </a:lnTo>
                <a:lnTo>
                  <a:pt x="504" y="52"/>
                </a:lnTo>
                <a:lnTo>
                  <a:pt x="0" y="52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6762750" y="3057525"/>
            <a:ext cx="1143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1A2230"/>
                </a:solidFill>
                <a:latin typeface="PingFang SC"/>
                <a:ea typeface="PingFang SC"/>
              </a:rPr>
              <a:t>练习</a:t>
            </a:r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7905750" y="3057525"/>
            <a:ext cx="1809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只读工具</a:t>
            </a:r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9715500" y="3057525"/>
            <a:ext cx="1524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D9534F"/>
                </a:solidFill>
                <a:latin typeface="PingFang SC"/>
                <a:ea typeface="PingFang SC"/>
              </a:rPr>
              <a:t>写操作直接拒绝</a:t>
            </a:r>
            <a:endParaRPr/>
          </a:p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6762750" y="3562350"/>
            <a:ext cx="1143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1A2230"/>
                </a:solidFill>
                <a:latin typeface="PingFang SC"/>
                <a:ea typeface="PingFang SC"/>
              </a:rPr>
              <a:t>进度</a:t>
            </a:r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7905750" y="3562350"/>
            <a:ext cx="1809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无工具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9715500" y="3562350"/>
            <a:ext cx="1524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D9534F"/>
                </a:solidFill>
                <a:latin typeface="PingFang SC"/>
                <a:ea typeface="PingFang SC"/>
              </a:rPr>
              <a:t>一律拦截</a:t>
            </a:r>
            <a:endParaRPr/>
          </a:p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6667500" y="3952875"/>
            <a:ext cx="4800600" cy="4572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为什么必须两层：只遮列表，模型仍会说出被禁工具名而失败；只拦执行，模型会反复重试浪费轮数。</a:t>
            </a:r>
            <a:endParaRPr/>
          </a:p>
        </p:txBody>
      </p:sp>
      <p:sp>
        <p:nvSpPr>
          <p:cNvPr id="353" name=""/>
          <p:cNvSpPr/>
          <p:nvPr/>
        </p:nvSpPr>
        <p:spPr>
          <a:xfrm rot="0" flipH="0" flipV="0">
            <a:off x="723900" y="4476750"/>
            <a:ext cx="10744200" cy="781050"/>
          </a:xfrm>
          <a:prstGeom prst="roundRect">
            <a:avLst>
              <a:gd name="adj" fmla="val 975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914400" y="4800600"/>
            <a:ext cx="7334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3D7BD9"/>
                </a:solidFill>
                <a:latin typeface="PingFang SC"/>
                <a:ea typeface="PingFang SC"/>
              </a:rPr>
              <a:t>写操作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1647825" y="4791075"/>
            <a:ext cx="1409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1A2230"/>
                </a:solidFill>
                <a:latin typeface="PingFang SC"/>
                <a:ea typeface="PingFang SC"/>
              </a:rPr>
              <a:t>模型发起落库</a:t>
            </a:r>
            <a:endParaRPr/>
          </a:p>
        </p:txBody>
      </p:sp>
      <p:sp>
        <p:nvSpPr>
          <p:cNvPr id="356" name="" descr="{&quot;isTemplate&quot;:true,&quot;type&quot;:&quot;text&quot;}"/>
          <p:cNvSpPr txBox="1"/>
          <p:nvPr/>
        </p:nvSpPr>
        <p:spPr>
          <a:xfrm rot="0" flipH="0" flipV="0">
            <a:off x="3057525" y="4791075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975">
                <a:solidFill>
                  <a:srgbClr val="3D7BD9"/>
                </a:solidFill>
                <a:latin typeface="PingFang SC"/>
                <a:ea typeface="PingFang SC"/>
              </a:rPr>
              <a:t>→</a:t>
            </a:r>
            <a:endParaRPr/>
          </a:p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3343275" y="4800600"/>
            <a:ext cx="7334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3D7BD9"/>
                </a:solidFill>
                <a:latin typeface="PingFang SC"/>
                <a:ea typeface="PingFang SC"/>
              </a:rPr>
              <a:t>第</a:t>
            </a:r>
            <a:r>
              <a:rPr lang="en-US" sz="938">
                <a:solidFill>
                  <a:srgbClr val="3D7BD9"/>
                </a:solidFill>
                <a:latin typeface="PingFang SC"/>
                <a:ea typeface="PingFang SC"/>
              </a:rPr>
              <a:t xml:space="preserve"> 2 </a:t>
            </a:r>
            <a:r>
              <a:rPr lang="zh-CN" sz="938">
                <a:solidFill>
                  <a:srgbClr val="3D7BD9"/>
                </a:solidFill>
                <a:latin typeface="PingFang SC"/>
                <a:ea typeface="PingFang SC"/>
              </a:rPr>
              <a:t>步</a:t>
            </a:r>
            <a:endParaRPr/>
          </a:p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4076700" y="4791075"/>
            <a:ext cx="1781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1A2230"/>
                </a:solidFill>
                <a:latin typeface="PingFang SC"/>
                <a:ea typeface="PingFang SC"/>
              </a:rPr>
              <a:t>图在中断点暂停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5857875" y="4791075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975">
                <a:solidFill>
                  <a:srgbClr val="3D7BD9"/>
                </a:solidFill>
                <a:latin typeface="PingFang SC"/>
                <a:ea typeface="PingFang SC"/>
              </a:rPr>
              <a:t>→</a:t>
            </a:r>
            <a:endParaRPr/>
          </a:p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6143625" y="4800600"/>
            <a:ext cx="7334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3D7BD9"/>
                </a:solidFill>
                <a:latin typeface="PingFang SC"/>
                <a:ea typeface="PingFang SC"/>
              </a:rPr>
              <a:t>第</a:t>
            </a:r>
            <a:r>
              <a:rPr lang="en-US" sz="938">
                <a:solidFill>
                  <a:srgbClr val="3D7BD9"/>
                </a:solidFill>
                <a:latin typeface="PingFang SC"/>
                <a:ea typeface="PingFang SC"/>
              </a:rPr>
              <a:t xml:space="preserve"> 3 </a:t>
            </a:r>
            <a:r>
              <a:rPr lang="zh-CN" sz="938">
                <a:solidFill>
                  <a:srgbClr val="3D7BD9"/>
                </a:solidFill>
                <a:latin typeface="PingFang SC"/>
                <a:ea typeface="PingFang SC"/>
              </a:rPr>
              <a:t>步</a:t>
            </a:r>
            <a:endParaRPr/>
          </a:p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6877050" y="4791075"/>
            <a:ext cx="1790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1A2230"/>
                </a:solidFill>
                <a:latin typeface="PingFang SC"/>
                <a:ea typeface="PingFang SC"/>
              </a:rPr>
              <a:t>用户点确认</a:t>
            </a:r>
            <a:endParaRPr/>
          </a:p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8667750" y="4791075"/>
            <a:ext cx="2762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975">
                <a:solidFill>
                  <a:srgbClr val="3D7BD9"/>
                </a:solidFill>
                <a:latin typeface="PingFang SC"/>
                <a:ea typeface="PingFang SC"/>
              </a:rPr>
              <a:t>→</a:t>
            </a:r>
            <a:endParaRPr/>
          </a:p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8943975" y="4800600"/>
            <a:ext cx="7334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3D7BD9"/>
                </a:solidFill>
                <a:latin typeface="PingFang SC"/>
                <a:ea typeface="PingFang SC"/>
              </a:rPr>
              <a:t>第</a:t>
            </a:r>
            <a:r>
              <a:rPr lang="en-US" sz="938">
                <a:solidFill>
                  <a:srgbClr val="3D7BD9"/>
                </a:solidFill>
                <a:latin typeface="PingFang SC"/>
                <a:ea typeface="PingFang SC"/>
              </a:rPr>
              <a:t xml:space="preserve"> 4 </a:t>
            </a:r>
            <a:r>
              <a:rPr lang="zh-CN" sz="938">
                <a:solidFill>
                  <a:srgbClr val="3D7BD9"/>
                </a:solidFill>
                <a:latin typeface="PingFang SC"/>
                <a:ea typeface="PingFang SC"/>
              </a:rPr>
              <a:t>步</a:t>
            </a:r>
            <a:endParaRPr/>
          </a:p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9677400" y="4791075"/>
            <a:ext cx="1600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1A2230"/>
                </a:solidFill>
                <a:latin typeface="PingFang SC"/>
                <a:ea typeface="PingFang SC"/>
              </a:rPr>
              <a:t>从检查点恢复并落库</a:t>
            </a:r>
            <a:endParaRPr/>
          </a:p>
        </p:txBody>
      </p:sp>
      <p:sp>
        <p:nvSpPr>
          <p:cNvPr id="365" name=""/>
          <p:cNvSpPr/>
          <p:nvPr/>
        </p:nvSpPr>
        <p:spPr>
          <a:xfrm rot="0" flipH="0" flipV="0">
            <a:off x="723900" y="5410200"/>
            <a:ext cx="10744200" cy="438150"/>
          </a:xfrm>
          <a:prstGeom prst="roundRect">
            <a:avLst>
              <a:gd name="adj" fmla="val 1739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2924175" y="5553075"/>
            <a:ext cx="6343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/>
                </a:solidFill>
                <a:latin typeface="PingFang SC"/>
                <a:ea typeface="PingFang SC"/>
              </a:rPr>
              <a:t>证据：状态图</a:t>
            </a:r>
            <a:r>
              <a:rPr lang="en-US" sz="1050">
                <a:solidFill>
                  <a:srgbClr val="FFFFFF"/>
                </a:solidFill>
                <a:latin typeface="PingFang SC"/>
                <a:ea typeface="PingFang SC"/>
              </a:rPr>
              <a:t xml:space="preserve"> + </a:t>
            </a:r>
            <a:r>
              <a:rPr lang="zh-CN" sz="1050">
                <a:solidFill>
                  <a:srgbClr val="FFFFFF"/>
                </a:solidFill>
                <a:latin typeface="PingFang SC"/>
                <a:ea typeface="PingFang SC"/>
              </a:rPr>
              <a:t>检查点</a:t>
            </a:r>
            <a:r>
              <a:rPr lang="en-US" sz="1050">
                <a:solidFill>
                  <a:srgbClr val="FFFFFF"/>
                </a:solidFill>
                <a:latin typeface="PingFang SC"/>
                <a:ea typeface="PingFang SC"/>
              </a:rPr>
              <a:t xml:space="preserve"> + </a:t>
            </a:r>
            <a:r>
              <a:rPr lang="zh-CN" sz="1050">
                <a:solidFill>
                  <a:srgbClr val="FFFFFF"/>
                </a:solidFill>
                <a:latin typeface="PingFang SC"/>
                <a:ea typeface="PingFang SC"/>
              </a:rPr>
              <a:t>中断恢复均有回归测试；练习角色调用写工具时，执行层返回拒绝，数据未被修改</a:t>
            </a:r>
            <a:endParaRPr/>
          </a:p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2447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11049000" y="6448425"/>
            <a:ext cx="419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07 / 11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369" name="" descr="&lt;Slide style={{ width: 1280, height: 720, background: '#FFFFFF', padding: 0, position: 'relative', fontFamily: 'PingFang SC' }}&gt;&#10;&#10;  &lt;Box style={{ position: 'absolute', top: 0, left: 0, width: 1280, height: 64, background: '#1E4FA8' }} /&gt;&#10;  &lt;Text style={{ position: 'absolute', left: 76, top: 21, fontSize: 15, color: '#C9D8EF', letterSpacing: 1 }}&gt;知迹 · 答辩汇报&lt;/Text&gt;&#10;  &lt;Text style={{ position: 'absolute', left: 1010, top: 21, width: 194, textAlign: 'right', fontSize: 15, color: '#C9D8EF' }}&gt;03 · 关键实现 ③ 质量门禁&lt;/Text&gt;&#10;&#10;  &lt;Box style={{ position: 'absolute', left: 76, top: 92, width: 1128 }}&gt;&#10;    &lt;Text style={{ fontSize: 31, fontWeight: 'bold', color: '#0E3F8C' }}&gt;0.05 的容差，把「感觉变差」变成「命令失败」&lt;/Text&gt;&#10;    &lt;Text style={{ fontSize: 15.5, color: '#4A5568', marginTop: 10 }}&gt;三道门禁覆盖代码、检索、意图；每次改动跑同一份考卷，掉出容差即非零退出&lt;/Text&gt;&#10;  &lt;/Box&gt;&#10;&#10;  &lt;Box style={{ position: 'absolute', left: 76, top: 186, width: 1128, height: 36, flexDirection: 'row', alignItems: 'center', background: '#1E4FA8', borderRadius: 6, paddingLeft: 14 }}&gt;&#10;    &lt;Text style={{ fontSize: 12.5, fontWeight: 'bold', color: '#FFFFFF', width: 210 }}&gt;门禁&lt;/Text&gt;&#10;    &lt;Text style={{ fontSize: 12.5, fontWeight: 'bold', color: '#FFFFFF', width: 250 }}&gt;测什么&lt;/Text&gt;&#10;    &lt;Text style={{ fontSize: 12.5, fontWeight: 'bold', color: '#FFFFFF', width: 160 }}&gt;规模&lt;/Text&gt;&#10;    &lt;Text style={{ fontSize: 12.5, fontWeight: 'bold', color: '#FFFFFF', width: 480 }}&gt;不通过时&lt;/Text&gt;&#10;  &lt;/Box&gt;&#10;&#10;  &lt;Box style={{ position: 'absolute', left: 76, top: 226, width: 1128, height: 138, flexDirection: 'column' }}&gt;&#10;&#10;    &lt;Box style={{ flexDirection: 'row', height: 46, alignItems: 'center', borderBottom: '1px solid #E5E7EB', paddingLeft: 14 }}&gt;&#10;      &lt;Text style={{ fontSize: 13, fontWeight: 'bold', color: '#1A2230', width: 210 }}&gt;代码自测&lt;/Text&gt;&#10;      &lt;Text style={{ fontSize: 12.5, color: '#4A5568', width: 250 }}&gt;模块行为、级联删除、边界条件&lt;/Text&gt;&#10;      &lt;Text style={{ fontSize: 12.5, color: '#1E4FA8', width: 160 }}&gt;284 项&lt;/Text&gt;&#10;      &lt;Text style={{ fontSize: 12.5, color: '#4A5568', width: 480 }}&gt;断言失败即报错；全部离线，零 API 消耗&lt;/Text&gt;&#10;    &lt;/Box&gt;&#10;&#10;    &lt;Box style={{ flexDirection: 'row', height: 46, alignItems: 'center', borderBottom: '1px solid #E5E7EB', paddingLeft: 14 }}&gt;&#10;      &lt;Text style={{ fontSize: 13, fontWeight: 'bold', color: '#1A2230', width: 210 }}&gt;检索考卷&lt;/Text&gt;&#10;      &lt;Text style={{ fontSize: 12.5, color: '#4A5568', width: 250 }}&gt;命中率与排序质量（Hit@3 / MRR）&lt;/Text&gt;&#10;      &lt;Text style={{ fontSize: 12.5, color: '#1E4FA8', width: 160 }}&gt;35 题 / 21 篇&lt;/Text&gt;&#10;      &lt;Text style={{ fontSize: 12.5, color: '#4A5568', width: 480 }}&gt;掉出容差 0.05 → 命令返回 1，可接入提交前检查&lt;/Text&gt;&#10;    &lt;/Box&gt;&#10;&#10;    &lt;Box style={{ flexDirection: 'row', height: 46, alignItems: 'center', paddingLeft: 14 }}&gt;&#10;      &lt;Text style={{ fontSize: 13, fontWeight: 'bold', color: '#1A2230', width: 210 }}&gt;意图考卷&lt;/Text&gt;&#10;      &lt;Text style={{ fontSize: 12.5, color: '#4A5568', width: 250 }}&gt;分类准确率（讲解/练习/规划…）&lt;/Text&gt;&#10;      &lt;Text style={{ fontSize: 12.5, color: '#1E4FA8', width: 160 }}&gt;15 句&lt;/Text&gt;&#10;      &lt;Text style={{ fontSize: 12.5, color: '#4A5568', width: 480 }}&gt;同上；错分即视为回归&lt;/Text&gt;&#10;    &lt;/Box&gt;&#10;&#10;  &lt;/Box&gt;&#10;&#10;  &lt;Box style={{ position: 'absolute', left: 76, top: 380, width: 700, height: 168, flexDirection: 'column' }}&gt;&#10;&#10;    &lt;Text style={{ fontSize: 13.5, color: '#3D7BD9', letterSpacing: 1.5 }}&gt;当前实测结果（口径见页脚）&lt;/Text&gt;&#10;&#10;    &lt;Box style={{ flexDirection: 'row', marginTop: 12 }}&gt;&#10;&#10;      &lt;Box style={{ width: 160, flexDirection: 'column' }}&gt;&#10;        &lt;Text style={{ fontSize: 34, fontWeight: 'bold', color: '#1E4FA8', lineHeight: 1 }}&gt;0.9714&lt;/Text&gt;&#10;        &lt;Text style={{ fontSize: 12.5, color: '#4A5568', marginTop: 6 }}&gt;检索 Hit@3&lt;/Text&gt;&#10;      &lt;/Box&gt;&#10;&#10;      &lt;Box style={{ width: 160, flexDirection: 'column' }}&gt;&#10;        &lt;Text style={{ fontSize: 34, fontWeight: 'bold', color: '#1E4FA8', lineHeight: 1 }}&gt;0.9714&lt;/Text&gt;&#10;        &lt;Text style={{ fontSize: 12.5, color: '#4A5568', marginTop: 6 }}&gt;检索 MRR&lt;/Text&gt;&#10;      &lt;/Box&gt;&#10;&#10;      &lt;Box style={{ width: 160, flexDirection: 'column' }}&gt;&#10;        &lt;Text style={{ fontSize: 34, fontWeight: 'bold', color: '#1E4FA8', lineHeight: 1 }}&gt;1.0000&lt;/Text&gt;&#10;        &lt;Text style={{ fontSize: 12.5, color: '#4A5568', marginTop: 6 }}&gt;意图准确率&lt;/Text&gt;&#10;      &lt;/Box&gt;&#10;&#10;      &lt;Box style={{ width: 180, flexDirection: 'column' }}&gt;&#10;        &lt;Text style={{ fontSize: 34, fontWeight: 'bold', color: '#12A594', lineHeight: 1 }}&gt;35 / 35&lt;/Text&gt;&#10;        &lt;Text style={{ fontSize: 12.5, color: '#4A5568', marginTop: 6 }}&gt;接真实向量时&lt;/Text&gt;&#10;      &lt;/Box&gt;&#10;&#10;    &lt;/Box&gt;&#10;&#10;    &lt;Text style={{ fontSize: 12.5, color: '#4A5568', lineHeight: 1.7, marginTop: 14 }}&gt;&#10;      消融：关闭精排后 MRR 由 0.9714 降至 0.9571（命中数不变），说明该层改善的是排序而非召回。&#10;    &lt;/Text&gt;&#10;&#10;  &lt;/Box&gt;&#10;&#10;  &lt;Box style={{ position: 'absolute', left: 808, top: 380, width: 396, height: 168, flexDirection: 'column', borderLeft: '3px solid #D9534F', paddingLeft: 14 }}&gt;&#10;&#10;    &lt;Text style={{ fontSize: 15, fontWeight: 'bold', color: '#1A2230' }}&gt;为什么不用大模型判分&lt;/Text&gt;&#10;    &lt;Text style={{ fontSize: 12.5, color: '#4A5568', lineHeight: 1.75, marginTop: 8 }}&gt;&#10;      同一模型既写又评会共享盲区：它看不见的错误，复核时也看不见，甚至会把好答案改坏。&#10;      所以判据用「确定性比对」：命中的是哪一篇、分到的是哪一类，都能机器校验；模型的判断只用于人工抽检。&#10;    &lt;/Text&gt;&#10;&#10;  &lt;/Box&gt;&#10;&#10;  &lt;Box style={{ position: 'absolute', left: 76, top: 568, width: 1128, height: 46, background: '#0E3F8C', borderRadius: 8, justifyContent: 'center', alignItems: 'center' }}&gt;&#10;    &lt;Text style={{ fontSize: 13.5, color: '#FFFFFF' }}&gt;&#10;      口径：检索评测使用确定性词面向量（同一版本任何人复跑结果一致）；真实语义效果由接真模型的验证单独确认&#10;    &lt;/Text&gt;&#10;  &lt;/Box&gt;&#10;&#10;  &lt;Box style={{ position: 'absolute', left: 76, bottom: 24, width: 1128, height: 22, flexDirection: 'row', alignItems: 'center', justifyContent: 'space-between' }}&gt;&#10;    &lt;Text style={{ fontSize: 13, color: '#8B97A8' }}&gt;知迹 · 基于大模型智能体的 AI 教育学习系统&lt;/Text&gt;&#10;    &lt;Text style={{ fontSize: 14, fontWeight: 'bold', color: '#0E3F8C' }}&gt;08 / 11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1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03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关键实现</a:t>
            </a: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 ③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质量门禁</a:t>
            </a:r>
            <a:endParaRPr/>
          </a:p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723900" y="876300"/>
            <a:ext cx="10744200" cy="3619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325" b="1">
                <a:solidFill>
                  <a:srgbClr val="0E3F8C"/>
                </a:solidFill>
                <a:latin typeface="PingFang SC"/>
                <a:ea typeface="PingFang SC"/>
              </a:rPr>
              <a:t xml:space="preserve">0.05 </a:t>
            </a:r>
            <a:r>
              <a:rPr lang="zh-CN" sz="2325" b="1">
                <a:solidFill>
                  <a:srgbClr val="0E3F8C"/>
                </a:solidFill>
                <a:latin typeface="PingFang SC"/>
                <a:ea typeface="PingFang SC"/>
              </a:rPr>
              <a:t>的容差，把「感觉变差」变成「命令失败」</a:t>
            </a:r>
            <a:endParaRPr/>
          </a:p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723900" y="1333500"/>
            <a:ext cx="107442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>
                <a:solidFill>
                  <a:srgbClr val="4A5568"/>
                </a:solidFill>
                <a:latin typeface="PingFang SC"/>
                <a:ea typeface="PingFang SC"/>
              </a:rPr>
              <a:t>三道门禁覆盖代码、检索、意图；每次改动跑同一份考卷，掉出容差即非零退出</a:t>
            </a:r>
            <a:endParaRPr/>
          </a:p>
        </p:txBody>
      </p:sp>
      <p:sp>
        <p:nvSpPr>
          <p:cNvPr id="376" name=""/>
          <p:cNvSpPr/>
          <p:nvPr/>
        </p:nvSpPr>
        <p:spPr>
          <a:xfrm rot="0" flipH="0" flipV="0">
            <a:off x="723900" y="1771650"/>
            <a:ext cx="10744200" cy="342900"/>
          </a:xfrm>
          <a:prstGeom prst="roundRect">
            <a:avLst>
              <a:gd name="adj" fmla="val 1666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857250" y="1876425"/>
            <a:ext cx="2000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FFFFFF"/>
                </a:solidFill>
                <a:latin typeface="PingFang SC"/>
                <a:ea typeface="PingFang SC"/>
              </a:rPr>
              <a:t>门禁</a:t>
            </a:r>
            <a:endParaRPr/>
          </a:p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2857500" y="1876425"/>
            <a:ext cx="2381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FFFFFF"/>
                </a:solidFill>
                <a:latin typeface="PingFang SC"/>
                <a:ea typeface="PingFang SC"/>
              </a:rPr>
              <a:t>测什么</a:t>
            </a:r>
            <a:endParaRPr/>
          </a:p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5238750" y="1876425"/>
            <a:ext cx="1524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FFFFFF"/>
                </a:solidFill>
                <a:latin typeface="PingFang SC"/>
                <a:ea typeface="PingFang SC"/>
              </a:rPr>
              <a:t>规模</a:t>
            </a:r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6762750" y="1876425"/>
            <a:ext cx="4572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FFFFFF"/>
                </a:solidFill>
                <a:latin typeface="PingFang SC"/>
                <a:ea typeface="PingFang SC"/>
              </a:rPr>
              <a:t>不通过时</a:t>
            </a:r>
            <a:endParaRPr/>
          </a:p>
        </p:txBody>
      </p:sp>
      <p:sp>
        <p:nvSpPr>
          <p:cNvPr id="381" name=""/>
          <p:cNvSpPr/>
          <p:nvPr/>
        </p:nvSpPr>
        <p:spPr>
          <a:xfrm rot="0" flipH="0" flipV="0">
            <a:off x="723900" y="2152650"/>
            <a:ext cx="10744200" cy="438150"/>
          </a:xfrm>
          <a:custGeom>
            <a:pathLst>
              <a:path w="1128" h="46">
                <a:moveTo>
                  <a:pt x="0" y="45"/>
                </a:moveTo>
                <a:lnTo>
                  <a:pt x="1128" y="45"/>
                </a:lnTo>
                <a:lnTo>
                  <a:pt x="1128" y="46"/>
                </a:lnTo>
                <a:lnTo>
                  <a:pt x="0" y="4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382" name="" descr="{&quot;isTemplate&quot;:true,&quot;type&quot;:&quot;text&quot;}"/>
          <p:cNvSpPr txBox="1"/>
          <p:nvPr/>
        </p:nvSpPr>
        <p:spPr>
          <a:xfrm rot="0" flipH="0" flipV="0">
            <a:off x="857250" y="2295525"/>
            <a:ext cx="2000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A2230"/>
                </a:solidFill>
                <a:latin typeface="PingFang SC"/>
                <a:ea typeface="PingFang SC"/>
              </a:rPr>
              <a:t>代码自测</a:t>
            </a:r>
            <a:endParaRPr/>
          </a:p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2857500" y="2295525"/>
            <a:ext cx="2381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模块行为、级联删除、边界条件</a:t>
            </a:r>
            <a:endParaRPr/>
          </a:p>
        </p:txBody>
      </p:sp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5238750" y="2295525"/>
            <a:ext cx="1524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PingFang SC"/>
                <a:ea typeface="PingFang SC"/>
              </a:rPr>
              <a:t xml:space="preserve">284 </a:t>
            </a:r>
            <a:r>
              <a:rPr lang="zh-CN" sz="938">
                <a:solidFill>
                  <a:srgbClr val="1E4FA8"/>
                </a:solidFill>
                <a:latin typeface="PingFang SC"/>
                <a:ea typeface="PingFang SC"/>
              </a:rPr>
              <a:t>项</a:t>
            </a:r>
            <a:endParaRPr/>
          </a:p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6762750" y="2295525"/>
            <a:ext cx="4572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断言失败即报错；全部离线，零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API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消耗</a:t>
            </a:r>
            <a:endParaRPr/>
          </a:p>
        </p:txBody>
      </p:sp>
      <p:sp>
        <p:nvSpPr>
          <p:cNvPr id="386" name=""/>
          <p:cNvSpPr/>
          <p:nvPr/>
        </p:nvSpPr>
        <p:spPr>
          <a:xfrm rot="0" flipH="0" flipV="0">
            <a:off x="723900" y="2590800"/>
            <a:ext cx="10744200" cy="438150"/>
          </a:xfrm>
          <a:custGeom>
            <a:pathLst>
              <a:path w="1128" h="46">
                <a:moveTo>
                  <a:pt x="0" y="45"/>
                </a:moveTo>
                <a:lnTo>
                  <a:pt x="1128" y="45"/>
                </a:lnTo>
                <a:lnTo>
                  <a:pt x="1128" y="46"/>
                </a:lnTo>
                <a:lnTo>
                  <a:pt x="0" y="4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857250" y="2733675"/>
            <a:ext cx="2000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A2230"/>
                </a:solidFill>
                <a:latin typeface="PingFang SC"/>
                <a:ea typeface="PingFang SC"/>
              </a:rPr>
              <a:t>检索考卷</a:t>
            </a:r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2857500" y="2733675"/>
            <a:ext cx="2381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命中率与排序质量（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>Hit@3 / MRR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）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5238750" y="2733675"/>
            <a:ext cx="1524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PingFang SC"/>
                <a:ea typeface="PingFang SC"/>
              </a:rPr>
              <a:t xml:space="preserve">35 </a:t>
            </a:r>
            <a:r>
              <a:rPr lang="zh-CN" sz="938">
                <a:solidFill>
                  <a:srgbClr val="1E4FA8"/>
                </a:solidFill>
                <a:latin typeface="PingFang SC"/>
                <a:ea typeface="PingFang SC"/>
              </a:rPr>
              <a:t>题</a:t>
            </a:r>
            <a:r>
              <a:rPr lang="en-US" sz="938">
                <a:solidFill>
                  <a:srgbClr val="1E4FA8"/>
                </a:solidFill>
                <a:latin typeface="PingFang SC"/>
                <a:ea typeface="PingFang SC"/>
              </a:rPr>
              <a:t xml:space="preserve"> / 21 </a:t>
            </a:r>
            <a:r>
              <a:rPr lang="zh-CN" sz="938">
                <a:solidFill>
                  <a:srgbClr val="1E4FA8"/>
                </a:solidFill>
                <a:latin typeface="PingFang SC"/>
                <a:ea typeface="PingFang SC"/>
              </a:rPr>
              <a:t>篇</a:t>
            </a:r>
            <a:endParaRPr/>
          </a:p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6762750" y="2733675"/>
            <a:ext cx="4572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掉出容差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0.05 →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命令返回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1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，可接入提交前检查</a:t>
            </a:r>
            <a:endParaRPr/>
          </a:p>
        </p:txBody>
      </p:sp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857250" y="3171825"/>
            <a:ext cx="2000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A2230"/>
                </a:solidFill>
                <a:latin typeface="PingFang SC"/>
                <a:ea typeface="PingFang SC"/>
              </a:rPr>
              <a:t>意图考卷</a:t>
            </a:r>
            <a:endParaRPr/>
          </a:p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2857500" y="3181350"/>
            <a:ext cx="2381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分类准确率（讲解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>/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练习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>/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规划…）</a:t>
            </a:r>
            <a:endParaRPr/>
          </a:p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5238750" y="3181350"/>
            <a:ext cx="1524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PingFang SC"/>
                <a:ea typeface="PingFang SC"/>
              </a:rPr>
              <a:t xml:space="preserve">15 </a:t>
            </a:r>
            <a:r>
              <a:rPr lang="zh-CN" sz="938">
                <a:solidFill>
                  <a:srgbClr val="1E4FA8"/>
                </a:solidFill>
                <a:latin typeface="PingFang SC"/>
                <a:ea typeface="PingFang SC"/>
              </a:rPr>
              <a:t>句</a:t>
            </a:r>
            <a:endParaRPr/>
          </a:p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6762750" y="3181350"/>
            <a:ext cx="4572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同上；错分即视为回归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723900" y="3619500"/>
            <a:ext cx="6667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spc="113">
                <a:solidFill>
                  <a:srgbClr val="3D7BD9"/>
                </a:solidFill>
                <a:latin typeface="PingFang SC"/>
                <a:ea typeface="PingFang SC"/>
              </a:rPr>
              <a:t>当前实测结果（口径见页脚）</a:t>
            </a:r>
            <a:endParaRPr/>
          </a:p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723900" y="3895725"/>
            <a:ext cx="1524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1E4FA8"/>
                </a:solidFill>
                <a:latin typeface="PingFang SC"/>
                <a:ea typeface="PingFang SC"/>
              </a:rPr>
              <a:t>0.9714</a:t>
            </a:r>
            <a:endParaRPr/>
          </a:p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723900" y="4343400"/>
            <a:ext cx="1524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检索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Hit@3</a:t>
            </a:r>
            <a:endParaRPr/>
          </a:p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2247900" y="3895725"/>
            <a:ext cx="1524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1E4FA8"/>
                </a:solidFill>
                <a:latin typeface="PingFang SC"/>
                <a:ea typeface="PingFang SC"/>
              </a:rPr>
              <a:t>0.9714</a:t>
            </a:r>
            <a:endParaRPr/>
          </a:p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2247900" y="4343400"/>
            <a:ext cx="1524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检索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MRR</a:t>
            </a:r>
            <a:endParaRPr/>
          </a:p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3771900" y="3895725"/>
            <a:ext cx="1524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1E4FA8"/>
                </a:solidFill>
                <a:latin typeface="PingFang SC"/>
                <a:ea typeface="PingFang SC"/>
              </a:rPr>
              <a:t>1.0000</a:t>
            </a:r>
            <a:endParaRPr/>
          </a:p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3771900" y="4343400"/>
            <a:ext cx="1524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意图准确率</a:t>
            </a:r>
            <a:endParaRPr/>
          </a:p>
        </p:txBody>
      </p:sp>
      <p:sp>
        <p:nvSpPr>
          <p:cNvPr id="402" name="" descr="{&quot;isTemplate&quot;:true,&quot;type&quot;:&quot;text&quot;}"/>
          <p:cNvSpPr txBox="1"/>
          <p:nvPr/>
        </p:nvSpPr>
        <p:spPr>
          <a:xfrm rot="0" flipH="0" flipV="0">
            <a:off x="5295900" y="3895725"/>
            <a:ext cx="17145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12A594"/>
                </a:solidFill>
                <a:latin typeface="PingFang SC"/>
                <a:ea typeface="PingFang SC"/>
              </a:rPr>
              <a:t>35 / 35</a:t>
            </a:r>
            <a:endParaRPr/>
          </a:p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5295900" y="4343400"/>
            <a:ext cx="1714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接真实向量时</a:t>
            </a:r>
            <a:endParaRPr/>
          </a:p>
        </p:txBody>
      </p:sp>
      <p:sp>
        <p:nvSpPr>
          <p:cNvPr id="404" name="" descr="{&quot;isTemplate&quot;:true,&quot;type&quot;:&quot;text&quot;}"/>
          <p:cNvSpPr txBox="1"/>
          <p:nvPr/>
        </p:nvSpPr>
        <p:spPr>
          <a:xfrm rot="0" flipH="0" flipV="0">
            <a:off x="723900" y="4619625"/>
            <a:ext cx="6667500" cy="24765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消融：关闭精排后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MRR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由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0.9714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降至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0.9571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（命中数不变），说明该层改善的是排序而非召回。</a:t>
            </a:r>
            <a:endParaRPr/>
          </a:p>
        </p:txBody>
      </p:sp>
      <p:sp>
        <p:nvSpPr>
          <p:cNvPr id="405" name=""/>
          <p:cNvSpPr/>
          <p:nvPr/>
        </p:nvSpPr>
        <p:spPr>
          <a:xfrm rot="0" flipH="0" flipV="0">
            <a:off x="7696200" y="3619500"/>
            <a:ext cx="3771900" cy="1600200"/>
          </a:xfrm>
          <a:custGeom>
            <a:pathLst>
              <a:path w="396" h="168">
                <a:moveTo>
                  <a:pt x="0" y="0"/>
                </a:moveTo>
                <a:lnTo>
                  <a:pt x="3" y="0"/>
                </a:lnTo>
                <a:lnTo>
                  <a:pt x="3" y="168"/>
                </a:lnTo>
                <a:lnTo>
                  <a:pt x="0" y="168"/>
                </a:ln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7858125" y="3619500"/>
            <a:ext cx="3609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为什么不用大模型判分</a:t>
            </a:r>
            <a:endParaRPr/>
          </a:p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7858125" y="3867150"/>
            <a:ext cx="3609975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同一模型既写又评会共享盲区：它看不见的错误，复核时也看不见，甚至会把好答案改坏。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所以判据用「确定性比对」：命中的是哪一篇、分到的是哪一类，都能机器校验；模型的判断只用于人工抽检。</a:t>
            </a:r>
            <a:endParaRPr/>
          </a:p>
        </p:txBody>
      </p:sp>
      <p:sp>
        <p:nvSpPr>
          <p:cNvPr id="408" name=""/>
          <p:cNvSpPr/>
          <p:nvPr/>
        </p:nvSpPr>
        <p:spPr>
          <a:xfrm rot="0" flipH="0" flipV="0">
            <a:off x="723900" y="5410200"/>
            <a:ext cx="10744200" cy="438150"/>
          </a:xfrm>
          <a:prstGeom prst="roundRect">
            <a:avLst>
              <a:gd name="adj" fmla="val 1739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09" name="" descr="{&quot;isTemplate&quot;:true,&quot;type&quot;:&quot;text&quot;}"/>
          <p:cNvSpPr txBox="1"/>
          <p:nvPr/>
        </p:nvSpPr>
        <p:spPr>
          <a:xfrm rot="0" flipH="0" flipV="0">
            <a:off x="2886075" y="5553075"/>
            <a:ext cx="6429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FFFFFF"/>
                </a:solidFill>
                <a:latin typeface="PingFang SC"/>
                <a:ea typeface="PingFang SC"/>
              </a:rPr>
              <a:t>口径：检索评测使用确定性词面向量（同一版本任何人复跑结果一致）；真实语义效果由接真模型的验证单独确认</a:t>
            </a:r>
            <a:endParaRPr/>
          </a:p>
        </p:txBody>
      </p:sp>
      <p:sp>
        <p:nvSpPr>
          <p:cNvPr id="410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2447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11039475" y="6448425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08 / 11</a:t>
            </a:r>
            <a:endParaRPr/>
          </a:p>
        </p:txBody>
      </p:sp>
    </p:spTree>
  </p:cSld>
</p:sld>
</file>

<file path=ppt/slides/slide9.xml><?xml version="1.0" encoding="utf-8"?>
<p:sld xmlns:r="http://schemas.openxmlformats.org/officeDocument/2006/relationships" xmlns:p="http://schemas.openxmlformats.org/presentationml/2006/main" xmlns:a="http://schemas.openxmlformats.org/drawingml/2006/main">
  <p:cSld>
    <p:spTree>
      <p:nvGrpSpPr>
        <p:cNvPr id="412" name="" descr="&lt;Slide style={{ width: 1280, height: 720, background: '#FFFFFF', padding: 0, position: 'relative', fontFamily: 'PingFang SC' }}&gt;&#10;&#10;  &lt;Box style={{ position: 'absolute', top: 0, left: 0, width: 1280, height: 64, background: '#1E4FA8' }} /&gt;&#10;  &lt;Text style={{ position: 'absolute', left: 76, top: 21, fontSize: 15, color: '#C9D8EF', letterSpacing: 1 }}&gt;知迹 · 答辩汇报&lt;/Text&gt;&#10;  &lt;Text style={{ position: 'absolute', left: 1010, top: 21, width: 194, textAlign: 'right', fontSize: 15, color: '#C9D8EF' }}&gt;04 · 实际使用与指标&lt;/Text&gt;&#10;&#10;  &lt;Box style={{ position: 'absolute', left: 76, top: 92, width: 1128 }}&gt;&#10;    &lt;Text style={{ fontSize: 31, fontWeight: 'bold', color: '#0E3F8C' }}&gt;四步走完一个学习周期：入库、溯源、记错因、到期复习&lt;/Text&gt;&#10;    &lt;Text style={{ fontSize: 15.5, color: '#4A5568', marginTop: 10 }}&gt;左图为系统真实界面（非设计稿）：7 个学科库、24 份资料、46 个可检索片段&lt;/Text&gt;&#10;  &lt;/Box&gt;&#10;&#10;  &lt;Box style={{ position: 'absolute', left: 76, top: 190, width: 640 }}&gt;&#10;    &lt;Box style={{ width: 640, height: 288, border: '1px solid #D6DCE5', borderRadius: 6, overflow: 'hidden' }}&gt;&#10;      &lt;Image src=&quot;assets/ui-knowledge.png&quot; style={{ width: 638, height: 286, objectFit: 'cover' }} /&gt;&#10;    &lt;/Box&gt;&#10;    &lt;Text style={{ fontSize: 12, color: '#8B97A8', marginTop: 8 }}&gt;&#10;      知识库页：左学科目录、中资料列表（PDF 与 Word 并列）、右可直接就着当前库提问&#10;    &lt;/Text&gt;&#10;  &lt;/Box&gt;&#10;&#10;  &lt;Box style={{ position: 'absolute', left: 748, top: 190, width: 456, height: 336, flexDirection: 'column' }}&gt;&#10;&#10;    &lt;Box style={{ flexDirection: 'column', height: 82, borderLeft: '3px solid #1E4FA8', paddingLeft: 12, paddingTop: 4 }}&gt;&#10;      &lt;Text style={{ fontSize: 14.5, fontWeight: 'bold', color: '#1A2230' }}&gt;一、讲义入库&lt;/Text&gt;&#10;      &lt;Text style={{ fontSize: 12.5, color: '#4A5568', lineHeight: 1.6, marginTop: 5 }}&gt;PDF / Word / PPT / Excel 秒传；板书照片经视觉转写后入库&lt;/Text&gt;&#10;    &lt;/Box&gt;&#10;&#10;    &lt;Box style={{ flexDirection: 'column', height: 82, borderLeft: '3px solid #1E4FA8', paddingLeft: 12, paddingTop: 4 }}&gt;&#10;      &lt;Text style={{ fontSize: 14.5, fontWeight: 'bold', color: '#1A2230' }}&gt;二、就着资料提问&lt;/Text&gt;&#10;      &lt;Text style={{ fontSize: 12.5, color: '#4A5568', lineHeight: 1.6, marginTop: 5 }}&gt;回答标注出自哪份资料、第几页；原件可内联打开核对&lt;/Text&gt;&#10;    &lt;/Box&gt;&#10;&#10;    &lt;Box style={{ flexDirection: 'column', height: 82, borderLeft: '3px solid #1E4FA8', paddingLeft: 12, paddingTop: 4 }}&gt;&#10;      &lt;Text style={{ fontSize: 14.5, fontWeight: 'bold', color: '#1A2230' }}&gt;三、错题按错因归档&lt;/Text&gt;&#10;      &lt;Text style={{ fontSize: 12.5, color: '#4A5568', lineHeight: 1.6, marginTop: 5 }}&gt;概念混淆 / 步骤遗漏 / 条件误读 / 计算失误 / 表述不清&lt;/Text&gt;&#10;    &lt;/Box&gt;&#10;&#10;    &lt;Box style={{ flexDirection: 'column', height: 82, borderLeft: '3px solid #3D7BD9', paddingLeft: 12, paddingTop: 4 }}&gt;&#10;      &lt;Text style={{ fontSize: 14.5, fontWeight: 'bold', color: '#1A2230' }}&gt;四、到期自动复盘&lt;/Text&gt;&#10;      &lt;Text style={{ fontSize: 12.5, color: '#4A5568', lineHeight: 1.6, marginTop: 5 }}&gt;今日复习只列到期题与薄弱学科；日程负责&quot;什么时候做&quot;&lt;/Text&gt;&#10;    &lt;/Box&gt;&#10;&#10;  &lt;/Box&gt;&#10;&#10;  &lt;Box style={{ position: 'absolute', left: 76, top: 500, width: 1128, height: 24, flexDirection: 'row', alignItems: 'center', background: '#F0F5FC', borderRadius: 6, paddingLeft: 14 }}&gt;&#10;    &lt;Text style={{ fontSize: 12.5, fontWeight: 'bold', color: '#1E4FA8', width: 220 }}&gt;演示数据规模&lt;/Text&gt;&#10;    &lt;Text style={{ fontSize: 12.5, color: '#4A5568', width: 280 }}&gt;7 个学科库 / 24 份资料&lt;/Text&gt;&#10;    &lt;Text style={{ fontSize: 12.5, color: '#4A5568', width: 280 }}&gt;46 个检索片段（全部带出处）&lt;/Text&gt;&#10;    &lt;Text style={{ fontSize: 12.5, color: '#4A5568', width: 320 }}&gt;5 门课程 / 7 条误区 / 3 条日程&lt;/Text&gt;&#10;  &lt;/Box&gt;&#10;&#10;  &lt;Box style={{ position: 'absolute', left: 76, top: 540, width: 1128, height: 70, flexDirection: 'row', gap: 20 }}&gt;&#10;&#10;    &lt;Box style={{ width: 554, flexDirection: 'column', borderLeft: '3px solid #1E4FA8', paddingLeft: 14 }}&gt;&#10;      &lt;Text style={{ fontSize: 13.5, fontWeight: 'bold', color: '#1A2230' }}&gt;可核验的出处&lt;/Text&gt;&#10;      &lt;Text style={{ fontSize: 12.5, color: '#4A5568', lineHeight: 1.65, marginTop: 5 }}&gt;&#10;        PDF 与 PPT 按页切块，引用精确到「第 N 页」——这是&quot;有据可查&quot;与&quot;看着像&quot;的分界。&#10;      &lt;/Text&gt;&#10;    &lt;/Box&gt;&#10;&#10;    &lt;Box style={{ width: 554, flexDirection: 'column', borderLeft: '3px solid #3D7BD9', paddingLeft: 14 }}&gt;&#10;      &lt;Text style={{ fontSize: 13.5, fontWeight: 'bold', color: '#1A2230' }}&gt;可复现的过程&lt;/Text&gt;&#10;      &lt;Text style={{ fontSize: 12.5, color: '#4A5568', lineHeight: 1.65, marginTop: 5 }}&gt;&#10;        每个回合的步骤流与工具调用都留痕，可回放、可归因，不依赖演讲者记忆。&#10;      &lt;/Text&gt;&#10;    &lt;/Box&gt;&#10;&#10;  &lt;/Box&gt;&#10;&#10;  &lt;Box style={{ position: 'absolute', left: 76, bottom: 24, width: 1128, height: 22, flexDirection: 'row', alignItems: 'center', justifyContent: 'space-between' }}&gt;&#10;    &lt;Text style={{ fontSize: 13, color: '#8B97A8' }}&gt;截图取自演示数据（zhiji-demo --reset 可重建同一份数据）&lt;/Text&gt;&#10;    &lt;Text style={{ fontSize: 14, fontWeight: 'bold', color: '#0E3F8C' }}&gt;09 / 11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14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5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416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04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实际使用与指标</a:t>
            </a:r>
            <a:endParaRPr/>
          </a:p>
        </p:txBody>
      </p:sp>
      <p:sp>
        <p:nvSpPr>
          <p:cNvPr id="417" name="" descr="{&quot;isTemplate&quot;:true,&quot;type&quot;:&quot;text&quot;}"/>
          <p:cNvSpPr txBox="1"/>
          <p:nvPr/>
        </p:nvSpPr>
        <p:spPr>
          <a:xfrm rot="0" flipH="0" flipV="0">
            <a:off x="723900" y="876300"/>
            <a:ext cx="10744200" cy="3619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325" b="1">
                <a:solidFill>
                  <a:srgbClr val="0E3F8C"/>
                </a:solidFill>
                <a:latin typeface="PingFang SC"/>
                <a:ea typeface="PingFang SC"/>
              </a:rPr>
              <a:t>四步走完一个学习周期：入库、溯源、记错因、到期复习</a:t>
            </a:r>
            <a:endParaRPr/>
          </a:p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723900" y="1333500"/>
            <a:ext cx="107442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>
                <a:solidFill>
                  <a:srgbClr val="4A5568"/>
                </a:solidFill>
                <a:latin typeface="PingFang SC"/>
                <a:ea typeface="PingFang SC"/>
              </a:rPr>
              <a:t>左图为系统真实界面（非设计稿）：</a:t>
            </a:r>
            <a:r>
              <a:rPr lang="en-US" sz="1163">
                <a:solidFill>
                  <a:srgbClr val="4A5568"/>
                </a:solidFill>
                <a:latin typeface="PingFang SC"/>
                <a:ea typeface="PingFang SC"/>
              </a:rPr>
              <a:t xml:space="preserve">7 </a:t>
            </a:r>
            <a:r>
              <a:rPr lang="zh-CN" sz="1163">
                <a:solidFill>
                  <a:srgbClr val="4A5568"/>
                </a:solidFill>
                <a:latin typeface="PingFang SC"/>
                <a:ea typeface="PingFang SC"/>
              </a:rPr>
              <a:t>个学科库、</a:t>
            </a:r>
            <a:r>
              <a:rPr lang="en-US" sz="1163">
                <a:solidFill>
                  <a:srgbClr val="4A5568"/>
                </a:solidFill>
                <a:latin typeface="PingFang SC"/>
                <a:ea typeface="PingFang SC"/>
              </a:rPr>
              <a:t xml:space="preserve">24 </a:t>
            </a:r>
            <a:r>
              <a:rPr lang="zh-CN" sz="1163">
                <a:solidFill>
                  <a:srgbClr val="4A5568"/>
                </a:solidFill>
                <a:latin typeface="PingFang SC"/>
                <a:ea typeface="PingFang SC"/>
              </a:rPr>
              <a:t>份资料、</a:t>
            </a:r>
            <a:r>
              <a:rPr lang="en-US" sz="1163">
                <a:solidFill>
                  <a:srgbClr val="4A5568"/>
                </a:solidFill>
                <a:latin typeface="PingFang SC"/>
                <a:ea typeface="PingFang SC"/>
              </a:rPr>
              <a:t xml:space="preserve">46 </a:t>
            </a:r>
            <a:r>
              <a:rPr lang="zh-CN" sz="1163">
                <a:solidFill>
                  <a:srgbClr val="4A5568"/>
                </a:solidFill>
                <a:latin typeface="PingFang SC"/>
                <a:ea typeface="PingFang SC"/>
              </a:rPr>
              <a:t>个可检索片段</a:t>
            </a:r>
            <a:endParaRPr/>
          </a:p>
        </p:txBody>
      </p:sp>
      <p:sp>
        <p:nvSpPr>
          <p:cNvPr id="419" name=""/>
          <p:cNvSpPr/>
          <p:nvPr/>
        </p:nvSpPr>
        <p:spPr>
          <a:xfrm rot="0" flipH="0" flipV="0">
            <a:off x="723900" y="1809750"/>
            <a:ext cx="6096000" cy="2743200"/>
          </a:xfrm>
          <a:prstGeom prst="roundRect">
            <a:avLst>
              <a:gd name="adj" fmla="val 2083"/>
            </a:avLst>
          </a:prstGeom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420" name=""/>
          <p:cNvPicPr>
            <a:picLocks noChangeAspect="1"/>
          </p:cNvPicPr>
          <p:nvPr/>
        </p:nvPicPr>
        <p:blipFill>
          <a:blip r:embed="rId1"/>
          <a:srcRect l="0" t="277" r="0" b="277"/>
          <a:stretch>
            <a:fillRect/>
          </a:stretch>
        </p:blipFill>
        <p:spPr>
          <a:xfrm rot="0" flipH="0" flipV="0">
            <a:off x="723900" y="1809750"/>
            <a:ext cx="6076950" cy="2724150"/>
          </a:xfrm>
          <a:custGeom>
            <a:pathLst>
              <a:path w="638" h="286">
                <a:moveTo>
                  <a:pt x="634" y="0"/>
                </a:moveTo>
                <a:cubicBezTo>
                  <a:pt x="636" y="0"/>
                  <a:pt x="637" y="1"/>
                  <a:pt x="638" y="2"/>
                </a:cubicBezTo>
                <a:lnTo>
                  <a:pt x="638" y="286"/>
                </a:lnTo>
                <a:lnTo>
                  <a:pt x="2" y="286"/>
                </a:lnTo>
                <a:cubicBezTo>
                  <a:pt x="1" y="285"/>
                  <a:pt x="0" y="283"/>
                  <a:pt x="0" y="282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lnTo>
                  <a:pt x="634" y="0"/>
                </a:lnTo>
                <a:close/>
              </a:path>
            </a:pathLst>
          </a:custGeom>
          <a:ln/>
        </p:spPr>
      </p:pic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723900" y="4629150"/>
            <a:ext cx="6096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B97A8"/>
                </a:solidFill>
                <a:latin typeface="PingFang SC"/>
                <a:ea typeface="PingFang SC"/>
              </a:rPr>
              <a:t>知识库页：左学科目录、中资料列表（</a:t>
            </a:r>
            <a:r>
              <a:rPr lang="en-US" sz="900">
                <a:solidFill>
                  <a:srgbClr val="8B97A8"/>
                </a:solidFill>
                <a:latin typeface="PingFang SC"/>
                <a:ea typeface="PingFang SC"/>
              </a:rPr>
              <a:t xml:space="preserve">PDF </a:t>
            </a:r>
            <a:r>
              <a:rPr lang="zh-CN" sz="900">
                <a:solidFill>
                  <a:srgbClr val="8B97A8"/>
                </a:solidFill>
                <a:latin typeface="PingFang SC"/>
                <a:ea typeface="PingFang SC"/>
              </a:rPr>
              <a:t>与</a:t>
            </a:r>
            <a:r>
              <a:rPr lang="en-US" sz="900">
                <a:solidFill>
                  <a:srgbClr val="8B97A8"/>
                </a:solidFill>
                <a:latin typeface="PingFang SC"/>
                <a:ea typeface="PingFang SC"/>
              </a:rPr>
              <a:t xml:space="preserve"> Word </a:t>
            </a:r>
            <a:r>
              <a:rPr lang="zh-CN" sz="900">
                <a:solidFill>
                  <a:srgbClr val="8B97A8"/>
                </a:solidFill>
                <a:latin typeface="PingFang SC"/>
                <a:ea typeface="PingFang SC"/>
              </a:rPr>
              <a:t>并列）、右可直接就着当前库提问</a:t>
            </a:r>
            <a:endParaRPr/>
          </a:p>
        </p:txBody>
      </p:sp>
      <p:sp>
        <p:nvSpPr>
          <p:cNvPr id="422" name=""/>
          <p:cNvSpPr/>
          <p:nvPr/>
        </p:nvSpPr>
        <p:spPr>
          <a:xfrm rot="0" flipH="0" flipV="0">
            <a:off x="7124700" y="1809750"/>
            <a:ext cx="4371975" cy="781050"/>
          </a:xfrm>
          <a:custGeom>
            <a:pathLst>
              <a:path w="459" h="82">
                <a:moveTo>
                  <a:pt x="0" y="0"/>
                </a:moveTo>
                <a:lnTo>
                  <a:pt x="3" y="0"/>
                </a:lnTo>
                <a:lnTo>
                  <a:pt x="3" y="82"/>
                </a:lnTo>
                <a:lnTo>
                  <a:pt x="0" y="8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3" name="" descr="{&quot;isTemplate&quot;:true,&quot;type&quot;:&quot;text&quot;}"/>
          <p:cNvSpPr txBox="1"/>
          <p:nvPr/>
        </p:nvSpPr>
        <p:spPr>
          <a:xfrm rot="0" flipH="0" flipV="0">
            <a:off x="7267575" y="1847850"/>
            <a:ext cx="4200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 b="1">
                <a:solidFill>
                  <a:srgbClr val="1A2230"/>
                </a:solidFill>
                <a:latin typeface="PingFang SC"/>
                <a:ea typeface="PingFang SC"/>
              </a:rPr>
              <a:t>一、讲义入库</a:t>
            </a:r>
            <a:endParaRPr/>
          </a:p>
        </p:txBody>
      </p:sp>
      <p:sp>
        <p:nvSpPr>
          <p:cNvPr id="424" name="" descr="{&quot;isTemplate&quot;:true,&quot;type&quot;:&quot;text&quot;}"/>
          <p:cNvSpPr txBox="1"/>
          <p:nvPr/>
        </p:nvSpPr>
        <p:spPr>
          <a:xfrm rot="0" flipH="0" flipV="0">
            <a:off x="7267575" y="2066925"/>
            <a:ext cx="4200525" cy="2286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PDF / Word / PPT / Excel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秒传；板书照片经视觉转写后入库</a:t>
            </a:r>
            <a:endParaRPr/>
          </a:p>
        </p:txBody>
      </p:sp>
      <p:sp>
        <p:nvSpPr>
          <p:cNvPr id="425" name=""/>
          <p:cNvSpPr/>
          <p:nvPr/>
        </p:nvSpPr>
        <p:spPr>
          <a:xfrm rot="0" flipH="0" flipV="0">
            <a:off x="7124700" y="2590800"/>
            <a:ext cx="4371975" cy="781050"/>
          </a:xfrm>
          <a:custGeom>
            <a:pathLst>
              <a:path w="459" h="82">
                <a:moveTo>
                  <a:pt x="0" y="0"/>
                </a:moveTo>
                <a:lnTo>
                  <a:pt x="3" y="0"/>
                </a:lnTo>
                <a:lnTo>
                  <a:pt x="3" y="82"/>
                </a:lnTo>
                <a:lnTo>
                  <a:pt x="0" y="8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7267575" y="2628900"/>
            <a:ext cx="4200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 b="1">
                <a:solidFill>
                  <a:srgbClr val="1A2230"/>
                </a:solidFill>
                <a:latin typeface="PingFang SC"/>
                <a:ea typeface="PingFang SC"/>
              </a:rPr>
              <a:t>二、就着资料提问</a:t>
            </a:r>
            <a:endParaRPr/>
          </a:p>
        </p:txBody>
      </p:sp>
      <p:sp>
        <p:nvSpPr>
          <p:cNvPr id="427" name="" descr="{&quot;isTemplate&quot;:true,&quot;type&quot;:&quot;text&quot;}"/>
          <p:cNvSpPr txBox="1"/>
          <p:nvPr/>
        </p:nvSpPr>
        <p:spPr>
          <a:xfrm rot="0" flipH="0" flipV="0">
            <a:off x="7267575" y="2847975"/>
            <a:ext cx="4200525" cy="2286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回答标注出自哪份资料、第几页；原件可内联打开核对</a:t>
            </a:r>
            <a:endParaRPr/>
          </a:p>
        </p:txBody>
      </p:sp>
      <p:sp>
        <p:nvSpPr>
          <p:cNvPr id="428" name=""/>
          <p:cNvSpPr/>
          <p:nvPr/>
        </p:nvSpPr>
        <p:spPr>
          <a:xfrm rot="0" flipH="0" flipV="0">
            <a:off x="7124700" y="3371850"/>
            <a:ext cx="4371975" cy="781050"/>
          </a:xfrm>
          <a:custGeom>
            <a:pathLst>
              <a:path w="459" h="82">
                <a:moveTo>
                  <a:pt x="0" y="0"/>
                </a:moveTo>
                <a:lnTo>
                  <a:pt x="3" y="0"/>
                </a:lnTo>
                <a:lnTo>
                  <a:pt x="3" y="82"/>
                </a:lnTo>
                <a:lnTo>
                  <a:pt x="0" y="8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9" name="" descr="{&quot;isTemplate&quot;:true,&quot;type&quot;:&quot;text&quot;}"/>
          <p:cNvSpPr txBox="1"/>
          <p:nvPr/>
        </p:nvSpPr>
        <p:spPr>
          <a:xfrm rot="0" flipH="0" flipV="0">
            <a:off x="7267575" y="3409950"/>
            <a:ext cx="4200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 b="1">
                <a:solidFill>
                  <a:srgbClr val="1A2230"/>
                </a:solidFill>
                <a:latin typeface="PingFang SC"/>
                <a:ea typeface="PingFang SC"/>
              </a:rPr>
              <a:t>三、错题按错因归档</a:t>
            </a:r>
            <a:endParaRPr/>
          </a:p>
        </p:txBody>
      </p:sp>
      <p:sp>
        <p:nvSpPr>
          <p:cNvPr id="430" name="" descr="{&quot;isTemplate&quot;:true,&quot;type&quot;:&quot;text&quot;}"/>
          <p:cNvSpPr txBox="1"/>
          <p:nvPr/>
        </p:nvSpPr>
        <p:spPr>
          <a:xfrm rot="0" flipH="0" flipV="0">
            <a:off x="7267575" y="3629025"/>
            <a:ext cx="4200525" cy="2286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概念混淆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步骤遗漏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条件误读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计算失误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表述不清</a:t>
            </a:r>
            <a:endParaRPr/>
          </a:p>
        </p:txBody>
      </p:sp>
      <p:sp>
        <p:nvSpPr>
          <p:cNvPr id="431" name=""/>
          <p:cNvSpPr/>
          <p:nvPr/>
        </p:nvSpPr>
        <p:spPr>
          <a:xfrm rot="0" flipH="0" flipV="0">
            <a:off x="7124700" y="4152900"/>
            <a:ext cx="4371975" cy="781050"/>
          </a:xfrm>
          <a:custGeom>
            <a:pathLst>
              <a:path w="459" h="82">
                <a:moveTo>
                  <a:pt x="0" y="0"/>
                </a:moveTo>
                <a:lnTo>
                  <a:pt x="3" y="0"/>
                </a:lnTo>
                <a:lnTo>
                  <a:pt x="3" y="82"/>
                </a:lnTo>
                <a:lnTo>
                  <a:pt x="0" y="82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7267575" y="4191000"/>
            <a:ext cx="4200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 b="1">
                <a:solidFill>
                  <a:srgbClr val="1A2230"/>
                </a:solidFill>
                <a:latin typeface="PingFang SC"/>
                <a:ea typeface="PingFang SC"/>
              </a:rPr>
              <a:t>四、到期自动复盘</a:t>
            </a:r>
            <a:endParaRPr/>
          </a:p>
        </p:txBody>
      </p:sp>
      <p:sp>
        <p:nvSpPr>
          <p:cNvPr id="433" name="" descr="{&quot;isTemplate&quot;:true,&quot;type&quot;:&quot;text&quot;}"/>
          <p:cNvSpPr txBox="1"/>
          <p:nvPr/>
        </p:nvSpPr>
        <p:spPr>
          <a:xfrm rot="0" flipH="0" flipV="0">
            <a:off x="7267575" y="4410075"/>
            <a:ext cx="4200525" cy="2286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今日复习只列到期题与薄弱学科；日程负责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什么时候做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endParaRPr/>
          </a:p>
        </p:txBody>
      </p:sp>
      <p:sp>
        <p:nvSpPr>
          <p:cNvPr id="434" name=""/>
          <p:cNvSpPr/>
          <p:nvPr/>
        </p:nvSpPr>
        <p:spPr>
          <a:xfrm rot="0" flipH="0" flipV="0">
            <a:off x="723900" y="4762500"/>
            <a:ext cx="10744200" cy="228600"/>
          </a:xfrm>
          <a:prstGeom prst="roundRect">
            <a:avLst>
              <a:gd name="adj" fmla="val 25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857250" y="4810125"/>
            <a:ext cx="2095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1E4FA8"/>
                </a:solidFill>
                <a:latin typeface="PingFang SC"/>
                <a:ea typeface="PingFang SC"/>
              </a:rPr>
              <a:t>演示数据规模</a:t>
            </a:r>
            <a:endParaRPr/>
          </a:p>
        </p:txBody>
      </p:sp>
      <p:sp>
        <p:nvSpPr>
          <p:cNvPr id="436" name="" descr="{&quot;isTemplate&quot;:true,&quot;type&quot;:&quot;text&quot;}"/>
          <p:cNvSpPr txBox="1"/>
          <p:nvPr/>
        </p:nvSpPr>
        <p:spPr>
          <a:xfrm rot="0" flipH="0" flipV="0">
            <a:off x="2952750" y="4810125"/>
            <a:ext cx="2667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7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个学科库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/ 24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份资料</a:t>
            </a:r>
            <a:endParaRPr/>
          </a:p>
        </p:txBody>
      </p:sp>
      <p:sp>
        <p:nvSpPr>
          <p:cNvPr id="437" name="" descr="{&quot;isTemplate&quot;:true,&quot;type&quot;:&quot;text&quot;}"/>
          <p:cNvSpPr txBox="1"/>
          <p:nvPr/>
        </p:nvSpPr>
        <p:spPr>
          <a:xfrm rot="0" flipH="0" flipV="0">
            <a:off x="5619750" y="4810125"/>
            <a:ext cx="2667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46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个检索片段（全部带出处）</a:t>
            </a:r>
            <a:endParaRPr/>
          </a:p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8286750" y="48101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5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门课程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/ 7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条误区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/ 3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条日程</a:t>
            </a:r>
            <a:endParaRPr/>
          </a:p>
        </p:txBody>
      </p:sp>
      <p:sp>
        <p:nvSpPr>
          <p:cNvPr id="439" name=""/>
          <p:cNvSpPr/>
          <p:nvPr/>
        </p:nvSpPr>
        <p:spPr>
          <a:xfrm rot="0" flipH="0" flipV="0">
            <a:off x="723900" y="5143500"/>
            <a:ext cx="5276850" cy="666750"/>
          </a:xfrm>
          <a:custGeom>
            <a:pathLst>
              <a:path w="554" h="70">
                <a:moveTo>
                  <a:pt x="0" y="0"/>
                </a:moveTo>
                <a:lnTo>
                  <a:pt x="3" y="0"/>
                </a:lnTo>
                <a:lnTo>
                  <a:pt x="3" y="70"/>
                </a:lnTo>
                <a:lnTo>
                  <a:pt x="0" y="7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885825" y="5143500"/>
            <a:ext cx="51149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1A2230"/>
                </a:solidFill>
                <a:latin typeface="PingFang SC"/>
                <a:ea typeface="PingFang SC"/>
              </a:rPr>
              <a:t>可核验的出处</a:t>
            </a:r>
            <a:endParaRPr/>
          </a:p>
        </p:txBody>
      </p:sp>
      <p:sp>
        <p:nvSpPr>
          <p:cNvPr id="441" name="" descr="{&quot;isTemplate&quot;:true,&quot;type&quot;:&quot;text&quot;}"/>
          <p:cNvSpPr txBox="1"/>
          <p:nvPr/>
        </p:nvSpPr>
        <p:spPr>
          <a:xfrm rot="0" flipH="0" flipV="0">
            <a:off x="885825" y="5353050"/>
            <a:ext cx="5114925" cy="238125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PDF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与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PPT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按页切块，引用精确到「第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N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页」——这是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有据可查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与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看着像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的分界。</a:t>
            </a:r>
            <a:endParaRPr/>
          </a:p>
        </p:txBody>
      </p:sp>
      <p:sp>
        <p:nvSpPr>
          <p:cNvPr id="442" name=""/>
          <p:cNvSpPr/>
          <p:nvPr/>
        </p:nvSpPr>
        <p:spPr>
          <a:xfrm rot="0" flipH="0" flipV="0">
            <a:off x="6191250" y="5143500"/>
            <a:ext cx="5276850" cy="666750"/>
          </a:xfrm>
          <a:custGeom>
            <a:pathLst>
              <a:path w="554" h="70">
                <a:moveTo>
                  <a:pt x="0" y="0"/>
                </a:moveTo>
                <a:lnTo>
                  <a:pt x="3" y="0"/>
                </a:lnTo>
                <a:lnTo>
                  <a:pt x="3" y="70"/>
                </a:lnTo>
                <a:lnTo>
                  <a:pt x="0" y="7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6353175" y="5143500"/>
            <a:ext cx="51149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1A2230"/>
                </a:solidFill>
                <a:latin typeface="PingFang SC"/>
                <a:ea typeface="PingFang SC"/>
              </a:rPr>
              <a:t>可复现的过程</a:t>
            </a:r>
            <a:endParaRPr/>
          </a:p>
        </p:txBody>
      </p:sp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6353175" y="5353050"/>
            <a:ext cx="5114925" cy="238125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每个回合的步骤流与工具调用都留痕，可回放、可归因，不依赖演讲者记忆。</a:t>
            </a:r>
            <a:endParaRPr/>
          </a:p>
        </p:txBody>
      </p:sp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3371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截图取自演示数据（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zhiji-demo --reset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可重建同一份数据）</a:t>
            </a:r>
            <a:endParaRPr/>
          </a:p>
        </p:txBody>
      </p:sp>
      <p:sp>
        <p:nvSpPr>
          <p:cNvPr id="446" name="" descr="{&quot;isTemplate&quot;:true,&quot;type&quot;:&quot;text&quot;}"/>
          <p:cNvSpPr txBox="1"/>
          <p:nvPr/>
        </p:nvSpPr>
        <p:spPr>
          <a:xfrm rot="0" flipH="0" flipV="0">
            <a:off x="11039475" y="6448425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09 / 11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31" name="" descr="&lt;Slide style={{ width: 1280, height: 720, background: '#FFFFFF', padding: 0, position: 'relative', fontFamily: 'PingFang SC' }}&gt;&#10;&#10;  &lt;Box style={{ position: 'absolute', top: 0, left: 0, width: 1280, height: 64, background: '#1E4FA8' }} /&gt;&#10;  &lt;Text style={{ position: 'absolute', left: 76, top: 21, fontSize: 15, color: '#C9D8EF', letterSpacing: 1 }}&gt;知迹 · 答辩汇报&lt;/Text&gt;&#10;  &lt;Text style={{ position: 'absolute', left: 1010, top: 21, width: 194, textAlign: 'right', fontSize: 15, color: '#C9D8EF' }}&gt;05 · 边界与下一步&lt;/Text&gt;&#10;&#10;  &lt;Box style={{ position: 'absolute', left: 76, top: 92, width: 1128 }}&gt;&#10;    &lt;Text style={{ fontSize: 31, fontWeight: 'bold', color: '#0E3F8C' }}&gt;六项能力：两项达标、三项部分达成、一项未做&lt;/Text&gt;&#10;    &lt;Text style={{ fontSize: 15.5, color: '#4A5568', marginTop: 10 }}&gt;主动列出未达标项与判据，便于评审核对；不以「已完成」口径描述半成品&lt;/Text&gt;&#10;  &lt;/Box&gt;&#10;&#10;  &lt;Box style={{ position: 'absolute', left: 76, top: 186, width: 1128, height: 34, flexDirection: 'row', alignItems: 'center', background: '#F0F5FC', borderRadius: 6, paddingLeft: 14 }}&gt;&#10;    &lt;Text style={{ fontSize: 12.5, fontWeight: 'bold', color: '#0E3F8C', width: 420 }}&gt;能力项&lt;/Text&gt;&#10;    &lt;Text style={{ fontSize: 12.5, fontWeight: 'bold', color: '#0E3F8C', width: 110 }}&gt;状态&lt;/Text&gt;&#10;    &lt;Text style={{ fontSize: 12.5, fontWeight: 'bold', color: '#0E3F8C', width: 555 }}&gt;依据 / 尚缺什么&lt;/Text&gt;&#10;  &lt;/Box&gt;&#10;&#10;  &lt;Box style={{ position: 'absolute', left: 76, top: 224, width: 1128, height: 336, flexDirection: 'column' }}&gt;&#10;&#10;    &lt;Box style={{ flexDirection: 'row', height: 56, alignItems: 'center', borderBottom: '1px solid #E5E7EB', paddingLeft: 14 }}&gt;&#10;      &lt;Text style={{ fontSize: 13.5, color: '#1A2230', width: 420 }}&gt;中断可恢复&lt;/Text&gt;&#10;      &lt;Text style={{ fontSize: 13.5, fontWeight: 'bold', color: '#1E4FA8', width: 110 }}&gt;达标&lt;/Text&gt;&#10;      &lt;Text style={{ fontSize: 12.5, color: '#4A5568', width: 555 }}&gt;状态图 + 检查点 + 中断恢复，均有回归测试&lt;/Text&gt;&#10;    &lt;/Box&gt;&#10;&#10;    &lt;Box style={{ flexDirection: 'row', height: 56, alignItems: 'center', borderBottom: '1px solid #E5E7EB', paddingLeft: 14 }}&gt;&#10;      &lt;Text style={{ fontSize: 13.5, color: '#1A2230', width: 420 }}&gt;检索准确性 / 可追溯&lt;/Text&gt;&#10;      &lt;Text style={{ fontSize: 13.5, fontWeight: 'bold', color: '#1E4FA8', width: 110 }}&gt;达标&lt;/Text&gt;&#10;      &lt;Text style={{ fontSize: 12.5, color: '#4A5568', width: 555 }}&gt;35 题考卷；接真实向量 35/35；引用精确到页&lt;/Text&gt;&#10;    &lt;/Box&gt;&#10;&#10;    &lt;Box style={{ flexDirection: 'row', height: 56, alignItems: 'center', borderBottom: '1px solid #E5E7EB', paddingLeft: 14 }}&gt;&#10;      &lt;Text style={{ fontSize: 13.5, color: '#1A2230', width: 420 }}&gt;工具执行治理&lt;/Text&gt;&#10;      &lt;Text style={{ fontSize: 13.5, fontWeight: 'bold', color: '#BA7517', width: 110 }}&gt;部分&lt;/Text&gt;&#10;      &lt;Text style={{ fontSize: 12.5, color: '#4A5568', width: 555 }}&gt;有双层权限与超时兜底；缺按参数 / 按资源的细粒度约束&lt;/Text&gt;&#10;    &lt;/Box&gt;&#10;&#10;    &lt;Box style={{ flexDirection: 'row', height: 56, alignItems: 'center', borderBottom: '1px solid #E5E7EB', paddingLeft: 14 }}&gt;&#10;      &lt;Text style={{ fontSize: 13.5, color: '#1A2230', width: 420 }}&gt;长上下文管理&lt;/Text&gt;&#10;      &lt;Text style={{ fontSize: 13.5, fontWeight: 'bold', color: '#BA7517', width: 110 }}&gt;部分&lt;/Text&gt;&#10;      &lt;Text style={{ fontSize: 12.5, color: '#4A5568', width: 555 }}&gt;有抽取式摘要与预算控制；缺关键事实外置成结构化笔记&lt;/Text&gt;&#10;    &lt;/Box&gt;&#10;&#10;    &lt;Box style={{ flexDirection: 'row', height: 56, alignItems: 'center', borderBottom: '1px solid #E5E7EB', paddingLeft: 14 }}&gt;&#10;      &lt;Text style={{ fontSize: 13.5, color: '#1A2230', width: 420 }}&gt;长期记忆&lt;/Text&gt;&#10;      &lt;Text style={{ fontSize: 13.5, fontWeight: 'bold', color: '#BA7517', width: 110 }}&gt;部分&lt;/Text&gt;&#10;      &lt;Text style={{ fontSize: 12.5, color: '#4A5568', width: 555 }}&gt;按课程隔离、写入前确认；缺过期、替换与删除机制&lt;/Text&gt;&#10;    &lt;/Box&gt;&#10;&#10;    &lt;Box style={{ flexDirection: 'row', height: 56, alignItems: 'center', paddingLeft: 14 }}&gt;&#10;      &lt;Text style={{ fontSize: 13.5, color: '#1A2230', width: 420 }}&gt;任务级成功率评测&lt;/Text&gt;&#10;      &lt;Text style={{ fontSize: 13.5, fontWeight: 'bold', color: '#D9534F', width: 110 }}&gt;未做&lt;/Text&gt;&#10;      &lt;Text style={{ fontSize: 12.5, color: '#4A5568', width: 555 }}&gt;现有考卷只测「找到没 / 分类对不对」，不测「本次会话是否达成目标」&lt;/Text&gt;&#10;    &lt;/Box&gt;&#10;&#10;  &lt;/Box&gt;&#10;&#10;  &lt;Box style={{ position: 'absolute', left: 76, top: 576, width: 1128, height: 46, background: '#0E3F8C', borderRadius: 8, justifyContent: 'center', alignItems: 'center' }}&gt;&#10;    &lt;Text style={{ fontSize: 13.5, color: '#FFFFFF' }}&gt;&#10;      下一步优先级：① 任务级成功率评测（先有尺子）② 记忆生命周期 ③ 更难的检索考卷；均可在现有门禁内验证&#10;    &lt;/Text&gt;&#10;  &lt;/Box&gt;&#10;&#10;  &lt;Box style={{ position: 'absolute', left: 76, bottom: 24, width: 1128, height: 22, flexDirection: 'row', alignItems: 'center', justifyContent: 'space-between' }}&gt;&#10;    &lt;Text style={{ fontSize: 13, color: '#8B97A8' }}&gt;知迹 · 基于大模型智能体的 AI 教育学习系统&lt;/Text&gt;&#10;    &lt;Text style={{ fontSize: 14, fontWeight: 'bold', color: '#0E3F8C' }}&gt;10 / 11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05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边界与下一步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723900" y="876300"/>
            <a:ext cx="10744200" cy="3619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325" b="1">
                <a:solidFill>
                  <a:srgbClr val="0E3F8C"/>
                </a:solidFill>
                <a:latin typeface="PingFang SC"/>
                <a:ea typeface="PingFang SC"/>
              </a:rPr>
              <a:t>六项能力：两项达标、三项部分达成、一项未做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723900" y="1333500"/>
            <a:ext cx="107442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>
                <a:solidFill>
                  <a:srgbClr val="4A5568"/>
                </a:solidFill>
                <a:latin typeface="PingFang SC"/>
                <a:ea typeface="PingFang SC"/>
              </a:rPr>
              <a:t>主动列出未达标项与判据，便于评审核对；不以「已完成」口径描述半成品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723900" y="1771650"/>
            <a:ext cx="10744200" cy="323850"/>
          </a:xfrm>
          <a:prstGeom prst="roundRect">
            <a:avLst>
              <a:gd name="adj" fmla="val 1764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857250" y="1866900"/>
            <a:ext cx="4000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0E3F8C"/>
                </a:solidFill>
                <a:latin typeface="PingFang SC"/>
                <a:ea typeface="PingFang SC"/>
              </a:rPr>
              <a:t>能力项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4857750" y="1866900"/>
            <a:ext cx="1047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0E3F8C"/>
                </a:solidFill>
                <a:latin typeface="PingFang SC"/>
                <a:ea typeface="PingFang SC"/>
              </a:rPr>
              <a:t>状态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5905500" y="1866900"/>
            <a:ext cx="52863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0E3F8C"/>
                </a:solidFill>
                <a:latin typeface="PingFang SC"/>
                <a:ea typeface="PingFang SC"/>
              </a:rPr>
              <a:t>依据</a:t>
            </a:r>
            <a:r>
              <a:rPr lang="en-US" sz="938" b="1">
                <a:solidFill>
                  <a:srgbClr val="0E3F8C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938" b="1">
                <a:solidFill>
                  <a:srgbClr val="0E3F8C"/>
                </a:solidFill>
                <a:latin typeface="PingFang SC"/>
                <a:ea typeface="PingFang SC"/>
              </a:rPr>
              <a:t>尚缺什么</a:t>
            </a:r>
            <a:endParaRPr/>
          </a:p>
        </p:txBody>
      </p:sp>
      <p:sp>
        <p:nvSpPr>
          <p:cNvPr id="42" name=""/>
          <p:cNvSpPr/>
          <p:nvPr/>
        </p:nvSpPr>
        <p:spPr>
          <a:xfrm rot="0" flipH="0" flipV="0">
            <a:off x="723900" y="2133600"/>
            <a:ext cx="10744200" cy="533400"/>
          </a:xfrm>
          <a:custGeom>
            <a:pathLst>
              <a:path w="1128" h="56">
                <a:moveTo>
                  <a:pt x="0" y="55"/>
                </a:moveTo>
                <a:lnTo>
                  <a:pt x="1128" y="55"/>
                </a:lnTo>
                <a:lnTo>
                  <a:pt x="1128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857250" y="2314575"/>
            <a:ext cx="4000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1A2230"/>
                </a:solidFill>
                <a:latin typeface="PingFang SC"/>
                <a:ea typeface="PingFang SC"/>
              </a:rPr>
              <a:t>中断可恢复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4857750" y="2314575"/>
            <a:ext cx="1047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1E4FA8"/>
                </a:solidFill>
                <a:latin typeface="PingFang SC"/>
                <a:ea typeface="PingFang SC"/>
              </a:rPr>
              <a:t>达标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5905500" y="2324100"/>
            <a:ext cx="52863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状态图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+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检查点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+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中断恢复，均有回归测试</a:t>
            </a:r>
            <a:endParaRPr/>
          </a:p>
        </p:txBody>
      </p:sp>
      <p:sp>
        <p:nvSpPr>
          <p:cNvPr id="46" name=""/>
          <p:cNvSpPr/>
          <p:nvPr/>
        </p:nvSpPr>
        <p:spPr>
          <a:xfrm rot="0" flipH="0" flipV="0">
            <a:off x="723900" y="2667000"/>
            <a:ext cx="10744200" cy="533400"/>
          </a:xfrm>
          <a:custGeom>
            <a:pathLst>
              <a:path w="1128" h="56">
                <a:moveTo>
                  <a:pt x="0" y="55"/>
                </a:moveTo>
                <a:lnTo>
                  <a:pt x="1128" y="55"/>
                </a:lnTo>
                <a:lnTo>
                  <a:pt x="1128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857250" y="2847975"/>
            <a:ext cx="4000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1A2230"/>
                </a:solidFill>
                <a:latin typeface="PingFang SC"/>
                <a:ea typeface="PingFang SC"/>
              </a:rPr>
              <a:t>检索准确性</a:t>
            </a:r>
            <a:r>
              <a:rPr lang="en-US" sz="1013">
                <a:solidFill>
                  <a:srgbClr val="1A2230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1013">
                <a:solidFill>
                  <a:srgbClr val="1A2230"/>
                </a:solidFill>
                <a:latin typeface="PingFang SC"/>
                <a:ea typeface="PingFang SC"/>
              </a:rPr>
              <a:t>可追溯</a:t>
            </a:r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4857750" y="2847975"/>
            <a:ext cx="1047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1E4FA8"/>
                </a:solidFill>
                <a:latin typeface="PingFang SC"/>
                <a:ea typeface="PingFang SC"/>
              </a:rPr>
              <a:t>达标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5905500" y="2857500"/>
            <a:ext cx="52863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35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题考卷；接真实向量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35/35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；引用精确到页</a:t>
            </a:r>
            <a:endParaRPr/>
          </a:p>
        </p:txBody>
      </p:sp>
      <p:sp>
        <p:nvSpPr>
          <p:cNvPr id="50" name=""/>
          <p:cNvSpPr/>
          <p:nvPr/>
        </p:nvSpPr>
        <p:spPr>
          <a:xfrm rot="0" flipH="0" flipV="0">
            <a:off x="723900" y="3200400"/>
            <a:ext cx="10744200" cy="533400"/>
          </a:xfrm>
          <a:custGeom>
            <a:pathLst>
              <a:path w="1128" h="56">
                <a:moveTo>
                  <a:pt x="0" y="55"/>
                </a:moveTo>
                <a:lnTo>
                  <a:pt x="1128" y="55"/>
                </a:lnTo>
                <a:lnTo>
                  <a:pt x="1128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857250" y="3381375"/>
            <a:ext cx="4000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1A2230"/>
                </a:solidFill>
                <a:latin typeface="PingFang SC"/>
                <a:ea typeface="PingFang SC"/>
              </a:rPr>
              <a:t>工具执行治理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4857750" y="3381375"/>
            <a:ext cx="1047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BA7517"/>
                </a:solidFill>
                <a:latin typeface="PingFang SC"/>
                <a:ea typeface="PingFang SC"/>
              </a:rPr>
              <a:t>部分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5905500" y="3390900"/>
            <a:ext cx="52863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有双层权限与超时兜底；缺按参数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按资源的细粒度约束</a:t>
            </a:r>
            <a:endParaRPr/>
          </a:p>
        </p:txBody>
      </p:sp>
      <p:sp>
        <p:nvSpPr>
          <p:cNvPr id="54" name=""/>
          <p:cNvSpPr/>
          <p:nvPr/>
        </p:nvSpPr>
        <p:spPr>
          <a:xfrm rot="0" flipH="0" flipV="0">
            <a:off x="723900" y="3733800"/>
            <a:ext cx="10744200" cy="533400"/>
          </a:xfrm>
          <a:custGeom>
            <a:pathLst>
              <a:path w="1128" h="56">
                <a:moveTo>
                  <a:pt x="0" y="55"/>
                </a:moveTo>
                <a:lnTo>
                  <a:pt x="1128" y="55"/>
                </a:lnTo>
                <a:lnTo>
                  <a:pt x="1128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857250" y="3914775"/>
            <a:ext cx="4000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1A2230"/>
                </a:solidFill>
                <a:latin typeface="PingFang SC"/>
                <a:ea typeface="PingFang SC"/>
              </a:rPr>
              <a:t>长上下文管理</a:t>
            </a:r>
            <a:endParaRPr/>
          </a:p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4857750" y="3914775"/>
            <a:ext cx="1047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BA7517"/>
                </a:solidFill>
                <a:latin typeface="PingFang SC"/>
                <a:ea typeface="PingFang SC"/>
              </a:rPr>
              <a:t>部分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5905500" y="3924300"/>
            <a:ext cx="52863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有抽取式摘要与预算控制；缺关键事实外置成结构化笔记</a:t>
            </a:r>
            <a:endParaRPr/>
          </a:p>
        </p:txBody>
      </p:sp>
      <p:sp>
        <p:nvSpPr>
          <p:cNvPr id="58" name=""/>
          <p:cNvSpPr/>
          <p:nvPr/>
        </p:nvSpPr>
        <p:spPr>
          <a:xfrm rot="0" flipH="0" flipV="0">
            <a:off x="723900" y="4267200"/>
            <a:ext cx="10744200" cy="533400"/>
          </a:xfrm>
          <a:custGeom>
            <a:pathLst>
              <a:path w="1128" h="56">
                <a:moveTo>
                  <a:pt x="0" y="55"/>
                </a:moveTo>
                <a:lnTo>
                  <a:pt x="1128" y="55"/>
                </a:lnTo>
                <a:lnTo>
                  <a:pt x="1128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857250" y="4448175"/>
            <a:ext cx="4000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1A2230"/>
                </a:solidFill>
                <a:latin typeface="PingFang SC"/>
                <a:ea typeface="PingFang SC"/>
              </a:rPr>
              <a:t>长期记忆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4857750" y="4448175"/>
            <a:ext cx="1047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BA7517"/>
                </a:solidFill>
                <a:latin typeface="PingFang SC"/>
                <a:ea typeface="PingFang SC"/>
              </a:rPr>
              <a:t>部分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5905500" y="4457700"/>
            <a:ext cx="52863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按课程隔离、写入前确认；缺过期、替换与删除机制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857250" y="4991100"/>
            <a:ext cx="4000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1A2230"/>
                </a:solidFill>
                <a:latin typeface="PingFang SC"/>
                <a:ea typeface="PingFang SC"/>
              </a:rPr>
              <a:t>任务级成功率评测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4857750" y="4991100"/>
            <a:ext cx="1047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D9534F"/>
                </a:solidFill>
                <a:latin typeface="PingFang SC"/>
                <a:ea typeface="PingFang SC"/>
              </a:rPr>
              <a:t>未做</a:t>
            </a:r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5905500" y="5000625"/>
            <a:ext cx="52863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现有考卷只测「找到没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分类对不对」，不测「本次会话是否达成目标」</a:t>
            </a:r>
            <a:endParaRPr/>
          </a:p>
        </p:txBody>
      </p:sp>
      <p:sp>
        <p:nvSpPr>
          <p:cNvPr id="65" name=""/>
          <p:cNvSpPr/>
          <p:nvPr/>
        </p:nvSpPr>
        <p:spPr>
          <a:xfrm rot="0" flipH="0" flipV="0">
            <a:off x="723900" y="5486400"/>
            <a:ext cx="10744200" cy="438150"/>
          </a:xfrm>
          <a:prstGeom prst="roundRect">
            <a:avLst>
              <a:gd name="adj" fmla="val 1739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2924175" y="5629275"/>
            <a:ext cx="6343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FFFFFF"/>
                </a:solidFill>
                <a:latin typeface="PingFang SC"/>
                <a:ea typeface="PingFang SC"/>
              </a:rPr>
              <a:t>下一步优先级：①</a:t>
            </a:r>
            <a:r>
              <a:rPr lang="en-US" sz="1013">
                <a:solidFill>
                  <a:srgbClr val="FFFFFF"/>
                </a:solidFill>
                <a:latin typeface="PingFang SC"/>
                <a:ea typeface="PingFang SC"/>
              </a:rPr>
              <a:t xml:space="preserve"> </a:t>
            </a:r>
            <a:r>
              <a:rPr lang="zh-CN" sz="1013">
                <a:solidFill>
                  <a:srgbClr val="FFFFFF"/>
                </a:solidFill>
                <a:latin typeface="PingFang SC"/>
                <a:ea typeface="PingFang SC"/>
              </a:rPr>
              <a:t>任务级成功率评测（先有尺子）②</a:t>
            </a:r>
            <a:r>
              <a:rPr lang="en-US" sz="1013">
                <a:solidFill>
                  <a:srgbClr val="FFFFFF"/>
                </a:solidFill>
                <a:latin typeface="PingFang SC"/>
                <a:ea typeface="PingFang SC"/>
              </a:rPr>
              <a:t xml:space="preserve"> </a:t>
            </a:r>
            <a:r>
              <a:rPr lang="zh-CN" sz="1013">
                <a:solidFill>
                  <a:srgbClr val="FFFFFF"/>
                </a:solidFill>
                <a:latin typeface="PingFang SC"/>
                <a:ea typeface="PingFang SC"/>
              </a:rPr>
              <a:t>记忆生命周期</a:t>
            </a:r>
            <a:r>
              <a:rPr lang="en-US" sz="1013">
                <a:solidFill>
                  <a:srgbClr val="FFFFFF"/>
                </a:solidFill>
                <a:latin typeface="PingFang SC"/>
                <a:ea typeface="PingFang SC"/>
              </a:rPr>
              <a:t xml:space="preserve"> ③ </a:t>
            </a:r>
            <a:r>
              <a:rPr lang="zh-CN" sz="1013">
                <a:solidFill>
                  <a:srgbClr val="FFFFFF"/>
                </a:solidFill>
                <a:latin typeface="PingFang SC"/>
                <a:ea typeface="PingFang SC"/>
              </a:rPr>
              <a:t>更难的检索考卷；均可在现有门禁内验证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2447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11068050" y="6448425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10 / 11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69" name="" descr="&lt;Slide style={{ width: 1280, height: 720, background: '#0E3F8C', padding: 0, position: 'relative', overflow: 'hidden', fontFamily: 'PingFang SC' }}&gt;&#10;&#10;  &lt;Box style={{ position: 'absolute', top: 0, left: 0, width: 1280, height: 6, background: '#3D7BD9' }} /&gt;&#10;&#10;  &lt;Box style={{ position: 'absolute', left: 76, top: 88, width: 1060, flexDirection: 'column' }}&gt;&#10;    &lt;Text style={{ fontSize: 15, color: '#8FB2E0', letterSpacing: 1.2 }}&gt;结论&lt;/Text&gt;&#10;    &lt;Text style={{ fontSize: 32, fontWeight: 'bold', color: '#FFFFFF', lineHeight: 1.6, marginTop: 14 }}&gt;&#10;      让 AI 真正帮上忙，靠的不是它多聪明，而是它每一步都留痕、能被拦住、也能被复算。&#10;    &lt;/Text&gt;&#10;    &lt;Box style={{ width: 96, height: 2, background: '#3D7BD9', marginTop: 20 }} /&gt;&#10;  &lt;/Box&gt;&#10;&#10;  &lt;Box style={{ position: 'absolute', left: 76, top: 288, width: 1128, height: 186, flexDirection: 'row' }}&gt;&#10;&#10;    &lt;Box style={{ width: 336, height: 186, flexDirection: 'column', borderTop: '2px solid #3D7BD9', paddingTop: 14 }}&gt;&#10;      &lt;Text style={{ fontSize: 13, color: '#8FB2E0' }}&gt;下一步 · 一&lt;/Text&gt;&#10;      &lt;Text style={{ fontSize: 19, fontWeight: 'bold', color: '#FFFFFF', marginTop: 8 }}&gt;测「这轮有没有用」&lt;/Text&gt;&#10;      &lt;Text style={{ fontSize: 13.5, color: '#B9CCE8', lineHeight: 1.7, marginTop: 10 }}&gt;&#10;        从「找到没」升级到「一次完整使用有没有达成目标」，这才是用户真正关心的。&#10;      &lt;/Text&gt;&#10;    &lt;/Box&gt;&#10;&#10;    &lt;Box style={{ width: 60 }} /&gt;&#10;&#10;    &lt;Box style={{ width: 336, height: 186, flexDirection: 'column', borderTop: '2px solid #3D7BD9', paddingTop: 14 }}&gt;&#10;      &lt;Text style={{ fontSize: 13, color: '#8FB2E0' }}&gt;下一步 · 二&lt;/Text&gt;&#10;      &lt;Text style={{ fontSize: 19, fontWeight: 'bold', color: '#FFFFFF', marginTop: 8 }}&gt;让记忆能忘掉&lt;/Text&gt;&#10;      &lt;Text style={{ fontSize: 13.5, color: '#B9CCE8', lineHeight: 1.7, marginTop: 10 }}&gt;&#10;        记住的东西要能改、能删、过期会失效——不然会一直用错的旧偏好回答你。&#10;      &lt;/Text&gt;&#10;    &lt;/Box&gt;&#10;&#10;    &lt;Box style={{ width: 60 }} /&gt;&#10;&#10;    &lt;Box style={{ width: 336, height: 186, flexDirection: 'column', borderTop: '2px solid #3D7BD9', paddingTop: 14 }}&gt;&#10;      &lt;Text style={{ fontSize: 13, color: '#8FB2E0' }}&gt;下一步 · 三&lt;/Text&gt;&#10;      &lt;Text style={{ fontSize: 19, fontWeight: 'bold', color: '#FFFFFF', marginTop: 8 }}&gt;把题出得更难&lt;/Text&gt;&#10;      &lt;Text style={{ fontSize: 13.5, color: '#B9CCE8', lineHeight: 1.7, marginTop: 10 }}&gt;&#10;        现在的考卷太容易，考不出差别；题不难，后面改什么都看不出好坏。&#10;      &lt;/Text&gt;&#10;    &lt;/Box&gt;&#10;&#10;  &lt;/Box&gt;&#10;&#10;  &lt;Box style={{ position: 'absolute', left: 76, top: 502, width: 1128, height: 44, flexDirection: 'row', alignItems: 'center' }}&gt;&#10;    &lt;Text style={{ fontSize: 17, color: '#FFFFFF' }}&gt;谢谢，欢迎提问&lt;/Text&gt;&#10;    &lt;Text style={{ fontSize: 13.5, color: '#8FB2E0', paddingLeft: 24 }}&gt;下面三项均可在仓库复跑&lt;/Text&gt;&#10;  &lt;/Box&gt;&#10;&#10;  &lt;Box style={{ position: 'absolute', left: 76, top: 556, width: 1128, height: 88, background: 'rgba(255, 255, 255, 0.07)', borderRadius: 8, flexDirection: 'row', alignItems: 'center', paddingLeft: 24 }}&gt;&#10;&#10;    &lt;Box style={{ width: 300, flexDirection: 'column' }}&gt;&#10;      &lt;Text style={{ fontSize: 22, fontWeight: 'bold', color: '#FFFFFF' }}&gt;284 项&lt;/Text&gt;&#10;      &lt;Text style={{ fontSize: 12.5, color: '#B9CCE8', marginTop: 4 }}&gt;自动化测试，离线可跑&lt;/Text&gt;&#10;    &lt;/Box&gt;&#10;&#10;    &lt;Box style={{ width: 1, height: 46, background: '#3D7BD9', marginLeft: 12, marginRight: 22 }} /&gt;&#10;&#10;    &lt;Box style={{ width: 300, flexDirection: 'column' }}&gt;&#10;      &lt;Text style={{ fontSize: 22, fontWeight: 'bold', color: '#FFFFFF' }}&gt;35 道&lt;/Text&gt;&#10;      &lt;Text style={{ fontSize: 12.5, color: '#B9CCE8', marginTop: 4 }}&gt;检索题，接真模型全对&lt;/Text&gt;&#10;    &lt;/Box&gt;&#10;&#10;    &lt;Box style={{ width: 1, height: 46, background: '#3D7BD9', marginLeft: 12, marginRight: 22 }} /&gt;&#10;&#10;    &lt;Box style={{ width: 300, flexDirection: 'column' }}&gt;&#10;      &lt;Text style={{ fontSize: 22, fontWeight: 'bold', color: '#FFFFFF' }}&gt;7 个&lt;/Text&gt;&#10;      &lt;Text style={{ fontSize: 12.5, color: '#B9CCE8', marginTop: 4 }}&gt;功能页面，全部可用&lt;/Text&gt;&#10;    &lt;/Box&gt;&#10;&#10;  &lt;/Box&gt;&#10;&#10;  &lt;Box style={{ position: 'absolute', bottom: 0, left: 0, width: 1280, height: 56, background: 'rgba(255, 255, 255, 0.07)', flexDirection: 'row', alignItems: 'center', justifyContent: 'space-between', paddingLeft: 76, paddingRight: 76 }}&gt;&#10;    &lt;Text style={{ fontSize: 14, color: '#C9D8EF' }}&gt;知迹 · 基于大模型智能体的 AI 教育学习系统&lt;/Text&gt;&#10;    &lt;Text style={{ fontSize: 14, color: '#C9D8EF' }}&gt;11 / 11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1" name=""/>
          <p:cNvSpPr/>
          <p:nvPr/>
        </p:nvSpPr>
        <p:spPr>
          <a:xfrm rot="0" flipH="0" flipV="0">
            <a:off x="0" y="0"/>
            <a:ext cx="12192000" cy="571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723900" y="838200"/>
            <a:ext cx="10096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90">
                <a:solidFill>
                  <a:srgbClr val="8FB2E0"/>
                </a:solidFill>
                <a:latin typeface="PingFang SC"/>
                <a:ea typeface="PingFang SC"/>
              </a:rPr>
              <a:t>结论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723900" y="1143000"/>
            <a:ext cx="10096500" cy="1171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2400" b="1">
                <a:solidFill>
                  <a:srgbClr val="FFFFFF"/>
                </a:solidFill>
                <a:latin typeface="PingFang SC"/>
                <a:ea typeface="PingFang SC"/>
              </a:rPr>
              <a:t>让</a:t>
            </a:r>
            <a:r>
              <a:rPr lang="en-US" sz="2400" b="1">
                <a:solidFill>
                  <a:srgbClr val="FFFFFF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2400" b="1">
                <a:solidFill>
                  <a:srgbClr val="FFFFFF"/>
                </a:solidFill>
                <a:latin typeface="PingFang SC"/>
                <a:ea typeface="PingFang SC"/>
              </a:rPr>
              <a:t>真正帮上忙，靠的不是它多聪明，而是它每一步都留痕、能被拦住、也能被复算。</a:t>
            </a:r>
            <a:endParaRPr/>
          </a:p>
        </p:txBody>
      </p:sp>
      <p:sp>
        <p:nvSpPr>
          <p:cNvPr id="74" name=""/>
          <p:cNvSpPr/>
          <p:nvPr/>
        </p:nvSpPr>
        <p:spPr>
          <a:xfrm rot="0" flipH="0" flipV="0">
            <a:off x="723900" y="2505075"/>
            <a:ext cx="9144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5" name=""/>
          <p:cNvSpPr/>
          <p:nvPr/>
        </p:nvSpPr>
        <p:spPr>
          <a:xfrm rot="0" flipH="0" flipV="0">
            <a:off x="723900" y="2743200"/>
            <a:ext cx="3200400" cy="1771650"/>
          </a:xfrm>
          <a:custGeom>
            <a:pathLst>
              <a:path w="336" h="186">
                <a:moveTo>
                  <a:pt x="0" y="0"/>
                </a:moveTo>
                <a:lnTo>
                  <a:pt x="336" y="0"/>
                </a:lnTo>
                <a:lnTo>
                  <a:pt x="336" y="2"/>
                </a:lnTo>
                <a:lnTo>
                  <a:pt x="0" y="2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723900" y="2895600"/>
            <a:ext cx="3200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FB2E0"/>
                </a:solidFill>
                <a:latin typeface="PingFang SC"/>
                <a:ea typeface="PingFang SC"/>
              </a:rPr>
              <a:t>下一步</a:t>
            </a:r>
            <a:r>
              <a:rPr lang="en-US" sz="975">
                <a:solidFill>
                  <a:srgbClr val="8FB2E0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FB2E0"/>
                </a:solidFill>
                <a:latin typeface="PingFang SC"/>
                <a:ea typeface="PingFang SC"/>
              </a:rPr>
              <a:t>一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723900" y="3124200"/>
            <a:ext cx="3200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测「这轮有没有用」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23900" y="3438525"/>
            <a:ext cx="32004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B9CCE8"/>
                </a:solidFill>
                <a:latin typeface="PingFang SC"/>
                <a:ea typeface="PingFang SC"/>
              </a:rPr>
              <a:t>从「找到没」升级到「一次完整使用有没有达成目标」，这才是用户真正关心的。</a:t>
            </a:r>
            <a:endParaRPr/>
          </a:p>
        </p:txBody>
      </p:sp>
      <p:sp>
        <p:nvSpPr>
          <p:cNvPr id="79" name=""/>
          <p:cNvSpPr/>
          <p:nvPr/>
        </p:nvSpPr>
        <p:spPr>
          <a:xfrm rot="0" flipH="0" flipV="0">
            <a:off x="4495800" y="2743200"/>
            <a:ext cx="3200400" cy="1771650"/>
          </a:xfrm>
          <a:custGeom>
            <a:pathLst>
              <a:path w="336" h="186">
                <a:moveTo>
                  <a:pt x="0" y="0"/>
                </a:moveTo>
                <a:lnTo>
                  <a:pt x="336" y="0"/>
                </a:lnTo>
                <a:lnTo>
                  <a:pt x="336" y="2"/>
                </a:lnTo>
                <a:lnTo>
                  <a:pt x="0" y="2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4495800" y="2895600"/>
            <a:ext cx="3200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FB2E0"/>
                </a:solidFill>
                <a:latin typeface="PingFang SC"/>
                <a:ea typeface="PingFang SC"/>
              </a:rPr>
              <a:t>下一步</a:t>
            </a:r>
            <a:r>
              <a:rPr lang="en-US" sz="975">
                <a:solidFill>
                  <a:srgbClr val="8FB2E0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FB2E0"/>
                </a:solidFill>
                <a:latin typeface="PingFang SC"/>
                <a:ea typeface="PingFang SC"/>
              </a:rPr>
              <a:t>二</a:t>
            </a:r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4495800" y="3124200"/>
            <a:ext cx="3200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让记忆能忘掉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4495800" y="3438525"/>
            <a:ext cx="32004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B9CCE8"/>
                </a:solidFill>
                <a:latin typeface="PingFang SC"/>
                <a:ea typeface="PingFang SC"/>
              </a:rPr>
              <a:t>记住的东西要能改、能删、过期会失效——不然会一直用错的旧偏好回答你。</a:t>
            </a:r>
            <a:endParaRPr/>
          </a:p>
        </p:txBody>
      </p:sp>
      <p:sp>
        <p:nvSpPr>
          <p:cNvPr id="83" name=""/>
          <p:cNvSpPr/>
          <p:nvPr/>
        </p:nvSpPr>
        <p:spPr>
          <a:xfrm rot="0" flipH="0" flipV="0">
            <a:off x="8267700" y="2743200"/>
            <a:ext cx="3200400" cy="1771650"/>
          </a:xfrm>
          <a:custGeom>
            <a:pathLst>
              <a:path w="336" h="186">
                <a:moveTo>
                  <a:pt x="0" y="0"/>
                </a:moveTo>
                <a:lnTo>
                  <a:pt x="336" y="0"/>
                </a:lnTo>
                <a:lnTo>
                  <a:pt x="336" y="2"/>
                </a:lnTo>
                <a:lnTo>
                  <a:pt x="0" y="2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8267700" y="2895600"/>
            <a:ext cx="3200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FB2E0"/>
                </a:solidFill>
                <a:latin typeface="PingFang SC"/>
                <a:ea typeface="PingFang SC"/>
              </a:rPr>
              <a:t>下一步</a:t>
            </a:r>
            <a:r>
              <a:rPr lang="en-US" sz="975">
                <a:solidFill>
                  <a:srgbClr val="8FB2E0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FB2E0"/>
                </a:solidFill>
                <a:latin typeface="PingFang SC"/>
                <a:ea typeface="PingFang SC"/>
              </a:rPr>
              <a:t>三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8267700" y="3124200"/>
            <a:ext cx="3200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把题出得更难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8267700" y="3438525"/>
            <a:ext cx="32004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B9CCE8"/>
                </a:solidFill>
                <a:latin typeface="PingFang SC"/>
                <a:ea typeface="PingFang SC"/>
              </a:rPr>
              <a:t>现在的考卷太容易，考不出差别；题不难，后面改什么都看不出好坏。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723900" y="4895850"/>
            <a:ext cx="1133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FFFFFF"/>
                </a:solidFill>
                <a:latin typeface="PingFang SC"/>
                <a:ea typeface="PingFang SC"/>
              </a:rPr>
              <a:t>谢谢，欢迎提问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1857375" y="4914900"/>
            <a:ext cx="1647825" cy="161925"/>
          </a:xfrm>
          <a:prstGeom prst="rect"/>
        </p:spPr>
        <p:txBody>
          <a:bodyPr wrap="none" lIns="17145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8FB2E0"/>
                </a:solidFill>
                <a:latin typeface="PingFang SC"/>
                <a:ea typeface="PingFang SC"/>
              </a:rPr>
              <a:t>下面三项均可在仓库复跑</a:t>
            </a:r>
            <a:endParaRPr/>
          </a:p>
        </p:txBody>
      </p:sp>
      <p:sp>
        <p:nvSpPr>
          <p:cNvPr id="89" name=""/>
          <p:cNvSpPr/>
          <p:nvPr/>
        </p:nvSpPr>
        <p:spPr>
          <a:xfrm rot="0" flipH="0" flipV="0">
            <a:off x="723900" y="5295900"/>
            <a:ext cx="10744200" cy="838200"/>
          </a:xfrm>
          <a:prstGeom prst="roundRect">
            <a:avLst>
              <a:gd name="adj" fmla="val 9091"/>
            </a:avLst>
          </a:prstGeom>
          <a:solidFill>
            <a:srgbClr val="FFFFFF">
              <a:alpha val="7000"/>
            </a:srgbClr>
          </a:solidFill>
          <a:ln/>
        </p:spPr>
        <p:txBody>
          <a:bodyPr/>
          <a:p/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952500" y="5495925"/>
            <a:ext cx="28575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PingFang SC"/>
                <a:ea typeface="PingFang SC"/>
              </a:rPr>
              <a:t xml:space="preserve">284 </a:t>
            </a:r>
            <a:r>
              <a:rPr lang="zh-CN" sz="1650" b="1">
                <a:solidFill>
                  <a:srgbClr val="FFFFFF"/>
                </a:solidFill>
                <a:latin typeface="PingFang SC"/>
                <a:ea typeface="PingFang SC"/>
              </a:rPr>
              <a:t>项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952500" y="5791200"/>
            <a:ext cx="2857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B9CCE8"/>
                </a:solidFill>
                <a:latin typeface="PingFang SC"/>
                <a:ea typeface="PingFang SC"/>
              </a:rPr>
              <a:t>自动化测试，离线可跑</a:t>
            </a:r>
            <a:endParaRPr/>
          </a:p>
        </p:txBody>
      </p:sp>
      <p:sp>
        <p:nvSpPr>
          <p:cNvPr id="92" name=""/>
          <p:cNvSpPr/>
          <p:nvPr/>
        </p:nvSpPr>
        <p:spPr>
          <a:xfrm rot="0" flipH="0" flipV="0">
            <a:off x="3924300" y="5495925"/>
            <a:ext cx="9525" cy="4381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4143375" y="5495925"/>
            <a:ext cx="28575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PingFang SC"/>
                <a:ea typeface="PingFang SC"/>
              </a:rPr>
              <a:t xml:space="preserve">35 </a:t>
            </a:r>
            <a:r>
              <a:rPr lang="zh-CN" sz="1650" b="1">
                <a:solidFill>
                  <a:srgbClr val="FFFFFF"/>
                </a:solidFill>
                <a:latin typeface="PingFang SC"/>
                <a:ea typeface="PingFang SC"/>
              </a:rPr>
              <a:t>道</a:t>
            </a:r>
            <a:endParaRPr/>
          </a:p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4143375" y="5791200"/>
            <a:ext cx="2857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B9CCE8"/>
                </a:solidFill>
                <a:latin typeface="PingFang SC"/>
                <a:ea typeface="PingFang SC"/>
              </a:rPr>
              <a:t>检索题，接真模型全对</a:t>
            </a:r>
            <a:endParaRPr/>
          </a:p>
        </p:txBody>
      </p:sp>
      <p:sp>
        <p:nvSpPr>
          <p:cNvPr id="95" name=""/>
          <p:cNvSpPr/>
          <p:nvPr/>
        </p:nvSpPr>
        <p:spPr>
          <a:xfrm rot="0" flipH="0" flipV="0">
            <a:off x="7115175" y="5495925"/>
            <a:ext cx="9525" cy="4381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7334250" y="5495925"/>
            <a:ext cx="28575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PingFang SC"/>
                <a:ea typeface="PingFang SC"/>
              </a:rPr>
              <a:t xml:space="preserve">7 </a:t>
            </a:r>
            <a:r>
              <a:rPr lang="zh-CN" sz="1650" b="1">
                <a:solidFill>
                  <a:srgbClr val="FFFFFF"/>
                </a:solidFill>
                <a:latin typeface="PingFang SC"/>
                <a:ea typeface="PingFang SC"/>
              </a:rPr>
              <a:t>个</a:t>
            </a:r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7334250" y="5791200"/>
            <a:ext cx="2857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B9CCE8"/>
                </a:solidFill>
                <a:latin typeface="PingFang SC"/>
                <a:ea typeface="PingFang SC"/>
              </a:rPr>
              <a:t>功能页面，全部可用</a:t>
            </a:r>
            <a:endParaRPr/>
          </a:p>
        </p:txBody>
      </p:sp>
      <p:sp>
        <p:nvSpPr>
          <p:cNvPr id="98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  <p:txBody>
          <a:bodyPr/>
          <a:p/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723900" y="6515100"/>
            <a:ext cx="26384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050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C9D8EF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1050">
                <a:solidFill>
                  <a:srgbClr val="C9D8EF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1050">
                <a:solidFill>
                  <a:srgbClr val="C9D8EF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11096625" y="6515100"/>
            <a:ext cx="371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C9D8EF"/>
                </a:solidFill>
                <a:latin typeface="PingFang SC"/>
                <a:ea typeface="PingFang SC"/>
              </a:rPr>
              <a:t>11 / 11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2026-10-21T10:39:11Z</dcterms:created>
  <dcterms:modified xsi:type="dcterms:W3CDTF">2026-10-21T10:39:11Z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{"AIGC":{"Label":"1","ContentProducer":"00119111010856365494821B355","ProduceID":"01a1596f50277a54a2a2a419ea96b08e","ReservedCode1":"","ContentPropagator":"00119111010856365494821B355","PropagateID":"01a1596f50277a54a2a2a419ea96b08e","ReservedCode2":""}}</vt:lpwstr>
  </property>
</Properties>
</file>