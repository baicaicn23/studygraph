
<file path=[Content_Types].xml><?xml version="1.0" encoding="utf-8"?>
<Types xmlns="http://schemas.openxmlformats.org/package/2006/content-types">
  <Default Extension="png" ContentType="image/png"/>
  <Default Extension="xml" ContentType="application/xml"/>
  <Default Extension="rels" ContentType="application/vnd.openxmlformats-package.relationships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heme/theme2.xml" ContentType="application/vnd.openxmlformats-officedocument.theme+xml"/>
  <Override PartName="/ppt/slides/slide9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ppt/slides/slide8.xml" ContentType="application/vnd.openxmlformats-officedocument.presentationml.slide+xml"/>
  <Override PartName="/docProps/custom.xml" ContentType="application/vnd.openxmlformats-officedocument.custom-properties+xml"/>
</Types>
</file>

<file path=_rels/.rels><?xml version="1.0" encoding="UTF-8" standalone="yes"?><Relationships xmlns="http://schemas.openxmlformats.org/package/2006/relationships"><Relationship Id="rId3" Type="http://schemas.openxmlformats.org/officeDocument/2006/relationships/custom-properties" Target="docProps/custom.xml" /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/Relationships>
</file>

<file path=ppt/presentation.xml><?xml version="1.0" encoding="utf-8"?>
<p:presentation xmlns:r="http://schemas.openxmlformats.org/officeDocument/2006/relationships" xmlns:p="http://schemas.openxmlformats.org/presentationml/2006/main" xmlns:a="http://schemas.openxmlformats.org/drawingml/2006/main" firstSlideNum="1">
  <p:sldMasterIdLst>
    <p:sldMasterId id="2147483648" r:id="rId0"/>
  </p:sldMasterIdLst>
  <p:notesMasterIdLst>
    <p:notesMasterId r:id="rId11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9" Type="http://schemas.openxmlformats.org/officeDocument/2006/relationships/slide" Target="slides/slide9.xml" /><Relationship Id="rId5" Type="http://schemas.openxmlformats.org/officeDocument/2006/relationships/slide" Target="slides/slide5.xml" /><Relationship Id="rId8" Type="http://schemas.openxmlformats.org/officeDocument/2006/relationships/slide" Target="slides/slide8.xml" /><Relationship Id="rId7" Type="http://schemas.openxmlformats.org/officeDocument/2006/relationships/slide" Target="slides/slide7.xml" /><Relationship Id="rId2" Type="http://schemas.openxmlformats.org/officeDocument/2006/relationships/slide" Target="slides/slide2.xml" /><Relationship Id="rId4" Type="http://schemas.openxmlformats.org/officeDocument/2006/relationships/slide" Target="slides/slide4.xml" /><Relationship Id="rId3" Type="http://schemas.openxmlformats.org/officeDocument/2006/relationships/slide" Target="slides/slide3.xml" /><Relationship Id="rId14" Type="http://schemas.openxmlformats.org/officeDocument/2006/relationships/viewProps" Target="viewProps.xml" /><Relationship Id="rId13" Type="http://schemas.openxmlformats.org/officeDocument/2006/relationships/tableStyles" Target="tableStyles.xml" /><Relationship Id="rId11" Type="http://schemas.openxmlformats.org/officeDocument/2006/relationships/notesMaster" Target="notesMasters/notesMaster1.xml" /><Relationship Id="rId12" Type="http://schemas.openxmlformats.org/officeDocument/2006/relationships/presProps" Target="presProps.xml" /><Relationship Id="rId6" Type="http://schemas.openxmlformats.org/officeDocument/2006/relationships/slide" Target="slides/slide6.xml" /><Relationship Id="rId0" Type="http://schemas.openxmlformats.org/officeDocument/2006/relationships/slideMaster" Target="slideMasters/slideMaster1.xml" /><Relationship Id="rId10" Type="http://schemas.openxmlformats.org/officeDocument/2006/relationships/slide" Target="slides/slide10.xml" /><Relationship Id="rId1" Type="http://schemas.openxmlformats.org/officeDocument/2006/relationships/slide" Target="slides/slide1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r="http://schemas.openxmlformats.org/officeDocument/2006/relationships"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image" Target="media/image1.png" /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 descr="&lt;Slide style={{ width: 1280, height: 720, background: '#0E3F8C', padding: 0, position: 'relative', overflow: 'hidden', fontFamily: 'PingFang SC' }}&gt;&#10;&#10;  &lt;Box style={{ position: 'absolute', top: 0, left: 0, width: 1280, height: 6, background: '#3D7BD9' }} /&gt;&#10;&#10;  &lt;Box style={{ position: 'relative', zIndex: 2, width: 1280, height: 664, flexDirection: 'column', paddingLeft: 76, paddingRight: 76, paddingTop: 60 }}&gt;&#10;&#10;    &lt;Text style={{ fontSize: 15, color: '#8FB2E0', letterSpacing: 1.2 }}&gt;&#10;      全国大学生数字媒体科技作品及创意竞赛 · 赛道十三 · 智慧教育与智能软件类&#10;    &lt;/Text&gt;&#10;&#10;    &lt;Box style={{ flexDirection: 'row', alignItems: 'flex-end', gap: 26, marginTop: 14 }}&gt;&#10;      &lt;Text style={{ fontSize: 104, fontWeight: 'bold', color: '#FFFFFF', letterSpacing: 8 }}&gt;知迹&lt;/Text&gt;&#10;      &lt;Text style={{ fontSize: 18, color: '#8FB2E0', letterSpacing: 5, paddingBottom: 20 }}&gt;ZHIJI&lt;/Text&gt;&#10;    &lt;/Box&gt;&#10;&#10;    &lt;Box style={{ width: 88, height: 2, background: '#3D7BD9', marginTop: 14 }} /&gt;&#10;&#10;    &lt;Text style={{ fontSize: 34, color: '#FFFFFF', letterSpacing: 0.8, marginTop: 16 }}&gt;&#10;      基于大模型智能体的 AI 教育学习系统&#10;    &lt;/Text&gt;&#10;&#10;    &lt;Text style={{ fontSize: 18, color: '#B9CCE8', lineHeight: 1.6, marginTop: 12 }}&gt;&#10;      把讲义、板书与错题沉淀成学科知识库；期末从库里生成复习材料——每一步都留下可复用的数据。&#10;    &lt;/Text&gt;&#10;&#10;    &lt;Box style={{ position: 'relative', width: 1128, height: 258, marginTop: 18 }}&gt;&#10;&#10;      &lt;Box style={{ position: 'absolute', left: 124, top: 57, width: 152, height: 2, background: '#3D7BD9' }} /&gt;&#10;      &lt;Box style={{ position: 'absolute', left: 364, top: 57, width: 152, height: 2, background: '#3D7BD9' }} /&gt;&#10;      &lt;Box style={{ position: 'absolute', left: 604, top: 57, width: 152, height: 2, background: '#3D7BD9' }} /&gt;&#10;      &lt;Box style={{ position: 'absolute', left: 844, top: 57, width: 152, height: 2, background: '#3D7BD9' }} /&gt;&#10;&#10;      &lt;Box style={{ position: 'absolute', left: 36, top: 14, width: 88, height: 88, borderRadius: 44, background: '#1E4FA8', border: '1.4px solid #6EA0E8', justifyContent: 'center', alignItems: 'center' }}&gt;&#10;        &lt;Text style={{ fontSize: 19, color: '#FFFFFF' }}&gt;资料&lt;/Text&gt;&#10;      &lt;/Box&gt;&#10;      &lt;Box style={{ position: 'absolute', left: 276, top: 14, width: 88, height: 88, borderRadius: 44, background: '#1E4FA8', border: '1.4px solid #6EA0E8', justifyContent: 'center', alignItems: 'center' }}&gt;&#10;        &lt;Text style={{ fontSize: 19, color: '#FFFFFF' }}&gt;检索&lt;/Text&gt;&#10;      &lt;/Box&gt;&#10;      &lt;Box style={{ position: 'absolute', left: 516, top: 14, width: 88, height: 88, borderRadius: 44, background: '#1E4FA8', border: '1.4px solid #6EA0E8', justifyContent: 'center', alignItems: 'center' }}&gt;&#10;        &lt;Text style={{ fontSize: 19, color: '#FFFFFF' }}&gt;出题&lt;/Text&gt;&#10;      &lt;/Box&gt;&#10;      &lt;Box style={{ position: 'absolute', left: 756, top: 14, width: 88, height: 88, borderRadius: 44, background: '#1E4FA8', border: '1.4px solid #6EA0E8', justifyContent: 'center', alignItems: 'center' }}&gt;&#10;        &lt;Text style={{ fontSize: 19, color: '#FFFFFF' }}&gt;复习&lt;/Text&gt;&#10;      &lt;/Box&gt;&#10;      &lt;Box style={{ position: 'absolute', left: 996, top: 14, width: 88, height: 88, borderRadius: 44, background: '#1E4FA8', border: '1.4px solid #6EA0E8', justifyContent: 'center', alignItems: 'center' }}&gt;&#10;        &lt;Text style={{ fontSize: 19, color: '#FFFFFF' }}&gt;掌握度&lt;/Text&gt;&#10;      &lt;/Box&gt;&#10;&#10;      &lt;Text style={{ position: 'absolute', left: 5, top: 120, width: 150, textAlign: 'center', fontSize: 15, color: '#8FB2E0' }}&gt;讲义 · 板书 · 错题&lt;/Text&gt;&#10;      &lt;Text style={{ position: 'absolute', left: 245, top: 120, width: 150, textAlign: 'center', fontSize: 15, color: '#8FB2E0' }}&gt;四路召回 · 带页码&lt;/Text&gt;&#10;      &lt;Text style={{ position: 'absolute', left: 485, top: 120, width: 150, textAlign: 'center', fontSize: 15, color: '#8FB2E0' }}&gt;按错因生成变式题&lt;/Text&gt;&#10;      &lt;Text style={{ position: 'absolute', left: 725, top: 120, width: 150, textAlign: 'center', fontSize: 15, color: '#8FB2E0' }}&gt;自评与间隔重复&lt;/Text&gt;&#10;      &lt;Text style={{ position: 'absolute', left: 965, top: 120, width: 150, textAlign: 'center', fontSize: 15, color: '#8FB2E0' }}&gt;学科掌握度画像&lt;/Text&gt;&#10;&#10;      &lt;Box style={{ position: 'absolute', left: 80, top: 176, width: 960, height: 1, background: '#3D7BD9', opacity: 0.55 }} /&gt;&#10;&#10;      &lt;Text style={{ position: 'absolute', left: 80, top: 192, fontSize: 14, color: '#6E8FBF' }}&gt;沉淀&lt;/Text&gt;&#10;      &lt;Text style={{ position: 'absolute', left: 680, top: 192, width: 360, textAlign: 'right', fontSize: 14, color: '#6E8FBF' }}&gt;回到薄弱学科，继续沉淀&lt;/Text&gt;&#10;&#10;      &lt;Box style={{ position: 'absolute', left: 80, top: 228, width: 960, height: 1, background: '#3D7BD9', opacity: 0.25 }} /&gt;&#10;&#10;    &lt;/Box&gt;&#10;&#10;    &lt;Box style={{ flexDirection: 'row', alignItems: 'center', gap: 18, marginTop: 10 }}&gt;&#10;      &lt;Text style={{ fontSize: 14, color: '#C9D8EF' }}&gt;279 项自动化测试&lt;/Text&gt;&#10;      &lt;Box style={{ width: 1, height: 13, background: '#3D7BD9' }} /&gt;&#10;      &lt;Text style={{ fontSize: 14, color: '#C9D8EF' }}&gt;检索 Hit@3 = 1.0&lt;/Text&gt;&#10;      &lt;Box style={{ width: 1, height: 13, background: '#3D7BD9' }} /&gt;&#10;      &lt;Text style={{ fontSize: 14, color: '#C9D8EF' }}&gt;意图准确率 = 1.0&lt;/Text&gt;&#10;      &lt;Box style={{ width: 1, height: 13, background: '#3D7BD9' }} /&gt;&#10;      &lt;Text style={{ fontSize: 14, color: '#C9D8EF' }}&gt;7 个功能页面&lt;/Text&gt;&#10;    &lt;/Box&gt;&#10;&#10;  &lt;/Box&gt;&#10;&#10;  &lt;Box style={{ position: 'absolute', bottom: 0, left: 0, width: 1280, height: 56, background: 'rgba(255, 255, 255, 0.07)', flexDirection: 'row', alignItems: 'center', justifyContent: 'space-between', paddingLeft: 76, paddingRight: 76 }}&gt;&#10;    &lt;Text style={{ fontSize: 14, color: '#C9D8EF' }}&gt;汇报人：项目团队&lt;/Text&gt;&#10;    &lt;Text style={{ fontSize: 14, color: '#C9D8EF' }}&gt;2026 年 10 月&lt;/Text&gt;&#10;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571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" name=""/>
          <p:cNvSpPr/>
          <p:nvPr/>
        </p:nvSpPr>
        <p:spPr>
          <a:xfrm rot="0" flipH="0" flipV="0">
            <a:off x="0" y="6324600"/>
            <a:ext cx="12192000" cy="533400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  <p:txBody>
          <a:bodyPr/>
          <a:p/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723900" y="6515100"/>
            <a:ext cx="1066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C9D8EF"/>
                </a:solidFill>
                <a:latin typeface="PingFang SC"/>
                <a:ea typeface="PingFang SC"/>
              </a:rPr>
              <a:t>汇报人：项目团队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10610850" y="6515100"/>
            <a:ext cx="857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C9D8EF"/>
                </a:solidFill>
                <a:latin typeface="PingFang SC"/>
                <a:ea typeface="PingFang SC"/>
              </a:rPr>
              <a:t xml:space="preserve">2026 </a:t>
            </a:r>
            <a:r>
              <a:rPr lang="zh-CN" sz="1050">
                <a:solidFill>
                  <a:srgbClr val="C9D8EF"/>
                </a:solidFill>
                <a:latin typeface="PingFang SC"/>
                <a:ea typeface="PingFang SC"/>
              </a:rPr>
              <a:t>年</a:t>
            </a:r>
            <a:r>
              <a:rPr lang="en-US" sz="1050">
                <a:solidFill>
                  <a:srgbClr val="C9D8EF"/>
                </a:solidFill>
                <a:latin typeface="PingFang SC"/>
                <a:ea typeface="PingFang SC"/>
              </a:rPr>
              <a:t xml:space="preserve"> 10 </a:t>
            </a:r>
            <a:r>
              <a:rPr lang="zh-CN" sz="1050">
                <a:solidFill>
                  <a:srgbClr val="C9D8EF"/>
                </a:solidFill>
                <a:latin typeface="PingFang SC"/>
                <a:ea typeface="PingFang SC"/>
              </a:rPr>
              <a:t>月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723900" y="571500"/>
            <a:ext cx="10744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90">
                <a:solidFill>
                  <a:srgbClr val="8FB2E0"/>
                </a:solidFill>
                <a:latin typeface="PingFang SC"/>
                <a:ea typeface="PingFang SC"/>
              </a:rPr>
              <a:t>全国大学生数字媒体科技作品及创意竞赛</a:t>
            </a:r>
            <a:r>
              <a:rPr lang="en-US" sz="1125" spc="90">
                <a:solidFill>
                  <a:srgbClr val="8FB2E0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90">
                <a:solidFill>
                  <a:srgbClr val="8FB2E0"/>
                </a:solidFill>
                <a:latin typeface="PingFang SC"/>
                <a:ea typeface="PingFang SC"/>
              </a:rPr>
              <a:t>赛道十三</a:t>
            </a:r>
            <a:r>
              <a:rPr lang="en-US" sz="1125" spc="90">
                <a:solidFill>
                  <a:srgbClr val="8FB2E0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90">
                <a:solidFill>
                  <a:srgbClr val="8FB2E0"/>
                </a:solidFill>
                <a:latin typeface="PingFang SC"/>
                <a:ea typeface="PingFang SC"/>
              </a:rPr>
              <a:t>智慧教育与智能软件类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723900" y="876300"/>
            <a:ext cx="2133600" cy="11906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7800" b="1" spc="600">
                <a:solidFill>
                  <a:srgbClr val="FFFFFF"/>
                </a:solidFill>
                <a:latin typeface="PingFang SC"/>
                <a:ea typeface="PingFang SC"/>
              </a:rPr>
              <a:t>知迹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3105150" y="1666875"/>
            <a:ext cx="647700" cy="400050"/>
          </a:xfrm>
          <a:prstGeom prst="rect"/>
        </p:spPr>
        <p:txBody>
          <a:bodyPr wrap="none" lIns="0" tIns="0" rIns="0" bIns="142875"/>
          <a:p>
            <a:pPr>
              <a:lnSpc>
                <a:spcPct val="100000"/>
              </a:lnSpc>
            </a:pPr>
            <a:r>
              <a:rPr lang="en-US" sz="1350" spc="375">
                <a:solidFill>
                  <a:srgbClr val="8FB2E0"/>
                </a:solidFill>
                <a:latin typeface="PingFang SC"/>
                <a:ea typeface="PingFang SC"/>
              </a:rPr>
              <a:t>ZHIJI</a:t>
            </a:r>
            <a:endParaRPr/>
          </a:p>
        </p:txBody>
      </p:sp>
      <p:sp>
        <p:nvSpPr>
          <p:cNvPr id="10" name=""/>
          <p:cNvSpPr/>
          <p:nvPr/>
        </p:nvSpPr>
        <p:spPr>
          <a:xfrm rot="0" flipH="0" flipV="0">
            <a:off x="723900" y="2200275"/>
            <a:ext cx="83820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723900" y="2371725"/>
            <a:ext cx="10744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spc="60">
                <a:solidFill>
                  <a:srgbClr val="FFFFFF"/>
                </a:solidFill>
                <a:latin typeface="PingFang SC"/>
                <a:ea typeface="PingFang SC"/>
              </a:rPr>
              <a:t>基于大模型智能体的</a:t>
            </a:r>
            <a:r>
              <a:rPr lang="en-US" sz="2550" spc="60">
                <a:solidFill>
                  <a:srgbClr val="FFFFFF"/>
                </a:solidFill>
                <a:latin typeface="PingFang SC"/>
                <a:ea typeface="PingFang SC"/>
              </a:rPr>
              <a:t xml:space="preserve"> AI </a:t>
            </a:r>
            <a:r>
              <a:rPr lang="zh-CN" sz="2550" spc="60">
                <a:solidFill>
                  <a:srgbClr val="FFFFFF"/>
                </a:solidFill>
                <a:latin typeface="PingFang SC"/>
                <a:ea typeface="PingFang SC"/>
              </a:rPr>
              <a:t>教育学习系统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23900" y="2876550"/>
            <a:ext cx="10744200" cy="3333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350">
                <a:solidFill>
                  <a:srgbClr val="B9CCE8"/>
                </a:solidFill>
                <a:latin typeface="PingFang SC"/>
                <a:ea typeface="PingFang SC"/>
              </a:rPr>
              <a:t>把讲义、板书与错题沉淀成学科知识库；期末从库里生成复习材料——每一步都留下可复用的数据。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723900" y="5934075"/>
            <a:ext cx="10858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C9D8EF"/>
                </a:solidFill>
                <a:latin typeface="PingFang SC"/>
                <a:ea typeface="PingFang SC"/>
              </a:rPr>
              <a:t xml:space="preserve">279 </a:t>
            </a:r>
            <a:r>
              <a:rPr lang="zh-CN" sz="1050">
                <a:solidFill>
                  <a:srgbClr val="C9D8EF"/>
                </a:solidFill>
                <a:latin typeface="PingFang SC"/>
                <a:ea typeface="PingFang SC"/>
              </a:rPr>
              <a:t>项自动化测试</a:t>
            </a:r>
            <a:endParaRPr/>
          </a:p>
        </p:txBody>
      </p:sp>
      <p:sp>
        <p:nvSpPr>
          <p:cNvPr id="14" name=""/>
          <p:cNvSpPr/>
          <p:nvPr/>
        </p:nvSpPr>
        <p:spPr>
          <a:xfrm rot="0" flipH="0" flipV="0">
            <a:off x="1981200" y="5953125"/>
            <a:ext cx="9525" cy="123825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2162175" y="5934075"/>
            <a:ext cx="1028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C9D8EF"/>
                </a:solidFill>
                <a:latin typeface="PingFang SC"/>
                <a:ea typeface="PingFang SC"/>
              </a:rPr>
              <a:t>检索</a:t>
            </a:r>
            <a:r>
              <a:rPr lang="en-US" sz="1050">
                <a:solidFill>
                  <a:srgbClr val="C9D8EF"/>
                </a:solidFill>
                <a:latin typeface="PingFang SC"/>
                <a:ea typeface="PingFang SC"/>
              </a:rPr>
              <a:t xml:space="preserve"> Hit@3 = 1.0</a:t>
            </a:r>
            <a:endParaRPr/>
          </a:p>
        </p:txBody>
      </p:sp>
      <p:sp>
        <p:nvSpPr>
          <p:cNvPr id="16" name=""/>
          <p:cNvSpPr/>
          <p:nvPr/>
        </p:nvSpPr>
        <p:spPr>
          <a:xfrm rot="0" flipH="0" flipV="0">
            <a:off x="3362325" y="5953125"/>
            <a:ext cx="9525" cy="123825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3543300" y="5934075"/>
            <a:ext cx="1009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C9D8EF"/>
                </a:solidFill>
                <a:latin typeface="PingFang SC"/>
                <a:ea typeface="PingFang SC"/>
              </a:rPr>
              <a:t>意图准确率</a:t>
            </a:r>
            <a:r>
              <a:rPr lang="en-US" sz="1050">
                <a:solidFill>
                  <a:srgbClr val="C9D8EF"/>
                </a:solidFill>
                <a:latin typeface="PingFang SC"/>
                <a:ea typeface="PingFang SC"/>
              </a:rPr>
              <a:t xml:space="preserve"> = 1.0</a:t>
            </a:r>
            <a:endParaRPr/>
          </a:p>
        </p:txBody>
      </p:sp>
      <p:sp>
        <p:nvSpPr>
          <p:cNvPr id="18" name=""/>
          <p:cNvSpPr/>
          <p:nvPr/>
        </p:nvSpPr>
        <p:spPr>
          <a:xfrm rot="0" flipH="0" flipV="0">
            <a:off x="4724400" y="5953125"/>
            <a:ext cx="9525" cy="123825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4905375" y="5934075"/>
            <a:ext cx="790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C9D8EF"/>
                </a:solidFill>
                <a:latin typeface="PingFang SC"/>
                <a:ea typeface="PingFang SC"/>
              </a:rPr>
              <a:t xml:space="preserve">7 </a:t>
            </a:r>
            <a:r>
              <a:rPr lang="zh-CN" sz="1050">
                <a:solidFill>
                  <a:srgbClr val="C9D8EF"/>
                </a:solidFill>
                <a:latin typeface="PingFang SC"/>
                <a:ea typeface="PingFang SC"/>
              </a:rPr>
              <a:t>个功能页面</a:t>
            </a:r>
            <a:endParaRPr/>
          </a:p>
        </p:txBody>
      </p:sp>
      <p:sp>
        <p:nvSpPr>
          <p:cNvPr id="20" name=""/>
          <p:cNvSpPr/>
          <p:nvPr/>
        </p:nvSpPr>
        <p:spPr>
          <a:xfrm rot="0" flipH="0" flipV="0">
            <a:off x="1905000" y="3924300"/>
            <a:ext cx="144780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1" name=""/>
          <p:cNvSpPr/>
          <p:nvPr/>
        </p:nvSpPr>
        <p:spPr>
          <a:xfrm rot="0" flipH="0" flipV="0">
            <a:off x="4191000" y="3924300"/>
            <a:ext cx="144780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2" name=""/>
          <p:cNvSpPr/>
          <p:nvPr/>
        </p:nvSpPr>
        <p:spPr>
          <a:xfrm rot="0" flipH="0" flipV="0">
            <a:off x="6477000" y="3924300"/>
            <a:ext cx="144780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3" name=""/>
          <p:cNvSpPr/>
          <p:nvPr/>
        </p:nvSpPr>
        <p:spPr>
          <a:xfrm rot="0" flipH="0" flipV="0">
            <a:off x="8763000" y="3924300"/>
            <a:ext cx="144780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1066800" y="3514725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 w="17780">
            <a:solidFill>
              <a:srgbClr val="6EA0E8"/>
            </a:solidFill>
            <a:prstDash val="solid"/>
          </a:ln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1304925" y="3829050"/>
            <a:ext cx="3619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FFFFF"/>
                </a:solidFill>
                <a:latin typeface="PingFang SC"/>
                <a:ea typeface="PingFang SC"/>
              </a:rPr>
              <a:t>资料</a:t>
            </a:r>
            <a:endParaRPr/>
          </a:p>
        </p:txBody>
      </p:sp>
      <p:sp>
        <p:nvSpPr>
          <p:cNvPr id="26" name=""/>
          <p:cNvSpPr/>
          <p:nvPr/>
        </p:nvSpPr>
        <p:spPr>
          <a:xfrm rot="0" flipH="0" flipV="0">
            <a:off x="3352800" y="3514725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 w="17780">
            <a:solidFill>
              <a:srgbClr val="6EA0E8"/>
            </a:solidFill>
            <a:prstDash val="solid"/>
          </a:ln>
        </p:spPr>
        <p:txBody>
          <a:bodyPr/>
          <a:p/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3590925" y="3829050"/>
            <a:ext cx="3619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FFFFF"/>
                </a:solidFill>
                <a:latin typeface="PingFang SC"/>
                <a:ea typeface="PingFang SC"/>
              </a:rPr>
              <a:t>检索</a:t>
            </a:r>
            <a:endParaRPr/>
          </a:p>
        </p:txBody>
      </p:sp>
      <p:sp>
        <p:nvSpPr>
          <p:cNvPr id="28" name=""/>
          <p:cNvSpPr/>
          <p:nvPr/>
        </p:nvSpPr>
        <p:spPr>
          <a:xfrm rot="0" flipH="0" flipV="0">
            <a:off x="5638800" y="3514725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 w="17780">
            <a:solidFill>
              <a:srgbClr val="6EA0E8"/>
            </a:solidFill>
            <a:prstDash val="solid"/>
          </a:ln>
        </p:spPr>
        <p:txBody>
          <a:bodyPr/>
          <a:p/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5876925" y="3829050"/>
            <a:ext cx="3619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FFFFF"/>
                </a:solidFill>
                <a:latin typeface="PingFang SC"/>
                <a:ea typeface="PingFang SC"/>
              </a:rPr>
              <a:t>出题</a:t>
            </a:r>
            <a:endParaRPr/>
          </a:p>
        </p:txBody>
      </p:sp>
      <p:sp>
        <p:nvSpPr>
          <p:cNvPr id="30" name=""/>
          <p:cNvSpPr/>
          <p:nvPr/>
        </p:nvSpPr>
        <p:spPr>
          <a:xfrm rot="0" flipH="0" flipV="0">
            <a:off x="7924800" y="3514725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 w="17780">
            <a:solidFill>
              <a:srgbClr val="6EA0E8"/>
            </a:solidFill>
            <a:prstDash val="solid"/>
          </a:ln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8162925" y="3829050"/>
            <a:ext cx="3619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FFFFF"/>
                </a:solidFill>
                <a:latin typeface="PingFang SC"/>
                <a:ea typeface="PingFang SC"/>
              </a:rPr>
              <a:t>复习</a:t>
            </a:r>
            <a:endParaRPr/>
          </a:p>
        </p:txBody>
      </p:sp>
      <p:sp>
        <p:nvSpPr>
          <p:cNvPr id="32" name=""/>
          <p:cNvSpPr/>
          <p:nvPr/>
        </p:nvSpPr>
        <p:spPr>
          <a:xfrm rot="0" flipH="0" flipV="0">
            <a:off x="10210800" y="3514725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 w="17780">
            <a:solidFill>
              <a:srgbClr val="6EA0E8"/>
            </a:solidFill>
            <a:prstDash val="solid"/>
          </a:ln>
        </p:spPr>
        <p:txBody>
          <a:bodyPr/>
          <a:p/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10363200" y="3829050"/>
            <a:ext cx="5429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FFFFF"/>
                </a:solidFill>
                <a:latin typeface="PingFang SC"/>
                <a:ea typeface="PingFang SC"/>
              </a:rPr>
              <a:t>掌握度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771525" y="4524375"/>
            <a:ext cx="1428750" cy="1714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125">
                <a:solidFill>
                  <a:srgbClr val="8FB2E0"/>
                </a:solidFill>
                <a:latin typeface="PingFang SC"/>
                <a:ea typeface="PingFang SC"/>
              </a:rPr>
              <a:t>讲义</a:t>
            </a:r>
            <a:r>
              <a:rPr lang="en-US" sz="1125">
                <a:solidFill>
                  <a:srgbClr val="8FB2E0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>
                <a:solidFill>
                  <a:srgbClr val="8FB2E0"/>
                </a:solidFill>
                <a:latin typeface="PingFang SC"/>
                <a:ea typeface="PingFang SC"/>
              </a:rPr>
              <a:t>板书</a:t>
            </a:r>
            <a:r>
              <a:rPr lang="en-US" sz="1125">
                <a:solidFill>
                  <a:srgbClr val="8FB2E0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>
                <a:solidFill>
                  <a:srgbClr val="8FB2E0"/>
                </a:solidFill>
                <a:latin typeface="PingFang SC"/>
                <a:ea typeface="PingFang SC"/>
              </a:rPr>
              <a:t>错题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3057525" y="4524375"/>
            <a:ext cx="1428750" cy="1714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125">
                <a:solidFill>
                  <a:srgbClr val="8FB2E0"/>
                </a:solidFill>
                <a:latin typeface="PingFang SC"/>
                <a:ea typeface="PingFang SC"/>
              </a:rPr>
              <a:t>四路召回</a:t>
            </a:r>
            <a:r>
              <a:rPr lang="en-US" sz="1125">
                <a:solidFill>
                  <a:srgbClr val="8FB2E0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>
                <a:solidFill>
                  <a:srgbClr val="8FB2E0"/>
                </a:solidFill>
                <a:latin typeface="PingFang SC"/>
                <a:ea typeface="PingFang SC"/>
              </a:rPr>
              <a:t>带页码</a:t>
            </a:r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5343525" y="4524375"/>
            <a:ext cx="1428750" cy="1714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125">
                <a:solidFill>
                  <a:srgbClr val="8FB2E0"/>
                </a:solidFill>
                <a:latin typeface="PingFang SC"/>
                <a:ea typeface="PingFang SC"/>
              </a:rPr>
              <a:t>按错因生成变式题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7629525" y="4524375"/>
            <a:ext cx="1428750" cy="1714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125">
                <a:solidFill>
                  <a:srgbClr val="8FB2E0"/>
                </a:solidFill>
                <a:latin typeface="PingFang SC"/>
                <a:ea typeface="PingFang SC"/>
              </a:rPr>
              <a:t>自评与间隔重复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9915525" y="4524375"/>
            <a:ext cx="1428750" cy="1714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125">
                <a:solidFill>
                  <a:srgbClr val="8FB2E0"/>
                </a:solidFill>
                <a:latin typeface="PingFang SC"/>
                <a:ea typeface="PingFang SC"/>
              </a:rPr>
              <a:t>学科掌握度画像</a:t>
            </a:r>
            <a:endParaRPr/>
          </a:p>
        </p:txBody>
      </p:sp>
      <p:sp>
        <p:nvSpPr>
          <p:cNvPr id="39" name=""/>
          <p:cNvSpPr/>
          <p:nvPr/>
        </p:nvSpPr>
        <p:spPr>
          <a:xfrm rot="0" flipH="0" flipV="0">
            <a:off x="1485900" y="5057775"/>
            <a:ext cx="9144000" cy="9525"/>
          </a:xfrm>
          <a:prstGeom prst="rect">
            <a:avLst/>
          </a:prstGeom>
          <a:solidFill>
            <a:srgbClr val="3D7BD9">
              <a:alpha val="55000"/>
            </a:srgbClr>
          </a:solidFill>
          <a:ln/>
        </p:spPr>
        <p:txBody>
          <a:bodyPr/>
          <a:p/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485900" y="5210175"/>
            <a:ext cx="266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E8FBF"/>
                </a:solidFill>
                <a:latin typeface="PingFang SC"/>
                <a:ea typeface="PingFang SC"/>
              </a:rPr>
              <a:t>沉淀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7200900" y="5210175"/>
            <a:ext cx="3429000" cy="161925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050">
                <a:solidFill>
                  <a:srgbClr val="6E8FBF"/>
                </a:solidFill>
                <a:latin typeface="PingFang SC"/>
                <a:ea typeface="PingFang SC"/>
              </a:rPr>
              <a:t>回到薄弱学科，继续沉淀</a:t>
            </a:r>
            <a:endParaRPr/>
          </a:p>
        </p:txBody>
      </p:sp>
      <p:sp>
        <p:nvSpPr>
          <p:cNvPr id="42" name=""/>
          <p:cNvSpPr/>
          <p:nvPr/>
        </p:nvSpPr>
        <p:spPr>
          <a:xfrm rot="0" flipH="0" flipV="0">
            <a:off x="1485900" y="5553075"/>
            <a:ext cx="9144000" cy="9525"/>
          </a:xfrm>
          <a:prstGeom prst="rect">
            <a:avLst/>
          </a:prstGeom>
          <a:solidFill>
            <a:srgbClr val="3D7BD9">
              <a:alpha val="25000"/>
            </a:srgbClr>
          </a:solidFill>
          <a:ln/>
        </p:spPr>
        <p:txBody>
          <a:bodyPr/>
          <a:p/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66" name="" descr="&lt;Slide style={{ width: 1280, height: 720, background: '#FFFFFF', padding: 0, position: 'relative', fontFamily: 'PingFang SC' }}&gt;&#10;&#10;  &lt;Box style={{ position: 'absolute', top: 0, left: 0, width: 1280, height: 64, background: '#1E4FA8' }} /&gt;&#10;  &lt;Text style={{ position: 'absolute', left: 76, top: 21, fontSize: 15, color: '#C9D8EF', letterSpacing: 1 }}&gt;知迹 · 答辩汇报&lt;/Text&gt;&#10;  &lt;Text style={{ position: 'absolute', left: 1010, top: 21, width: 194, textAlign: 'right', fontSize: 15, color: '#C9D8EF' }}&gt;赛道十三 · 智慧教育&lt;/Text&gt;&#10;&#10;  &lt;Box style={{ position: 'absolute', left: 76, top: 96, width: 1128 }}&gt;&#10;    &lt;Text style={{ fontSize: 34, fontWeight: 'bold', color: '#0E3F8C' }}&gt;资料都在，为什么复习时找不到&lt;/Text&gt;&#10;    &lt;Text style={{ fontSize: 16, color: '#4A5568', marginTop: 10 }}&gt;断点不在&quot;有没有资料&quot;，而在&quot;有没有把资料沉淀下来&quot;这一步&lt;/Text&gt;&#10;  &lt;/Box&gt;&#10;&#10;  &lt;Box style={{ position: 'absolute', left: 76, top: 190, width: 700, height: 466, flexDirection: 'column' }}&gt;&#10;&#10;    &lt;Text style={{ fontSize: 14, color: '#3D7BD9', letterSpacing: 1.5 }}&gt;现象 · 断在哪一步&lt;/Text&gt;&#10;&#10;    &lt;Box style={{ flexDirection: 'row', alignItems: 'flex-start', gap: 18, marginTop: 20 }}&gt;&#10;&#10;      &lt;Box style={{ flexDirection: 'column', alignItems: 'center' }}&gt;&#10;        &lt;Box style={{ width: 40, height: 40, borderRadius: 6, background: '#1E4FA8', justifyContent: 'center', alignItems: 'center' }}&gt;&#10;          &lt;Text style={{ fontSize: 18, fontWeight: 'bold', color: '#FFFFFF' }}&gt;1&lt;/Text&gt;&#10;        &lt;/Box&gt;&#10;        &lt;Box style={{ width: 2, height: 86, background: '#D6DCE5', marginTop: 10 }} /&gt;&#10;        &lt;Box style={{ width: 40, height: 40, borderRadius: 6, background: '#1E4FA8', justifyContent: 'center', alignItems: 'center' }}&gt;&#10;          &lt;Text style={{ fontSize: 18, fontWeight: 'bold', color: '#FFFFFF' }}&gt;2&lt;/Text&gt;&#10;        &lt;/Box&gt;&#10;        &lt;Box style={{ width: 2, height: 86, background: '#D6DCE5', marginTop: 10 }} /&gt;&#10;        &lt;Box style={{ width: 40, height: 40, borderRadius: 6, background: '#D9534F', justifyContent: 'center', alignItems: 'center' }}&gt;&#10;          &lt;Text style={{ fontSize: 18, fontWeight: 'bold', color: '#FFFFFF' }}&gt;3&lt;/Text&gt;&#10;        &lt;/Box&gt;&#10;      &lt;/Box&gt;&#10;&#10;      &lt;Box style={{ width: 642, flexDirection: 'column' }}&gt;&#10;&#10;        &lt;Box style={{ height: 128, flexDirection: 'column' }}&gt;&#10;          &lt;Text style={{ fontSize: 21, fontWeight: 'bold', color: '#1A2230' }}&gt;资料散落在三处，各存一份&lt;/Text&gt;&#10;          &lt;Text style={{ fontSize: 15.5, color: '#4A5568', lineHeight: 1.65, marginTop: 8 }}&gt;&#10;            课程平台上的作业与课件、聊天工具里的答疑记录、手机拍的纸质板书——三处各有一半，谁也不全。&#10;          &lt;/Text&gt;&#10;        &lt;/Box&gt;&#10;&#10;        &lt;Box style={{ height: 128, flexDirection: 'column', marginTop: 8 }}&gt;&#10;          &lt;Text style={{ fontSize: 21, fontWeight: 'bold', color: '#1A2230' }}&gt;没有沉淀环节，平时不会主动整理&lt;/Text&gt;&#10;          &lt;Text style={{ fontSize: 15.5, color: '#4A5568', lineHeight: 1.65, marginTop: 8 }}&gt;&#10;            打开这类工具的第一件事总是&quot;提问&quot;，而不是&quot;归档&quot;；整理只发生在期末，而期末最缺时间。&#10;          &lt;/Text&gt;&#10;        &lt;/Box&gt;&#10;&#10;        &lt;Box style={{ height: 128, flexDirection: 'column', marginTop: 8 }}&gt;&#10;          &lt;Text style={{ fontSize: 21, fontWeight: 'bold', color: '#D9534F' }}&gt;期末只剩一个空库，无题可练&lt;/Text&gt;&#10;          &lt;Text style={{ fontSize: 15.5, color: '#4A5568', lineHeight: 1.65, marginTop: 8 }}&gt;&#10;            既没有成套的资料可查，也没有可练的题；只能重新翻聊天记录，从头把知识再捡一遍。&#10;          &lt;/Text&gt;&#10;        &lt;/Box&gt;&#10;&#10;      &lt;/Box&gt;&#10;&#10;    &lt;/Box&gt;&#10;&#10;  &lt;/Box&gt;&#10;&#10;  &lt;Box style={{ position: 'absolute', left: 824, top: 190, width: 380, height: 466, flexDirection: 'column' }}&gt;&#10;&#10;    &lt;Box style={{ background: '#0E3F8C', borderRadius: 8, padding: 22, height: 236, flexDirection: 'column', justifyContent: 'space-between' }}&gt;&#10;      &lt;Text style={{ fontSize: 14, color: '#8FB2E0', letterSpacing: 1.5 }}&gt;我们的判断&lt;/Text&gt;&#10;      &lt;Text style={{ fontSize: 20, fontWeight: 'bold', color: '#FFFFFF', lineHeight: 1.55 }}&gt;&#10;        缺的不是更聪明的问答，而是把日常碎片自动攒成复习材料的机制。&#10;      &lt;/Text&gt;&#10;      &lt;Text style={{ fontSize: 13.5, color: '#B9CCE8', lineHeight: 1.6 }}&gt;&#10;        所以知识库要当&quot;沉淀罐&quot;，不是&quot;资料夹&quot;。&#10;      &lt;/Text&gt;&#10;    &lt;/Box&gt;&#10;&#10;    &lt;Box style={{ flexDirection: 'column', marginTop: 22, gap: 14 }}&gt;&#10;&#10;      &lt;Box style={{ flexDirection: 'row', alignItems: 'flex-start', gap: 12 }}&gt;&#10;        &lt;Text style={{ fontSize: 15, fontWeight: 'bold', color: '#1E4FA8', width: 62 }}&gt;三处&lt;/Text&gt;&#10;        &lt;Text style={{ fontSize: 15, color: '#4A5568', lineHeight: 1.6, width: 300 }}&gt;课程平台 / 聊天工具 / 纸质讲义&lt;/Text&gt;&#10;      &lt;/Box&gt;&#10;&#10;      &lt;Box style={{ flexDirection: 'row', alignItems: 'flex-start', gap: 12 }}&gt;&#10;        &lt;Text style={{ fontSize: 15, fontWeight: 'bold', color: '#1E4FA8', width: 62 }}&gt;缺失&lt;/Text&gt;&#10;        &lt;Text style={{ fontSize: 15, color: '#4A5568', lineHeight: 1.6, width: 300 }}&gt;平时把资料变成可检索片段的那一步&lt;/Text&gt;&#10;      &lt;/Box&gt;&#10;&#10;      &lt;Box style={{ flexDirection: 'row', alignItems: 'flex-start', gap: 12 }}&gt;&#10;        &lt;Text style={{ fontSize: 15, fontWeight: 'bold', color: '#1E4FA8', width: 62 }}&gt;结果&lt;/Text&gt;&#10;        &lt;Text style={{ fontSize: 15, color: '#4A5568', lineHeight: 1.6, width: 300 }}&gt;期末有资料、没有可练的题&lt;/Text&gt;&#10;      &lt;/Box&gt;&#10;&#10;    &lt;/Box&gt;&#10;&#10;  &lt;/Box&gt;&#10;&#10;  &lt;Box style={{ position: 'absolute', left: 76, bottom: 24, width: 1128, height: 22, flexDirection: 'row', alignItems: 'center', justifyContent: 'space-between' }}&gt;&#10;    &lt;Text style={{ fontSize: 13, color: '#8B97A8' }}&gt;知迹 · 基于大模型智能体的 AI 教育学习系统&lt;/Text&gt;&#10;    &lt;Text style={{ fontSize: 14, fontWeight: 'bold', color: '#0E3F8C' }}&gt;02 / 10&lt;/Text&gt;&#10;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8" name=""/>
          <p:cNvSpPr/>
          <p:nvPr/>
        </p:nvSpPr>
        <p:spPr>
          <a:xfrm rot="0" flipH="0" flipV="0">
            <a:off x="0" y="0"/>
            <a:ext cx="12192000" cy="609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723900" y="200025"/>
            <a:ext cx="1114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知迹</a:t>
            </a:r>
            <a:r>
              <a:rPr lang="en-US" sz="1125" spc="7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答辩汇报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9620250" y="200025"/>
            <a:ext cx="1847850" cy="17145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赛道十三</a:t>
            </a:r>
            <a:r>
              <a:rPr lang="en-US" sz="112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智慧教育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23900" y="914400"/>
            <a:ext cx="10744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E3F8C"/>
                </a:solidFill>
                <a:latin typeface="PingFang SC"/>
                <a:ea typeface="PingFang SC"/>
              </a:rPr>
              <a:t>资料都在，为什么复习时找不到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723900" y="1400175"/>
            <a:ext cx="10744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断点不在</a:t>
            </a:r>
            <a:r>
              <a:rPr lang="en-US" sz="1200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有没有资料</a:t>
            </a:r>
            <a:r>
              <a:rPr lang="en-US" sz="1200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，而在</a:t>
            </a:r>
            <a:r>
              <a:rPr lang="en-US" sz="1200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有没有把资料沉淀下来</a:t>
            </a:r>
            <a:r>
              <a:rPr lang="en-US" sz="1200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这一步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723900" y="1809750"/>
            <a:ext cx="6667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113">
                <a:solidFill>
                  <a:srgbClr val="3D7BD9"/>
                </a:solidFill>
                <a:latin typeface="PingFang SC"/>
                <a:ea typeface="PingFang SC"/>
              </a:rPr>
              <a:t>现象</a:t>
            </a:r>
            <a:r>
              <a:rPr lang="en-US" sz="1050" spc="113">
                <a:solidFill>
                  <a:srgbClr val="3D7BD9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 spc="113">
                <a:solidFill>
                  <a:srgbClr val="3D7BD9"/>
                </a:solidFill>
                <a:latin typeface="PingFang SC"/>
                <a:ea typeface="PingFang SC"/>
              </a:rPr>
              <a:t>断在哪一步</a:t>
            </a:r>
            <a:endParaRPr/>
          </a:p>
        </p:txBody>
      </p:sp>
      <p:sp>
        <p:nvSpPr>
          <p:cNvPr id="74" name=""/>
          <p:cNvSpPr/>
          <p:nvPr/>
        </p:nvSpPr>
        <p:spPr>
          <a:xfrm rot="0" flipH="0" flipV="0">
            <a:off x="723900" y="2162175"/>
            <a:ext cx="381000" cy="381000"/>
          </a:xfrm>
          <a:prstGeom prst="roundRect">
            <a:avLst>
              <a:gd name="adj" fmla="val 1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876300" y="2247900"/>
            <a:ext cx="762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PingFang SC"/>
                <a:ea typeface="PingFang SC"/>
              </a:rPr>
              <a:t>1</a:t>
            </a:r>
            <a:endParaRPr/>
          </a:p>
        </p:txBody>
      </p:sp>
      <p:sp>
        <p:nvSpPr>
          <p:cNvPr id="76" name=""/>
          <p:cNvSpPr/>
          <p:nvPr/>
        </p:nvSpPr>
        <p:spPr>
          <a:xfrm rot="0" flipH="0" flipV="0">
            <a:off x="904875" y="2638425"/>
            <a:ext cx="19050" cy="819150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723900" y="3457575"/>
            <a:ext cx="381000" cy="381000"/>
          </a:xfrm>
          <a:prstGeom prst="roundRect">
            <a:avLst>
              <a:gd name="adj" fmla="val 1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866775" y="3543300"/>
            <a:ext cx="104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PingFang SC"/>
                <a:ea typeface="PingFang SC"/>
              </a:rPr>
              <a:t>2</a:t>
            </a:r>
            <a:endParaRPr/>
          </a:p>
        </p:txBody>
      </p:sp>
      <p:sp>
        <p:nvSpPr>
          <p:cNvPr id="79" name=""/>
          <p:cNvSpPr/>
          <p:nvPr/>
        </p:nvSpPr>
        <p:spPr>
          <a:xfrm rot="0" flipH="0" flipV="0">
            <a:off x="904875" y="3933825"/>
            <a:ext cx="19050" cy="819150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80" name=""/>
          <p:cNvSpPr/>
          <p:nvPr/>
        </p:nvSpPr>
        <p:spPr>
          <a:xfrm rot="0" flipH="0" flipV="0">
            <a:off x="723900" y="4752975"/>
            <a:ext cx="381000" cy="381000"/>
          </a:xfrm>
          <a:prstGeom prst="roundRect">
            <a:avLst>
              <a:gd name="adj" fmla="val 15000"/>
            </a:avLst>
          </a:prstGeom>
          <a:solidFill>
            <a:srgbClr val="D9534F"/>
          </a:solidFill>
          <a:ln/>
        </p:spPr>
        <p:txBody>
          <a:bodyPr/>
          <a:p/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866775" y="4838700"/>
            <a:ext cx="104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PingFang SC"/>
                <a:ea typeface="PingFang SC"/>
              </a:rPr>
              <a:t>3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1276350" y="2162175"/>
            <a:ext cx="61150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PingFang SC"/>
                <a:ea typeface="PingFang SC"/>
              </a:rPr>
              <a:t>资料散落在三处，各存一份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1276350" y="2486025"/>
            <a:ext cx="611505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63">
                <a:solidFill>
                  <a:srgbClr val="4A5568"/>
                </a:solidFill>
                <a:latin typeface="PingFang SC"/>
                <a:ea typeface="PingFang SC"/>
              </a:rPr>
              <a:t>课程平台上的作业与课件、聊天工具里的答疑记录、手机拍的纸质板书——三处各有一半，谁也不全。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1276350" y="3457575"/>
            <a:ext cx="61150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PingFang SC"/>
                <a:ea typeface="PingFang SC"/>
              </a:rPr>
              <a:t>没有沉淀环节，平时不会主动整理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276350" y="3781425"/>
            <a:ext cx="6115050" cy="295275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163">
                <a:solidFill>
                  <a:srgbClr val="4A5568"/>
                </a:solidFill>
                <a:latin typeface="PingFang SC"/>
                <a:ea typeface="PingFang SC"/>
              </a:rPr>
              <a:t>打开这类工具的第一件事总是</a:t>
            </a:r>
            <a:r>
              <a:rPr lang="en-US" sz="1163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163">
                <a:solidFill>
                  <a:srgbClr val="4A5568"/>
                </a:solidFill>
                <a:latin typeface="PingFang SC"/>
                <a:ea typeface="PingFang SC"/>
              </a:rPr>
              <a:t>提问</a:t>
            </a:r>
            <a:r>
              <a:rPr lang="en-US" sz="1163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163">
                <a:solidFill>
                  <a:srgbClr val="4A5568"/>
                </a:solidFill>
                <a:latin typeface="PingFang SC"/>
                <a:ea typeface="PingFang SC"/>
              </a:rPr>
              <a:t>，而不是</a:t>
            </a:r>
            <a:r>
              <a:rPr lang="en-US" sz="1163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163">
                <a:solidFill>
                  <a:srgbClr val="4A5568"/>
                </a:solidFill>
                <a:latin typeface="PingFang SC"/>
                <a:ea typeface="PingFang SC"/>
              </a:rPr>
              <a:t>归档</a:t>
            </a:r>
            <a:r>
              <a:rPr lang="en-US" sz="1163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163">
                <a:solidFill>
                  <a:srgbClr val="4A5568"/>
                </a:solidFill>
                <a:latin typeface="PingFang SC"/>
                <a:ea typeface="PingFang SC"/>
              </a:rPr>
              <a:t>；整理只发生在期末，而期末最缺时间。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1276350" y="4752975"/>
            <a:ext cx="61150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D9534F"/>
                </a:solidFill>
                <a:latin typeface="PingFang SC"/>
                <a:ea typeface="PingFang SC"/>
              </a:rPr>
              <a:t>期末只剩一个空库，无题可练</a:t>
            </a:r>
            <a:endParaRPr/>
          </a:p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1276350" y="5076825"/>
            <a:ext cx="6115050" cy="295275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163">
                <a:solidFill>
                  <a:srgbClr val="4A5568"/>
                </a:solidFill>
                <a:latin typeface="PingFang SC"/>
                <a:ea typeface="PingFang SC"/>
              </a:rPr>
              <a:t>既没有成套的资料可查，也没有可练的题；只能重新翻聊天记录，从头把知识再捡一遍。</a:t>
            </a:r>
            <a:endParaRPr/>
          </a:p>
        </p:txBody>
      </p:sp>
      <p:sp>
        <p:nvSpPr>
          <p:cNvPr id="88" name=""/>
          <p:cNvSpPr/>
          <p:nvPr/>
        </p:nvSpPr>
        <p:spPr>
          <a:xfrm rot="0" flipH="0" flipV="0">
            <a:off x="7848600" y="1809750"/>
            <a:ext cx="3619500" cy="2247900"/>
          </a:xfrm>
          <a:prstGeom prst="roundRect">
            <a:avLst>
              <a:gd name="adj" fmla="val 339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8058150" y="2019300"/>
            <a:ext cx="3200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113">
                <a:solidFill>
                  <a:srgbClr val="8FB2E0"/>
                </a:solidFill>
                <a:latin typeface="PingFang SC"/>
                <a:ea typeface="PingFang SC"/>
              </a:rPr>
              <a:t>我们的判断</a:t>
            </a:r>
            <a:endParaRPr/>
          </a:p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8058150" y="2533650"/>
            <a:ext cx="3200400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500" b="1">
                <a:solidFill>
                  <a:srgbClr val="FFFFFF"/>
                </a:solidFill>
                <a:latin typeface="PingFang SC"/>
                <a:ea typeface="PingFang SC"/>
              </a:rPr>
              <a:t>缺的不是更聪明的问答，而是把日常碎片自动攒成复习材料的机制。</a:t>
            </a:r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8058150" y="3600450"/>
            <a:ext cx="3200400" cy="2476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13">
                <a:solidFill>
                  <a:srgbClr val="B9CCE8"/>
                </a:solidFill>
                <a:latin typeface="PingFang SC"/>
                <a:ea typeface="PingFang SC"/>
              </a:rPr>
              <a:t>所以知识库要当</a:t>
            </a:r>
            <a:r>
              <a:rPr lang="en-US" sz="1013">
                <a:solidFill>
                  <a:srgbClr val="B9CCE8"/>
                </a:solidFill>
                <a:latin typeface="PingFang SC"/>
                <a:ea typeface="PingFang SC"/>
              </a:rPr>
              <a:t>"</a:t>
            </a:r>
            <a:r>
              <a:rPr lang="zh-CN" sz="1013">
                <a:solidFill>
                  <a:srgbClr val="B9CCE8"/>
                </a:solidFill>
                <a:latin typeface="PingFang SC"/>
                <a:ea typeface="PingFang SC"/>
              </a:rPr>
              <a:t>沉淀罐</a:t>
            </a:r>
            <a:r>
              <a:rPr lang="en-US" sz="1013">
                <a:solidFill>
                  <a:srgbClr val="B9CCE8"/>
                </a:solidFill>
                <a:latin typeface="PingFang SC"/>
                <a:ea typeface="PingFang SC"/>
              </a:rPr>
              <a:t>"</a:t>
            </a:r>
            <a:r>
              <a:rPr lang="zh-CN" sz="1013">
                <a:solidFill>
                  <a:srgbClr val="B9CCE8"/>
                </a:solidFill>
                <a:latin typeface="PingFang SC"/>
                <a:ea typeface="PingFang SC"/>
              </a:rPr>
              <a:t>，不是</a:t>
            </a:r>
            <a:r>
              <a:rPr lang="en-US" sz="1013">
                <a:solidFill>
                  <a:srgbClr val="B9CCE8"/>
                </a:solidFill>
                <a:latin typeface="PingFang SC"/>
                <a:ea typeface="PingFang SC"/>
              </a:rPr>
              <a:t>"</a:t>
            </a:r>
            <a:r>
              <a:rPr lang="zh-CN" sz="1013">
                <a:solidFill>
                  <a:srgbClr val="B9CCE8"/>
                </a:solidFill>
                <a:latin typeface="PingFang SC"/>
                <a:ea typeface="PingFang SC"/>
              </a:rPr>
              <a:t>资料夹</a:t>
            </a:r>
            <a:r>
              <a:rPr lang="en-US" sz="1013">
                <a:solidFill>
                  <a:srgbClr val="B9CCE8"/>
                </a:solidFill>
                <a:latin typeface="PingFang SC"/>
                <a:ea typeface="PingFang SC"/>
              </a:rPr>
              <a:t>"</a:t>
            </a:r>
            <a:r>
              <a:rPr lang="zh-CN" sz="1013">
                <a:solidFill>
                  <a:srgbClr val="B9CCE8"/>
                </a:solidFill>
                <a:latin typeface="PingFang SC"/>
                <a:ea typeface="PingFang SC"/>
              </a:rPr>
              <a:t>。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7848600" y="4267200"/>
            <a:ext cx="590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4FA8"/>
                </a:solidFill>
                <a:latin typeface="PingFang SC"/>
                <a:ea typeface="PingFang SC"/>
              </a:rPr>
              <a:t>三处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8553450" y="4267200"/>
            <a:ext cx="2857500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课程平台</a:t>
            </a:r>
            <a:r>
              <a:rPr lang="en-US" sz="1125">
                <a:solidFill>
                  <a:srgbClr val="4A5568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聊天工具</a:t>
            </a:r>
            <a:r>
              <a:rPr lang="en-US" sz="1125">
                <a:solidFill>
                  <a:srgbClr val="4A5568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纸质讲义</a:t>
            </a:r>
            <a:endParaRPr/>
          </a:p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7848600" y="4676775"/>
            <a:ext cx="590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4FA8"/>
                </a:solidFill>
                <a:latin typeface="PingFang SC"/>
                <a:ea typeface="PingFang SC"/>
              </a:rPr>
              <a:t>缺失</a:t>
            </a:r>
            <a:endParaRPr/>
          </a:p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8553450" y="4676775"/>
            <a:ext cx="2857500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平时把资料变成可检索片段的那一步</a:t>
            </a:r>
            <a:endParaRPr/>
          </a:p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7848600" y="5086350"/>
            <a:ext cx="590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4FA8"/>
                </a:solidFill>
                <a:latin typeface="PingFang SC"/>
                <a:ea typeface="PingFang SC"/>
              </a:rPr>
              <a:t>结果</a:t>
            </a:r>
            <a:endParaRPr/>
          </a:p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8553450" y="5086350"/>
            <a:ext cx="2857500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期末有资料、没有可练的题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723900" y="6448425"/>
            <a:ext cx="2447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基于大模型智能体的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AI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教育学习系统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11010900" y="64484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PingFang SC"/>
                <a:ea typeface="PingFang SC"/>
              </a:rPr>
              <a:t>02 / 10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00" name="" descr="&lt;Slide style={{ width: 1280, height: 720, background: '#FFFFFF', padding: 0, position: 'relative', fontFamily: 'PingFang SC' }}&gt;&#10;&#10;  &lt;Box style={{ position: 'absolute', top: 0, left: 0, width: 1280, height: 64, background: '#1E4FA8' }} /&gt;&#10;  &lt;Text style={{ position: 'absolute', left: 76, top: 21, fontSize: 15, color: '#C9D8EF', letterSpacing: 1 }}&gt;知迹 · 答辩汇报&lt;/Text&gt;&#10;  &lt;Text style={{ position: 'absolute', left: 1010, top: 21, width: 194, textAlign: 'right', fontSize: 15, color: '#C9D8EF' }}&gt;赛道十三 · 智慧教育&lt;/Text&gt;&#10;&#10;  &lt;Box style={{ position: 'absolute', left: 76, top: 96, width: 1128 }}&gt;&#10;    &lt;Text style={{ fontSize: 34, fontWeight: 'bold', color: '#0E3F8C' }}&gt;一条五步闭环，每一步都留下数据&lt;/Text&gt;&#10;    &lt;Text style={{ fontSize: 16, color: '#4A5568', marginTop: 10 }}&gt;闭环的关键不是步骤多，而是每一环都往库里留东西——下一轮从这些东西开始&lt;/Text&gt;&#10;  &lt;/Box&gt;&#10;&#10;  &lt;Box style={{ position: 'absolute', left: 76, top: 192, width: 1128, height: 234 }}&gt;&#10;&#10;    &lt;Box style={{ position: 'absolute', left: 154, top: 57, width: 122, height: 2, background: '#1E4FA8' }} /&gt;&#10;    &lt;Box style={{ position: 'absolute', left: 384, top: 57, width: 122, height: 2, background: '#1E4FA8' }} /&gt;&#10;    &lt;Box style={{ position: 'absolute', left: 614, top: 57, width: 122, height: 2, background: '#1E4FA8' }} /&gt;&#10;    &lt;Box style={{ position: 'absolute', left: 844, top: 57, width: 122, height: 2, background: '#1E4FA8' }} /&gt;&#10;&#10;    &lt;Box style={{ position: 'absolute', left: 46, top: 4, width: 108, height: 108, borderRadius: 54, background: '#E8EFF8', border: '1.4px solid #1E4FA8', justifyContent: 'center', alignItems: 'center' }}&gt;&#10;      &lt;Text style={{ fontSize: 20, fontWeight: 'bold', color: '#0E3F8C' }}&gt;资料&lt;/Text&gt;&#10;    &lt;/Box&gt;&#10;    &lt;Box style={{ position: 'absolute', left: 276, top: 4, width: 108, height: 108, borderRadius: 54, background: '#E8EFF8', border: '1.4px solid #1E4FA8', justifyContent: 'center', alignItems: 'center' }}&gt;&#10;      &lt;Text style={{ fontSize: 20, fontWeight: 'bold', color: '#0E3F8C' }}&gt;检索&lt;/Text&gt;&#10;    &lt;/Box&gt;&#10;    &lt;Box style={{ position: 'absolute', left: 506, top: 4, width: 108, height: 108, borderRadius: 54, background: '#1E4FA8', border: '1.4px solid #1E4FA8', justifyContent: 'center', alignItems: 'center' }}&gt;&#10;      &lt;Text style={{ fontSize: 20, fontWeight: 'bold', color: '#FFFFFF' }}&gt;出题&lt;/Text&gt;&#10;    &lt;/Box&gt;&#10;    &lt;Box style={{ position: 'absolute', left: 736, top: 4, width: 108, height: 108, borderRadius: 54, background: '#E8EFF8', border: '1.4px solid #1E4FA8', justifyContent: 'center', alignItems: 'center' }}&gt;&#10;      &lt;Text style={{ fontSize: 20, fontWeight: 'bold', color: '#0E3F8C' }}&gt;复习&lt;/Text&gt;&#10;    &lt;/Box&gt;&#10;    &lt;Box style={{ position: 'absolute', left: 966, top: 4, width: 108, height: 108, borderRadius: 54, background: '#E8EFF8', border: '1.4px solid #1E4FA8', justifyContent: 'center', alignItems: 'center' }}&gt;&#10;      &lt;Text style={{ fontSize: 17, fontWeight: 'bold', color: '#0E3F8C' }}&gt;掌握度&lt;/Text&gt;&#10;    &lt;/Box&gt;&#10;&#10;    &lt;Text style={{ position: 'absolute', left: 15, top: 122, width: 170, textAlign: 'center', fontSize: 15, fontWeight: 'bold', color: '#1A2230' }}&gt;多格式资料入库&lt;/Text&gt;&#10;    &lt;Text style={{ position: 'absolute', left: 15, top: 146, width: 170, textAlign: 'center', fontSize: 13.5, color: '#8B97A8' }}&gt;片段 · 页码 · 出处&lt;/Text&gt;&#10;&#10;    &lt;Text style={{ position: 'absolute', left: 245, top: 122, width: 170, textAlign: 'center', fontSize: 15, fontWeight: 'bold', color: '#1A2230' }}&gt;四路召回融合&lt;/Text&gt;&#10;    &lt;Text style={{ position: 'absolute', left: 245, top: 146, width: 170, textAlign: 'center', fontSize: 13.5, color: '#8B97A8' }}&gt;命中片段 · 引用&lt;/Text&gt;&#10;&#10;    &lt;Text style={{ position: 'absolute', left: 475, top: 122, width: 170, textAlign: 'center', fontSize: 15, fontWeight: 'bold', color: '#1A2230' }}&gt;按错因出变式题&lt;/Text&gt;&#10;    &lt;Text style={{ position: 'absolute', left: 475, top: 146, width: 170, textAlign: 'center', fontSize: 13.5, color: '#8B97A8' }}&gt;题干 · 参考答案&lt;/Text&gt;&#10;&#10;    &lt;Text style={{ position: 'absolute', left: 705, top: 122, width: 170, textAlign: 'center', fontSize: 15, fontWeight: 'bold', color: '#1A2230' }}&gt;作答与四档自评&lt;/Text&gt;&#10;    &lt;Text style={{ position: 'absolute', left: 705, top: 146, width: 170, textAlign: 'center', fontSize: 13.5, color: '#8B97A8' }}&gt;自评 · 下次复习时间&lt;/Text&gt;&#10;&#10;    &lt;Text style={{ position: 'absolute', left: 935, top: 122, width: 170, textAlign: 'center', fontSize: 15, fontWeight: 'bold', color: '#1A2230' }}&gt;学科掌握度画像&lt;/Text&gt;&#10;    &lt;Text style={{ position: 'absolute', left: 935, top: 146, width: 170, textAlign: 'center', fontSize: 13.5, color: '#8B97A8' }}&gt;掌握度 · 薄弱学科&lt;/Text&gt;&#10;&#10;    &lt;Box style={{ position: 'absolute', left: 0, top: 180, width: 1128, height: 46, background: '#F0F5FC', borderRadius: 6, justifyContent: 'center', alignItems: 'center' }}&gt;&#10;      &lt;Text style={{ fontSize: 15, color: '#1E4FA8' }}&gt;&#10;        掌握度回到薄弱学科，下一轮从薄弱处开始 —— 这就是闭环成立的地方&#10;      &lt;/Text&gt;&#10;    &lt;/Box&gt;&#10;&#10;  &lt;/Box&gt;&#10;&#10;  &lt;Box style={{ position: 'absolute', left: 76, top: 456, width: 1128, height: 200, background: '#F7F9FC', borderRadius: 8, flexDirection: 'row', alignItems: 'center', paddingLeft: 28, paddingRight: 28 }}&gt;&#10;&#10;    &lt;Box style={{ width: 320, flexDirection: 'column' }}&gt;&#10;      &lt;Text style={{ fontSize: 18, fontWeight: 'bold', color: '#0E3F8C' }}&gt;产物落库&lt;/Text&gt;&#10;      &lt;Text style={{ fontSize: 14.5, color: '#4A5568', lineHeight: 1.7, marginTop: 8 }}&gt;&#10;        每次检索留下带页码的片段，每次出题留下题干与详解，每次自评留下排期与掌握度。&#10;      &lt;/Text&gt;&#10;    &lt;/Box&gt;&#10;&#10;    &lt;Box style={{ width: 1, height: 104, background: '#D6DCE5', marginLeft: 22, marginRight: 22 }} /&gt;&#10;&#10;    &lt;Box style={{ width: 320, flexDirection: 'column' }}&gt;&#10;      &lt;Text style={{ fontSize: 18, fontWeight: 'bold', color: '#0E3F8C' }}&gt;产物可复用&lt;/Text&gt;&#10;      &lt;Text style={{ fontSize: 14.5, color: '#4A5568', lineHeight: 1.7, marginTop: 8 }}&gt;&#10;        片段能再被检索，题能再派变式题，排期能按自评重排——旧数据一直有用。&#10;      &lt;/Text&gt;&#10;    &lt;/Box&gt;&#10;&#10;    &lt;Box style={{ width: 1, height: 104, background: '#D6DCE5', marginLeft: 22, marginRight: 22 }} /&gt;&#10;&#10;    &lt;Box style={{ width: 320, flexDirection: 'column' }}&gt;&#10;      &lt;Text style={{ fontSize: 18, fontWeight: 'bold', color: '#0E3F8C' }}&gt;复用降成本&lt;/Text&gt;&#10;      &lt;Text style={{ fontSize: 14.5, color: '#4A5568', lineHeight: 1.7, marginTop: 8 }}&gt;&#10;        第二轮复习不必从零开始，只补薄弱处；时间花在不会的地方，而不是抄一遍笔记。&#10;      &lt;/Text&gt;&#10;    &lt;/Box&gt;&#10;&#10;  &lt;/Box&gt;&#10;&#10;  &lt;Box style={{ position: 'absolute', left: 76, bottom: 24, width: 1128, height: 22, flexDirection: 'row', alignItems: 'center', justifyContent: 'space-between' }}&gt;&#10;    &lt;Text style={{ fontSize: 13, color: '#8B97A8' }}&gt;知迹 · 基于大模型智能体的 AI 教育学习系统&lt;/Text&gt;&#10;    &lt;Text style={{ fontSize: 14, fontWeight: 'bold', color: '#0E3F8C' }}&gt;03 / 10&lt;/Text&gt;&#10;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2" name=""/>
          <p:cNvSpPr/>
          <p:nvPr/>
        </p:nvSpPr>
        <p:spPr>
          <a:xfrm rot="0" flipH="0" flipV="0">
            <a:off x="0" y="0"/>
            <a:ext cx="12192000" cy="609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723900" y="200025"/>
            <a:ext cx="1114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知迹</a:t>
            </a:r>
            <a:r>
              <a:rPr lang="en-US" sz="1125" spc="7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答辩汇报</a:t>
            </a:r>
            <a:endParaRPr/>
          </a:p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9620250" y="200025"/>
            <a:ext cx="1847850" cy="17145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赛道十三</a:t>
            </a:r>
            <a:r>
              <a:rPr lang="en-US" sz="112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智慧教育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723900" y="914400"/>
            <a:ext cx="10744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E3F8C"/>
                </a:solidFill>
                <a:latin typeface="PingFang SC"/>
                <a:ea typeface="PingFang SC"/>
              </a:rPr>
              <a:t>一条五步闭环，每一步都留下数据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723900" y="1400175"/>
            <a:ext cx="10744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闭环的关键不是步骤多，而是每一环都往库里留东西——下一轮从这些东西开始</a:t>
            </a:r>
            <a:endParaRPr/>
          </a:p>
        </p:txBody>
      </p:sp>
      <p:sp>
        <p:nvSpPr>
          <p:cNvPr id="107" name=""/>
          <p:cNvSpPr/>
          <p:nvPr/>
        </p:nvSpPr>
        <p:spPr>
          <a:xfrm rot="0" flipH="0" flipV="0">
            <a:off x="2190750" y="2371725"/>
            <a:ext cx="1162050" cy="190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8" name=""/>
          <p:cNvSpPr/>
          <p:nvPr/>
        </p:nvSpPr>
        <p:spPr>
          <a:xfrm rot="0" flipH="0" flipV="0">
            <a:off x="4381500" y="2371725"/>
            <a:ext cx="1162050" cy="190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9" name=""/>
          <p:cNvSpPr/>
          <p:nvPr/>
        </p:nvSpPr>
        <p:spPr>
          <a:xfrm rot="0" flipH="0" flipV="0">
            <a:off x="6572250" y="2371725"/>
            <a:ext cx="1162050" cy="190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0" name=""/>
          <p:cNvSpPr/>
          <p:nvPr/>
        </p:nvSpPr>
        <p:spPr>
          <a:xfrm rot="0" flipH="0" flipV="0">
            <a:off x="8763000" y="2371725"/>
            <a:ext cx="1162050" cy="190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1" name=""/>
          <p:cNvSpPr/>
          <p:nvPr/>
        </p:nvSpPr>
        <p:spPr>
          <a:xfrm rot="0" flipH="0" flipV="0">
            <a:off x="1162050" y="1866900"/>
            <a:ext cx="1028700" cy="102870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 w="1778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1485900" y="2266950"/>
            <a:ext cx="381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E3F8C"/>
                </a:solidFill>
                <a:latin typeface="PingFang SC"/>
                <a:ea typeface="PingFang SC"/>
              </a:rPr>
              <a:t>资料</a:t>
            </a:r>
            <a:endParaRPr/>
          </a:p>
        </p:txBody>
      </p:sp>
      <p:sp>
        <p:nvSpPr>
          <p:cNvPr id="113" name=""/>
          <p:cNvSpPr/>
          <p:nvPr/>
        </p:nvSpPr>
        <p:spPr>
          <a:xfrm rot="0" flipH="0" flipV="0">
            <a:off x="3352800" y="1866900"/>
            <a:ext cx="1028700" cy="102870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 w="1778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3676650" y="2266950"/>
            <a:ext cx="381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E3F8C"/>
                </a:solidFill>
                <a:latin typeface="PingFang SC"/>
                <a:ea typeface="PingFang SC"/>
              </a:rPr>
              <a:t>检索</a:t>
            </a:r>
            <a:endParaRPr/>
          </a:p>
        </p:txBody>
      </p:sp>
      <p:sp>
        <p:nvSpPr>
          <p:cNvPr id="115" name=""/>
          <p:cNvSpPr/>
          <p:nvPr/>
        </p:nvSpPr>
        <p:spPr>
          <a:xfrm rot="0" flipH="0" flipV="0">
            <a:off x="5543550" y="1866900"/>
            <a:ext cx="1028700" cy="10287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 w="1778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5867400" y="2266950"/>
            <a:ext cx="381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PingFang SC"/>
                <a:ea typeface="PingFang SC"/>
              </a:rPr>
              <a:t>出题</a:t>
            </a:r>
            <a:endParaRPr/>
          </a:p>
        </p:txBody>
      </p:sp>
      <p:sp>
        <p:nvSpPr>
          <p:cNvPr id="117" name=""/>
          <p:cNvSpPr/>
          <p:nvPr/>
        </p:nvSpPr>
        <p:spPr>
          <a:xfrm rot="0" flipH="0" flipV="0">
            <a:off x="7734300" y="1866900"/>
            <a:ext cx="1028700" cy="102870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 w="1778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8058150" y="2266950"/>
            <a:ext cx="381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E3F8C"/>
                </a:solidFill>
                <a:latin typeface="PingFang SC"/>
                <a:ea typeface="PingFang SC"/>
              </a:rPr>
              <a:t>复习</a:t>
            </a:r>
            <a:endParaRPr/>
          </a:p>
        </p:txBody>
      </p:sp>
      <p:sp>
        <p:nvSpPr>
          <p:cNvPr id="119" name=""/>
          <p:cNvSpPr/>
          <p:nvPr/>
        </p:nvSpPr>
        <p:spPr>
          <a:xfrm rot="0" flipH="0" flipV="0">
            <a:off x="9925050" y="1866900"/>
            <a:ext cx="1028700" cy="102870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 w="1778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10201275" y="2286000"/>
            <a:ext cx="4857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PingFang SC"/>
                <a:ea typeface="PingFang SC"/>
              </a:rPr>
              <a:t>掌握度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866775" y="2990850"/>
            <a:ext cx="1619250" cy="1714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PingFang SC"/>
                <a:ea typeface="PingFang SC"/>
              </a:rPr>
              <a:t>多格式资料入库</a:t>
            </a:r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866775" y="3219450"/>
            <a:ext cx="1619250" cy="1619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013">
                <a:solidFill>
                  <a:srgbClr val="8B97A8"/>
                </a:solidFill>
                <a:latin typeface="PingFang SC"/>
                <a:ea typeface="PingFang SC"/>
              </a:rPr>
              <a:t>片段</a:t>
            </a:r>
            <a:r>
              <a:rPr lang="en-US" sz="1013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13">
                <a:solidFill>
                  <a:srgbClr val="8B97A8"/>
                </a:solidFill>
                <a:latin typeface="PingFang SC"/>
                <a:ea typeface="PingFang SC"/>
              </a:rPr>
              <a:t>页码</a:t>
            </a:r>
            <a:r>
              <a:rPr lang="en-US" sz="1013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13">
                <a:solidFill>
                  <a:srgbClr val="8B97A8"/>
                </a:solidFill>
                <a:latin typeface="PingFang SC"/>
                <a:ea typeface="PingFang SC"/>
              </a:rPr>
              <a:t>出处</a:t>
            </a:r>
            <a:endParaRPr/>
          </a:p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3057525" y="2990850"/>
            <a:ext cx="1619250" cy="1714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PingFang SC"/>
                <a:ea typeface="PingFang SC"/>
              </a:rPr>
              <a:t>四路召回融合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3057525" y="3219450"/>
            <a:ext cx="1619250" cy="1619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013">
                <a:solidFill>
                  <a:srgbClr val="8B97A8"/>
                </a:solidFill>
                <a:latin typeface="PingFang SC"/>
                <a:ea typeface="PingFang SC"/>
              </a:rPr>
              <a:t>命中片段</a:t>
            </a:r>
            <a:r>
              <a:rPr lang="en-US" sz="1013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13">
                <a:solidFill>
                  <a:srgbClr val="8B97A8"/>
                </a:solidFill>
                <a:latin typeface="PingFang SC"/>
                <a:ea typeface="PingFang SC"/>
              </a:rPr>
              <a:t>引用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5248275" y="2990850"/>
            <a:ext cx="1619250" cy="1714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PingFang SC"/>
                <a:ea typeface="PingFang SC"/>
              </a:rPr>
              <a:t>按错因出变式题</a:t>
            </a:r>
            <a:endParaRPr/>
          </a:p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5248275" y="3219450"/>
            <a:ext cx="1619250" cy="1619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013">
                <a:solidFill>
                  <a:srgbClr val="8B97A8"/>
                </a:solidFill>
                <a:latin typeface="PingFang SC"/>
                <a:ea typeface="PingFang SC"/>
              </a:rPr>
              <a:t>题干</a:t>
            </a:r>
            <a:r>
              <a:rPr lang="en-US" sz="1013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13">
                <a:solidFill>
                  <a:srgbClr val="8B97A8"/>
                </a:solidFill>
                <a:latin typeface="PingFang SC"/>
                <a:ea typeface="PingFang SC"/>
              </a:rPr>
              <a:t>参考答案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7439025" y="2990850"/>
            <a:ext cx="1619250" cy="1714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PingFang SC"/>
                <a:ea typeface="PingFang SC"/>
              </a:rPr>
              <a:t>作答与四档自评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7439025" y="3219450"/>
            <a:ext cx="1619250" cy="1619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013">
                <a:solidFill>
                  <a:srgbClr val="8B97A8"/>
                </a:solidFill>
                <a:latin typeface="PingFang SC"/>
                <a:ea typeface="PingFang SC"/>
              </a:rPr>
              <a:t>自评</a:t>
            </a:r>
            <a:r>
              <a:rPr lang="en-US" sz="1013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13">
                <a:solidFill>
                  <a:srgbClr val="8B97A8"/>
                </a:solidFill>
                <a:latin typeface="PingFang SC"/>
                <a:ea typeface="PingFang SC"/>
              </a:rPr>
              <a:t>下次复习时间</a:t>
            </a:r>
            <a:endParaRPr/>
          </a:p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9629775" y="2990850"/>
            <a:ext cx="1619250" cy="1714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PingFang SC"/>
                <a:ea typeface="PingFang SC"/>
              </a:rPr>
              <a:t>学科掌握度画像</a:t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9629775" y="3219450"/>
            <a:ext cx="1619250" cy="1619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013">
                <a:solidFill>
                  <a:srgbClr val="8B97A8"/>
                </a:solidFill>
                <a:latin typeface="PingFang SC"/>
                <a:ea typeface="PingFang SC"/>
              </a:rPr>
              <a:t>掌握度</a:t>
            </a:r>
            <a:r>
              <a:rPr lang="en-US" sz="1013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13">
                <a:solidFill>
                  <a:srgbClr val="8B97A8"/>
                </a:solidFill>
                <a:latin typeface="PingFang SC"/>
                <a:ea typeface="PingFang SC"/>
              </a:rPr>
              <a:t>薄弱学科</a:t>
            </a:r>
            <a:endParaRPr/>
          </a:p>
        </p:txBody>
      </p:sp>
      <p:sp>
        <p:nvSpPr>
          <p:cNvPr id="131" name=""/>
          <p:cNvSpPr/>
          <p:nvPr/>
        </p:nvSpPr>
        <p:spPr>
          <a:xfrm rot="0" flipH="0" flipV="0">
            <a:off x="723900" y="3543300"/>
            <a:ext cx="10744200" cy="438150"/>
          </a:xfrm>
          <a:prstGeom prst="roundRect">
            <a:avLst>
              <a:gd name="adj" fmla="val 13043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3838575" y="3676650"/>
            <a:ext cx="4524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E4FA8"/>
                </a:solidFill>
                <a:latin typeface="PingFang SC"/>
                <a:ea typeface="PingFang SC"/>
              </a:rPr>
              <a:t>掌握度回到薄弱学科，下一轮从薄弱处开始</a:t>
            </a:r>
            <a:r>
              <a:rPr lang="en-US" sz="1125">
                <a:solidFill>
                  <a:srgbClr val="1E4FA8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125">
                <a:solidFill>
                  <a:srgbClr val="1E4FA8"/>
                </a:solidFill>
                <a:latin typeface="PingFang SC"/>
                <a:ea typeface="PingFang SC"/>
              </a:rPr>
              <a:t>这就是闭环成立的地方</a:t>
            </a:r>
            <a:endParaRPr/>
          </a:p>
        </p:txBody>
      </p:sp>
      <p:sp>
        <p:nvSpPr>
          <p:cNvPr id="133" name=""/>
          <p:cNvSpPr/>
          <p:nvPr/>
        </p:nvSpPr>
        <p:spPr>
          <a:xfrm rot="0" flipH="0" flipV="0">
            <a:off x="723900" y="4343400"/>
            <a:ext cx="10744200" cy="1905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990600" y="4867275"/>
            <a:ext cx="3048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PingFang SC"/>
                <a:ea typeface="PingFang SC"/>
              </a:rPr>
              <a:t>产物落库</a:t>
            </a:r>
            <a:endParaRPr/>
          </a:p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990600" y="5153025"/>
            <a:ext cx="30480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每次检索留下带页码的片段，每次出题留下题干与详解，每次自评留下排期与掌握度。</a:t>
            </a:r>
            <a:endParaRPr/>
          </a:p>
        </p:txBody>
      </p:sp>
      <p:sp>
        <p:nvSpPr>
          <p:cNvPr id="136" name=""/>
          <p:cNvSpPr/>
          <p:nvPr/>
        </p:nvSpPr>
        <p:spPr>
          <a:xfrm rot="0" flipH="0" flipV="0">
            <a:off x="4248150" y="4800600"/>
            <a:ext cx="9525" cy="990600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4467225" y="4867275"/>
            <a:ext cx="3048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PingFang SC"/>
                <a:ea typeface="PingFang SC"/>
              </a:rPr>
              <a:t>产物可复用</a:t>
            </a:r>
            <a:endParaRPr/>
          </a:p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4467225" y="5153025"/>
            <a:ext cx="30480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片段能再被检索，题能再派变式题，排期能按自评重排——旧数据一直有用。</a:t>
            </a:r>
            <a:endParaRPr/>
          </a:p>
        </p:txBody>
      </p:sp>
      <p:sp>
        <p:nvSpPr>
          <p:cNvPr id="139" name=""/>
          <p:cNvSpPr/>
          <p:nvPr/>
        </p:nvSpPr>
        <p:spPr>
          <a:xfrm rot="0" flipH="0" flipV="0">
            <a:off x="7724775" y="4800600"/>
            <a:ext cx="9525" cy="990600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7943850" y="4867275"/>
            <a:ext cx="3048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PingFang SC"/>
                <a:ea typeface="PingFang SC"/>
              </a:rPr>
              <a:t>复用降成本</a:t>
            </a:r>
            <a:endParaRPr/>
          </a:p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7943850" y="5153025"/>
            <a:ext cx="30480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第二轮复习不必从零开始，只补薄弱处；时间花在不会的地方，而不是抄一遍笔记。</a:t>
            </a:r>
            <a:endParaRPr/>
          </a:p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723900" y="6448425"/>
            <a:ext cx="2447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基于大模型智能体的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AI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教育学习系统</a:t>
            </a:r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11010900" y="64484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PingFang SC"/>
                <a:ea typeface="PingFang SC"/>
              </a:rPr>
              <a:t>03 / 10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44" name="" descr="&lt;Slide style={{ width: 1280, height: 720, background: '#FFFFFF', padding: 0, position: 'relative', fontFamily: 'PingFang SC' }}&gt;&#10;&#10;  &lt;Box style={{ position: 'absolute', top: 0, left: 0, width: 1280, height: 64, background: '#1E4FA8' }} /&gt;&#10;  &lt;Text style={{ position: 'absolute', left: 76, top: 21, fontSize: 15, color: '#C9D8EF', letterSpacing: 1 }}&gt;知迹 · 答辩汇报&lt;/Text&gt;&#10;  &lt;Text style={{ position: 'absolute', left: 1010, top: 21, width: 194, textAlign: 'right', fontSize: 15, color: '#C9D8EF' }}&gt;赛道十三 · 智慧教育&lt;/Text&gt;&#10;&#10;  &lt;Box style={{ position: 'absolute', left: 76, top: 96, width: 1128 }}&gt;&#10;    &lt;Text style={{ fontSize: 34, fontWeight: 'bold', color: '#0E3F8C' }}&gt;四层依赖只朝内，一个回合画成图&lt;/Text&gt;&#10;    &lt;Text style={{ fontSize: 16, color: '#4A5568', marginTop: 10 }}&gt;架构决定可维护性，状态图决定可解释性——这两件事都要能指着图讲&lt;/Text&gt;&#10;  &lt;/Box&gt;&#10;&#10;  &lt;Box style={{ position: 'absolute', left: 76, top: 190, width: 680, height: 466, flexDirection: 'column' }}&gt;&#10;&#10;    &lt;Text style={{ fontSize: 14, color: '#3D7BD9', letterSpacing: 1.5 }}&gt;分层 · 依赖只朝内&lt;/Text&gt;&#10;&#10;    &lt;Box style={{ flexDirection: 'column', marginTop: 14, gap: 8 }}&gt;&#10;&#10;      &lt;Box style={{ width: 680, height: 58, background: '#F0F5FC', borderRadius: 6, borderLeft: '4px solid #1E4FA8', flexDirection: 'row', alignItems: 'center', paddingLeft: 16, paddingRight: 16, gap: 14 }}&gt;&#10;        &lt;Text style={{ fontSize: 15, fontWeight: 'bold', color: '#1E4FA8', width: 108 }}&gt;interfaces&lt;/Text&gt;&#10;        &lt;Text style={{ fontSize: 14, color: '#4A5568', width: 520 }}&gt;FastAPI + SSE 接口层（组合根，依赖全部）&lt;/Text&gt;&#10;      &lt;/Box&gt;&#10;&#10;      &lt;Box style={{ width: 620, height: 58, background: '#F0F5FC', borderRadius: 6, borderLeft: '4px solid #1E4FA8', flexDirection: 'row', alignItems: 'center', paddingLeft: 16, paddingRight: 16, gap: 14 }}&gt;&#10;        &lt;Text style={{ fontSize: 15, fontWeight: 'bold', color: '#1E4FA8', width: 108 }}&gt;application&lt;/Text&gt;&#10;        &lt;Text style={{ fontSize: 14, color: '#4A5568', width: 460 }}&gt;用例编排 · 端口 Protocol · LangGraph 图&lt;/Text&gt;&#10;      &lt;/Box&gt;&#10;&#10;      &lt;Box style={{ width: 560, height: 58, background: '#E8EFF8', borderRadius: 6, borderLeft: '4px solid #1E4FA8', flexDirection: 'row', alignItems: 'center', paddingLeft: 16, paddingRight: 16, gap: 14 }}&gt;&#10;        &lt;Text style={{ fontSize: 15, fontWeight: 'bold', color: '#1E4FA8', width: 108 }}&gt;domain&lt;/Text&gt;&#10;        &lt;Text style={{ fontSize: 14, color: '#4A5568', width: 400 }}&gt;纯函数：路由 · 切块 · RRF · 排期 · 护栏&lt;/Text&gt;&#10;      &lt;/Box&gt;&#10;&#10;      &lt;Box style={{ width: 500, height: 58, background: '#F7F9FC', borderRadius: 6, borderLeft: '4px solid #3D7BD9', flexDirection: 'row', alignItems: 'center', paddingLeft: 16, paddingRight: 16, gap: 14 }}&gt;&#10;        &lt;Text style={{ fontSize: 15, fontWeight: 'bold', color: '#3D7BD9', width: 108 }}&gt;infrastructure&lt;/Text&gt;&#10;        &lt;Text style={{ fontSize: 14, color: '#4A5568', width: 340 }}&gt;SQLite · LLM · Embedding · 文件解析&lt;/Text&gt;&#10;      &lt;/Box&gt;&#10;&#10;    &lt;/Box&gt;&#10;&#10;    &lt;Text style={{ fontSize: 14, color: '#3D7BD9', letterSpacing: 1.5, marginTop: 18 }}&gt;回合 · 显式状态图&lt;/Text&gt;&#10;&#10;    &lt;Box style={{ flexDirection: 'row', alignItems: 'center', marginTop: 14, gap: 0 }}&gt;&#10;&#10;      &lt;Box style={{ flexDirection: 'column', alignItems: 'center', width: 80 }}&gt;&#10;        &lt;Box style={{ width: 80, height: 72, borderRadius: 6, background: '#FFFFFF', border: '1.4px solid #D6DCE5', justifyContent: 'center', alignItems: 'center' }}&gt;&#10;          &lt;Text style={{ fontSize: 15, fontWeight: 'bold', color: '#4A5568' }}&gt;START&lt;/Text&gt;&#10;        &lt;/Box&gt;&#10;        &lt;Text style={{ fontSize: 12.5, color: '#8B97A8', marginTop: 6 }}&gt;用户提问&lt;/Text&gt;&#10;      &lt;/Box&gt;&#10;&#10;      &lt;Box style={{ width: 34, height: 2, background: '#3D7BD9' }} /&gt;&#10;&#10;      &lt;Box style={{ flexDirection: 'column', alignItems: 'center', width: 80 }}&gt;&#10;        &lt;Box style={{ width: 80, height: 72, borderRadius: 6, background: '#E8EFF8', border: '1.4px solid #1E4FA8', justifyContent: 'center', alignItems: 'center' }}&gt;&#10;          &lt;Text style={{ fontSize: 15, fontWeight: 'bold', color: '#0E3F8C' }}&gt;route&lt;/Text&gt;&#10;        &lt;/Box&gt;&#10;        &lt;Text style={{ fontSize: 12.5, color: '#8B97A8', marginTop: 6 }}&gt;意图路由&lt;/Text&gt;&#10;      &lt;/Box&gt;&#10;&#10;      &lt;Box style={{ width: 34, height: 2, background: '#3D7BD9' }} /&gt;&#10;&#10;      &lt;Box style={{ flexDirection: 'column', alignItems: 'center', width: 80 }}&gt;&#10;        &lt;Box style={{ width: 80, height: 72, borderRadius: 6, background: '#E8EFF8', border: '1.4px solid #1E4FA8', justifyContent: 'center', alignItems: 'center' }}&gt;&#10;          &lt;Text style={{ fontSize: 15, fontWeight: 'bold', color: '#0E3F8C' }}&gt;plan&lt;/Text&gt;&#10;        &lt;/Box&gt;&#10;        &lt;Text style={{ fontSize: 12.5, color: '#8B97A8', marginTop: 6 }}&gt;复杂才规划&lt;/Text&gt;&#10;      &lt;/Box&gt;&#10;&#10;      &lt;Box style={{ width: 34, height: 2, background: '#3D7BD9' }} /&gt;&#10;&#10;      &lt;Box style={{ flexDirection: 'column', alignItems: 'center', width: 80 }}&gt;&#10;        &lt;Box style={{ width: 80, height: 72, borderRadius: 6, background: '#1E4FA8', border: '1.4px solid #1E4FA8', justifyContent: 'center', alignItems: 'center' }}&gt;&#10;          &lt;Text style={{ fontSize: 15, fontWeight: 'bold', color: '#FFFFFF' }}&gt;agent&lt;/Text&gt;&#10;        &lt;/Box&gt;&#10;        &lt;Text style={{ fontSize: 12.5, color: '#8B97A8', marginTop: 6 }}&gt;模型推理&lt;/Text&gt;&#10;      &lt;/Box&gt;&#10;&#10;      &lt;Box style={{ width: 34, height: 2, background: '#3D7BD9' }} /&gt;&#10;&#10;      &lt;Box style={{ flexDirection: 'column', alignItems: 'center', width: 80 }}&gt;&#10;        &lt;Box style={{ width: 80, height: 72, borderRadius: 6, background: '#F0F5FC', border: '1.4px solid #3D7BD9', justifyContent: 'center', alignItems: 'center' }}&gt;&#10;          &lt;Text style={{ fontSize: 15, fontWeight: 'bold', color: '#1E4FA8' }}&gt;tools&lt;/Text&gt;&#10;        &lt;/Box&gt;&#10;        &lt;Text style={{ fontSize: 12.5, color: '#8B97A8', marginTop: 6 }}&gt;工具循环&lt;/Text&gt;&#10;      &lt;/Box&gt;&#10;&#10;      &lt;Box style={{ width: 34, height: 2, background: '#3D7BD9' }} /&gt;&#10;&#10;      &lt;Box style={{ flexDirection: 'column', alignItems: 'center', width: 80 }}&gt;&#10;        &lt;Box style={{ width: 80, height: 72, borderRadius: 6, background: '#FFFFFF', border: '1.4px solid #D6DCE5', justifyContent: 'center', alignItems: 'center' }}&gt;&#10;          &lt;Text style={{ fontSize: 15, fontWeight: 'bold', color: '#4A5568' }}&gt;END&lt;/Text&gt;&#10;        &lt;/Box&gt;&#10;        &lt;Text style={{ fontSize: 12.5, color: '#8B97A8', marginTop: 6 }}&gt;回答落库&lt;/Text&gt;&#10;      &lt;/Box&gt;&#10;&#10;    &lt;/Box&gt;&#10;&#10;  &lt;/Box&gt;&#10;&#10;  &lt;Box style={{ position: 'absolute', left: 800, top: 190, width: 404, height: 466, flexDirection: 'column', gap: 16 }}&gt;&#10;&#10;    &lt;Box style={{ flexDirection: 'column', height: 142, background: '#F7F9FC', borderRadius: 8, padding: 18 }}&gt;&#10;      &lt;Text style={{ fontSize: 17, fontWeight: 'bold', color: '#0E3F8C' }}&gt;为什么分四层&lt;/Text&gt;&#10;      &lt;Text style={{ fontSize: 14, color: '#4A5568', lineHeight: 1.7, marginTop: 8 }}&gt;&#10;        domain 只依赖标准库，检索权重与排期规则能在没有网络、没有模型的情况下被单元测试。&#10;      &lt;/Text&gt;&#10;    &lt;/Box&gt;&#10;&#10;    &lt;Box style={{ flexDirection: 'column', height: 142, background: '#F7F9FC', borderRadius: 8, padding: 18 }}&gt;&#10;      &lt;Text style={{ fontSize: 17, fontWeight: 'bold', color: '#0E3F8C' }}&gt;为什么画成图&lt;/Text&gt;&#10;      &lt;Text style={{ fontSize: 14, color: '#4A5568', lineHeight: 1.7, marginTop: 8 }}&gt;&#10;        状态图让&quot;这一步在做什么&quot;可以被指着讲；每个节点有检查点，能断点续跑，也能在写操作前暂停等人确认。&#10;      &lt;/Text&gt;&#10;    &lt;/Box&gt;&#10;&#10;    &lt;Box style={{ flexDirection: 'column', height: 142, background: '#0E3F8C', borderRadius: 8, padding: 18 }}&gt;&#10;      &lt;Text style={{ fontSize: 17, fontWeight: 'bold', color: '#FFFFFF' }}&gt;所以它可被审阅&lt;/Text&gt;&#10;      &lt;Text style={{ fontSize: 14, color: '#C9D8EF', lineHeight: 1.7, marginTop: 8 }}&gt;&#10;        流程、分支与中断点都在图里，不在某个函数的 if 里——这是可解释性的前提，不是装饰。&#10;      &lt;/Text&gt;&#10;    &lt;/Box&gt;&#10;&#10;  &lt;/Box&gt;&#10;&#10;  &lt;Box style={{ position: 'absolute', left: 76, bottom: 24, width: 1128, height: 22, flexDirection: 'row', alignItems: 'center', justifyContent: 'space-between' }}&gt;&#10;    &lt;Text style={{ fontSize: 13, color: '#8B97A8' }}&gt;知迹 · 基于大模型智能体的 AI 教育学习系统&lt;/Text&gt;&#10;    &lt;Text style={{ fontSize: 14, fontWeight: 'bold', color: '#0E3F8C' }}&gt;04 / 10&lt;/Text&gt;&#10;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46" name=""/>
          <p:cNvSpPr/>
          <p:nvPr/>
        </p:nvSpPr>
        <p:spPr>
          <a:xfrm rot="0" flipH="0" flipV="0">
            <a:off x="0" y="0"/>
            <a:ext cx="12192000" cy="609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723900" y="200025"/>
            <a:ext cx="1114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知迹</a:t>
            </a:r>
            <a:r>
              <a:rPr lang="en-US" sz="1125" spc="7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答辩汇报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9620250" y="200025"/>
            <a:ext cx="1847850" cy="17145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赛道十三</a:t>
            </a:r>
            <a:r>
              <a:rPr lang="en-US" sz="112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智慧教育</a:t>
            </a:r>
            <a:endParaRPr/>
          </a:p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723900" y="914400"/>
            <a:ext cx="10744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E3F8C"/>
                </a:solidFill>
                <a:latin typeface="PingFang SC"/>
                <a:ea typeface="PingFang SC"/>
              </a:rPr>
              <a:t>四层依赖只朝内，一个回合画成图</a:t>
            </a:r>
            <a:endParaRPr/>
          </a:p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723900" y="1400175"/>
            <a:ext cx="10744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架构决定可维护性，状态图决定可解释性——这两件事都要能指着图讲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723900" y="1809750"/>
            <a:ext cx="6477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113">
                <a:solidFill>
                  <a:srgbClr val="3D7BD9"/>
                </a:solidFill>
                <a:latin typeface="PingFang SC"/>
                <a:ea typeface="PingFang SC"/>
              </a:rPr>
              <a:t>分层</a:t>
            </a:r>
            <a:r>
              <a:rPr lang="en-US" sz="1050" spc="113">
                <a:solidFill>
                  <a:srgbClr val="3D7BD9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 spc="113">
                <a:solidFill>
                  <a:srgbClr val="3D7BD9"/>
                </a:solidFill>
                <a:latin typeface="PingFang SC"/>
                <a:ea typeface="PingFang SC"/>
              </a:rPr>
              <a:t>依赖只朝内</a:t>
            </a:r>
            <a:endParaRPr/>
          </a:p>
        </p:txBody>
      </p:sp>
      <p:sp>
        <p:nvSpPr>
          <p:cNvPr id="152" name=""/>
          <p:cNvSpPr/>
          <p:nvPr/>
        </p:nvSpPr>
        <p:spPr>
          <a:xfrm rot="0" flipH="0" flipV="0">
            <a:off x="762000" y="2105025"/>
            <a:ext cx="6438900" cy="552450"/>
          </a:xfrm>
          <a:prstGeom prst="roundRect">
            <a:avLst>
              <a:gd name="adj" fmla="val 1034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53" name=""/>
          <p:cNvSpPr/>
          <p:nvPr/>
        </p:nvSpPr>
        <p:spPr>
          <a:xfrm rot="0" flipH="0" flipV="0">
            <a:off x="762000" y="2105025"/>
            <a:ext cx="6438900" cy="552450"/>
          </a:xfrm>
          <a:custGeom>
            <a:pathLst>
              <a:path w="676" h="58">
                <a:moveTo>
                  <a:pt x="6" y="0"/>
                </a:moveTo>
                <a:cubicBezTo>
                  <a:pt x="5" y="0"/>
                  <a:pt x="4" y="1"/>
                  <a:pt x="4" y="2"/>
                </a:cubicBezTo>
                <a:lnTo>
                  <a:pt x="4" y="56"/>
                </a:lnTo>
                <a:cubicBezTo>
                  <a:pt x="4" y="57"/>
                  <a:pt x="5" y="58"/>
                  <a:pt x="6" y="58"/>
                </a:cubicBezTo>
                <a:cubicBezTo>
                  <a:pt x="3" y="58"/>
                  <a:pt x="0" y="55"/>
                  <a:pt x="0" y="52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914400" y="2295525"/>
            <a:ext cx="1028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PingFang SC"/>
                <a:ea typeface="PingFang SC"/>
              </a:rPr>
              <a:t>interfaces</a:t>
            </a:r>
            <a:endParaRPr/>
          </a:p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2076450" y="2305050"/>
            <a:ext cx="4953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PingFang SC"/>
                <a:ea typeface="PingFang SC"/>
              </a:rPr>
              <a:t xml:space="preserve">FastAPI + SSE </a:t>
            </a: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接口层（组合根，依赖全部）</a:t>
            </a:r>
            <a:endParaRPr/>
          </a:p>
        </p:txBody>
      </p:sp>
      <p:sp>
        <p:nvSpPr>
          <p:cNvPr id="156" name=""/>
          <p:cNvSpPr/>
          <p:nvPr/>
        </p:nvSpPr>
        <p:spPr>
          <a:xfrm rot="0" flipH="0" flipV="0">
            <a:off x="762000" y="2733675"/>
            <a:ext cx="5867400" cy="552450"/>
          </a:xfrm>
          <a:prstGeom prst="roundRect">
            <a:avLst>
              <a:gd name="adj" fmla="val 1034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57" name=""/>
          <p:cNvSpPr/>
          <p:nvPr/>
        </p:nvSpPr>
        <p:spPr>
          <a:xfrm rot="0" flipH="0" flipV="0">
            <a:off x="762000" y="2733675"/>
            <a:ext cx="5867400" cy="552450"/>
          </a:xfrm>
          <a:custGeom>
            <a:pathLst>
              <a:path w="616" h="58">
                <a:moveTo>
                  <a:pt x="6" y="0"/>
                </a:moveTo>
                <a:cubicBezTo>
                  <a:pt x="5" y="0"/>
                  <a:pt x="4" y="1"/>
                  <a:pt x="4" y="2"/>
                </a:cubicBezTo>
                <a:lnTo>
                  <a:pt x="4" y="56"/>
                </a:lnTo>
                <a:cubicBezTo>
                  <a:pt x="4" y="57"/>
                  <a:pt x="5" y="58"/>
                  <a:pt x="6" y="58"/>
                </a:cubicBezTo>
                <a:cubicBezTo>
                  <a:pt x="3" y="58"/>
                  <a:pt x="0" y="55"/>
                  <a:pt x="0" y="52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914400" y="2924175"/>
            <a:ext cx="1028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PingFang SC"/>
                <a:ea typeface="PingFang SC"/>
              </a:rPr>
              <a:t>application</a:t>
            </a:r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2076450" y="2933700"/>
            <a:ext cx="4381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用例编排</a:t>
            </a:r>
            <a:r>
              <a:rPr lang="en-US" sz="1050">
                <a:solidFill>
                  <a:srgbClr val="4A556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端口</a:t>
            </a:r>
            <a:r>
              <a:rPr lang="en-US" sz="1050">
                <a:solidFill>
                  <a:srgbClr val="4A5568"/>
                </a:solidFill>
                <a:latin typeface="PingFang SC"/>
                <a:ea typeface="PingFang SC"/>
              </a:rPr>
              <a:t xml:space="preserve"> Protocol · LangGraph </a:t>
            </a: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图</a:t>
            </a:r>
            <a:endParaRPr/>
          </a:p>
        </p:txBody>
      </p:sp>
      <p:sp>
        <p:nvSpPr>
          <p:cNvPr id="160" name=""/>
          <p:cNvSpPr/>
          <p:nvPr/>
        </p:nvSpPr>
        <p:spPr>
          <a:xfrm rot="0" flipH="0" flipV="0">
            <a:off x="762000" y="3362325"/>
            <a:ext cx="5295900" cy="552450"/>
          </a:xfrm>
          <a:prstGeom prst="roundRect">
            <a:avLst>
              <a:gd name="adj" fmla="val 10345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61" name=""/>
          <p:cNvSpPr/>
          <p:nvPr/>
        </p:nvSpPr>
        <p:spPr>
          <a:xfrm rot="0" flipH="0" flipV="0">
            <a:off x="762000" y="3362325"/>
            <a:ext cx="5295900" cy="552450"/>
          </a:xfrm>
          <a:custGeom>
            <a:pathLst>
              <a:path w="556" h="58">
                <a:moveTo>
                  <a:pt x="6" y="0"/>
                </a:moveTo>
                <a:cubicBezTo>
                  <a:pt x="5" y="0"/>
                  <a:pt x="4" y="1"/>
                  <a:pt x="4" y="2"/>
                </a:cubicBezTo>
                <a:lnTo>
                  <a:pt x="4" y="56"/>
                </a:lnTo>
                <a:cubicBezTo>
                  <a:pt x="4" y="57"/>
                  <a:pt x="5" y="58"/>
                  <a:pt x="6" y="58"/>
                </a:cubicBezTo>
                <a:cubicBezTo>
                  <a:pt x="3" y="58"/>
                  <a:pt x="0" y="55"/>
                  <a:pt x="0" y="52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914400" y="3552825"/>
            <a:ext cx="1028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PingFang SC"/>
                <a:ea typeface="PingFang SC"/>
              </a:rPr>
              <a:t>domain</a:t>
            </a:r>
            <a:endParaRPr/>
          </a:p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2076450" y="3562350"/>
            <a:ext cx="3810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纯函数：路由</a:t>
            </a:r>
            <a:r>
              <a:rPr lang="en-US" sz="1050">
                <a:solidFill>
                  <a:srgbClr val="4A556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切块</a:t>
            </a:r>
            <a:r>
              <a:rPr lang="en-US" sz="1050">
                <a:solidFill>
                  <a:srgbClr val="4A5568"/>
                </a:solidFill>
                <a:latin typeface="PingFang SC"/>
                <a:ea typeface="PingFang SC"/>
              </a:rPr>
              <a:t xml:space="preserve"> · RRF · </a:t>
            </a: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排期</a:t>
            </a:r>
            <a:r>
              <a:rPr lang="en-US" sz="1050">
                <a:solidFill>
                  <a:srgbClr val="4A556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护栏</a:t>
            </a:r>
            <a:endParaRPr/>
          </a:p>
        </p:txBody>
      </p:sp>
      <p:sp>
        <p:nvSpPr>
          <p:cNvPr id="164" name=""/>
          <p:cNvSpPr/>
          <p:nvPr/>
        </p:nvSpPr>
        <p:spPr>
          <a:xfrm rot="0" flipH="0" flipV="0">
            <a:off x="762000" y="3990975"/>
            <a:ext cx="4724400" cy="552450"/>
          </a:xfrm>
          <a:prstGeom prst="roundRect">
            <a:avLst>
              <a:gd name="adj" fmla="val 1034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65" name=""/>
          <p:cNvSpPr/>
          <p:nvPr/>
        </p:nvSpPr>
        <p:spPr>
          <a:xfrm rot="0" flipH="0" flipV="0">
            <a:off x="762000" y="3990975"/>
            <a:ext cx="4724400" cy="552450"/>
          </a:xfrm>
          <a:custGeom>
            <a:pathLst>
              <a:path w="496" h="58">
                <a:moveTo>
                  <a:pt x="6" y="0"/>
                </a:moveTo>
                <a:cubicBezTo>
                  <a:pt x="5" y="0"/>
                  <a:pt x="4" y="1"/>
                  <a:pt x="4" y="2"/>
                </a:cubicBezTo>
                <a:lnTo>
                  <a:pt x="4" y="56"/>
                </a:lnTo>
                <a:cubicBezTo>
                  <a:pt x="4" y="57"/>
                  <a:pt x="5" y="58"/>
                  <a:pt x="6" y="58"/>
                </a:cubicBezTo>
                <a:cubicBezTo>
                  <a:pt x="3" y="58"/>
                  <a:pt x="0" y="55"/>
                  <a:pt x="0" y="52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914400" y="4181475"/>
            <a:ext cx="1028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3D7BD9"/>
                </a:solidFill>
                <a:latin typeface="PingFang SC"/>
                <a:ea typeface="PingFang SC"/>
              </a:rPr>
              <a:t>infrastructure</a:t>
            </a:r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2076450" y="4191000"/>
            <a:ext cx="3238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PingFang SC"/>
                <a:ea typeface="PingFang SC"/>
              </a:rPr>
              <a:t xml:space="preserve">SQLite · LLM · Embedding · </a:t>
            </a: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文件解析</a:t>
            </a:r>
            <a:endParaRPr/>
          </a:p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723900" y="4714875"/>
            <a:ext cx="6477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113">
                <a:solidFill>
                  <a:srgbClr val="3D7BD9"/>
                </a:solidFill>
                <a:latin typeface="PingFang SC"/>
                <a:ea typeface="PingFang SC"/>
              </a:rPr>
              <a:t>回合</a:t>
            </a:r>
            <a:r>
              <a:rPr lang="en-US" sz="1050" spc="113">
                <a:solidFill>
                  <a:srgbClr val="3D7BD9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 spc="113">
                <a:solidFill>
                  <a:srgbClr val="3D7BD9"/>
                </a:solidFill>
                <a:latin typeface="PingFang SC"/>
                <a:ea typeface="PingFang SC"/>
              </a:rPr>
              <a:t>显式状态图</a:t>
            </a:r>
            <a:endParaRPr/>
          </a:p>
        </p:txBody>
      </p:sp>
      <p:sp>
        <p:nvSpPr>
          <p:cNvPr id="169" name=""/>
          <p:cNvSpPr/>
          <p:nvPr/>
        </p:nvSpPr>
        <p:spPr>
          <a:xfrm rot="0" flipH="0" flipV="0">
            <a:off x="723900" y="5010150"/>
            <a:ext cx="762000" cy="6858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778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876300" y="5267325"/>
            <a:ext cx="466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PingFang SC"/>
                <a:ea typeface="PingFang SC"/>
              </a:rPr>
              <a:t>START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866775" y="5753100"/>
            <a:ext cx="476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PingFang SC"/>
                <a:ea typeface="PingFang SC"/>
              </a:rPr>
              <a:t>用户提问</a:t>
            </a:r>
            <a:endParaRPr/>
          </a:p>
        </p:txBody>
      </p:sp>
      <p:sp>
        <p:nvSpPr>
          <p:cNvPr id="172" name=""/>
          <p:cNvSpPr/>
          <p:nvPr/>
        </p:nvSpPr>
        <p:spPr>
          <a:xfrm rot="0" flipH="0" flipV="0">
            <a:off x="1485900" y="5448300"/>
            <a:ext cx="32385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73" name=""/>
          <p:cNvSpPr/>
          <p:nvPr/>
        </p:nvSpPr>
        <p:spPr>
          <a:xfrm rot="0" flipH="0" flipV="0">
            <a:off x="1809750" y="5010150"/>
            <a:ext cx="762000" cy="685800"/>
          </a:xfrm>
          <a:prstGeom prst="roundRect">
            <a:avLst>
              <a:gd name="adj" fmla="val 8333"/>
            </a:avLst>
          </a:prstGeom>
          <a:solidFill>
            <a:srgbClr val="E8EFF8"/>
          </a:solidFill>
          <a:ln w="1778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2009775" y="5267325"/>
            <a:ext cx="361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PingFang SC"/>
                <a:ea typeface="PingFang SC"/>
              </a:rPr>
              <a:t>route</a:t>
            </a:r>
            <a:endParaRPr/>
          </a:p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1952625" y="5753100"/>
            <a:ext cx="476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PingFang SC"/>
                <a:ea typeface="PingFang SC"/>
              </a:rPr>
              <a:t>意图路由</a:t>
            </a:r>
            <a:endParaRPr/>
          </a:p>
        </p:txBody>
      </p:sp>
      <p:sp>
        <p:nvSpPr>
          <p:cNvPr id="176" name=""/>
          <p:cNvSpPr/>
          <p:nvPr/>
        </p:nvSpPr>
        <p:spPr>
          <a:xfrm rot="0" flipH="0" flipV="0">
            <a:off x="2571750" y="5448300"/>
            <a:ext cx="32385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77" name=""/>
          <p:cNvSpPr/>
          <p:nvPr/>
        </p:nvSpPr>
        <p:spPr>
          <a:xfrm rot="0" flipH="0" flipV="0">
            <a:off x="2895600" y="5010150"/>
            <a:ext cx="762000" cy="685800"/>
          </a:xfrm>
          <a:prstGeom prst="roundRect">
            <a:avLst>
              <a:gd name="adj" fmla="val 8333"/>
            </a:avLst>
          </a:prstGeom>
          <a:solidFill>
            <a:srgbClr val="E8EFF8"/>
          </a:solidFill>
          <a:ln w="1778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3133725" y="5267325"/>
            <a:ext cx="295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PingFang SC"/>
                <a:ea typeface="PingFang SC"/>
              </a:rPr>
              <a:t>plan</a:t>
            </a:r>
            <a:endParaRPr/>
          </a:p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2981325" y="5753100"/>
            <a:ext cx="600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PingFang SC"/>
                <a:ea typeface="PingFang SC"/>
              </a:rPr>
              <a:t>复杂才规划</a:t>
            </a:r>
            <a:endParaRPr/>
          </a:p>
        </p:txBody>
      </p:sp>
      <p:sp>
        <p:nvSpPr>
          <p:cNvPr id="180" name=""/>
          <p:cNvSpPr/>
          <p:nvPr/>
        </p:nvSpPr>
        <p:spPr>
          <a:xfrm rot="0" flipH="0" flipV="0">
            <a:off x="3657600" y="5448300"/>
            <a:ext cx="32385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81" name=""/>
          <p:cNvSpPr/>
          <p:nvPr/>
        </p:nvSpPr>
        <p:spPr>
          <a:xfrm rot="0" flipH="0" flipV="0">
            <a:off x="3981450" y="5010150"/>
            <a:ext cx="762000" cy="685800"/>
          </a:xfrm>
          <a:prstGeom prst="roundRect">
            <a:avLst>
              <a:gd name="adj" fmla="val 8333"/>
            </a:avLst>
          </a:prstGeom>
          <a:solidFill>
            <a:srgbClr val="1E4FA8"/>
          </a:solidFill>
          <a:ln w="1778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4171950" y="5267325"/>
            <a:ext cx="390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PingFang SC"/>
                <a:ea typeface="PingFang SC"/>
              </a:rPr>
              <a:t>agent</a:t>
            </a:r>
            <a:endParaRPr/>
          </a:p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4124325" y="5753100"/>
            <a:ext cx="476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PingFang SC"/>
                <a:ea typeface="PingFang SC"/>
              </a:rPr>
              <a:t>模型推理</a:t>
            </a:r>
            <a:endParaRPr/>
          </a:p>
        </p:txBody>
      </p:sp>
      <p:sp>
        <p:nvSpPr>
          <p:cNvPr id="184" name=""/>
          <p:cNvSpPr/>
          <p:nvPr/>
        </p:nvSpPr>
        <p:spPr>
          <a:xfrm rot="0" flipH="0" flipV="0">
            <a:off x="4743450" y="5448300"/>
            <a:ext cx="32385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85" name=""/>
          <p:cNvSpPr/>
          <p:nvPr/>
        </p:nvSpPr>
        <p:spPr>
          <a:xfrm rot="0" flipH="0" flipV="0">
            <a:off x="5067300" y="5010150"/>
            <a:ext cx="762000" cy="685800"/>
          </a:xfrm>
          <a:prstGeom prst="roundRect">
            <a:avLst>
              <a:gd name="adj" fmla="val 8333"/>
            </a:avLst>
          </a:prstGeom>
          <a:solidFill>
            <a:srgbClr val="F0F5FC"/>
          </a:solidFill>
          <a:ln w="1778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5276850" y="5267325"/>
            <a:ext cx="342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PingFang SC"/>
                <a:ea typeface="PingFang SC"/>
              </a:rPr>
              <a:t>tools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5210175" y="5753100"/>
            <a:ext cx="476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PingFang SC"/>
                <a:ea typeface="PingFang SC"/>
              </a:rPr>
              <a:t>工具循环</a:t>
            </a:r>
            <a:endParaRPr/>
          </a:p>
        </p:txBody>
      </p:sp>
      <p:sp>
        <p:nvSpPr>
          <p:cNvPr id="188" name=""/>
          <p:cNvSpPr/>
          <p:nvPr/>
        </p:nvSpPr>
        <p:spPr>
          <a:xfrm rot="0" flipH="0" flipV="0">
            <a:off x="5829300" y="5448300"/>
            <a:ext cx="32385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89" name=""/>
          <p:cNvSpPr/>
          <p:nvPr/>
        </p:nvSpPr>
        <p:spPr>
          <a:xfrm rot="0" flipH="0" flipV="0">
            <a:off x="6153150" y="5010150"/>
            <a:ext cx="762000" cy="6858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778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6381750" y="5267325"/>
            <a:ext cx="304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PingFang SC"/>
                <a:ea typeface="PingFang SC"/>
              </a:rPr>
              <a:t>END</a:t>
            </a:r>
            <a:endParaRPr/>
          </a:p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6296025" y="5753100"/>
            <a:ext cx="476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PingFang SC"/>
                <a:ea typeface="PingFang SC"/>
              </a:rPr>
              <a:t>回答落库</a:t>
            </a:r>
            <a:endParaRPr/>
          </a:p>
        </p:txBody>
      </p:sp>
      <p:sp>
        <p:nvSpPr>
          <p:cNvPr id="192" name=""/>
          <p:cNvSpPr/>
          <p:nvPr/>
        </p:nvSpPr>
        <p:spPr>
          <a:xfrm rot="0" flipH="0" flipV="0">
            <a:off x="7620000" y="1809750"/>
            <a:ext cx="3848100" cy="1352550"/>
          </a:xfrm>
          <a:prstGeom prst="roundRect">
            <a:avLst>
              <a:gd name="adj" fmla="val 563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7791450" y="1981200"/>
            <a:ext cx="35052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PingFang SC"/>
                <a:ea typeface="PingFang SC"/>
              </a:rPr>
              <a:t>为什么分四层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7791450" y="2257425"/>
            <a:ext cx="35052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en-US" sz="1050">
                <a:solidFill>
                  <a:srgbClr val="4A5568"/>
                </a:solidFill>
                <a:latin typeface="PingFang SC"/>
                <a:ea typeface="PingFang SC"/>
              </a:rPr>
              <a:t xml:space="preserve">domain </a:t>
            </a: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只依赖标准库，检索权重与排期规则能在没有网络、没有模型的情况下被单元测试。</a:t>
            </a:r>
            <a:endParaRPr/>
          </a:p>
        </p:txBody>
      </p:sp>
      <p:sp>
        <p:nvSpPr>
          <p:cNvPr id="195" name=""/>
          <p:cNvSpPr/>
          <p:nvPr/>
        </p:nvSpPr>
        <p:spPr>
          <a:xfrm rot="0" flipH="0" flipV="0">
            <a:off x="7620000" y="3314700"/>
            <a:ext cx="3848100" cy="1352550"/>
          </a:xfrm>
          <a:prstGeom prst="roundRect">
            <a:avLst>
              <a:gd name="adj" fmla="val 563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7791450" y="3486150"/>
            <a:ext cx="35052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PingFang SC"/>
                <a:ea typeface="PingFang SC"/>
              </a:rPr>
              <a:t>为什么画成图</a:t>
            </a:r>
            <a:endParaRPr/>
          </a:p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7791450" y="3762375"/>
            <a:ext cx="35052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状态图让</a:t>
            </a:r>
            <a:r>
              <a:rPr lang="en-US" sz="1050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这一步在做什么</a:t>
            </a:r>
            <a:r>
              <a:rPr lang="en-US" sz="1050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可以被指着讲；每个节点有检查点，能断点续跑，也能在写操作前暂停等人确认。</a:t>
            </a:r>
            <a:endParaRPr/>
          </a:p>
        </p:txBody>
      </p:sp>
      <p:sp>
        <p:nvSpPr>
          <p:cNvPr id="198" name=""/>
          <p:cNvSpPr/>
          <p:nvPr/>
        </p:nvSpPr>
        <p:spPr>
          <a:xfrm rot="0" flipH="0" flipV="0">
            <a:off x="7620000" y="4819650"/>
            <a:ext cx="3848100" cy="1352550"/>
          </a:xfrm>
          <a:prstGeom prst="roundRect">
            <a:avLst>
              <a:gd name="adj" fmla="val 5634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7791450" y="4991100"/>
            <a:ext cx="35052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PingFang SC"/>
                <a:ea typeface="PingFang SC"/>
              </a:rPr>
              <a:t>所以它可被审阅</a:t>
            </a:r>
            <a:endParaRPr/>
          </a:p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7791450" y="5267325"/>
            <a:ext cx="35052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C9D8EF"/>
                </a:solidFill>
                <a:latin typeface="PingFang SC"/>
                <a:ea typeface="PingFang SC"/>
              </a:rPr>
              <a:t>流程、分支与中断点都在图里，不在某个函数的</a:t>
            </a:r>
            <a:r>
              <a:rPr lang="en-US" sz="1050">
                <a:solidFill>
                  <a:srgbClr val="C9D8EF"/>
                </a:solidFill>
                <a:latin typeface="PingFang SC"/>
                <a:ea typeface="PingFang SC"/>
              </a:rPr>
              <a:t xml:space="preserve"> if </a:t>
            </a:r>
            <a:r>
              <a:rPr lang="zh-CN" sz="1050">
                <a:solidFill>
                  <a:srgbClr val="C9D8EF"/>
                </a:solidFill>
                <a:latin typeface="PingFang SC"/>
                <a:ea typeface="PingFang SC"/>
              </a:rPr>
              <a:t>里——这是可解释性的前提，不是装饰。</a:t>
            </a:r>
            <a:endParaRPr/>
          </a:p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723900" y="6448425"/>
            <a:ext cx="2447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基于大模型智能体的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AI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教育学习系统</a:t>
            </a:r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11010900" y="64484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PingFang SC"/>
                <a:ea typeface="PingFang SC"/>
              </a:rPr>
              <a:t>04 / 10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203" name="" descr="&lt;Slide style={{ width: 1280, height: 720, background: '#FFFFFF', padding: 0, position: 'relative', fontFamily: 'PingFang SC' }}&gt;&#10;&#10;  &lt;Box style={{ position: 'absolute', top: 0, left: 0, width: 1280, height: 64, background: '#1E4FA8' }} /&gt;&#10;  &lt;Text style={{ position: 'absolute', left: 76, top: 21, fontSize: 15, color: '#C9D8EF', letterSpacing: 1 }}&gt;知迹 · 答辩汇报&lt;/Text&gt;&#10;  &lt;Text style={{ position: 'absolute', left: 1010, top: 21, width: 194, textAlign: 'right', fontSize: 15, color: '#C9D8EF' }}&gt;赛道十三 · 智慧教育&lt;/Text&gt;&#10;&#10;  &lt;Box style={{ position: 'absolute', left: 76, top: 96, width: 1128 }}&gt;&#10;    &lt;Text style={{ fontSize: 34, fontWeight: 'bold', color: '#0E3F8C' }}&gt;六个功能，一条主线&lt;/Text&gt;&#10;    &lt;Text style={{ fontSize: 16, color: '#4A5568', marginTop: 10 }}&gt;不是并列的功能清单——每一个都在把&quot;今天的碎片&quot;变成&quot;期末能练的题&quot;&lt;/Text&gt;&#10;  &lt;/Box&gt;&#10;&#10;  &lt;Box style={{ position: 'absolute', left: 76, top: 190, width: 296, height: 462, flexDirection: 'column' }}&gt;&#10;&#10;    &lt;Text style={{ fontSize: 14, color: '#3D7BD9', letterSpacing: 1.5 }}&gt;主线&lt;/Text&gt;&#10;&#10;    &lt;Text style={{ fontSize: 24, fontWeight: 'bold', color: '#0E3F8C', lineHeight: 1.45, marginTop: 12 }}&gt;&#10;      沉淀 → 复习&#10;    &lt;/Text&gt;&#10;&#10;    &lt;Text style={{ fontSize: 14.5, color: '#4A5568', lineHeight: 1.75, marginTop: 10 }}&gt;&#10;      所有功能都服务这一个方向；没有一个是&quot;顺便加的&quot;。&#10;    &lt;/Text&gt;&#10;&#10;    &lt;Box style={{ flexDirection: 'column', marginTop: 22, gap: 16 }}&gt;&#10;&#10;      &lt;Box style={{ flexDirection: 'column', borderLeft: '2px solid #3D7BD9', paddingLeft: 12 }}&gt;&#10;        &lt;Text style={{ fontSize: 14, fontWeight: 'bold', color: '#1A2230' }}&gt;资料 → 片段&lt;/Text&gt;&#10;        &lt;Text style={{ fontSize: 13, color: '#8B97A8', lineHeight: 1.6, marginTop: 4 }}&gt;秒传 · 懒解析 · 按页切块&lt;/Text&gt;&#10;      &lt;/Box&gt;&#10;&#10;      &lt;Box style={{ flexDirection: 'column', borderLeft: '2px solid #3D7BD9', paddingLeft: 12 }}&gt;&#10;        &lt;Text style={{ fontSize: 14, fontWeight: 'bold', color: '#1A2230' }}&gt;片段 → 题&lt;/Text&gt;&#10;        &lt;Text style={{ fontSize: 13, color: '#8B97A8', lineHeight: 1.6, marginTop: 4 }}&gt;错因驱动 · 变式题 · 详解&lt;/Text&gt;&#10;      &lt;/Box&gt;&#10;&#10;      &lt;Box style={{ flexDirection: 'column', borderLeft: '2px solid #3D7BD9', paddingLeft: 12 }}&gt;&#10;        &lt;Text style={{ fontSize: 14, fontWeight: 'bold', color: '#1A2230' }}&gt;题 → 掌握度&lt;/Text&gt;&#10;        &lt;Text style={{ fontSize: 13, color: '#8B97A8', lineHeight: 1.6, marginTop: 4 }}&gt;自评 · 间隔重复 · 薄弱学科&lt;/Text&gt;&#10;      &lt;/Box&gt;&#10;&#10;    &lt;/Box&gt;&#10;&#10;    &lt;Box style={{ marginTop: 20, background: '#F7F9FC', borderRadius: 8, padding: 14, flexDirection: 'column', gap: 8 }}&gt;&#10;      &lt;Box style={{ flexDirection: 'row', alignItems: 'center', gap: 8 }}&gt;&#10;        &lt;Text style={{ fontSize: 18, fontWeight: 'bold', color: '#1E4FA8' }}&gt;7&lt;/Text&gt;&#10;        &lt;Text style={{ fontSize: 13, color: '#4A5568' }}&gt;个功能页面&lt;/Text&gt;&#10;      &lt;/Box&gt;&#10;      &lt;Box style={{ flexDirection: 'row', alignItems: 'center', gap: 8 }}&gt;&#10;        &lt;Text style={{ fontSize: 18, fontWeight: 'bold', color: '#1E4FA8' }}&gt;1&lt;/Text&gt;&#10;        &lt;Text style={{ fontSize: 13, color: '#4A5568' }}&gt;个 SQLite 文件承载全部数据&lt;/Text&gt;&#10;      &lt;/Box&gt;&#10;    &lt;/Box&gt;&#10;&#10;  &lt;/Box&gt;&#10;&#10;  &lt;Box style={{ position: 'absolute', left: 412, top: 190, width: 792, height: 470, flexDirection: 'column', justifyContent: 'space-between' }}&gt;&#10;&#10;    &lt;Box style={{ flexDirection: 'row', alignItems: 'center', height: 64, background: '#F9FAFC', borderRadius: 6, paddingLeft: 14, paddingRight: 16 }}&gt;&#10;      &lt;Box style={{ width: 32, height: 32, borderRadius: 6, background: '#1E4FA8', justifyContent: 'center', alignItems: 'center' }}&gt;&#10;        &lt;Text style={{ fontSize: 15, fontWeight: 'bold', color: '#FFFFFF' }}&gt;1&lt;/Text&gt;&#10;      &lt;/Box&gt;&#10;      &lt;Text style={{ fontSize: 17, fontWeight: 'bold', color: '#1A2230', width: 208, marginLeft: 14 }}&gt;多格式资料入库&lt;/Text&gt;&#10;      &lt;Text style={{ fontSize: 14.5, color: '#4A5568', width: 500 }}&gt;PDF / Word / PPT / Excel 秒传，解析后按页切块&lt;/Text&gt;&#10;    &lt;/Box&gt;&#10;&#10;    &lt;Box style={{ flexDirection: 'row', alignItems: 'center', height: 64, background: '#FFFFFF', borderRadius: 6, paddingLeft: 14, paddingRight: 16, marginTop: 6 }}&gt;&#10;      &lt;Box style={{ width: 32, height: 32, borderRadius: 6, background: '#1E4FA8', justifyContent: 'center', alignItems: 'center' }}&gt;&#10;        &lt;Text style={{ fontSize: 15, fontWeight: 'bold', color: '#FFFFFF' }}&gt;2&lt;/Text&gt;&#10;      &lt;/Box&gt;&#10;      &lt;Text style={{ fontSize: 17, fontWeight: 'bold', color: '#1A2230', width: 208, marginLeft: 14 }}&gt;溯源问答&lt;/Text&gt;&#10;      &lt;Text style={{ fontSize: 14.5, color: '#4A5568', width: 500 }}&gt;四路召回 + RRF 融合，回答标注出自哪份资料哪一页&lt;/Text&gt;&#10;    &lt;/Box&gt;&#10;&#10;    &lt;Box style={{ flexDirection: 'row', alignItems: 'center', height: 64, background: '#F9FAFC', borderRadius: 6, paddingLeft: 14, paddingRight: 16, marginTop: 6 }}&gt;&#10;      &lt;Box style={{ width: 32, height: 32, borderRadius: 6, background: '#1E4FA8', justifyContent: 'center', alignItems: 'center' }}&gt;&#10;        &lt;Text style={{ fontSize: 15, fontWeight: 'bold', color: '#FFFFFF' }}&gt;3&lt;/Text&gt;&#10;      &lt;/Box&gt;&#10;      &lt;Text style={{ fontSize: 17, fontWeight: 'bold', color: '#1A2230', width: 208, marginLeft: 14 }}&gt;图片板书入库&lt;/Text&gt;&#10;      &lt;Text style={{ fontSize: 14.5, color: '#4A5568', width: 500 }}&gt;拍照的板书由多模态模型转写成文字后入库，可被检索&lt;/Text&gt;&#10;    &lt;/Box&gt;&#10;&#10;    &lt;Box style={{ flexDirection: 'row', alignItems: 'center', height: 64, background: '#FFFFFF', borderRadius: 6, paddingLeft: 14, paddingRight: 16, marginTop: 6 }}&gt;&#10;      &lt;Box style={{ width: 32, height: 32, borderRadius: 6, background: '#1E4FA8', justifyContent: 'center', alignItems: 'center' }}&gt;&#10;        &lt;Text style={{ fontSize: 15, fontWeight: 'bold', color: '#FFFFFF' }}&gt;4&lt;/Text&gt;&#10;      &lt;/Box&gt;&#10;      &lt;Text style={{ fontSize: 17, fontWeight: 'bold', color: '#1A2230', width: 208, marginLeft: 14 }}&gt;错题按类型归档&lt;/Text&gt;&#10;      &lt;Text style={{ fontSize: 14.5, color: '#4A5568', width: 500 }}&gt;概念混淆 / 步骤遗漏 / 条件误读 / 计算失误 / 表述不清&lt;/Text&gt;&#10;    &lt;/Box&gt;&#10;&#10;    &lt;Box style={{ flexDirection: 'row', alignItems: 'center', height: 64, background: '#F9FAFC', borderRadius: 6, paddingLeft: 14, paddingRight: 16, marginTop: 6 }}&gt;&#10;      &lt;Box style={{ width: 32, height: 32, borderRadius: 6, background: '#1E4FA8', justifyContent: 'center', alignItems: 'center' }}&gt;&#10;        &lt;Text style={{ fontSize: 15, fontWeight: 'bold', color: '#FFFFFF' }}&gt;5&lt;/Text&gt;&#10;      &lt;/Box&gt;&#10;      &lt;Text style={{ fontSize: 17, fontWeight: 'bold', color: '#1A2230', width: 208, marginLeft: 14 }}&gt;变式题与详解&lt;/Text&gt;&#10;      &lt;Text style={{ fontSize: 14.5, color: '#4A5568', width: 500 }}&gt;由错因生成新题，作答后可看参考答案与关键步骤&lt;/Text&gt;&#10;    &lt;/Box&gt;&#10;&#10;    &lt;Box style={{ flexDirection: 'row', alignItems: 'center', height: 64, background: '#FFFFFF', borderRadius: 6, paddingLeft: 14, paddingRight: 16, marginTop: 6 }}&gt;&#10;      &lt;Box style={{ width: 32, height: 32, borderRadius: 6, background: '#1E4FA8', justifyContent: 'center', alignItems: 'center' }}&gt;&#10;        &lt;Text style={{ fontSize: 15, fontWeight: 'bold', color: '#FFFFFF' }}&gt;6&lt;/Text&gt;&#10;      &lt;/Box&gt;&#10;      &lt;Text style={{ fontSize: 17, fontWeight: 'bold', color: '#1A2230', width: 208, marginLeft: 14 }}&gt;今日复习与日程&lt;/Text&gt;&#10;      &lt;Text style={{ fontSize: 14.5, color: '#4A5568', width: 500 }}&gt;到期题 / 薄弱学科 / 近期误区，再加&quot;什么时候做&quot;&lt;/Text&gt;&#10;    &lt;/Box&gt;&#10;&#10;    &lt;Box style={{ flexDirection: 'row', alignItems: 'center', height: 36, background: '#0E3F8C', borderRadius: 6, marginTop: 8, paddingLeft: 16 }}&gt;&#10;      &lt;Text style={{ fontSize: 14.5, color: '#FFFFFF' }}&gt;&#10;        六项功能共用一套数据：片段、题、掌握度——不是六个各自为政的小工具&#10;      &lt;/Text&gt;&#10;    &lt;/Box&gt;&#10;&#10;  &lt;/Box&gt;&#10;&#10;  &lt;Box style={{ position: 'absolute', left: 76, bottom: 24, width: 1128, height: 22, flexDirection: 'row', alignItems: 'center', justifyContent: 'space-between' }}&gt;&#10;    &lt;Text style={{ fontSize: 13, color: '#8B97A8' }}&gt;知迹 · 基于大模型智能体的 AI 教育学习系统&lt;/Text&gt;&#10;    &lt;Text style={{ fontSize: 14, fontWeight: 'bold', color: '#0E3F8C' }}&gt;05 / 10&lt;/Text&gt;&#10;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5" name=""/>
          <p:cNvSpPr/>
          <p:nvPr/>
        </p:nvSpPr>
        <p:spPr>
          <a:xfrm rot="0" flipH="0" flipV="0">
            <a:off x="0" y="0"/>
            <a:ext cx="12192000" cy="609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723900" y="200025"/>
            <a:ext cx="1114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知迹</a:t>
            </a:r>
            <a:r>
              <a:rPr lang="en-US" sz="1125" spc="7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答辩汇报</a:t>
            </a:r>
            <a:endParaRPr/>
          </a:p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9620250" y="200025"/>
            <a:ext cx="1847850" cy="17145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赛道十三</a:t>
            </a:r>
            <a:r>
              <a:rPr lang="en-US" sz="112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智慧教育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723900" y="914400"/>
            <a:ext cx="10744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E3F8C"/>
                </a:solidFill>
                <a:latin typeface="PingFang SC"/>
                <a:ea typeface="PingFang SC"/>
              </a:rPr>
              <a:t>六个功能，一条主线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723900" y="1400175"/>
            <a:ext cx="10744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不是并列的功能清单——每一个都在把</a:t>
            </a:r>
            <a:r>
              <a:rPr lang="en-US" sz="1200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今天的碎片</a:t>
            </a:r>
            <a:r>
              <a:rPr lang="en-US" sz="1200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变成</a:t>
            </a:r>
            <a:r>
              <a:rPr lang="en-US" sz="1200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期末能练的题</a:t>
            </a:r>
            <a:r>
              <a:rPr lang="en-US" sz="1200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endParaRPr/>
          </a:p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723900" y="1809750"/>
            <a:ext cx="2819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113">
                <a:solidFill>
                  <a:srgbClr val="3D7BD9"/>
                </a:solidFill>
                <a:latin typeface="PingFang SC"/>
                <a:ea typeface="PingFang SC"/>
              </a:rPr>
              <a:t>主线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723900" y="2085975"/>
            <a:ext cx="2819400" cy="4000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800" b="1">
                <a:solidFill>
                  <a:srgbClr val="0E3F8C"/>
                </a:solidFill>
                <a:latin typeface="PingFang SC"/>
                <a:ea typeface="PingFang SC"/>
              </a:rPr>
              <a:t>沉淀</a:t>
            </a:r>
            <a:r>
              <a:rPr lang="en-US" sz="1800" b="1">
                <a:solidFill>
                  <a:srgbClr val="0E3F8C"/>
                </a:solidFill>
                <a:latin typeface="PingFang SC"/>
                <a:ea typeface="PingFang SC"/>
              </a:rPr>
              <a:t xml:space="preserve"> → </a:t>
            </a:r>
            <a:r>
              <a:rPr lang="zh-CN" sz="1800" b="1">
                <a:solidFill>
                  <a:srgbClr val="0E3F8C"/>
                </a:solidFill>
                <a:latin typeface="PingFang SC"/>
                <a:ea typeface="PingFang SC"/>
              </a:rPr>
              <a:t>复习</a:t>
            </a:r>
            <a:endParaRPr/>
          </a:p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723900" y="2581275"/>
            <a:ext cx="2819400" cy="581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所有功能都服务这一个方向；没有一个是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顺便加的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。</a:t>
            </a:r>
            <a:endParaRPr/>
          </a:p>
        </p:txBody>
      </p:sp>
      <p:sp>
        <p:nvSpPr>
          <p:cNvPr id="213" name=""/>
          <p:cNvSpPr/>
          <p:nvPr/>
        </p:nvSpPr>
        <p:spPr>
          <a:xfrm rot="0" flipH="0" flipV="0">
            <a:off x="723900" y="3371850"/>
            <a:ext cx="2838450" cy="438150"/>
          </a:xfrm>
          <a:custGeom>
            <a:pathLst>
              <a:path w="298" h="46">
                <a:moveTo>
                  <a:pt x="0" y="0"/>
                </a:moveTo>
                <a:lnTo>
                  <a:pt x="2" y="0"/>
                </a:lnTo>
                <a:lnTo>
                  <a:pt x="2" y="46"/>
                </a:lnTo>
                <a:lnTo>
                  <a:pt x="0" y="46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857250" y="3371850"/>
            <a:ext cx="2686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A2230"/>
                </a:solidFill>
                <a:latin typeface="PingFang SC"/>
                <a:ea typeface="PingFang SC"/>
              </a:rPr>
              <a:t>资料</a:t>
            </a:r>
            <a:r>
              <a:rPr lang="en-US" sz="1050" b="1">
                <a:solidFill>
                  <a:srgbClr val="1A2230"/>
                </a:solidFill>
                <a:latin typeface="PingFang SC"/>
                <a:ea typeface="PingFang SC"/>
              </a:rPr>
              <a:t xml:space="preserve"> → </a:t>
            </a:r>
            <a:r>
              <a:rPr lang="zh-CN" sz="1050" b="1">
                <a:solidFill>
                  <a:srgbClr val="1A2230"/>
                </a:solidFill>
                <a:latin typeface="PingFang SC"/>
                <a:ea typeface="PingFang SC"/>
              </a:rPr>
              <a:t>片段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857250" y="3571875"/>
            <a:ext cx="2686050" cy="2381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秒传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懒解析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按页切块</a:t>
            </a:r>
            <a:endParaRPr/>
          </a:p>
        </p:txBody>
      </p:sp>
      <p:sp>
        <p:nvSpPr>
          <p:cNvPr id="216" name=""/>
          <p:cNvSpPr/>
          <p:nvPr/>
        </p:nvSpPr>
        <p:spPr>
          <a:xfrm rot="0" flipH="0" flipV="0">
            <a:off x="723900" y="3962400"/>
            <a:ext cx="2838450" cy="438150"/>
          </a:xfrm>
          <a:custGeom>
            <a:pathLst>
              <a:path w="298" h="46">
                <a:moveTo>
                  <a:pt x="0" y="0"/>
                </a:moveTo>
                <a:lnTo>
                  <a:pt x="2" y="0"/>
                </a:lnTo>
                <a:lnTo>
                  <a:pt x="2" y="46"/>
                </a:lnTo>
                <a:lnTo>
                  <a:pt x="0" y="46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857250" y="3962400"/>
            <a:ext cx="2686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A2230"/>
                </a:solidFill>
                <a:latin typeface="PingFang SC"/>
                <a:ea typeface="PingFang SC"/>
              </a:rPr>
              <a:t>片段</a:t>
            </a:r>
            <a:r>
              <a:rPr lang="en-US" sz="1050" b="1">
                <a:solidFill>
                  <a:srgbClr val="1A2230"/>
                </a:solidFill>
                <a:latin typeface="PingFang SC"/>
                <a:ea typeface="PingFang SC"/>
              </a:rPr>
              <a:t xml:space="preserve"> → </a:t>
            </a:r>
            <a:r>
              <a:rPr lang="zh-CN" sz="1050" b="1">
                <a:solidFill>
                  <a:srgbClr val="1A2230"/>
                </a:solidFill>
                <a:latin typeface="PingFang SC"/>
                <a:ea typeface="PingFang SC"/>
              </a:rPr>
              <a:t>题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857250" y="4162425"/>
            <a:ext cx="2686050" cy="2381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错因驱动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变式题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详解</a:t>
            </a:r>
            <a:endParaRPr/>
          </a:p>
        </p:txBody>
      </p:sp>
      <p:sp>
        <p:nvSpPr>
          <p:cNvPr id="219" name=""/>
          <p:cNvSpPr/>
          <p:nvPr/>
        </p:nvSpPr>
        <p:spPr>
          <a:xfrm rot="0" flipH="0" flipV="0">
            <a:off x="723900" y="4552950"/>
            <a:ext cx="2838450" cy="438150"/>
          </a:xfrm>
          <a:custGeom>
            <a:pathLst>
              <a:path w="298" h="46">
                <a:moveTo>
                  <a:pt x="0" y="0"/>
                </a:moveTo>
                <a:lnTo>
                  <a:pt x="2" y="0"/>
                </a:lnTo>
                <a:lnTo>
                  <a:pt x="2" y="46"/>
                </a:lnTo>
                <a:lnTo>
                  <a:pt x="0" y="46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857250" y="4552950"/>
            <a:ext cx="2686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A2230"/>
                </a:solidFill>
                <a:latin typeface="PingFang SC"/>
                <a:ea typeface="PingFang SC"/>
              </a:rPr>
              <a:t>题</a:t>
            </a:r>
            <a:r>
              <a:rPr lang="en-US" sz="1050" b="1">
                <a:solidFill>
                  <a:srgbClr val="1A2230"/>
                </a:solidFill>
                <a:latin typeface="PingFang SC"/>
                <a:ea typeface="PingFang SC"/>
              </a:rPr>
              <a:t xml:space="preserve"> → </a:t>
            </a:r>
            <a:r>
              <a:rPr lang="zh-CN" sz="1050" b="1">
                <a:solidFill>
                  <a:srgbClr val="1A2230"/>
                </a:solidFill>
                <a:latin typeface="PingFang SC"/>
                <a:ea typeface="PingFang SC"/>
              </a:rPr>
              <a:t>掌握度</a:t>
            </a:r>
            <a:endParaRPr/>
          </a:p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857250" y="4752975"/>
            <a:ext cx="2686050" cy="2381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自评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间隔重复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薄弱学科</a:t>
            </a:r>
            <a:endParaRPr/>
          </a:p>
        </p:txBody>
      </p:sp>
      <p:sp>
        <p:nvSpPr>
          <p:cNvPr id="222" name=""/>
          <p:cNvSpPr/>
          <p:nvPr/>
        </p:nvSpPr>
        <p:spPr>
          <a:xfrm rot="0" flipH="0" flipV="0">
            <a:off x="723900" y="5181600"/>
            <a:ext cx="2819400" cy="76200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857250" y="5314950"/>
            <a:ext cx="95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E4FA8"/>
                </a:solidFill>
                <a:latin typeface="PingFang SC"/>
                <a:ea typeface="PingFang SC"/>
              </a:rPr>
              <a:t>7</a:t>
            </a:r>
            <a:endParaRPr/>
          </a:p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1028700" y="5343525"/>
            <a:ext cx="619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个功能页面</a:t>
            </a:r>
            <a:endParaRPr/>
          </a:p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857250" y="5600700"/>
            <a:ext cx="762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E4FA8"/>
                </a:solidFill>
                <a:latin typeface="PingFang SC"/>
                <a:ea typeface="PingFang SC"/>
              </a:rPr>
              <a:t>1</a:t>
            </a:r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1009650" y="5629275"/>
            <a:ext cx="15906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个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SQLite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文件承载全部数据</a:t>
            </a:r>
            <a:endParaRPr/>
          </a:p>
        </p:txBody>
      </p:sp>
      <p:sp>
        <p:nvSpPr>
          <p:cNvPr id="227" name=""/>
          <p:cNvSpPr/>
          <p:nvPr/>
        </p:nvSpPr>
        <p:spPr>
          <a:xfrm rot="0" flipH="0" flipV="0">
            <a:off x="3924300" y="1809750"/>
            <a:ext cx="7543800" cy="609600"/>
          </a:xfrm>
          <a:prstGeom prst="roundRect">
            <a:avLst>
              <a:gd name="adj" fmla="val 9375"/>
            </a:avLst>
          </a:prstGeom>
          <a:solidFill>
            <a:srgbClr val="F9FAFC"/>
          </a:solidFill>
          <a:ln/>
        </p:spPr>
        <p:txBody>
          <a:bodyPr/>
          <a:p/>
        </p:txBody>
      </p:sp>
      <p:sp>
        <p:nvSpPr>
          <p:cNvPr id="228" name=""/>
          <p:cNvSpPr/>
          <p:nvPr/>
        </p:nvSpPr>
        <p:spPr>
          <a:xfrm rot="0" flipH="0" flipV="0">
            <a:off x="4057650" y="1962150"/>
            <a:ext cx="304800" cy="304800"/>
          </a:xfrm>
          <a:prstGeom prst="roundRect">
            <a:avLst>
              <a:gd name="adj" fmla="val 1875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4181475" y="2028825"/>
            <a:ext cx="66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PingFang SC"/>
                <a:ea typeface="PingFang SC"/>
              </a:rPr>
              <a:t>1</a:t>
            </a:r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4495800" y="2019300"/>
            <a:ext cx="19812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PingFang SC"/>
                <a:ea typeface="PingFang SC"/>
              </a:rPr>
              <a:t>多格式资料入库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6477000" y="2028825"/>
            <a:ext cx="4762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 xml:space="preserve">PDF / Word / PPT / Excel 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秒传，解析后按页切块</a:t>
            </a:r>
            <a:endParaRPr/>
          </a:p>
        </p:txBody>
      </p:sp>
      <p:sp>
        <p:nvSpPr>
          <p:cNvPr id="232" name=""/>
          <p:cNvSpPr/>
          <p:nvPr/>
        </p:nvSpPr>
        <p:spPr>
          <a:xfrm rot="0" flipH="0" flipV="0">
            <a:off x="3924300" y="2495550"/>
            <a:ext cx="7543800" cy="60960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33" name=""/>
          <p:cNvSpPr/>
          <p:nvPr/>
        </p:nvSpPr>
        <p:spPr>
          <a:xfrm rot="0" flipH="0" flipV="0">
            <a:off x="4057650" y="2647950"/>
            <a:ext cx="304800" cy="304800"/>
          </a:xfrm>
          <a:prstGeom prst="roundRect">
            <a:avLst>
              <a:gd name="adj" fmla="val 1875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4171950" y="27146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PingFang SC"/>
                <a:ea typeface="PingFang SC"/>
              </a:rPr>
              <a:t>2</a:t>
            </a:r>
            <a:endParaRPr/>
          </a:p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4495800" y="2705100"/>
            <a:ext cx="19812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PingFang SC"/>
                <a:ea typeface="PingFang SC"/>
              </a:rPr>
              <a:t>溯源问答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6477000" y="2714625"/>
            <a:ext cx="4762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四路召回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 xml:space="preserve"> + RRF 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融合，回答标注出自哪份资料哪一页</a:t>
            </a:r>
            <a:endParaRPr/>
          </a:p>
        </p:txBody>
      </p:sp>
      <p:sp>
        <p:nvSpPr>
          <p:cNvPr id="237" name=""/>
          <p:cNvSpPr/>
          <p:nvPr/>
        </p:nvSpPr>
        <p:spPr>
          <a:xfrm rot="0" flipH="0" flipV="0">
            <a:off x="3924300" y="3181350"/>
            <a:ext cx="7543800" cy="609600"/>
          </a:xfrm>
          <a:prstGeom prst="roundRect">
            <a:avLst>
              <a:gd name="adj" fmla="val 9375"/>
            </a:avLst>
          </a:prstGeom>
          <a:solidFill>
            <a:srgbClr val="F9FAFC"/>
          </a:solidFill>
          <a:ln/>
        </p:spPr>
        <p:txBody>
          <a:bodyPr/>
          <a:p/>
        </p:txBody>
      </p:sp>
      <p:sp>
        <p:nvSpPr>
          <p:cNvPr id="238" name=""/>
          <p:cNvSpPr/>
          <p:nvPr/>
        </p:nvSpPr>
        <p:spPr>
          <a:xfrm rot="0" flipH="0" flipV="0">
            <a:off x="4057650" y="3333750"/>
            <a:ext cx="304800" cy="304800"/>
          </a:xfrm>
          <a:prstGeom prst="roundRect">
            <a:avLst>
              <a:gd name="adj" fmla="val 1875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4171950" y="34004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PingFang SC"/>
                <a:ea typeface="PingFang SC"/>
              </a:rPr>
              <a:t>3</a:t>
            </a:r>
            <a:endParaRPr/>
          </a:p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4495800" y="3390900"/>
            <a:ext cx="19812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PingFang SC"/>
                <a:ea typeface="PingFang SC"/>
              </a:rPr>
              <a:t>图片板书入库</a:t>
            </a:r>
            <a:endParaRPr/>
          </a:p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6477000" y="3400425"/>
            <a:ext cx="4762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拍照的板书由多模态模型转写成文字后入库，可被检索</a:t>
            </a:r>
            <a:endParaRPr/>
          </a:p>
        </p:txBody>
      </p:sp>
      <p:sp>
        <p:nvSpPr>
          <p:cNvPr id="242" name=""/>
          <p:cNvSpPr/>
          <p:nvPr/>
        </p:nvSpPr>
        <p:spPr>
          <a:xfrm rot="0" flipH="0" flipV="0">
            <a:off x="3924300" y="3867150"/>
            <a:ext cx="7543800" cy="60960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3" name=""/>
          <p:cNvSpPr/>
          <p:nvPr/>
        </p:nvSpPr>
        <p:spPr>
          <a:xfrm rot="0" flipH="0" flipV="0">
            <a:off x="4057650" y="4019550"/>
            <a:ext cx="304800" cy="304800"/>
          </a:xfrm>
          <a:prstGeom prst="roundRect">
            <a:avLst>
              <a:gd name="adj" fmla="val 1875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4171950" y="40862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PingFang SC"/>
                <a:ea typeface="PingFang SC"/>
              </a:rPr>
              <a:t>4</a:t>
            </a:r>
            <a:endParaRPr/>
          </a:p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4495800" y="4076700"/>
            <a:ext cx="19812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PingFang SC"/>
                <a:ea typeface="PingFang SC"/>
              </a:rPr>
              <a:t>错题按类型归档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6477000" y="4086225"/>
            <a:ext cx="4762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概念混淆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步骤遗漏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条件误读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计算失误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表述不清</a:t>
            </a:r>
            <a:endParaRPr/>
          </a:p>
        </p:txBody>
      </p:sp>
      <p:sp>
        <p:nvSpPr>
          <p:cNvPr id="247" name=""/>
          <p:cNvSpPr/>
          <p:nvPr/>
        </p:nvSpPr>
        <p:spPr>
          <a:xfrm rot="0" flipH="0" flipV="0">
            <a:off x="3924300" y="4552950"/>
            <a:ext cx="7543800" cy="609600"/>
          </a:xfrm>
          <a:prstGeom prst="roundRect">
            <a:avLst>
              <a:gd name="adj" fmla="val 9375"/>
            </a:avLst>
          </a:prstGeom>
          <a:solidFill>
            <a:srgbClr val="F9FAFC"/>
          </a:solidFill>
          <a:ln/>
        </p:spPr>
        <p:txBody>
          <a:bodyPr/>
          <a:p/>
        </p:txBody>
      </p:sp>
      <p:sp>
        <p:nvSpPr>
          <p:cNvPr id="248" name=""/>
          <p:cNvSpPr/>
          <p:nvPr/>
        </p:nvSpPr>
        <p:spPr>
          <a:xfrm rot="0" flipH="0" flipV="0">
            <a:off x="4057650" y="4705350"/>
            <a:ext cx="304800" cy="304800"/>
          </a:xfrm>
          <a:prstGeom prst="roundRect">
            <a:avLst>
              <a:gd name="adj" fmla="val 1875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4171950" y="47720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PingFang SC"/>
                <a:ea typeface="PingFang SC"/>
              </a:rPr>
              <a:t>5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4495800" y="4762500"/>
            <a:ext cx="19812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PingFang SC"/>
                <a:ea typeface="PingFang SC"/>
              </a:rPr>
              <a:t>变式题与详解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6477000" y="4772025"/>
            <a:ext cx="4762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由错因生成新题，作答后可看参考答案与关键步骤</a:t>
            </a:r>
            <a:endParaRPr/>
          </a:p>
        </p:txBody>
      </p:sp>
      <p:sp>
        <p:nvSpPr>
          <p:cNvPr id="252" name=""/>
          <p:cNvSpPr/>
          <p:nvPr/>
        </p:nvSpPr>
        <p:spPr>
          <a:xfrm rot="0" flipH="0" flipV="0">
            <a:off x="3924300" y="5238750"/>
            <a:ext cx="7543800" cy="60960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53" name=""/>
          <p:cNvSpPr/>
          <p:nvPr/>
        </p:nvSpPr>
        <p:spPr>
          <a:xfrm rot="0" flipH="0" flipV="0">
            <a:off x="4057650" y="5391150"/>
            <a:ext cx="304800" cy="304800"/>
          </a:xfrm>
          <a:prstGeom prst="roundRect">
            <a:avLst>
              <a:gd name="adj" fmla="val 1875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4171950" y="54578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PingFang SC"/>
                <a:ea typeface="PingFang SC"/>
              </a:rPr>
              <a:t>6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4495800" y="5448300"/>
            <a:ext cx="19812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PingFang SC"/>
                <a:ea typeface="PingFang SC"/>
              </a:rPr>
              <a:t>今日复习与日程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6477000" y="5457825"/>
            <a:ext cx="4762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到期题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薄弱学科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近期误区，再加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什么时候做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endParaRPr/>
          </a:p>
        </p:txBody>
      </p:sp>
      <p:sp>
        <p:nvSpPr>
          <p:cNvPr id="257" name=""/>
          <p:cNvSpPr/>
          <p:nvPr/>
        </p:nvSpPr>
        <p:spPr>
          <a:xfrm rot="0" flipH="0" flipV="0">
            <a:off x="3924300" y="5943600"/>
            <a:ext cx="7543800" cy="342900"/>
          </a:xfrm>
          <a:prstGeom prst="roundRect">
            <a:avLst>
              <a:gd name="adj" fmla="val 1666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4076700" y="6029325"/>
            <a:ext cx="4562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FFFFFF"/>
                </a:solidFill>
                <a:latin typeface="PingFang SC"/>
                <a:ea typeface="PingFang SC"/>
              </a:rPr>
              <a:t>六项功能共用一套数据：片段、题、掌握度——不是六个各自为政的小工具</a:t>
            </a:r>
            <a:endParaRPr/>
          </a:p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723900" y="6448425"/>
            <a:ext cx="2447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基于大模型智能体的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AI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教育学习系统</a:t>
            </a:r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11010900" y="64484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PingFang SC"/>
                <a:ea typeface="PingFang SC"/>
              </a:rPr>
              <a:t>05 / 10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261" name="" descr="&lt;Slide style={{ width: 1280, height: 720, background: '#FFFFFF', padding: 0, position: 'relative', fontFamily: 'PingFang SC' }}&gt;&#10;&#10;  &lt;Box style={{ position: 'absolute', top: 0, left: 0, width: 1280, height: 64, background: '#1E4FA8' }} /&gt;&#10;  &lt;Text style={{ position: 'absolute', left: 76, top: 21, fontSize: 15, color: '#C9D8EF', letterSpacing: 1 }}&gt;知迹 · 答辩汇报&lt;/Text&gt;&#10;  &lt;Text style={{ position: 'absolute', left: 1010, top: 21, width: 194, textAlign: 'right', fontSize: 15, color: '#C9D8EF' }}&gt;赛道十三 · 智慧教育&lt;/Text&gt;&#10;&#10;  &lt;Box style={{ position: 'absolute', left: 76, top: 96, width: 1128 }}&gt;&#10;    &lt;Text style={{ fontSize: 34, fontWeight: 'bold', color: '#0E3F8C' }}&gt;三条承诺，写在执行层而不是提示词里&lt;/Text&gt;&#10;    &lt;Text style={{ fontSize: 16, color: '#4A5568', marginTop: 10 }}&gt;最小权限、人在环、可评测——每一条都能指出对应的代码位置，而不是一句口号&lt;/Text&gt;&#10;  &lt;/Box&gt;&#10;&#10;  &lt;Box style={{ position: 'absolute', left: 76, top: 196, width: 648, height: 458, flexDirection: 'column' }}&gt;&#10;&#10;    &lt;Box style={{ flexDirection: 'column', height: 146 }}&gt;&#10;      &lt;Box style={{ flexDirection: 'row', alignItems: 'center', gap: 10 }}&gt;&#10;        &lt;Box style={{ width: 26, height: 26, borderRadius: 5, background: '#1E4FA8', justifyContent: 'center', alignItems: 'center' }}&gt;&#10;          &lt;Text style={{ fontSize: 13, fontWeight: 'bold', color: '#FFFFFF' }}&gt;1&lt;/Text&gt;&#10;        &lt;/Box&gt;&#10;        &lt;Text style={{ fontSize: 19, fontWeight: 'bold', color: '#1A2230' }}&gt;工具最小权限，做两层&lt;/Text&gt;&#10;      &lt;/Box&gt;&#10;      &lt;Text style={{ fontSize: 14.5, color: '#4A5568', lineHeight: 1.75, marginTop: 10 }}&gt;&#10;        schema 层决定&quot;模型看得见哪些工具&quot;，执行层再决定&quot;能不能真的跑&quot;：练习 agent 只读、进度 agent 无工具、写操作一律拒绝。&#10;      &lt;/Text&gt;&#10;      &lt;Text style={{ fontSize: 13.5, color: '#8B97A8', lineHeight: 1.7, marginTop: 6 }}&gt;&#10;        只做一层都会失效：模型会反复尝试，或说出被禁工具名后失败。&#10;      &lt;/Text&gt;&#10;    &lt;/Box&gt;&#10;&#10;    &lt;Box style={{ flexDirection: 'column', height: 146, marginTop: 10 }}&gt;&#10;      &lt;Box style={{ flexDirection: 'row', alignItems: 'center', gap: 10 }}&gt;&#10;        &lt;Box style={{ width: 26, height: 26, borderRadius: 5, background: '#1E4FA8', justifyContent: 'center', alignItems: 'center' }}&gt;&#10;          &lt;Text style={{ fontSize: 13, fontWeight: 'bold', color: '#FFFFFF' }}&gt;2&lt;/Text&gt;&#10;        &lt;/Box&gt;&#10;        &lt;Text style={{ fontSize: 19, fontWeight: 'bold', color: '#1A2230' }}&gt;人在环：写操作先暂停&lt;/Text&gt;&#10;      &lt;/Box&gt;&#10;      &lt;Text style={{ fontSize: 14.5, color: '#4A5568', lineHeight: 1.75, marginTop: 10 }}&gt;&#10;        模型要落库时，图在 interrupt 节点暂停；用户点确认后用 Command 从检查点恢复，才真正写入&quot;记住 / 错题&quot;这类数据。&#10;      &lt;/Text&gt;&#10;      &lt;Text style={{ fontSize: 13.5, color: '#8B97A8', lineHeight: 1.7, marginTop: 6 }}&gt;&#10;        不确认就不恢复，流程结构上保证不落库。&#10;      &lt;/Text&gt;&#10;    &lt;/Box&gt;&#10;&#10;    &lt;Box style={{ flexDirection: 'column', height: 146, marginTop: 10 }}&gt;&#10;      &lt;Box style={{ flexDirection: 'row', alignItems: 'center', gap: 10 }}&gt;&#10;        &lt;Box style={{ width: 26, height: 26, borderRadius: 5, background: '#1E4FA8', justifyContent: 'center', alignItems: 'center' }}&gt;&#10;          &lt;Text style={{ fontSize: 13, fontWeight: 'bold', color: '#FFFFFF' }}&gt;3&lt;/Text&gt;&#10;        &lt;/Box&gt;&#10;        &lt;Text style={{ fontSize: 19, fontWeight: 'bold', color: '#1A2230' }}&gt;可评测：有考卷也有门禁&lt;/Text&gt;&#10;      &lt;/Box&gt;&#10;      &lt;Text style={{ fontSize: 14.5, color: '#4A5568', lineHeight: 1.75, marginTop: 10 }}&gt;&#10;        检索 9 题、意图 15 句，各有固定考卷与基线 JSON；改动后重跑，掉出容差命令即返回非零，可直接进 CI。&#10;      &lt;/Text&gt;&#10;      &lt;Text style={{ fontSize: 13.5, color: '#8B97A8', lineHeight: 1.7, marginTop: 6 }}&gt;&#10;        把靠感觉判断，变成靠数字判断。&#10;      &lt;/Text&gt;&#10;    &lt;/Box&gt;&#10;&#10;  &lt;/Box&gt;&#10;&#10;  &lt;Box style={{ position: 'absolute', left: 764, top: 196, width: 440, height: 458, flexDirection: 'column' }}&gt;&#10;&#10;    &lt;Box style={{ background: '#0E3F8C', borderRadius: 8, padding: 22, height: 200, flexDirection: 'column', justifyContent: 'space-between' }}&gt;&#10;      &lt;Text style={{ fontSize: 14, color: '#8FB2E0', letterSpacing: 1.5 }}&gt;为什么值得讲&lt;/Text&gt;&#10;      &lt;Text style={{ fontSize: 19, fontWeight: 'bold', color: '#FFFFFF', lineHeight: 1.55 }}&gt;&#10;        这三条是&quot;产品承诺&quot;，因为它们在执行层强制，而不是写在提示词里。&#10;      &lt;/Text&gt;&#10;      &lt;Text style={{ fontSize: 13.5, color: '#B9CCE8', lineHeight: 1.6 }}&gt;&#10;        提示词可以被绕过，代码路径不能。&#10;      &lt;/Text&gt;&#10;    &lt;/Box&gt;&#10;&#10;    &lt;Box style={{ flexDirection: 'column', marginTop: 16, gap: 12 }}&gt;&#10;&#10;      &lt;Box style={{ flexDirection: 'column', borderLeft: '2px solid #3D7BD9', paddingLeft: 12 }}&gt;&#10;        &lt;Text style={{ fontSize: 14.5, fontWeight: 'bold', color: '#1A2230' }}&gt;权限&lt;/Text&gt;&#10;        &lt;Text style={{ fontSize: 13.5, color: '#4A5568', lineHeight: 1.65, marginTop: 4 }}&gt;角色 → 可见工具 → 是否放行，三列可查&lt;/Text&gt;&#10;      &lt;/Box&gt;&#10;&#10;      &lt;Box style={{ flexDirection: 'column', borderLeft: '2px solid #3D7BD9', paddingLeft: 12 }}&gt;&#10;        &lt;Text style={{ fontSize: 14.5, fontWeight: 'bold', color: '#1A2230' }}&gt;中断&lt;/Text&gt;&#10;        &lt;Text style={{ fontSize: 13.5, color: '#4A5568', lineHeight: 1.65, marginTop: 4 }}&gt;图里的节点，能在回合过程中停下等人&lt;/Text&gt;&#10;      &lt;/Box&gt;&#10;&#10;      &lt;Box style={{ flexDirection: 'column', borderLeft: '2px solid #3D7BD9', paddingLeft: 12 }}&gt;&#10;        &lt;Text style={{ fontSize: 14.5, fontWeight: 'bold', color: '#1A2230' }}&gt;门禁&lt;/Text&gt;&#10;        &lt;Text style={{ fontSize: 13.5, color: '#4A5568', lineHeight: 1.65, marginTop: 4 }}&gt;两份 JSON 基线，掉分即失败，不是看一眼&lt;/Text&gt;&#10;      &lt;/Box&gt;&#10;&#10;      &lt;Box style={{ flexDirection: 'column', borderLeft: '2px solid #3D7BD9', paddingLeft: 12 }}&gt;&#10;        &lt;Text style={{ fontSize: 14.5, fontWeight: 'bold', color: '#1A2230' }}&gt;痕迹&lt;/Text&gt;&#10;        &lt;Text style={{ fontSize: 13.5, color: '#4A5568', lineHeight: 1.65, marginTop: 4 }}&gt;每个回合有 trace，失败可归因到具体环节&lt;/Text&gt;&#10;      &lt;/Box&gt;&#10;&#10;    &lt;/Box&gt;&#10;&#10;  &lt;/Box&gt;&#10;&#10;  &lt;Box style={{ position: 'absolute', left: 76, bottom: 24, width: 1128, height: 22, flexDirection: 'row', alignItems: 'center', justifyContent: 'space-between' }}&gt;&#10;    &lt;Text style={{ fontSize: 13, color: '#8B97A8' }}&gt;知迹 · 基于大模型智能体的 AI 教育学习系统&lt;/Text&gt;&#10;    &lt;Text style={{ fontSize: 14, fontWeight: 'bold', color: '#0E3F8C' }}&gt;06 / 10&lt;/Text&gt;&#10;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63" name=""/>
          <p:cNvSpPr/>
          <p:nvPr/>
        </p:nvSpPr>
        <p:spPr>
          <a:xfrm rot="0" flipH="0" flipV="0">
            <a:off x="0" y="0"/>
            <a:ext cx="12192000" cy="609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723900" y="200025"/>
            <a:ext cx="1114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知迹</a:t>
            </a:r>
            <a:r>
              <a:rPr lang="en-US" sz="1125" spc="7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答辩汇报</a:t>
            </a:r>
            <a:endParaRPr/>
          </a:p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9620250" y="200025"/>
            <a:ext cx="1847850" cy="17145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赛道十三</a:t>
            </a:r>
            <a:r>
              <a:rPr lang="en-US" sz="112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智慧教育</a:t>
            </a:r>
            <a:endParaRPr/>
          </a:p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723900" y="914400"/>
            <a:ext cx="10744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E3F8C"/>
                </a:solidFill>
                <a:latin typeface="PingFang SC"/>
                <a:ea typeface="PingFang SC"/>
              </a:rPr>
              <a:t>三条承诺，写在执行层而不是提示词里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723900" y="1400175"/>
            <a:ext cx="10744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最小权限、人在环、可评测——每一条都能指出对应的代码位置，而不是一句口号</a:t>
            </a:r>
            <a:endParaRPr/>
          </a:p>
        </p:txBody>
      </p:sp>
      <p:sp>
        <p:nvSpPr>
          <p:cNvPr id="268" name=""/>
          <p:cNvSpPr/>
          <p:nvPr/>
        </p:nvSpPr>
        <p:spPr>
          <a:xfrm rot="0" flipH="0" flipV="0">
            <a:off x="723900" y="1866900"/>
            <a:ext cx="247650" cy="247650"/>
          </a:xfrm>
          <a:prstGeom prst="roundRect">
            <a:avLst>
              <a:gd name="adj" fmla="val 1923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819150" y="1914525"/>
            <a:ext cx="571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PingFang SC"/>
                <a:ea typeface="PingFang SC"/>
              </a:rPr>
              <a:t>1</a:t>
            </a:r>
            <a:endParaRPr/>
          </a:p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1066800" y="1885950"/>
            <a:ext cx="18097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A2230"/>
                </a:solidFill>
                <a:latin typeface="PingFang SC"/>
                <a:ea typeface="PingFang SC"/>
              </a:rPr>
              <a:t>工具最小权限，做两层</a:t>
            </a:r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723900" y="2209800"/>
            <a:ext cx="6172200" cy="581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 xml:space="preserve">schema 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层决定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模型看得见哪些工具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，执行层再决定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能不能真的跑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：练习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 xml:space="preserve"> agent 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只读、进度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 xml:space="preserve"> agent 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无工具、写操作一律拒绝。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723900" y="2847975"/>
            <a:ext cx="6172200" cy="266700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13">
                <a:solidFill>
                  <a:srgbClr val="8B97A8"/>
                </a:solidFill>
                <a:latin typeface="PingFang SC"/>
                <a:ea typeface="PingFang SC"/>
              </a:rPr>
              <a:t>只做一层都会失效：模型会反复尝试，或说出被禁工具名后失败。</a:t>
            </a:r>
            <a:endParaRPr/>
          </a:p>
        </p:txBody>
      </p:sp>
      <p:sp>
        <p:nvSpPr>
          <p:cNvPr id="273" name=""/>
          <p:cNvSpPr/>
          <p:nvPr/>
        </p:nvSpPr>
        <p:spPr>
          <a:xfrm rot="0" flipH="0" flipV="0">
            <a:off x="723900" y="3352800"/>
            <a:ext cx="247650" cy="247650"/>
          </a:xfrm>
          <a:prstGeom prst="roundRect">
            <a:avLst>
              <a:gd name="adj" fmla="val 1923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809625" y="3400425"/>
            <a:ext cx="76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PingFang SC"/>
                <a:ea typeface="PingFang SC"/>
              </a:rPr>
              <a:t>2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1066800" y="3371850"/>
            <a:ext cx="18097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A2230"/>
                </a:solidFill>
                <a:latin typeface="PingFang SC"/>
                <a:ea typeface="PingFang SC"/>
              </a:rPr>
              <a:t>人在环：写操作先暂停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723900" y="3695700"/>
            <a:ext cx="6172200" cy="581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模型要落库时，图在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 xml:space="preserve"> interrupt 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节点暂停；用户点确认后用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 xml:space="preserve"> Command 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从检查点恢复，才真正写入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记住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错题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这类数据。</a:t>
            </a:r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723900" y="4333875"/>
            <a:ext cx="6172200" cy="266700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13">
                <a:solidFill>
                  <a:srgbClr val="8B97A8"/>
                </a:solidFill>
                <a:latin typeface="PingFang SC"/>
                <a:ea typeface="PingFang SC"/>
              </a:rPr>
              <a:t>不确认就不恢复，流程结构上保证不落库。</a:t>
            </a:r>
            <a:endParaRPr/>
          </a:p>
        </p:txBody>
      </p:sp>
      <p:sp>
        <p:nvSpPr>
          <p:cNvPr id="278" name=""/>
          <p:cNvSpPr/>
          <p:nvPr/>
        </p:nvSpPr>
        <p:spPr>
          <a:xfrm rot="0" flipH="0" flipV="0">
            <a:off x="723900" y="4838700"/>
            <a:ext cx="247650" cy="247650"/>
          </a:xfrm>
          <a:prstGeom prst="roundRect">
            <a:avLst>
              <a:gd name="adj" fmla="val 1923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809625" y="4886325"/>
            <a:ext cx="76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PingFang SC"/>
                <a:ea typeface="PingFang SC"/>
              </a:rPr>
              <a:t>3</a:t>
            </a:r>
            <a:endParaRPr/>
          </a:p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1066800" y="4857750"/>
            <a:ext cx="19907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A2230"/>
                </a:solidFill>
                <a:latin typeface="PingFang SC"/>
                <a:ea typeface="PingFang SC"/>
              </a:rPr>
              <a:t>可评测：有考卷也有门禁</a:t>
            </a:r>
            <a:endParaRPr/>
          </a:p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723900" y="5181600"/>
            <a:ext cx="6172200" cy="581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检索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 xml:space="preserve"> 9 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题、意图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 xml:space="preserve"> 15 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句，各有固定考卷与基线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 xml:space="preserve"> JSON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；改动后重跑，掉出容差命令即返回非零，可直接进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 xml:space="preserve"> CI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。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723900" y="5819775"/>
            <a:ext cx="6172200" cy="266700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13">
                <a:solidFill>
                  <a:srgbClr val="8B97A8"/>
                </a:solidFill>
                <a:latin typeface="PingFang SC"/>
                <a:ea typeface="PingFang SC"/>
              </a:rPr>
              <a:t>把靠感觉判断，变成靠数字判断。</a:t>
            </a:r>
            <a:endParaRPr/>
          </a:p>
        </p:txBody>
      </p:sp>
      <p:sp>
        <p:nvSpPr>
          <p:cNvPr id="283" name=""/>
          <p:cNvSpPr/>
          <p:nvPr/>
        </p:nvSpPr>
        <p:spPr>
          <a:xfrm rot="0" flipH="0" flipV="0">
            <a:off x="7277100" y="1866900"/>
            <a:ext cx="4191000" cy="1905000"/>
          </a:xfrm>
          <a:prstGeom prst="roundRect">
            <a:avLst>
              <a:gd name="adj" fmla="val 4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7486650" y="2076450"/>
            <a:ext cx="3771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113">
                <a:solidFill>
                  <a:srgbClr val="8FB2E0"/>
                </a:solidFill>
                <a:latin typeface="PingFang SC"/>
                <a:ea typeface="PingFang SC"/>
              </a:rPr>
              <a:t>为什么值得讲</a:t>
            </a:r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7486650" y="2438400"/>
            <a:ext cx="3771900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425" b="1">
                <a:solidFill>
                  <a:srgbClr val="FFFFFF"/>
                </a:solidFill>
                <a:latin typeface="PingFang SC"/>
                <a:ea typeface="PingFang SC"/>
              </a:rPr>
              <a:t>这三条是</a:t>
            </a:r>
            <a:r>
              <a:rPr lang="en-US" sz="1425" b="1">
                <a:solidFill>
                  <a:srgbClr val="FFFFFF"/>
                </a:solidFill>
                <a:latin typeface="PingFang SC"/>
                <a:ea typeface="PingFang SC"/>
              </a:rPr>
              <a:t>"</a:t>
            </a:r>
            <a:r>
              <a:rPr lang="zh-CN" sz="1425" b="1">
                <a:solidFill>
                  <a:srgbClr val="FFFFFF"/>
                </a:solidFill>
                <a:latin typeface="PingFang SC"/>
                <a:ea typeface="PingFang SC"/>
              </a:rPr>
              <a:t>产品承诺</a:t>
            </a:r>
            <a:r>
              <a:rPr lang="en-US" sz="1425" b="1">
                <a:solidFill>
                  <a:srgbClr val="FFFFFF"/>
                </a:solidFill>
                <a:latin typeface="PingFang SC"/>
                <a:ea typeface="PingFang SC"/>
              </a:rPr>
              <a:t>"</a:t>
            </a:r>
            <a:r>
              <a:rPr lang="zh-CN" sz="1425" b="1">
                <a:solidFill>
                  <a:srgbClr val="FFFFFF"/>
                </a:solidFill>
                <a:latin typeface="PingFang SC"/>
                <a:ea typeface="PingFang SC"/>
              </a:rPr>
              <a:t>，因为它们在执行层强制，而不是写在提示词里。</a:t>
            </a:r>
            <a:endParaRPr/>
          </a:p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7486650" y="3314700"/>
            <a:ext cx="3771900" cy="2476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13">
                <a:solidFill>
                  <a:srgbClr val="B9CCE8"/>
                </a:solidFill>
                <a:latin typeface="PingFang SC"/>
                <a:ea typeface="PingFang SC"/>
              </a:rPr>
              <a:t>提示词可以被绕过，代码路径不能。</a:t>
            </a:r>
            <a:endParaRPr/>
          </a:p>
        </p:txBody>
      </p:sp>
      <p:sp>
        <p:nvSpPr>
          <p:cNvPr id="287" name=""/>
          <p:cNvSpPr/>
          <p:nvPr/>
        </p:nvSpPr>
        <p:spPr>
          <a:xfrm rot="0" flipH="0" flipV="0">
            <a:off x="7277100" y="3924300"/>
            <a:ext cx="4210050" cy="466725"/>
          </a:xfrm>
          <a:custGeom>
            <a:pathLst>
              <a:path w="442" h="49">
                <a:moveTo>
                  <a:pt x="0" y="0"/>
                </a:moveTo>
                <a:lnTo>
                  <a:pt x="2" y="0"/>
                </a:lnTo>
                <a:lnTo>
                  <a:pt x="2" y="49"/>
                </a:lnTo>
                <a:lnTo>
                  <a:pt x="0" y="49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7410450" y="3924300"/>
            <a:ext cx="4057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 b="1">
                <a:solidFill>
                  <a:srgbClr val="1A2230"/>
                </a:solidFill>
                <a:latin typeface="PingFang SC"/>
                <a:ea typeface="PingFang SC"/>
              </a:rPr>
              <a:t>权限</a:t>
            </a:r>
            <a:endParaRPr/>
          </a:p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7410450" y="4133850"/>
            <a:ext cx="4057650" cy="257175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角色</a:t>
            </a:r>
            <a:r>
              <a:rPr lang="en-US" sz="1013">
                <a:solidFill>
                  <a:srgbClr val="4A5568"/>
                </a:solidFill>
                <a:latin typeface="PingFang SC"/>
                <a:ea typeface="PingFang SC"/>
              </a:rPr>
              <a:t xml:space="preserve"> → </a:t>
            </a: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可见工具</a:t>
            </a:r>
            <a:r>
              <a:rPr lang="en-US" sz="1013">
                <a:solidFill>
                  <a:srgbClr val="4A5568"/>
                </a:solidFill>
                <a:latin typeface="PingFang SC"/>
                <a:ea typeface="PingFang SC"/>
              </a:rPr>
              <a:t xml:space="preserve"> → </a:t>
            </a: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是否放行，三列可查</a:t>
            </a:r>
            <a:endParaRPr/>
          </a:p>
        </p:txBody>
      </p:sp>
      <p:sp>
        <p:nvSpPr>
          <p:cNvPr id="290" name=""/>
          <p:cNvSpPr/>
          <p:nvPr/>
        </p:nvSpPr>
        <p:spPr>
          <a:xfrm rot="0" flipH="0" flipV="0">
            <a:off x="7277100" y="4505325"/>
            <a:ext cx="4210050" cy="466725"/>
          </a:xfrm>
          <a:custGeom>
            <a:pathLst>
              <a:path w="442" h="49">
                <a:moveTo>
                  <a:pt x="0" y="0"/>
                </a:moveTo>
                <a:lnTo>
                  <a:pt x="2" y="0"/>
                </a:lnTo>
                <a:lnTo>
                  <a:pt x="2" y="49"/>
                </a:lnTo>
                <a:lnTo>
                  <a:pt x="0" y="49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7410450" y="4505325"/>
            <a:ext cx="4057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 b="1">
                <a:solidFill>
                  <a:srgbClr val="1A2230"/>
                </a:solidFill>
                <a:latin typeface="PingFang SC"/>
                <a:ea typeface="PingFang SC"/>
              </a:rPr>
              <a:t>中断</a:t>
            </a:r>
            <a:endParaRPr/>
          </a:p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7410450" y="4714875"/>
            <a:ext cx="4057650" cy="257175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图里的节点，能在回合过程中停下等人</a:t>
            </a:r>
            <a:endParaRPr/>
          </a:p>
        </p:txBody>
      </p:sp>
      <p:sp>
        <p:nvSpPr>
          <p:cNvPr id="293" name=""/>
          <p:cNvSpPr/>
          <p:nvPr/>
        </p:nvSpPr>
        <p:spPr>
          <a:xfrm rot="0" flipH="0" flipV="0">
            <a:off x="7277100" y="5086350"/>
            <a:ext cx="4210050" cy="466725"/>
          </a:xfrm>
          <a:custGeom>
            <a:pathLst>
              <a:path w="442" h="49">
                <a:moveTo>
                  <a:pt x="0" y="0"/>
                </a:moveTo>
                <a:lnTo>
                  <a:pt x="2" y="0"/>
                </a:lnTo>
                <a:lnTo>
                  <a:pt x="2" y="49"/>
                </a:lnTo>
                <a:lnTo>
                  <a:pt x="0" y="49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7410450" y="5086350"/>
            <a:ext cx="4057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 b="1">
                <a:solidFill>
                  <a:srgbClr val="1A2230"/>
                </a:solidFill>
                <a:latin typeface="PingFang SC"/>
                <a:ea typeface="PingFang SC"/>
              </a:rPr>
              <a:t>门禁</a:t>
            </a:r>
            <a:endParaRPr/>
          </a:p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7410450" y="5295900"/>
            <a:ext cx="4057650" cy="257175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两份</a:t>
            </a:r>
            <a:r>
              <a:rPr lang="en-US" sz="1013">
                <a:solidFill>
                  <a:srgbClr val="4A5568"/>
                </a:solidFill>
                <a:latin typeface="PingFang SC"/>
                <a:ea typeface="PingFang SC"/>
              </a:rPr>
              <a:t xml:space="preserve"> JSON </a:t>
            </a: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基线，掉分即失败，不是看一眼</a:t>
            </a:r>
            <a:endParaRPr/>
          </a:p>
        </p:txBody>
      </p:sp>
      <p:sp>
        <p:nvSpPr>
          <p:cNvPr id="296" name=""/>
          <p:cNvSpPr/>
          <p:nvPr/>
        </p:nvSpPr>
        <p:spPr>
          <a:xfrm rot="0" flipH="0" flipV="0">
            <a:off x="7277100" y="5667375"/>
            <a:ext cx="4210050" cy="466725"/>
          </a:xfrm>
          <a:custGeom>
            <a:pathLst>
              <a:path w="442" h="49">
                <a:moveTo>
                  <a:pt x="0" y="0"/>
                </a:moveTo>
                <a:lnTo>
                  <a:pt x="2" y="0"/>
                </a:lnTo>
                <a:lnTo>
                  <a:pt x="2" y="49"/>
                </a:lnTo>
                <a:lnTo>
                  <a:pt x="0" y="49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7410450" y="5667375"/>
            <a:ext cx="4057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 b="1">
                <a:solidFill>
                  <a:srgbClr val="1A2230"/>
                </a:solidFill>
                <a:latin typeface="PingFang SC"/>
                <a:ea typeface="PingFang SC"/>
              </a:rPr>
              <a:t>痕迹</a:t>
            </a:r>
            <a:endParaRPr/>
          </a:p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7410450" y="5876925"/>
            <a:ext cx="4057650" cy="257175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每个回合有</a:t>
            </a:r>
            <a:r>
              <a:rPr lang="en-US" sz="1013">
                <a:solidFill>
                  <a:srgbClr val="4A5568"/>
                </a:solidFill>
                <a:latin typeface="PingFang SC"/>
                <a:ea typeface="PingFang SC"/>
              </a:rPr>
              <a:t xml:space="preserve"> trace</a:t>
            </a: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，失败可归因到具体环节</a:t>
            </a:r>
            <a:endParaRPr/>
          </a:p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723900" y="6448425"/>
            <a:ext cx="2447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基于大模型智能体的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AI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教育学习系统</a:t>
            </a:r>
            <a:endParaRPr/>
          </a:p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11010900" y="64484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PingFang SC"/>
                <a:ea typeface="PingFang SC"/>
              </a:rPr>
              <a:t>06 / 10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301" name="" descr="&lt;Slide style={{ width: 1280, height: 720, background: '#FFFFFF', padding: 0, position: 'relative', fontFamily: 'PingFang SC' }}&gt;&#10;&#10;  &lt;Box style={{ position: 'absolute', top: 0, left: 0, width: 1280, height: 64, background: '#1E4FA8' }} /&gt;&#10;  &lt;Text style={{ position: 'absolute', left: 76, top: 21, fontSize: 15, color: '#C9D8EF', letterSpacing: 1 }}&gt;知迹 · 答辩汇报&lt;/Text&gt;&#10;  &lt;Text style={{ position: 'absolute', left: 1010, top: 21, width: 194, textAlign: 'right', fontSize: 15, color: '#C9D8EF' }}&gt;赛道十三 · 智慧教育&lt;/Text&gt;&#10;&#10;  &lt;Box style={{ position: 'absolute', left: 76, top: 96, width: 1128 }}&gt;&#10;    &lt;Text style={{ fontSize: 34, fontWeight: 'bold', color: '#0E3F8C' }}&gt;可评测，所以可改进&lt;/Text&gt;&#10;    &lt;Text style={{ fontSize: 16, color: '#4A5568', marginTop: 10 }}&gt;数字的意义不在满分，而在&quot;有固定考卷和基线门禁&quot;——改动会掉分，掉分会被发现&lt;/Text&gt;&#10;  &lt;/Box&gt;&#10;&#10;  &lt;Box style={{ position: 'absolute', left: 76, top: 188, width: 1128, height: 176, flexDirection: 'row' }}&gt;&#10;&#10;    &lt;Box style={{ width: 258, flexDirection: 'column', justifyContent: 'flex-end' }}&gt;&#10;      &lt;Box style={{ flexDirection: 'row', alignItems: 'flex-end', gap: 8 }}&gt;&#10;        &lt;Text style={{ fontSize: 84, fontWeight: 'bold', color: '#1E4FA8', lineHeight: 1 }}&gt;279&lt;/Text&gt;&#10;        &lt;Text style={{ fontSize: 18, color: '#4A5568', paddingBottom: 10 }}&gt;项&lt;/Text&gt;&#10;      &lt;/Box&gt;&#10;      &lt;Text style={{ fontSize: 15, fontWeight: 'bold', color: '#1A2230', marginTop: 10 }}&gt;自动化测试&lt;/Text&gt;&#10;      &lt;Text style={{ fontSize: 13, color: '#8B97A8', marginTop: 4 }}&gt;全程离线 · 零 API 消耗&lt;/Text&gt;&#10;    &lt;/Box&gt;&#10;&#10;    &lt;Box style={{ width: 1, height: 140, background: '#E5E7EB', marginLeft: 26, marginRight: 26 }} /&gt;&#10;&#10;    &lt;Box style={{ width: 232, flexDirection: 'column', justifyContent: 'flex-end' }}&gt;&#10;      &lt;Text style={{ fontSize: 84, fontWeight: 'bold', color: '#1E4FA8', lineHeight: 1 }}&gt;1.0&lt;/Text&gt;&#10;      &lt;Text style={{ fontSize: 15, fontWeight: 'bold', color: '#1A2230', marginTop: 10 }}&gt;检索 Hit@3 与 MRR&lt;/Text&gt;&#10;      &lt;Text style={{ fontSize: 13, color: '#8B97A8', marginTop: 4 }}&gt;评测集 9 题&lt;/Text&gt;&#10;    &lt;/Box&gt;&#10;&#10;    &lt;Box style={{ width: 1, height: 140, background: '#E5E7EB', marginLeft: 26, marginRight: 26 }} /&gt;&#10;&#10;    &lt;Box style={{ width: 232, flexDirection: 'column', justifyContent: 'flex-end' }}&gt;&#10;      &lt;Text style={{ fontSize: 84, fontWeight: 'bold', color: '#1E4FA8', lineHeight: 1 }}&gt;1.0&lt;/Text&gt;&#10;      &lt;Text style={{ fontSize: 15, fontWeight: 'bold', color: '#1A2230', marginTop: 10 }}&gt;意图分类准确率&lt;/Text&gt;&#10;      &lt;Text style={{ fontSize: 13, color: '#8B97A8', marginTop: 4 }}&gt;评测集 15 句&lt;/Text&gt;&#10;    &lt;/Box&gt;&#10;&#10;    &lt;Box style={{ width: 1, height: 140, background: '#E5E7EB', marginLeft: 26, marginRight: 26 }} /&gt;&#10;&#10;    &lt;Box style={{ width: 232, flexDirection: 'column', justifyContent: 'flex-end' }}&gt;&#10;      &lt;Text style={{ fontSize: 84, fontWeight: 'bold', color: '#1E4FA8', lineHeight: 1 }}&gt;0&lt;/Text&gt;&#10;      &lt;Text style={{ fontSize: 15, fontWeight: 'bold', color: '#1A2230', marginTop: 10 }}&gt;测试期外部调用&lt;/Text&gt;&#10;      &lt;Text style={{ fontSize: 13, color: '#8B97A8', marginTop: 4 }}&gt;Mock 模型，可离线跑&lt;/Text&gt;&#10;    &lt;/Box&gt;&#10;&#10;  &lt;/Box&gt;&#10;&#10;  &lt;Box style={{ position: 'absolute', left: 76, top: 392, width: 1128, height: 262, flexDirection: 'row', gap: 20 }}&gt;&#10;&#10;    &lt;Box style={{ width: 554, flexDirection: 'column', background: '#F7F9FC', borderRadius: 8, padding: 22 }}&gt;&#10;      &lt;Text style={{ fontSize: 14, color: '#3D7BD9', letterSpacing: 1.5 }}&gt;这些数字说明什么&lt;/Text&gt;&#10;      &lt;Text style={{ fontSize: 16, color: '#1A2230', lineHeight: 1.8, marginTop: 12 }}&gt;&#10;        满分本身不稀奇——真题只有 9 道与 15 句。真正有意义的是：它是一份**可复跑的考卷**。改检索权重、改意图规则、换模型，重跑一次就知道有没有变差。&#10;      &lt;/Text&gt;&#10;      &lt;Text style={{ fontSize: 14, color: '#4A5568', lineHeight: 1.75, marginTop: 12 }}&gt;&#10;        掉出容差时命令返回非零，因此它能进 CI——把&quot;感觉变笨了&quot;变成一个会让流水线变红的数字。&#10;      &lt;/Text&gt;&#10;    &lt;/Box&gt;&#10;&#10;    &lt;Box style={{ width: 554, flexDirection: 'column', background: '#0E3F8C', borderRadius: 8, padding: 22 }}&gt;&#10;      &lt;Text style={{ fontSize: 14, color: '#8FB2E0', letterSpacing: 1.5 }}&gt;门禁怎么跑&lt;/Text&gt;&#10;      &lt;Box style={{ flexDirection: 'column', marginTop: 14, gap: 10 }}&gt;&#10;        &lt;Text style={{ fontSize: 14.5, color: '#FFFFFF', lineHeight: 1.6 }}&gt;1　两份 JSON 考卷：检索题 + 意图句&lt;/Text&gt;&#10;        &lt;Text style={{ fontSize: 14.5, color: '#FFFFFF', lineHeight: 1.6 }}&gt;2　一份基线：记录当前 Hit@3 / MRR / 准确率&lt;/Text&gt;&#10;        &lt;Text style={{ fontSize: 14.5, color: '#FFFFFF', lineHeight: 1.6 }}&gt;3　改完代码重跑，与基线比差&lt;/Text&gt;&#10;        &lt;Text style={{ fontSize: 14.5, color: '#FFFFFF', lineHeight: 1.6 }}&gt;4　超出容差 → 命令非零退出，拦住提交&lt;/Text&gt;&#10;      &lt;/Box&gt;&#10;      &lt;Text style={{ fontSize: 13, color: '#8FB2E0', lineHeight: 1.6, marginTop: 12 }}&gt;&#10;        另外每个回合有 trace，失败能归因到具体环节，而不是&quot;模型不行&quot;。&#10;      &lt;/Text&gt;&#10;    &lt;/Box&gt;&#10;&#10;  &lt;/Box&gt;&#10;&#10;  &lt;Box style={{ position: 'absolute', left: 76, bottom: 24, width: 1128, height: 22, flexDirection: 'row', alignItems: 'center', justifyContent: 'space-between' }}&gt;&#10;    &lt;Text style={{ fontSize: 13, color: '#8B97A8' }}&gt;知迹 · 基于大模型智能体的 AI 教育学习系统&lt;/Text&gt;&#10;    &lt;Text style={{ fontSize: 14, fontWeight: 'bold', color: '#0E3F8C' }}&gt;07 / 10&lt;/Text&gt;&#10;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03" name=""/>
          <p:cNvSpPr/>
          <p:nvPr/>
        </p:nvSpPr>
        <p:spPr>
          <a:xfrm rot="0" flipH="0" flipV="0">
            <a:off x="0" y="0"/>
            <a:ext cx="12192000" cy="609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723900" y="200025"/>
            <a:ext cx="1114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知迹</a:t>
            </a:r>
            <a:r>
              <a:rPr lang="en-US" sz="1125" spc="7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答辩汇报</a:t>
            </a:r>
            <a:endParaRPr/>
          </a:p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9620250" y="200025"/>
            <a:ext cx="1847850" cy="17145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赛道十三</a:t>
            </a:r>
            <a:r>
              <a:rPr lang="en-US" sz="112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智慧教育</a:t>
            </a:r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723900" y="914400"/>
            <a:ext cx="10744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E3F8C"/>
                </a:solidFill>
                <a:latin typeface="PingFang SC"/>
                <a:ea typeface="PingFang SC"/>
              </a:rPr>
              <a:t>可评测，所以可改进</a:t>
            </a:r>
            <a:endParaRPr/>
          </a:p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723900" y="1400175"/>
            <a:ext cx="10744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数字的意义不在满分，而在</a:t>
            </a:r>
            <a:r>
              <a:rPr lang="en-US" sz="1200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有固定考卷和基线门禁</a:t>
            </a:r>
            <a:r>
              <a:rPr lang="en-US" sz="1200">
                <a:solidFill>
                  <a:srgbClr val="4A5568"/>
                </a:solidFill>
                <a:latin typeface="PingFang SC"/>
                <a:ea typeface="PingFang SC"/>
              </a:rPr>
              <a:t>"——</a:t>
            </a: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改动会掉分，掉分会被发现</a:t>
            </a:r>
            <a:endParaRPr/>
          </a:p>
        </p:txBody>
      </p:sp>
      <p:sp>
        <p:nvSpPr>
          <p:cNvPr id="308" name="" descr="{&quot;isTemplate&quot;:true,&quot;type&quot;:&quot;text&quot;}"/>
          <p:cNvSpPr txBox="1"/>
          <p:nvPr/>
        </p:nvSpPr>
        <p:spPr>
          <a:xfrm rot="0" flipH="0" flipV="0">
            <a:off x="723900" y="2047875"/>
            <a:ext cx="1409700" cy="962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6300" b="1">
                <a:solidFill>
                  <a:srgbClr val="1E4FA8"/>
                </a:solidFill>
                <a:latin typeface="PingFang SC"/>
                <a:ea typeface="PingFang SC"/>
              </a:rPr>
              <a:t>279</a:t>
            </a:r>
            <a:endParaRPr/>
          </a:p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2209800" y="2705100"/>
            <a:ext cx="171450" cy="304800"/>
          </a:xfrm>
          <a:prstGeom prst="rect"/>
        </p:spPr>
        <p:txBody>
          <a:bodyPr wrap="none" lIns="0" tIns="0" rIns="0" bIns="71438"/>
          <a:p>
            <a:pPr>
              <a:lnSpc>
                <a:spcPct val="100000"/>
              </a:lnSpc>
            </a:pPr>
            <a:r>
              <a:rPr lang="zh-CN" sz="1350">
                <a:solidFill>
                  <a:srgbClr val="4A5568"/>
                </a:solidFill>
                <a:latin typeface="PingFang SC"/>
                <a:ea typeface="PingFang SC"/>
              </a:rPr>
              <a:t>项</a:t>
            </a:r>
            <a:endParaRPr/>
          </a:p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723900" y="3105150"/>
            <a:ext cx="2457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PingFang SC"/>
                <a:ea typeface="PingFang SC"/>
              </a:rPr>
              <a:t>自动化测试</a:t>
            </a:r>
            <a:endParaRPr/>
          </a:p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723900" y="3314700"/>
            <a:ext cx="24574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全程离线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零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API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消耗</a:t>
            </a:r>
            <a:endParaRPr/>
          </a:p>
        </p:txBody>
      </p:sp>
      <p:sp>
        <p:nvSpPr>
          <p:cNvPr id="312" name=""/>
          <p:cNvSpPr/>
          <p:nvPr/>
        </p:nvSpPr>
        <p:spPr>
          <a:xfrm rot="0" flipH="0" flipV="0">
            <a:off x="3429000" y="1790700"/>
            <a:ext cx="9525" cy="133350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p/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3686175" y="2047875"/>
            <a:ext cx="2209800" cy="962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6300" b="1">
                <a:solidFill>
                  <a:srgbClr val="1E4FA8"/>
                </a:solidFill>
                <a:latin typeface="PingFang SC"/>
                <a:ea typeface="PingFang SC"/>
              </a:rPr>
              <a:t>1.0</a:t>
            </a:r>
            <a:endParaRPr/>
          </a:p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3686175" y="3105150"/>
            <a:ext cx="2209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PingFang SC"/>
                <a:ea typeface="PingFang SC"/>
              </a:rPr>
              <a:t>检索</a:t>
            </a:r>
            <a:r>
              <a:rPr lang="en-US" sz="1125" b="1">
                <a:solidFill>
                  <a:srgbClr val="1A2230"/>
                </a:solidFill>
                <a:latin typeface="PingFang SC"/>
                <a:ea typeface="PingFang SC"/>
              </a:rPr>
              <a:t xml:space="preserve"> Hit@3 </a:t>
            </a:r>
            <a:r>
              <a:rPr lang="zh-CN" sz="1125" b="1">
                <a:solidFill>
                  <a:srgbClr val="1A2230"/>
                </a:solidFill>
                <a:latin typeface="PingFang SC"/>
                <a:ea typeface="PingFang SC"/>
              </a:rPr>
              <a:t>与</a:t>
            </a:r>
            <a:r>
              <a:rPr lang="en-US" sz="1125" b="1">
                <a:solidFill>
                  <a:srgbClr val="1A2230"/>
                </a:solidFill>
                <a:latin typeface="PingFang SC"/>
                <a:ea typeface="PingFang SC"/>
              </a:rPr>
              <a:t xml:space="preserve"> MRR</a:t>
            </a:r>
            <a:endParaRPr/>
          </a:p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3686175" y="3314700"/>
            <a:ext cx="2209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评测集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9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题</a:t>
            </a:r>
            <a:endParaRPr/>
          </a:p>
        </p:txBody>
      </p:sp>
      <p:sp>
        <p:nvSpPr>
          <p:cNvPr id="316" name=""/>
          <p:cNvSpPr/>
          <p:nvPr/>
        </p:nvSpPr>
        <p:spPr>
          <a:xfrm rot="0" flipH="0" flipV="0">
            <a:off x="6143625" y="1790700"/>
            <a:ext cx="9525" cy="133350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p/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6400800" y="2047875"/>
            <a:ext cx="2209800" cy="962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6300" b="1">
                <a:solidFill>
                  <a:srgbClr val="1E4FA8"/>
                </a:solidFill>
                <a:latin typeface="PingFang SC"/>
                <a:ea typeface="PingFang SC"/>
              </a:rPr>
              <a:t>1.0</a:t>
            </a:r>
            <a:endParaRPr/>
          </a:p>
        </p:txBody>
      </p:sp>
      <p:sp>
        <p:nvSpPr>
          <p:cNvPr id="318" name="" descr="{&quot;isTemplate&quot;:true,&quot;type&quot;:&quot;text&quot;}"/>
          <p:cNvSpPr txBox="1"/>
          <p:nvPr/>
        </p:nvSpPr>
        <p:spPr>
          <a:xfrm rot="0" flipH="0" flipV="0">
            <a:off x="6400800" y="3105150"/>
            <a:ext cx="2209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PingFang SC"/>
                <a:ea typeface="PingFang SC"/>
              </a:rPr>
              <a:t>意图分类准确率</a:t>
            </a:r>
            <a:endParaRPr/>
          </a:p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6400800" y="3314700"/>
            <a:ext cx="2209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评测集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15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句</a:t>
            </a:r>
            <a:endParaRPr/>
          </a:p>
        </p:txBody>
      </p:sp>
      <p:sp>
        <p:nvSpPr>
          <p:cNvPr id="320" name=""/>
          <p:cNvSpPr/>
          <p:nvPr/>
        </p:nvSpPr>
        <p:spPr>
          <a:xfrm rot="0" flipH="0" flipV="0">
            <a:off x="8858250" y="1790700"/>
            <a:ext cx="9525" cy="133350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p/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9115425" y="2047875"/>
            <a:ext cx="2209800" cy="962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6300" b="1">
                <a:solidFill>
                  <a:srgbClr val="1E4FA8"/>
                </a:solidFill>
                <a:latin typeface="PingFang SC"/>
                <a:ea typeface="PingFang SC"/>
              </a:rPr>
              <a:t>0</a:t>
            </a:r>
            <a:endParaRPr/>
          </a:p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9115425" y="3105150"/>
            <a:ext cx="2209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PingFang SC"/>
                <a:ea typeface="PingFang SC"/>
              </a:rPr>
              <a:t>测试期外部调用</a:t>
            </a:r>
            <a:endParaRPr/>
          </a:p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9115425" y="3314700"/>
            <a:ext cx="2209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Mock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模型，可离线跑</a:t>
            </a:r>
            <a:endParaRPr/>
          </a:p>
        </p:txBody>
      </p:sp>
      <p:sp>
        <p:nvSpPr>
          <p:cNvPr id="324" name=""/>
          <p:cNvSpPr/>
          <p:nvPr/>
        </p:nvSpPr>
        <p:spPr>
          <a:xfrm rot="0" flipH="0" flipV="0">
            <a:off x="723900" y="3733800"/>
            <a:ext cx="5276850" cy="2495550"/>
          </a:xfrm>
          <a:prstGeom prst="roundRect">
            <a:avLst>
              <a:gd name="adj" fmla="val 305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933450" y="3943350"/>
            <a:ext cx="4857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113">
                <a:solidFill>
                  <a:srgbClr val="3D7BD9"/>
                </a:solidFill>
                <a:latin typeface="PingFang SC"/>
                <a:ea typeface="PingFang SC"/>
              </a:rPr>
              <a:t>这些数字说明什么</a:t>
            </a:r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933450" y="4219575"/>
            <a:ext cx="4857750" cy="990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200">
                <a:solidFill>
                  <a:srgbClr val="1A2230"/>
                </a:solidFill>
                <a:latin typeface="PingFang SC"/>
                <a:ea typeface="PingFang SC"/>
              </a:rPr>
              <a:t>满分本身不稀奇——真题只有</a:t>
            </a:r>
            <a:r>
              <a:rPr lang="en-US" sz="1200">
                <a:solidFill>
                  <a:srgbClr val="1A2230"/>
                </a:solidFill>
                <a:latin typeface="PingFang SC"/>
                <a:ea typeface="PingFang SC"/>
              </a:rPr>
              <a:t xml:space="preserve"> 9 </a:t>
            </a:r>
            <a:r>
              <a:rPr lang="zh-CN" sz="1200">
                <a:solidFill>
                  <a:srgbClr val="1A2230"/>
                </a:solidFill>
                <a:latin typeface="PingFang SC"/>
                <a:ea typeface="PingFang SC"/>
              </a:rPr>
              <a:t>道与</a:t>
            </a:r>
            <a:r>
              <a:rPr lang="en-US" sz="1200">
                <a:solidFill>
                  <a:srgbClr val="1A2230"/>
                </a:solidFill>
                <a:latin typeface="PingFang SC"/>
                <a:ea typeface="PingFang SC"/>
              </a:rPr>
              <a:t xml:space="preserve"> 15 </a:t>
            </a:r>
            <a:r>
              <a:rPr lang="zh-CN" sz="1200">
                <a:solidFill>
                  <a:srgbClr val="1A2230"/>
                </a:solidFill>
                <a:latin typeface="PingFang SC"/>
                <a:ea typeface="PingFang SC"/>
              </a:rPr>
              <a:t>句。真正有意义的是：它是一份</a:t>
            </a:r>
            <a:r>
              <a:rPr lang="en-US" sz="1200">
                <a:solidFill>
                  <a:srgbClr val="1A2230"/>
                </a:solidFill>
                <a:latin typeface="PingFang SC"/>
                <a:ea typeface="PingFang SC"/>
              </a:rPr>
              <a:t>**</a:t>
            </a:r>
            <a:r>
              <a:rPr lang="zh-CN" sz="1200">
                <a:solidFill>
                  <a:srgbClr val="1A2230"/>
                </a:solidFill>
                <a:latin typeface="PingFang SC"/>
                <a:ea typeface="PingFang SC"/>
              </a:rPr>
              <a:t>可复跑的考卷</a:t>
            </a:r>
            <a:r>
              <a:rPr lang="en-US" sz="1200">
                <a:solidFill>
                  <a:srgbClr val="1A2230"/>
                </a:solidFill>
                <a:latin typeface="PingFang SC"/>
                <a:ea typeface="PingFang SC"/>
              </a:rPr>
              <a:t>**</a:t>
            </a:r>
            <a:r>
              <a:rPr lang="zh-CN" sz="1200">
                <a:solidFill>
                  <a:srgbClr val="1A2230"/>
                </a:solidFill>
                <a:latin typeface="PingFang SC"/>
                <a:ea typeface="PingFang SC"/>
              </a:rPr>
              <a:t>。改检索权重、改意图规则、换模型，重跑一次就知道有没有变差。</a:t>
            </a:r>
            <a:endParaRPr/>
          </a:p>
        </p:txBody>
      </p:sp>
      <p:sp>
        <p:nvSpPr>
          <p:cNvPr id="327" name="" descr="{&quot;isTemplate&quot;:true,&quot;type&quot;:&quot;text&quot;}"/>
          <p:cNvSpPr txBox="1"/>
          <p:nvPr/>
        </p:nvSpPr>
        <p:spPr>
          <a:xfrm rot="0" flipH="0" flipV="0">
            <a:off x="933450" y="5324475"/>
            <a:ext cx="4857750" cy="5619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掉出容差时命令返回非零，因此它能进</a:t>
            </a:r>
            <a:r>
              <a:rPr lang="en-US" sz="1050">
                <a:solidFill>
                  <a:srgbClr val="4A5568"/>
                </a:solidFill>
                <a:latin typeface="PingFang SC"/>
                <a:ea typeface="PingFang SC"/>
              </a:rPr>
              <a:t xml:space="preserve"> CI——</a:t>
            </a: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把</a:t>
            </a:r>
            <a:r>
              <a:rPr lang="en-US" sz="1050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感觉变笨了</a:t>
            </a:r>
            <a:r>
              <a:rPr lang="en-US" sz="1050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变成一个会让流水线变红的数字。</a:t>
            </a:r>
            <a:endParaRPr/>
          </a:p>
        </p:txBody>
      </p:sp>
      <p:sp>
        <p:nvSpPr>
          <p:cNvPr id="328" name=""/>
          <p:cNvSpPr/>
          <p:nvPr/>
        </p:nvSpPr>
        <p:spPr>
          <a:xfrm rot="0" flipH="0" flipV="0">
            <a:off x="6191250" y="3733800"/>
            <a:ext cx="5276850" cy="2495550"/>
          </a:xfrm>
          <a:prstGeom prst="roundRect">
            <a:avLst>
              <a:gd name="adj" fmla="val 3053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6400800" y="3943350"/>
            <a:ext cx="4857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113">
                <a:solidFill>
                  <a:srgbClr val="8FB2E0"/>
                </a:solidFill>
                <a:latin typeface="PingFang SC"/>
                <a:ea typeface="PingFang SC"/>
              </a:rPr>
              <a:t>门禁怎么跑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6400800" y="4238625"/>
            <a:ext cx="4857750" cy="2667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088">
                <a:solidFill>
                  <a:srgbClr val="FFFFFF"/>
                </a:solidFill>
                <a:latin typeface="PingFang SC"/>
                <a:ea typeface="PingFang SC"/>
              </a:rPr>
              <a:t>1</a:t>
            </a:r>
            <a:r>
              <a:rPr lang="zh-CN" sz="1088">
                <a:solidFill>
                  <a:srgbClr val="FFFFFF"/>
                </a:solidFill>
                <a:latin typeface="PingFang SC"/>
                <a:ea typeface="PingFang SC"/>
              </a:rPr>
              <a:t>　两份</a:t>
            </a:r>
            <a:r>
              <a:rPr lang="en-US" sz="1088">
                <a:solidFill>
                  <a:srgbClr val="FFFFFF"/>
                </a:solidFill>
                <a:latin typeface="PingFang SC"/>
                <a:ea typeface="PingFang SC"/>
              </a:rPr>
              <a:t xml:space="preserve"> JSON </a:t>
            </a:r>
            <a:r>
              <a:rPr lang="zh-CN" sz="1088">
                <a:solidFill>
                  <a:srgbClr val="FFFFFF"/>
                </a:solidFill>
                <a:latin typeface="PingFang SC"/>
                <a:ea typeface="PingFang SC"/>
              </a:rPr>
              <a:t>考卷：检索题</a:t>
            </a:r>
            <a:r>
              <a:rPr lang="en-US" sz="1088">
                <a:solidFill>
                  <a:srgbClr val="FFFFFF"/>
                </a:solidFill>
                <a:latin typeface="PingFang SC"/>
                <a:ea typeface="PingFang SC"/>
              </a:rPr>
              <a:t xml:space="preserve"> + </a:t>
            </a:r>
            <a:r>
              <a:rPr lang="zh-CN" sz="1088">
                <a:solidFill>
                  <a:srgbClr val="FFFFFF"/>
                </a:solidFill>
                <a:latin typeface="PingFang SC"/>
                <a:ea typeface="PingFang SC"/>
              </a:rPr>
              <a:t>意图句</a:t>
            </a:r>
            <a:endParaRPr/>
          </a:p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6400800" y="4600575"/>
            <a:ext cx="4857750" cy="2667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088">
                <a:solidFill>
                  <a:srgbClr val="FFFFFF"/>
                </a:solidFill>
                <a:latin typeface="PingFang SC"/>
                <a:ea typeface="PingFang SC"/>
              </a:rPr>
              <a:t>2</a:t>
            </a:r>
            <a:r>
              <a:rPr lang="zh-CN" sz="1088">
                <a:solidFill>
                  <a:srgbClr val="FFFFFF"/>
                </a:solidFill>
                <a:latin typeface="PingFang SC"/>
                <a:ea typeface="PingFang SC"/>
              </a:rPr>
              <a:t>　一份基线：记录当前</a:t>
            </a:r>
            <a:r>
              <a:rPr lang="en-US" sz="1088">
                <a:solidFill>
                  <a:srgbClr val="FFFFFF"/>
                </a:solidFill>
                <a:latin typeface="PingFang SC"/>
                <a:ea typeface="PingFang SC"/>
              </a:rPr>
              <a:t xml:space="preserve"> Hit@3 / MRR / </a:t>
            </a:r>
            <a:r>
              <a:rPr lang="zh-CN" sz="1088">
                <a:solidFill>
                  <a:srgbClr val="FFFFFF"/>
                </a:solidFill>
                <a:latin typeface="PingFang SC"/>
                <a:ea typeface="PingFang SC"/>
              </a:rPr>
              <a:t>准确率</a:t>
            </a:r>
            <a:endParaRPr/>
          </a:p>
        </p:txBody>
      </p:sp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6400800" y="4962525"/>
            <a:ext cx="4857750" cy="2667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088">
                <a:solidFill>
                  <a:srgbClr val="FFFFFF"/>
                </a:solidFill>
                <a:latin typeface="PingFang SC"/>
                <a:ea typeface="PingFang SC"/>
              </a:rPr>
              <a:t>3</a:t>
            </a:r>
            <a:r>
              <a:rPr lang="zh-CN" sz="1088">
                <a:solidFill>
                  <a:srgbClr val="FFFFFF"/>
                </a:solidFill>
                <a:latin typeface="PingFang SC"/>
                <a:ea typeface="PingFang SC"/>
              </a:rPr>
              <a:t>　改完代码重跑，与基线比差</a:t>
            </a:r>
            <a:endParaRPr/>
          </a:p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6400800" y="5324475"/>
            <a:ext cx="4857750" cy="2667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088">
                <a:solidFill>
                  <a:srgbClr val="FFFFFF"/>
                </a:solidFill>
                <a:latin typeface="PingFang SC"/>
                <a:ea typeface="PingFang SC"/>
              </a:rPr>
              <a:t>4</a:t>
            </a:r>
            <a:r>
              <a:rPr lang="zh-CN" sz="1088">
                <a:solidFill>
                  <a:srgbClr val="FFFFFF"/>
                </a:solidFill>
                <a:latin typeface="PingFang SC"/>
                <a:ea typeface="PingFang SC"/>
              </a:rPr>
              <a:t>　超出容差</a:t>
            </a:r>
            <a:r>
              <a:rPr lang="en-US" sz="1088">
                <a:solidFill>
                  <a:srgbClr val="FFFFFF"/>
                </a:solidFill>
                <a:latin typeface="PingFang SC"/>
                <a:ea typeface="PingFang SC"/>
              </a:rPr>
              <a:t xml:space="preserve"> → </a:t>
            </a:r>
            <a:r>
              <a:rPr lang="zh-CN" sz="1088">
                <a:solidFill>
                  <a:srgbClr val="FFFFFF"/>
                </a:solidFill>
                <a:latin typeface="PingFang SC"/>
                <a:ea typeface="PingFang SC"/>
              </a:rPr>
              <a:t>命令非零退出，拦住提交</a:t>
            </a:r>
            <a:endParaRPr/>
          </a:p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6400800" y="5705475"/>
            <a:ext cx="4857750" cy="2381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8FB2E0"/>
                </a:solidFill>
                <a:latin typeface="PingFang SC"/>
                <a:ea typeface="PingFang SC"/>
              </a:rPr>
              <a:t>另外每个回合有</a:t>
            </a:r>
            <a:r>
              <a:rPr lang="en-US" sz="975">
                <a:solidFill>
                  <a:srgbClr val="8FB2E0"/>
                </a:solidFill>
                <a:latin typeface="PingFang SC"/>
                <a:ea typeface="PingFang SC"/>
              </a:rPr>
              <a:t xml:space="preserve"> trace</a:t>
            </a:r>
            <a:r>
              <a:rPr lang="zh-CN" sz="975">
                <a:solidFill>
                  <a:srgbClr val="8FB2E0"/>
                </a:solidFill>
                <a:latin typeface="PingFang SC"/>
                <a:ea typeface="PingFang SC"/>
              </a:rPr>
              <a:t>，失败能归因到具体环节，而不是</a:t>
            </a:r>
            <a:r>
              <a:rPr lang="en-US" sz="975">
                <a:solidFill>
                  <a:srgbClr val="8FB2E0"/>
                </a:solidFill>
                <a:latin typeface="PingFang SC"/>
                <a:ea typeface="PingFang SC"/>
              </a:rPr>
              <a:t>"</a:t>
            </a:r>
            <a:r>
              <a:rPr lang="zh-CN" sz="975">
                <a:solidFill>
                  <a:srgbClr val="8FB2E0"/>
                </a:solidFill>
                <a:latin typeface="PingFang SC"/>
                <a:ea typeface="PingFang SC"/>
              </a:rPr>
              <a:t>模型不行</a:t>
            </a:r>
            <a:r>
              <a:rPr lang="en-US" sz="975">
                <a:solidFill>
                  <a:srgbClr val="8FB2E0"/>
                </a:solidFill>
                <a:latin typeface="PingFang SC"/>
                <a:ea typeface="PingFang SC"/>
              </a:rPr>
              <a:t>"</a:t>
            </a:r>
            <a:r>
              <a:rPr lang="zh-CN" sz="975">
                <a:solidFill>
                  <a:srgbClr val="8FB2E0"/>
                </a:solidFill>
                <a:latin typeface="PingFang SC"/>
                <a:ea typeface="PingFang SC"/>
              </a:rPr>
              <a:t>。</a:t>
            </a:r>
            <a:endParaRPr/>
          </a:p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723900" y="6448425"/>
            <a:ext cx="2447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基于大模型智能体的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AI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教育学习系统</a:t>
            </a:r>
            <a:endParaRPr/>
          </a:p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11020425" y="6448425"/>
            <a:ext cx="447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PingFang SC"/>
                <a:ea typeface="PingFang SC"/>
              </a:rPr>
              <a:t>07 / 10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337" name="" descr="&lt;Slide style={{ width: 1280, height: 720, background: '#FFFFFF', padding: 0, position: 'relative', fontFamily: 'PingFang SC' }}&gt;&#10;&#10;  &lt;Box style={{ position: 'absolute', top: 0, left: 0, width: 1280, height: 64, background: '#1E4FA8' }} /&gt;&#10;  &lt;Text style={{ position: 'absolute', left: 76, top: 21, fontSize: 15, color: '#C9D8EF', letterSpacing: 1 }}&gt;知迹 · 答辩汇报&lt;/Text&gt;&#10;  &lt;Text style={{ position: 'absolute', left: 1010, top: 21, width: 194, textAlign: 'right', fontSize: 15, color: '#C9D8EF' }}&gt;赛道十三 · 智慧教育&lt;/Text&gt;&#10;&#10;  &lt;Box style={{ position: 'absolute', left: 76, top: 96, width: 1128 }}&gt;&#10;    &lt;Text style={{ fontSize: 34, fontWeight: 'bold', color: '#0E3F8C' }}&gt;八个模块，决定它是系统还是原型&lt;/Text&gt;&#10;    &lt;Text style={{ fontSize: 16, color: '#4A5568', marginTop: 10 }}&gt;这些不是&quot;有更好&quot;，而是&quot;缺一项就不算能交付的工程系统&quot;&lt;/Text&gt;&#10;  &lt;/Box&gt;&#10;&#10;  &lt;Box style={{ position: 'absolute', left: 76, top: 196, width: 296, height: 458, flexDirection: 'column' }}&gt;&#10;&#10;    &lt;Text style={{ fontSize: 14, color: '#3D7BD9', letterSpacing: 1.5 }}&gt;工程完整度&lt;/Text&gt;&#10;&#10;    &lt;Text style={{ fontSize: 22, fontWeight: 'bold', color: '#0E3F8C', lineHeight: 1.5, marginTop: 12 }}&gt;&#10;      缺一项，\n就退回原型&#10;    &lt;/Text&gt;&#10;&#10;    &lt;Text style={{ fontSize: 14, color: '#4A5568', lineHeight: 1.8, marginTop: 12 }}&gt;&#10;      只做一个能跑的对话循环，半天就够；难的是让它出错时不炸、花钱有上限、变差了能发现。下面八项各自解决一个问题。&#10;    &lt;/Text&gt;&#10;&#10;    &lt;Box style={{ flexDirection: 'column', marginTop: 20, background: '#F7F9FC', borderRadius: 8, padding: 16, gap: 8 }}&gt;&#10;      &lt;Text style={{ fontSize: 13, color: '#4A5568', lineHeight: 1.6 }}&gt;全部八项都有对应测试&lt;/Text&gt;&#10;      &lt;Text style={{ fontSize: 13, color: '#4A5568', lineHeight: 1.6 }}&gt;共 279 项，离线可跑&lt;/Text&gt;&#10;    &lt;/Box&gt;&#10;&#10;  &lt;/Box&gt;&#10;&#10;  &lt;Box style={{ position: 'absolute', left: 412, top: 196, width: 380, height: 458, flexDirection: 'column' }}&gt;&#10;&#10;    &lt;Box style={{ flexDirection: 'column', height: 106 }}&gt;&#10;      &lt;Box style={{ flexDirection: 'row', alignItems: 'center', gap: 8 }}&gt;&#10;        &lt;Text style={{ fontSize: 13, fontWeight: 'bold', color: '#1E4FA8' }}&gt;01&lt;/Text&gt;&#10;        &lt;Text style={{ fontSize: 16, fontWeight: 'bold', color: '#1A2230' }}&gt;输入输出护栏&lt;/Text&gt;&#10;      &lt;/Box&gt;&#10;      &lt;Text style={{ fontSize: 13, color: '#4A5568', lineHeight: 1.6, marginTop: 8 }}&gt;输入拦越界与提示词注入，输出拦空回答与系统提示词泄漏。&lt;/Text&gt;&#10;    &lt;/Box&gt;&#10;&#10;    &lt;Box style={{ flexDirection: 'column', height: 106, marginTop: 8 }}&gt;&#10;      &lt;Box style={{ flexDirection: 'row', alignItems: 'center', gap: 8 }}&gt;&#10;        &lt;Text style={{ fontSize: 13, fontWeight: 'bold', color: '#1E4FA8' }}&gt;02&lt;/Text&gt;&#10;        &lt;Text style={{ fontSize: 16, fontWeight: 'bold', color: '#1A2230' }}&gt;工具超时与重试&lt;/Text&gt;&#10;      &lt;/Box&gt;&#10;      &lt;Text style={{ fontSize: 13, color: '#4A5568', lineHeight: 1.6, marginTop: 8 }}&gt;单次超时；只对可重试错误做有限退避，失败转成工具消息而不炸回合。&lt;/Text&gt;&#10;    &lt;/Box&gt;&#10;&#10;    &lt;Box style={{ flexDirection: 'column', height: 106, marginTop: 8 }}&gt;&#10;      &lt;Box style={{ flexDirection: 'row', alignItems: 'center', gap: 8 }}&gt;&#10;        &lt;Text style={{ fontSize: 13, fontWeight: 'bold', color: '#1E4FA8' }}&gt;03&lt;/Text&gt;&#10;        &lt;Text style={{ fontSize: 16, fontWeight: 'bold', color: '#1A2230' }}&gt;上下文压缩&lt;/Text&gt;&#10;      &lt;/Box&gt;&#10;      &lt;Text style={{ fontSize: 13, color: '#4A5568', lineHeight: 1.6, marginTop: 8 }}&gt;历史过长时从整轮边界裁剪，绝不拆散&quot;调用—结果&quot;的配对。&lt;/Text&gt;&#10;    &lt;/Box&gt;&#10;&#10;    &lt;Box style={{ flexDirection: 'column', height: 106, marginTop: 8 }}&gt;&#10;      &lt;Box style={{ flexDirection: 'row', alignItems: 'center', gap: 8 }}&gt;&#10;        &lt;Text style={{ fontSize: 13, fontWeight: 'bold', color: '#1E4FA8' }}&gt;04&lt;/Text&gt;&#10;        &lt;Text style={{ fontSize: 16, fontWeight: 'bold', color: '#1A2230' }}&gt;模型路由与预算&lt;/Text&gt;&#10;      &lt;/Box&gt;&#10;      &lt;Text style={{ fontSize: 13, color: '#4A5568', lineHeight: 1.6, marginTop: 8 }}&gt;按意图与复杂度选档；token 记账，当日超预算直接阻止真实调用。&lt;/Text&gt;&#10;    &lt;/Box&gt;&#10;&#10;  &lt;/Box&gt;&#10;&#10;  &lt;Box style={{ position: 'absolute', left: 828, top: 196, width: 380, height: 458, flexDirection: 'column' }}&gt;&#10;&#10;    &lt;Box style={{ flexDirection: 'column', height: 106 }}&gt;&#10;      &lt;Box style={{ flexDirection: 'row', alignItems: 'center', gap: 8 }}&gt;&#10;        &lt;Text style={{ fontSize: 13, fontWeight: 'bold', color: '#1E4FA8' }}&gt;05&lt;/Text&gt;&#10;        &lt;Text style={{ fontSize: 16, fontWeight: 'bold', color: '#1A2230' }}&gt;MCP 客户端&lt;/Text&gt;&#10;      &lt;/Box&gt;&#10;      &lt;Text style={{ fontSize: 13, color: '#4A5568', lineHeight: 1.6, marginTop: 8 }}&gt;自写 stdio JSON-RPC，能启动外部 server、发现工具并注册进工具表。&lt;/Text&gt;&#10;    &lt;/Box&gt;&#10;&#10;    &lt;Box style={{ flexDirection: 'column', height: 106, marginTop: 8 }}&gt;&#10;      &lt;Box style={{ flexDirection: 'row', alignItems: 'center', gap: 8 }}&gt;&#10;        &lt;Text style={{ fontSize: 13, fontWeight: 'bold', color: '#1E4FA8' }}&gt;06&lt;/Text&gt;&#10;        &lt;Text style={{ fontSize: 16, fontWeight: 'bold', color: '#1A2230' }}&gt;检查点与续跑&lt;/Text&gt;&#10;      &lt;/Box&gt;&#10;      &lt;Text style={{ fontSize: 13, color: '#4A5568', lineHeight: 1.6, marginTop: 8 }}&gt;会话可断点续跑；它同时也是&quot;写操作先暂停&quot;能成立的前提。&lt;/Text&gt;&#10;    &lt;/Box&gt;&#10;&#10;    &lt;Box style={{ flexDirection: 'column', height: 106, marginTop: 8 }}&gt;&#10;      &lt;Box style={{ flexDirection: 'row', alignItems: 'center', gap: 8 }}&gt;&#10;        &lt;Text style={{ fontSize: 13, fontWeight: 'bold', color: '#1E4FA8' }}&gt;07&lt;/Text&gt;&#10;        &lt;Text style={{ fontSize: 16, fontWeight: 'bold', color: '#1A2230' }}&gt;回合诊断&lt;/Text&gt;&#10;      &lt;/Box&gt;&#10;      &lt;Text style={{ fontSize: 13, color: '#4A5568', lineHeight: 1.6, marginTop: 8 }}&gt;每个回合留 trace，失败可归因到路由、检索、工具还是生成。&lt;/Text&gt;&#10;    &lt;/Box&gt;&#10;&#10;    &lt;Box style={{ flexDirection: 'column', height: 106, marginTop: 8 }}&gt;&#10;      &lt;Box style={{ flexDirection: 'row', alignItems: 'center', gap: 8 }}&gt;&#10;        &lt;Text style={{ fontSize: 13, fontWeight: 'bold', color: '#1E4FA8' }}&gt;08&lt;/Text&gt;&#10;        &lt;Text style={{ fontSize: 16, fontWeight: 'bold', color: '#1A2230' }}&gt;评测门禁&lt;/Text&gt;&#10;      &lt;/Box&gt;&#10;      &lt;Text style={{ fontSize: 13, color: '#4A5568', lineHeight: 1.6, marginTop: 8 }}&gt;两份考卷 + 基线；改完重跑，掉出容差即返回非零，拦住提交。&lt;/Text&gt;&#10;    &lt;/Box&gt;&#10;&#10;  &lt;/Box&gt;&#10;&#10;  &lt;Box style={{ position: 'absolute', left: 76, bottom: 24, width: 1128, height: 22, flexDirection: 'row', alignItems: 'center', justifyContent: 'space-between' }}&gt;&#10;    &lt;Text style={{ fontSize: 13, color: '#8B97A8' }}&gt;知迹 · 基于大模型智能体的 AI 教育学习系统&lt;/Text&gt;&#10;    &lt;Text style={{ fontSize: 14, fontWeight: 'bold', color: '#0E3F8C' }}&gt;08 / 10&lt;/Text&gt;&#10;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9" name=""/>
          <p:cNvSpPr/>
          <p:nvPr/>
        </p:nvSpPr>
        <p:spPr>
          <a:xfrm rot="0" flipH="0" flipV="0">
            <a:off x="0" y="0"/>
            <a:ext cx="12192000" cy="609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723900" y="200025"/>
            <a:ext cx="1114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知迹</a:t>
            </a:r>
            <a:r>
              <a:rPr lang="en-US" sz="1125" spc="7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答辩汇报</a:t>
            </a:r>
            <a:endParaRPr/>
          </a:p>
        </p:txBody>
      </p:sp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9620250" y="200025"/>
            <a:ext cx="1847850" cy="17145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赛道十三</a:t>
            </a:r>
            <a:r>
              <a:rPr lang="en-US" sz="112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智慧教育</a:t>
            </a:r>
            <a:endParaRPr/>
          </a:p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723900" y="914400"/>
            <a:ext cx="10744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E3F8C"/>
                </a:solidFill>
                <a:latin typeface="PingFang SC"/>
                <a:ea typeface="PingFang SC"/>
              </a:rPr>
              <a:t>八个模块，决定它是系统还是原型</a:t>
            </a:r>
            <a:endParaRPr/>
          </a:p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723900" y="1400175"/>
            <a:ext cx="10744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这些不是</a:t>
            </a:r>
            <a:r>
              <a:rPr lang="en-US" sz="1200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有更好</a:t>
            </a:r>
            <a:r>
              <a:rPr lang="en-US" sz="1200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，而是</a:t>
            </a:r>
            <a:r>
              <a:rPr lang="en-US" sz="1200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缺一项就不算能交付的工程系统</a:t>
            </a:r>
            <a:r>
              <a:rPr lang="en-US" sz="1200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endParaRPr/>
          </a:p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723900" y="1866900"/>
            <a:ext cx="2819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113">
                <a:solidFill>
                  <a:srgbClr val="3D7BD9"/>
                </a:solidFill>
                <a:latin typeface="PingFang SC"/>
                <a:ea typeface="PingFang SC"/>
              </a:rPr>
              <a:t>工程完整度</a:t>
            </a:r>
            <a:endParaRPr/>
          </a:p>
        </p:txBody>
      </p:sp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723900" y="2143125"/>
            <a:ext cx="2819400" cy="7620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650" b="1">
                <a:solidFill>
                  <a:srgbClr val="0E3F8C"/>
                </a:solidFill>
                <a:latin typeface="PingFang SC"/>
                <a:ea typeface="PingFang SC"/>
              </a:rPr>
              <a:t>缺一项，
就退回原型</a:t>
            </a:r>
            <a:endParaRPr/>
          </a:p>
        </p:txBody>
      </p:sp>
      <p:sp>
        <p:nvSpPr>
          <p:cNvPr id="346" name="" descr="{&quot;isTemplate&quot;:true,&quot;type&quot;:&quot;text&quot;}"/>
          <p:cNvSpPr txBox="1"/>
          <p:nvPr/>
        </p:nvSpPr>
        <p:spPr>
          <a:xfrm rot="0" flipH="0" flipV="0">
            <a:off x="723900" y="3019425"/>
            <a:ext cx="2819400" cy="866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只做一个能跑的对话循环，半天就够；难的是让它出错时不炸、花钱有上限、变差了能发现。下面八项各自解决一个问题。</a:t>
            </a:r>
            <a:endParaRPr/>
          </a:p>
        </p:txBody>
      </p:sp>
      <p:sp>
        <p:nvSpPr>
          <p:cNvPr id="347" name=""/>
          <p:cNvSpPr/>
          <p:nvPr/>
        </p:nvSpPr>
        <p:spPr>
          <a:xfrm rot="0" flipH="0" flipV="0">
            <a:off x="723900" y="4076700"/>
            <a:ext cx="2819400" cy="857250"/>
          </a:xfrm>
          <a:prstGeom prst="roundRect">
            <a:avLst>
              <a:gd name="adj" fmla="val 8889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876300" y="4229100"/>
            <a:ext cx="2514600" cy="2381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全部八项都有对应测试</a:t>
            </a:r>
            <a:endParaRPr/>
          </a:p>
        </p:txBody>
      </p:sp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876300" y="4543425"/>
            <a:ext cx="2514600" cy="2381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共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279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项，离线可跑</a:t>
            </a:r>
            <a:endParaRPr/>
          </a:p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3924300" y="1885950"/>
            <a:ext cx="1333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PingFang SC"/>
                <a:ea typeface="PingFang SC"/>
              </a:rPr>
              <a:t>01</a:t>
            </a:r>
            <a:endParaRPr/>
          </a:p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4133850" y="1866900"/>
            <a:ext cx="914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PingFang SC"/>
                <a:ea typeface="PingFang SC"/>
              </a:rPr>
              <a:t>输入输出护栏</a:t>
            </a:r>
            <a:endParaRPr/>
          </a:p>
        </p:txBody>
      </p:sp>
      <p:sp>
        <p:nvSpPr>
          <p:cNvPr id="352" name="" descr="{&quot;isTemplate&quot;:true,&quot;type&quot;:&quot;text&quot;}"/>
          <p:cNvSpPr txBox="1"/>
          <p:nvPr/>
        </p:nvSpPr>
        <p:spPr>
          <a:xfrm rot="0" flipH="0" flipV="0">
            <a:off x="3924300" y="2133600"/>
            <a:ext cx="3619500" cy="2381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输入拦越界与提示词注入，输出拦空回答与系统提示词泄漏。</a:t>
            </a:r>
            <a:endParaRPr/>
          </a:p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3924300" y="2971800"/>
            <a:ext cx="152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PingFang SC"/>
                <a:ea typeface="PingFang SC"/>
              </a:rPr>
              <a:t>02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4152900" y="2952750"/>
            <a:ext cx="1066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PingFang SC"/>
                <a:ea typeface="PingFang SC"/>
              </a:rPr>
              <a:t>工具超时与重试</a:t>
            </a:r>
            <a:endParaRPr/>
          </a:p>
        </p:txBody>
      </p:sp>
      <p:sp>
        <p:nvSpPr>
          <p:cNvPr id="355" name="" descr="{&quot;isTemplate&quot;:true,&quot;type&quot;:&quot;text&quot;}"/>
          <p:cNvSpPr txBox="1"/>
          <p:nvPr/>
        </p:nvSpPr>
        <p:spPr>
          <a:xfrm rot="0" flipH="0" flipV="0">
            <a:off x="3924300" y="3219450"/>
            <a:ext cx="36195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单次超时；只对可重试错误做有限退避，失败转成工具消息而不炸回合。</a:t>
            </a:r>
            <a:endParaRPr/>
          </a:p>
        </p:txBody>
      </p:sp>
      <p:sp>
        <p:nvSpPr>
          <p:cNvPr id="356" name="" descr="{&quot;isTemplate&quot;:true,&quot;type&quot;:&quot;text&quot;}"/>
          <p:cNvSpPr txBox="1"/>
          <p:nvPr/>
        </p:nvSpPr>
        <p:spPr>
          <a:xfrm rot="0" flipH="0" flipV="0">
            <a:off x="3924300" y="4057650"/>
            <a:ext cx="152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PingFang SC"/>
                <a:ea typeface="PingFang SC"/>
              </a:rPr>
              <a:t>03</a:t>
            </a:r>
            <a:endParaRPr/>
          </a:p>
        </p:txBody>
      </p:sp>
      <p:sp>
        <p:nvSpPr>
          <p:cNvPr id="357" name="" descr="{&quot;isTemplate&quot;:true,&quot;type&quot;:&quot;text&quot;}"/>
          <p:cNvSpPr txBox="1"/>
          <p:nvPr/>
        </p:nvSpPr>
        <p:spPr>
          <a:xfrm rot="0" flipH="0" flipV="0">
            <a:off x="4152900" y="4038600"/>
            <a:ext cx="762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PingFang SC"/>
                <a:ea typeface="PingFang SC"/>
              </a:rPr>
              <a:t>上下文压缩</a:t>
            </a:r>
            <a:endParaRPr/>
          </a:p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3924300" y="4305300"/>
            <a:ext cx="3619500" cy="2381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历史过长时从整轮边界裁剪，绝不拆散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调用—结果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的配对。</a:t>
            </a:r>
            <a:endParaRPr/>
          </a:p>
        </p:txBody>
      </p:sp>
      <p:sp>
        <p:nvSpPr>
          <p:cNvPr id="359" name="" descr="{&quot;isTemplate&quot;:true,&quot;type&quot;:&quot;text&quot;}"/>
          <p:cNvSpPr txBox="1"/>
          <p:nvPr/>
        </p:nvSpPr>
        <p:spPr>
          <a:xfrm rot="0" flipH="0" flipV="0">
            <a:off x="3924300" y="5143500"/>
            <a:ext cx="152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PingFang SC"/>
                <a:ea typeface="PingFang SC"/>
              </a:rPr>
              <a:t>04</a:t>
            </a:r>
            <a:endParaRPr/>
          </a:p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4152900" y="5124450"/>
            <a:ext cx="1066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PingFang SC"/>
                <a:ea typeface="PingFang SC"/>
              </a:rPr>
              <a:t>模型路由与预算</a:t>
            </a:r>
            <a:endParaRPr/>
          </a:p>
        </p:txBody>
      </p:sp>
      <p:sp>
        <p:nvSpPr>
          <p:cNvPr id="361" name="" descr="{&quot;isTemplate&quot;:true,&quot;type&quot;:&quot;text&quot;}"/>
          <p:cNvSpPr txBox="1"/>
          <p:nvPr/>
        </p:nvSpPr>
        <p:spPr>
          <a:xfrm rot="0" flipH="0" flipV="0">
            <a:off x="3924300" y="5391150"/>
            <a:ext cx="36195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按意图与复杂度选档；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token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记账，当日超预算直接阻止真实调用。</a:t>
            </a:r>
            <a:endParaRPr/>
          </a:p>
        </p:txBody>
      </p:sp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7886700" y="1885950"/>
            <a:ext cx="152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PingFang SC"/>
                <a:ea typeface="PingFang SC"/>
              </a:rPr>
              <a:t>05</a:t>
            </a:r>
            <a:endParaRPr/>
          </a:p>
        </p:txBody>
      </p:sp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8115300" y="1866900"/>
            <a:ext cx="857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PingFang SC"/>
                <a:ea typeface="PingFang SC"/>
              </a:rPr>
              <a:t xml:space="preserve">MCP </a:t>
            </a:r>
            <a:r>
              <a:rPr lang="zh-CN" sz="1200" b="1">
                <a:solidFill>
                  <a:srgbClr val="1A2230"/>
                </a:solidFill>
                <a:latin typeface="PingFang SC"/>
                <a:ea typeface="PingFang SC"/>
              </a:rPr>
              <a:t>客户端</a:t>
            </a:r>
            <a:endParaRPr/>
          </a:p>
        </p:txBody>
      </p:sp>
      <p:sp>
        <p:nvSpPr>
          <p:cNvPr id="364" name="" descr="{&quot;isTemplate&quot;:true,&quot;type&quot;:&quot;text&quot;}"/>
          <p:cNvSpPr txBox="1"/>
          <p:nvPr/>
        </p:nvSpPr>
        <p:spPr>
          <a:xfrm rot="0" flipH="0" flipV="0">
            <a:off x="7886700" y="2133600"/>
            <a:ext cx="36195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自写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stdio JSON-RPC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，能启动外部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server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、发现工具并注册进工具表。</a:t>
            </a:r>
            <a:endParaRPr/>
          </a:p>
        </p:txBody>
      </p:sp>
      <p:sp>
        <p:nvSpPr>
          <p:cNvPr id="365" name="" descr="{&quot;isTemplate&quot;:true,&quot;type&quot;:&quot;text&quot;}"/>
          <p:cNvSpPr txBox="1"/>
          <p:nvPr/>
        </p:nvSpPr>
        <p:spPr>
          <a:xfrm rot="0" flipH="0" flipV="0">
            <a:off x="7886700" y="2971800"/>
            <a:ext cx="152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PingFang SC"/>
                <a:ea typeface="PingFang SC"/>
              </a:rPr>
              <a:t>06</a:t>
            </a:r>
            <a:endParaRPr/>
          </a:p>
        </p:txBody>
      </p:sp>
      <p:sp>
        <p:nvSpPr>
          <p:cNvPr id="366" name="" descr="{&quot;isTemplate&quot;:true,&quot;type&quot;:&quot;text&quot;}"/>
          <p:cNvSpPr txBox="1"/>
          <p:nvPr/>
        </p:nvSpPr>
        <p:spPr>
          <a:xfrm rot="0" flipH="0" flipV="0">
            <a:off x="8115300" y="2952750"/>
            <a:ext cx="914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PingFang SC"/>
                <a:ea typeface="PingFang SC"/>
              </a:rPr>
              <a:t>检查点与续跑</a:t>
            </a:r>
            <a:endParaRPr/>
          </a:p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7886700" y="3219450"/>
            <a:ext cx="3619500" cy="2381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会话可断点续跑；它同时也是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写操作先暂停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能成立的前提。</a:t>
            </a:r>
            <a:endParaRPr/>
          </a:p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7886700" y="4057650"/>
            <a:ext cx="1428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PingFang SC"/>
                <a:ea typeface="PingFang SC"/>
              </a:rPr>
              <a:t>07</a:t>
            </a:r>
            <a:endParaRPr/>
          </a:p>
        </p:txBody>
      </p:sp>
      <p:sp>
        <p:nvSpPr>
          <p:cNvPr id="369" name="" descr="{&quot;isTemplate&quot;:true,&quot;type&quot;:&quot;text&quot;}"/>
          <p:cNvSpPr txBox="1"/>
          <p:nvPr/>
        </p:nvSpPr>
        <p:spPr>
          <a:xfrm rot="0" flipH="0" flipV="0">
            <a:off x="8105775" y="4038600"/>
            <a:ext cx="609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PingFang SC"/>
                <a:ea typeface="PingFang SC"/>
              </a:rPr>
              <a:t>回合诊断</a:t>
            </a:r>
            <a:endParaRPr/>
          </a:p>
        </p:txBody>
      </p:sp>
      <p:sp>
        <p:nvSpPr>
          <p:cNvPr id="370" name="" descr="{&quot;isTemplate&quot;:true,&quot;type&quot;:&quot;text&quot;}"/>
          <p:cNvSpPr txBox="1"/>
          <p:nvPr/>
        </p:nvSpPr>
        <p:spPr>
          <a:xfrm rot="0" flipH="0" flipV="0">
            <a:off x="7886700" y="4305300"/>
            <a:ext cx="3619500" cy="2381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每个回合留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trace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，失败可归因到路由、检索、工具还是生成。</a:t>
            </a:r>
            <a:endParaRPr/>
          </a:p>
        </p:txBody>
      </p:sp>
      <p:sp>
        <p:nvSpPr>
          <p:cNvPr id="371" name="" descr="{&quot;isTemplate&quot;:true,&quot;type&quot;:&quot;text&quot;}"/>
          <p:cNvSpPr txBox="1"/>
          <p:nvPr/>
        </p:nvSpPr>
        <p:spPr>
          <a:xfrm rot="0" flipH="0" flipV="0">
            <a:off x="7886700" y="5143500"/>
            <a:ext cx="152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PingFang SC"/>
                <a:ea typeface="PingFang SC"/>
              </a:rPr>
              <a:t>08</a:t>
            </a:r>
            <a:endParaRPr/>
          </a:p>
        </p:txBody>
      </p:sp>
      <p:sp>
        <p:nvSpPr>
          <p:cNvPr id="372" name="" descr="{&quot;isTemplate&quot;:true,&quot;type&quot;:&quot;text&quot;}"/>
          <p:cNvSpPr txBox="1"/>
          <p:nvPr/>
        </p:nvSpPr>
        <p:spPr>
          <a:xfrm rot="0" flipH="0" flipV="0">
            <a:off x="8115300" y="5124450"/>
            <a:ext cx="609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PingFang SC"/>
                <a:ea typeface="PingFang SC"/>
              </a:rPr>
              <a:t>评测门禁</a:t>
            </a:r>
            <a:endParaRPr/>
          </a:p>
        </p:txBody>
      </p:sp>
      <p:sp>
        <p:nvSpPr>
          <p:cNvPr id="373" name="" descr="{&quot;isTemplate&quot;:true,&quot;type&quot;:&quot;text&quot;}"/>
          <p:cNvSpPr txBox="1"/>
          <p:nvPr/>
        </p:nvSpPr>
        <p:spPr>
          <a:xfrm rot="0" flipH="0" flipV="0">
            <a:off x="7886700" y="5391150"/>
            <a:ext cx="3619500" cy="2381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两份考卷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+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基线；改完重跑，掉出容差即返回非零，拦住提交。</a:t>
            </a:r>
            <a:endParaRPr/>
          </a:p>
        </p:txBody>
      </p:sp>
      <p:sp>
        <p:nvSpPr>
          <p:cNvPr id="374" name="" descr="{&quot;isTemplate&quot;:true,&quot;type&quot;:&quot;text&quot;}"/>
          <p:cNvSpPr txBox="1"/>
          <p:nvPr/>
        </p:nvSpPr>
        <p:spPr>
          <a:xfrm rot="0" flipH="0" flipV="0">
            <a:off x="723900" y="6448425"/>
            <a:ext cx="2447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基于大模型智能体的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AI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教育学习系统</a:t>
            </a:r>
            <a:endParaRPr/>
          </a:p>
        </p:txBody>
      </p:sp>
      <p:sp>
        <p:nvSpPr>
          <p:cNvPr id="375" name="" descr="{&quot;isTemplate&quot;:true,&quot;type&quot;:&quot;text&quot;}"/>
          <p:cNvSpPr txBox="1"/>
          <p:nvPr/>
        </p:nvSpPr>
        <p:spPr>
          <a:xfrm rot="0" flipH="0" flipV="0">
            <a:off x="11010900" y="64484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PingFang SC"/>
                <a:ea typeface="PingFang SC"/>
              </a:rPr>
              <a:t>08 / 10</a:t>
            </a:r>
            <a:endParaRPr/>
          </a:p>
        </p:txBody>
      </p:sp>
    </p:spTree>
  </p:cSld>
</p:sld>
</file>

<file path=ppt/slides/slide9.xml><?xml version="1.0" encoding="utf-8"?>
<p:sld xmlns:r="http://schemas.openxmlformats.org/officeDocument/2006/relationships" xmlns:p="http://schemas.openxmlformats.org/presentationml/2006/main" xmlns:a="http://schemas.openxmlformats.org/drawingml/2006/main">
  <p:cSld>
    <p:spTree>
      <p:nvGrpSpPr>
        <p:cNvPr id="376" name="" descr="&lt;Slide style={{ width: 1280, height: 720, background: '#FFFFFF', padding: 0, position: 'relative', fontFamily: 'PingFang SC' }}&gt;&#10;&#10;  &lt;Box style={{ position: 'absolute', top: 0, left: 0, width: 1280, height: 64, background: '#1E4FA8' }} /&gt;&#10;  &lt;Text style={{ position: 'absolute', left: 76, top: 21, fontSize: 15, color: '#C9D8EF', letterSpacing: 1 }}&gt;知迹 · 答辩汇报&lt;/Text&gt;&#10;  &lt;Text style={{ position: 'absolute', left: 1010, top: 21, width: 194, textAlign: 'right', fontSize: 15, color: '#C9D8EF' }}&gt;赛道十三 · 智慧教育&lt;/Text&gt;&#10;&#10;  &lt;Box style={{ position: 'absolute', left: 76, top: 96, width: 1128 }}&gt;&#10;    &lt;Text style={{ fontSize: 34, fontWeight: 'bold', color: '#0E3F8C' }}&gt;不是示意图，是真实运行的界面&lt;/Text&gt;&#10;    &lt;Text style={{ fontSize: 16, color: '#4A5568', marginTop: 10 }}&gt;七个页面都在跑；引用能落到具体页码，才算&quot;有据可查&quot;&lt;/Text&gt;&#10;  &lt;/Box&gt;&#10;&#10;  &lt;Box style={{ position: 'absolute', left: 76, top: 190, width: 780, height: 352, border: '1px solid #D6DCE5', borderRadius: 6, overflow: 'hidden' }}&gt;&#10;    &lt;Image src=&quot;assets/ui-knowledge.png&quot; style={{ width: 778, height: 350, objectFit: 'cover' }} /&gt;&#10;  &lt;/Box&gt;&#10;&#10;  &lt;Box style={{ position: 'absolute', left: 880, top: 190, width: 324, height: 352, flexDirection: 'column' }}&gt;&#10;&#10;    &lt;Box style={{ flexDirection: 'column', height: 112 }}&gt;&#10;      &lt;Box style={{ flexDirection: 'row', alignItems: 'center', gap: 8 }}&gt;&#10;        &lt;Box style={{ width: 22, height: 22, borderRadius: 4, background: '#1E4FA8', justifyContent: 'center', alignItems: 'center' }}&gt;&#10;          &lt;Text style={{ fontSize: 11, fontWeight: 'bold', color: '#FFFFFF' }}&gt;1&lt;/Text&gt;&#10;        &lt;/Box&gt;&#10;        &lt;Text style={{ fontSize: 16, fontWeight: 'bold', color: '#1A2230' }}&gt;三栏阅读页&lt;/Text&gt;&#10;      &lt;/Box&gt;&#10;      &lt;Text style={{ fontSize: 13.5, color: '#4A5568', lineHeight: 1.65, marginTop: 8 }}&gt;&#10;        左目录树、中正文、右 AI 助手与大纲；大纲跟着滚动高亮，长文档不迷路。&#10;      &lt;/Text&gt;&#10;    &lt;/Box&gt;&#10;&#10;    &lt;Box style={{ flexDirection: 'column', height: 112, marginTop: 8 }}&gt;&#10;      &lt;Box style={{ flexDirection: 'row', alignItems: 'center', gap: 8 }}&gt;&#10;        &lt;Box style={{ width: 22, height: 22, borderRadius: 4, background: '#1E4FA8', justifyContent: 'center', alignItems: 'center' }}&gt;&#10;          &lt;Text style={{ fontSize: 11, fontWeight: 'bold', color: '#FFFFFF' }}&gt;2&lt;/Text&gt;&#10;        &lt;/Box&gt;&#10;        &lt;Text style={{ fontSize: 16, fontWeight: 'bold', color: '#1A2230' }}&gt;引用落到页&lt;/Text&gt;&#10;      &lt;/Box&gt;&#10;      &lt;Text style={{ fontSize: 13.5, color: '#4A5568', lineHeight: 1.65, marginTop: 8 }}&gt;&#10;        PDF 与 PPT 按页切块，出处带「第 N 页」；原件能内联预览，也能下载。&#10;      &lt;/Text&gt;&#10;    &lt;/Box&gt;&#10;&#10;    &lt;Box style={{ flexDirection: 'column', height: 112, marginTop: 8 }}&gt;&#10;      &lt;Box style={{ flexDirection: 'row', alignItems: 'center', gap: 8 }}&gt;&#10;        &lt;Box style={{ width: 22, height: 22, borderRadius: 4, background: '#1E4FA8', justifyContent: 'center', alignItems: 'center' }}&gt;&#10;          &lt;Text style={{ fontSize: 11, fontWeight: 'bold', color: '#FFFFFF' }}&gt;3&lt;/Text&gt;&#10;        &lt;/Box&gt;&#10;        &lt;Text style={{ fontSize: 16, fontWeight: 'bold', color: '#1A2230' }}&gt;作答后看详解&lt;/Text&gt;&#10;      &lt;/Box&gt;&#10;      &lt;Text style={{ fontSize: 13.5, color: '#4A5568', lineHeight: 1.65, marginTop: 8 }}&gt;&#10;        复习卡里写完思路可看参考答案与关键步骤，再四档自评。&#10;      &lt;/Text&gt;&#10;    &lt;/Box&gt;&#10;&#10;  &lt;/Box&gt;&#10;&#10;  &lt;Box style={{ position: 'absolute', left: 76, top: 572, width: 1128, height: 84, background: '#F7F9FC', borderRadius: 8, flexDirection: 'row', alignItems: 'center', paddingLeft: 24, paddingRight: 24 }}&gt;&#10;&#10;    &lt;Box style={{ width: 330, flexDirection: 'column' }}&gt;&#10;      &lt;Text style={{ fontSize: 13, color: '#8B97A8' }}&gt;演示库规模&lt;/Text&gt;&#10;      &lt;Text style={{ fontSize: 15, fontWeight: 'bold', color: '#1A2230', marginTop: 4 }}&gt;7 个学科库 · 24 份资料&lt;/Text&gt;&#10;    &lt;/Box&gt;&#10;&#10;    &lt;Box style={{ width: 1, height: 44, background: '#D6DCE5', marginLeft: 20, marginRight: 20 }} /&gt;&#10;&#10;    &lt;Box style={{ width: 330, flexDirection: 'column' }}&gt;&#10;      &lt;Text style={{ fontSize: 13, color: '#8B97A8' }}&gt;检索片段&lt;/Text&gt;&#10;      &lt;Text style={{ fontSize: 15, fontWeight: 'bold', color: '#1A2230', marginTop: 4 }}&gt;46 个片段，全部带出处&lt;/Text&gt;&#10;    &lt;/Box&gt;&#10;&#10;    &lt;Box style={{ width: 1, height: 44, background: '#D6DCE5', marginLeft: 20, marginRight: 20 }} /&gt;&#10;&#10;    &lt;Box style={{ width: 330, flexDirection: 'column' }}&gt;&#10;      &lt;Text style={{ fontSize: 13, color: '#8B97A8' }}&gt;资料类型&lt;/Text&gt;&#10;      &lt;Text style={{ fontSize: 15, fontWeight: 'bold', color: '#1A2230', marginTop: 4 }}&gt;PDF / Word / PPT / 图片&lt;/Text&gt;&#10;    &lt;/Box&gt;&#10;&#10;  &lt;/Box&gt;&#10;&#10;  &lt;Box style={{ position: 'absolute', left: 76, bottom: 24, width: 1128, height: 22, flexDirection: 'row', alignItems: 'center', justifyContent: 'space-between' }}&gt;&#10;    &lt;Text style={{ fontSize: 13, color: '#8B97A8' }}&gt;知迹 · 基于大模型智能体的 AI 教育学习系统&lt;/Text&gt;&#10;    &lt;Text style={{ fontSize: 14, fontWeight: 'bold', color: '#0E3F8C' }}&gt;09 / 10&lt;/Text&gt;&#10;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8" name=""/>
          <p:cNvSpPr/>
          <p:nvPr/>
        </p:nvSpPr>
        <p:spPr>
          <a:xfrm rot="0" flipH="0" flipV="0">
            <a:off x="0" y="0"/>
            <a:ext cx="12192000" cy="609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723900" y="200025"/>
            <a:ext cx="1114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知迹</a:t>
            </a:r>
            <a:r>
              <a:rPr lang="en-US" sz="1125" spc="7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答辩汇报</a:t>
            </a:r>
            <a:endParaRPr/>
          </a:p>
        </p:txBody>
      </p:sp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9620250" y="200025"/>
            <a:ext cx="1847850" cy="17145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赛道十三</a:t>
            </a:r>
            <a:r>
              <a:rPr lang="en-US" sz="112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智慧教育</a:t>
            </a:r>
            <a:endParaRPr/>
          </a:p>
        </p:txBody>
      </p:sp>
      <p:sp>
        <p:nvSpPr>
          <p:cNvPr id="381" name="" descr="{&quot;isTemplate&quot;:true,&quot;type&quot;:&quot;text&quot;}"/>
          <p:cNvSpPr txBox="1"/>
          <p:nvPr/>
        </p:nvSpPr>
        <p:spPr>
          <a:xfrm rot="0" flipH="0" flipV="0">
            <a:off x="723900" y="914400"/>
            <a:ext cx="10744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E3F8C"/>
                </a:solidFill>
                <a:latin typeface="PingFang SC"/>
                <a:ea typeface="PingFang SC"/>
              </a:rPr>
              <a:t>不是示意图，是真实运行的界面</a:t>
            </a:r>
            <a:endParaRPr/>
          </a:p>
        </p:txBody>
      </p:sp>
      <p:sp>
        <p:nvSpPr>
          <p:cNvPr id="382" name="" descr="{&quot;isTemplate&quot;:true,&quot;type&quot;:&quot;text&quot;}"/>
          <p:cNvSpPr txBox="1"/>
          <p:nvPr/>
        </p:nvSpPr>
        <p:spPr>
          <a:xfrm rot="0" flipH="0" flipV="0">
            <a:off x="723900" y="1400175"/>
            <a:ext cx="10744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七个页面都在跑；引用能落到具体页码，才算</a:t>
            </a:r>
            <a:r>
              <a:rPr lang="en-US" sz="1200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有据可查</a:t>
            </a:r>
            <a:r>
              <a:rPr lang="en-US" sz="1200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endParaRPr/>
          </a:p>
        </p:txBody>
      </p:sp>
      <p:sp>
        <p:nvSpPr>
          <p:cNvPr id="383" name=""/>
          <p:cNvSpPr/>
          <p:nvPr/>
        </p:nvSpPr>
        <p:spPr>
          <a:xfrm rot="0" flipH="0" flipV="0">
            <a:off x="723900" y="1809750"/>
            <a:ext cx="7429500" cy="3352800"/>
          </a:xfrm>
          <a:prstGeom prst="roundRect">
            <a:avLst>
              <a:gd name="adj" fmla="val 1705"/>
            </a:avLst>
          </a:prstGeom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384" name=""/>
          <p:cNvPicPr>
            <a:picLocks noChangeAspect="1"/>
          </p:cNvPicPr>
          <p:nvPr/>
        </p:nvPicPr>
        <p:blipFill>
          <a:blip r:embed="rId1"/>
          <a:srcRect l="0" t="100" r="0" b="100"/>
          <a:stretch>
            <a:fillRect/>
          </a:stretch>
        </p:blipFill>
        <p:spPr>
          <a:xfrm rot="0" flipH="0" flipV="0">
            <a:off x="723900" y="1809750"/>
            <a:ext cx="7410450" cy="3333750"/>
          </a:xfrm>
          <a:custGeom>
            <a:pathLst>
              <a:path w="778" h="350">
                <a:moveTo>
                  <a:pt x="774" y="0"/>
                </a:moveTo>
                <a:cubicBezTo>
                  <a:pt x="776" y="0"/>
                  <a:pt x="777" y="1"/>
                  <a:pt x="778" y="2"/>
                </a:cubicBezTo>
                <a:lnTo>
                  <a:pt x="778" y="350"/>
                </a:lnTo>
                <a:lnTo>
                  <a:pt x="2" y="350"/>
                </a:lnTo>
                <a:cubicBezTo>
                  <a:pt x="1" y="349"/>
                  <a:pt x="0" y="347"/>
                  <a:pt x="0" y="346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lnTo>
                  <a:pt x="774" y="0"/>
                </a:lnTo>
                <a:close/>
              </a:path>
            </a:pathLst>
          </a:custGeom>
          <a:ln/>
        </p:spPr>
      </p:pic>
      <p:sp>
        <p:nvSpPr>
          <p:cNvPr id="385" name=""/>
          <p:cNvSpPr/>
          <p:nvPr/>
        </p:nvSpPr>
        <p:spPr>
          <a:xfrm rot="0" flipH="0" flipV="0">
            <a:off x="8382000" y="1809750"/>
            <a:ext cx="209550" cy="209550"/>
          </a:xfrm>
          <a:prstGeom prst="roundRect">
            <a:avLst>
              <a:gd name="adj" fmla="val 18182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86" name="" descr="{&quot;isTemplate&quot;:true,&quot;type&quot;:&quot;text&quot;}"/>
          <p:cNvSpPr txBox="1"/>
          <p:nvPr/>
        </p:nvSpPr>
        <p:spPr>
          <a:xfrm rot="0" flipH="0" flipV="0">
            <a:off x="8467725" y="1847850"/>
            <a:ext cx="476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>
                <a:solidFill>
                  <a:srgbClr val="FFFFFF"/>
                </a:solidFill>
                <a:latin typeface="PingFang SC"/>
                <a:ea typeface="PingFang SC"/>
              </a:rPr>
              <a:t>1</a:t>
            </a:r>
            <a:endParaRPr/>
          </a:p>
        </p:txBody>
      </p:sp>
      <p:sp>
        <p:nvSpPr>
          <p:cNvPr id="387" name="" descr="{&quot;isTemplate&quot;:true,&quot;type&quot;:&quot;text&quot;}"/>
          <p:cNvSpPr txBox="1"/>
          <p:nvPr/>
        </p:nvSpPr>
        <p:spPr>
          <a:xfrm rot="0" flipH="0" flipV="0">
            <a:off x="8667750" y="1819275"/>
            <a:ext cx="762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PingFang SC"/>
                <a:ea typeface="PingFang SC"/>
              </a:rPr>
              <a:t>三栏阅读页</a:t>
            </a:r>
            <a:endParaRPr/>
          </a:p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8382000" y="2095500"/>
            <a:ext cx="30861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左目录树、中正文、右</a:t>
            </a:r>
            <a:r>
              <a:rPr lang="en-US" sz="1013">
                <a:solidFill>
                  <a:srgbClr val="4A5568"/>
                </a:solidFill>
                <a:latin typeface="PingFang SC"/>
                <a:ea typeface="PingFang SC"/>
              </a:rPr>
              <a:t xml:space="preserve"> AI </a:t>
            </a: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助手与大纲；大纲跟着滚动高亮，长文档不迷路。</a:t>
            </a:r>
            <a:endParaRPr/>
          </a:p>
        </p:txBody>
      </p:sp>
      <p:sp>
        <p:nvSpPr>
          <p:cNvPr id="389" name=""/>
          <p:cNvSpPr/>
          <p:nvPr/>
        </p:nvSpPr>
        <p:spPr>
          <a:xfrm rot="0" flipH="0" flipV="0">
            <a:off x="8382000" y="2952750"/>
            <a:ext cx="209550" cy="209550"/>
          </a:xfrm>
          <a:prstGeom prst="roundRect">
            <a:avLst>
              <a:gd name="adj" fmla="val 18182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90" name="" descr="{&quot;isTemplate&quot;:true,&quot;type&quot;:&quot;text&quot;}"/>
          <p:cNvSpPr txBox="1"/>
          <p:nvPr/>
        </p:nvSpPr>
        <p:spPr>
          <a:xfrm rot="0" flipH="0" flipV="0">
            <a:off x="8458200" y="2990850"/>
            <a:ext cx="666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>
                <a:solidFill>
                  <a:srgbClr val="FFFFFF"/>
                </a:solidFill>
                <a:latin typeface="PingFang SC"/>
                <a:ea typeface="PingFang SC"/>
              </a:rPr>
              <a:t>2</a:t>
            </a:r>
            <a:endParaRPr/>
          </a:p>
        </p:txBody>
      </p:sp>
      <p:sp>
        <p:nvSpPr>
          <p:cNvPr id="391" name="" descr="{&quot;isTemplate&quot;:true,&quot;type&quot;:&quot;text&quot;}"/>
          <p:cNvSpPr txBox="1"/>
          <p:nvPr/>
        </p:nvSpPr>
        <p:spPr>
          <a:xfrm rot="0" flipH="0" flipV="0">
            <a:off x="8667750" y="2962275"/>
            <a:ext cx="762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PingFang SC"/>
                <a:ea typeface="PingFang SC"/>
              </a:rPr>
              <a:t>引用落到页</a:t>
            </a:r>
            <a:endParaRPr/>
          </a:p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8382000" y="3238500"/>
            <a:ext cx="30861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013">
                <a:solidFill>
                  <a:srgbClr val="4A5568"/>
                </a:solidFill>
                <a:latin typeface="PingFang SC"/>
                <a:ea typeface="PingFang SC"/>
              </a:rPr>
              <a:t xml:space="preserve">PDF </a:t>
            </a: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与</a:t>
            </a:r>
            <a:r>
              <a:rPr lang="en-US" sz="1013">
                <a:solidFill>
                  <a:srgbClr val="4A5568"/>
                </a:solidFill>
                <a:latin typeface="PingFang SC"/>
                <a:ea typeface="PingFang SC"/>
              </a:rPr>
              <a:t xml:space="preserve"> PPT </a:t>
            </a: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按页切块，出处带「第</a:t>
            </a:r>
            <a:r>
              <a:rPr lang="en-US" sz="1013">
                <a:solidFill>
                  <a:srgbClr val="4A5568"/>
                </a:solidFill>
                <a:latin typeface="PingFang SC"/>
                <a:ea typeface="PingFang SC"/>
              </a:rPr>
              <a:t xml:space="preserve"> N </a:t>
            </a: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页」；原件能内联预览，也能下载。</a:t>
            </a:r>
            <a:endParaRPr/>
          </a:p>
        </p:txBody>
      </p:sp>
      <p:sp>
        <p:nvSpPr>
          <p:cNvPr id="393" name=""/>
          <p:cNvSpPr/>
          <p:nvPr/>
        </p:nvSpPr>
        <p:spPr>
          <a:xfrm rot="0" flipH="0" flipV="0">
            <a:off x="8382000" y="4095750"/>
            <a:ext cx="209550" cy="209550"/>
          </a:xfrm>
          <a:prstGeom prst="roundRect">
            <a:avLst>
              <a:gd name="adj" fmla="val 18182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94" name="" descr="{&quot;isTemplate&quot;:true,&quot;type&quot;:&quot;text&quot;}"/>
          <p:cNvSpPr txBox="1"/>
          <p:nvPr/>
        </p:nvSpPr>
        <p:spPr>
          <a:xfrm rot="0" flipH="0" flipV="0">
            <a:off x="8458200" y="4133850"/>
            <a:ext cx="666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>
                <a:solidFill>
                  <a:srgbClr val="FFFFFF"/>
                </a:solidFill>
                <a:latin typeface="PingFang SC"/>
                <a:ea typeface="PingFang SC"/>
              </a:rPr>
              <a:t>3</a:t>
            </a:r>
            <a:endParaRPr/>
          </a:p>
        </p:txBody>
      </p:sp>
      <p:sp>
        <p:nvSpPr>
          <p:cNvPr id="395" name="" descr="{&quot;isTemplate&quot;:true,&quot;type&quot;:&quot;text&quot;}"/>
          <p:cNvSpPr txBox="1"/>
          <p:nvPr/>
        </p:nvSpPr>
        <p:spPr>
          <a:xfrm rot="0" flipH="0" flipV="0">
            <a:off x="8667750" y="4105275"/>
            <a:ext cx="914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PingFang SC"/>
                <a:ea typeface="PingFang SC"/>
              </a:rPr>
              <a:t>作答后看详解</a:t>
            </a:r>
            <a:endParaRPr/>
          </a:p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8382000" y="4381500"/>
            <a:ext cx="30861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复习卡里写完思路可看参考答案与关键步骤，再四档自评。</a:t>
            </a:r>
            <a:endParaRPr/>
          </a:p>
        </p:txBody>
      </p:sp>
      <p:sp>
        <p:nvSpPr>
          <p:cNvPr id="397" name=""/>
          <p:cNvSpPr/>
          <p:nvPr/>
        </p:nvSpPr>
        <p:spPr>
          <a:xfrm rot="0" flipH="0" flipV="0">
            <a:off x="723900" y="5448300"/>
            <a:ext cx="10744200" cy="800100"/>
          </a:xfrm>
          <a:prstGeom prst="roundRect">
            <a:avLst>
              <a:gd name="adj" fmla="val 952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98" name="" descr="{&quot;isTemplate&quot;:true,&quot;type&quot;:&quot;text&quot;}"/>
          <p:cNvSpPr txBox="1"/>
          <p:nvPr/>
        </p:nvSpPr>
        <p:spPr>
          <a:xfrm rot="0" flipH="0" flipV="0">
            <a:off x="952500" y="5667375"/>
            <a:ext cx="3143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演示库规模</a:t>
            </a:r>
            <a:endParaRPr/>
          </a:p>
        </p:txBody>
      </p:sp>
      <p:sp>
        <p:nvSpPr>
          <p:cNvPr id="399" name="" descr="{&quot;isTemplate&quot;:true,&quot;type&quot;:&quot;text&quot;}"/>
          <p:cNvSpPr txBox="1"/>
          <p:nvPr/>
        </p:nvSpPr>
        <p:spPr>
          <a:xfrm rot="0" flipH="0" flipV="0">
            <a:off x="952500" y="5857875"/>
            <a:ext cx="3143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PingFang SC"/>
                <a:ea typeface="PingFang SC"/>
              </a:rPr>
              <a:t xml:space="preserve">7 </a:t>
            </a:r>
            <a:r>
              <a:rPr lang="zh-CN" sz="1125" b="1">
                <a:solidFill>
                  <a:srgbClr val="1A2230"/>
                </a:solidFill>
                <a:latin typeface="PingFang SC"/>
                <a:ea typeface="PingFang SC"/>
              </a:rPr>
              <a:t>个学科库</a:t>
            </a:r>
            <a:r>
              <a:rPr lang="en-US" sz="1125" b="1">
                <a:solidFill>
                  <a:srgbClr val="1A2230"/>
                </a:solidFill>
                <a:latin typeface="PingFang SC"/>
                <a:ea typeface="PingFang SC"/>
              </a:rPr>
              <a:t xml:space="preserve"> · 24 </a:t>
            </a:r>
            <a:r>
              <a:rPr lang="zh-CN" sz="1125" b="1">
                <a:solidFill>
                  <a:srgbClr val="1A2230"/>
                </a:solidFill>
                <a:latin typeface="PingFang SC"/>
                <a:ea typeface="PingFang SC"/>
              </a:rPr>
              <a:t>份资料</a:t>
            </a:r>
            <a:endParaRPr/>
          </a:p>
        </p:txBody>
      </p:sp>
      <p:sp>
        <p:nvSpPr>
          <p:cNvPr id="400" name=""/>
          <p:cNvSpPr/>
          <p:nvPr/>
        </p:nvSpPr>
        <p:spPr>
          <a:xfrm rot="0" flipH="0" flipV="0">
            <a:off x="4286250" y="5638800"/>
            <a:ext cx="9525" cy="419100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401" name="" descr="{&quot;isTemplate&quot;:true,&quot;type&quot;:&quot;text&quot;}"/>
          <p:cNvSpPr txBox="1"/>
          <p:nvPr/>
        </p:nvSpPr>
        <p:spPr>
          <a:xfrm rot="0" flipH="0" flipV="0">
            <a:off x="4486275" y="5667375"/>
            <a:ext cx="3143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检索片段</a:t>
            </a:r>
            <a:endParaRPr/>
          </a:p>
        </p:txBody>
      </p:sp>
      <p:sp>
        <p:nvSpPr>
          <p:cNvPr id="402" name="" descr="{&quot;isTemplate&quot;:true,&quot;type&quot;:&quot;text&quot;}"/>
          <p:cNvSpPr txBox="1"/>
          <p:nvPr/>
        </p:nvSpPr>
        <p:spPr>
          <a:xfrm rot="0" flipH="0" flipV="0">
            <a:off x="4486275" y="5857875"/>
            <a:ext cx="3143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PingFang SC"/>
                <a:ea typeface="PingFang SC"/>
              </a:rPr>
              <a:t xml:space="preserve">46 </a:t>
            </a:r>
            <a:r>
              <a:rPr lang="zh-CN" sz="1125" b="1">
                <a:solidFill>
                  <a:srgbClr val="1A2230"/>
                </a:solidFill>
                <a:latin typeface="PingFang SC"/>
                <a:ea typeface="PingFang SC"/>
              </a:rPr>
              <a:t>个片段，全部带出处</a:t>
            </a:r>
            <a:endParaRPr/>
          </a:p>
        </p:txBody>
      </p:sp>
      <p:sp>
        <p:nvSpPr>
          <p:cNvPr id="403" name=""/>
          <p:cNvSpPr/>
          <p:nvPr/>
        </p:nvSpPr>
        <p:spPr>
          <a:xfrm rot="0" flipH="0" flipV="0">
            <a:off x="7820025" y="5638800"/>
            <a:ext cx="9525" cy="419100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404" name="" descr="{&quot;isTemplate&quot;:true,&quot;type&quot;:&quot;text&quot;}"/>
          <p:cNvSpPr txBox="1"/>
          <p:nvPr/>
        </p:nvSpPr>
        <p:spPr>
          <a:xfrm rot="0" flipH="0" flipV="0">
            <a:off x="8020050" y="5667375"/>
            <a:ext cx="3143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资料类型</a:t>
            </a:r>
            <a:endParaRPr/>
          </a:p>
        </p:txBody>
      </p:sp>
      <p:sp>
        <p:nvSpPr>
          <p:cNvPr id="405" name="" descr="{&quot;isTemplate&quot;:true,&quot;type&quot;:&quot;text&quot;}"/>
          <p:cNvSpPr txBox="1"/>
          <p:nvPr/>
        </p:nvSpPr>
        <p:spPr>
          <a:xfrm rot="0" flipH="0" flipV="0">
            <a:off x="8020050" y="5857875"/>
            <a:ext cx="3143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PingFang SC"/>
                <a:ea typeface="PingFang SC"/>
              </a:rPr>
              <a:t xml:space="preserve">PDF / Word / PPT / </a:t>
            </a:r>
            <a:r>
              <a:rPr lang="zh-CN" sz="1125" b="1">
                <a:solidFill>
                  <a:srgbClr val="1A2230"/>
                </a:solidFill>
                <a:latin typeface="PingFang SC"/>
                <a:ea typeface="PingFang SC"/>
              </a:rPr>
              <a:t>图片</a:t>
            </a:r>
            <a:endParaRPr/>
          </a:p>
        </p:txBody>
      </p:sp>
      <p:sp>
        <p:nvSpPr>
          <p:cNvPr id="406" name="" descr="{&quot;isTemplate&quot;:true,&quot;type&quot;:&quot;text&quot;}"/>
          <p:cNvSpPr txBox="1"/>
          <p:nvPr/>
        </p:nvSpPr>
        <p:spPr>
          <a:xfrm rot="0" flipH="0" flipV="0">
            <a:off x="723900" y="6448425"/>
            <a:ext cx="2447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基于大模型智能体的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AI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教育学习系统</a:t>
            </a:r>
            <a:endParaRPr/>
          </a:p>
        </p:txBody>
      </p:sp>
      <p:sp>
        <p:nvSpPr>
          <p:cNvPr id="407" name="" descr="{&quot;isTemplate&quot;:true,&quot;type&quot;:&quot;text&quot;}"/>
          <p:cNvSpPr txBox="1"/>
          <p:nvPr/>
        </p:nvSpPr>
        <p:spPr>
          <a:xfrm rot="0" flipH="0" flipV="0">
            <a:off x="11010900" y="64484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PingFang SC"/>
                <a:ea typeface="PingFang SC"/>
              </a:rPr>
              <a:t>09 / 10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43" name="" descr="&lt;Slide style={{ width: 1280, height: 720, background: '#FFFFFF', padding: 0, position: 'relative', fontFamily: 'PingFang SC' }}&gt;&#10;&#10;  &lt;Box style={{ position: 'absolute', top: 0, left: 0, width: 1280, height: 64, background: '#1E4FA8' }} /&gt;&#10;  &lt;Text style={{ position: 'absolute', left: 76, top: 21, fontSize: 15, color: '#C9D8EF', letterSpacing: 1 }}&gt;知迹 · 答辩汇报&lt;/Text&gt;&#10;  &lt;Text style={{ position: 'absolute', left: 1010, top: 21, width: 194, textAlign: 'right', fontSize: 15, color: '#C9D8EF' }}&gt;赛道十三 · 智慧教育&lt;/Text&gt;&#10;&#10;  &lt;Box style={{ position: 'absolute', left: 76, top: 92, width: 1128, flexDirection: 'column', alignItems: 'center' }}&gt;&#10;    &lt;Text style={{ fontSize: 104, fontWeight: 'bold', color: '#1E4FA8', lineHeight: 1 }}&gt;3&lt;/Text&gt;&#10;    &lt;Text style={{ fontSize: 19, color: '#1A2230', fontWeight: 'bold', marginTop: 10 }}&gt;项还没做，我不打算留到被问出来&lt;/Text&gt;&#10;    &lt;Text style={{ fontSize: 14.5, color: '#4A5568', marginTop: 8 }}&gt;&#10;      边界写在这里，也写在材料的功能核对表里——标&quot;计划中&quot;，不冒充已完成&#10;    &lt;/Text&gt;&#10;  &lt;/Box&gt;&#10;&#10;  &lt;Box style={{ position: 'absolute', left: 76, top: 320, width: 1128, height: 160, flexDirection: 'row', gap: 30 }}&gt;&#10;&#10;    &lt;Box style={{ width: 356, flexDirection: 'column', background: '#F7F9FC', borderRadius: 8, padding: 18 }}&gt;&#10;      &lt;Text style={{ fontSize: 17, fontWeight: 'bold', color: '#0E3F8C' }}&gt;多用户与数据隔离&lt;/Text&gt;&#10;      &lt;Text style={{ fontSize: 13.5, color: '#4A5568', lineHeight: 1.7, marginTop: 8 }}&gt;&#10;        当前单用户。要做成能交付班级的产品，这是第一件必须补的事——登录、课程归属、数据隔离。&#10;      &lt;/Text&gt;&#10;    &lt;/Box&gt;&#10;&#10;    &lt;Box style={{ width: 356, flexDirection: 'column', background: '#F7F9FC', borderRadius: 8, padding: 18 }}&gt;&#10;      &lt;Text style={{ fontSize: 17, fontWeight: 'bold', color: '#0E3F8C' }}&gt;在线监控聚合面板&lt;/Text&gt;&#10;      &lt;Text style={{ fontSize: 13.5, color: '#4A5568', lineHeight: 1.7, marginTop: 8 }}&gt;&#10;        目前靠 trace 命令行诊断，够开发用；长期运营需要面板把失败率与耗时聚起来。&#10;      &lt;/Text&gt;&#10;    &lt;/Box&gt;&#10;&#10;    &lt;Box style={{ width: 356, flexDirection: 'column', background: '#F7F9FC', borderRadius: 8, padding: 18 }}&gt;&#10;      &lt;Text style={{ fontSize: 17, fontWeight: 'bold', color: '#0E3F8C' }}&gt;Reranker 重排&lt;/Text&gt;&#10;      &lt;Text style={{ fontSize: 13.5, color: '#4A5568', lineHeight: 1.7, marginTop: 8 }}&gt;&#10;        现在四路召回 + RRF 融合已经够用；资料量再上一个量级时，重排才值得引入。&#10;      &lt;/Text&gt;&#10;    &lt;/Box&gt;&#10;&#10;  &lt;/Box&gt;&#10;&#10;  &lt;Box style={{ position: 'absolute', left: 76, top: 508, width: 1128, height: 62, background: '#0E3F8C', borderRadius: 8, justifyContent: 'center', alignItems: 'center' }}&gt;&#10;    &lt;Text style={{ fontSize: 21, fontWeight: 'bold', color: '#FFFFFF', letterSpacing: 1 }}&gt;&#10;      边界说出来，剩下的部分才可信。&#10;    &lt;/Text&gt;&#10;  &lt;/Box&gt;&#10;&#10;  &lt;Box style={{ position: 'absolute', left: 76, top: 592, width: 1128, height: 44, flexDirection: 'row', alignItems: 'center', justifyContent: 'space-between' }}&gt;&#10;    &lt;Text style={{ fontSize: 15, color: '#4A5568' }}&gt;谢谢，欢迎提问&lt;/Text&gt;&#10;    &lt;Text style={{ fontSize: 13, color: '#8B97A8' }}&gt;材料与代码：知迹 · 参赛作品仓库&lt;/Text&gt;&#10;  &lt;/Box&gt;&#10;&#10;  &lt;Box style={{ position: 'absolute', left: 76, bottom: 24, width: 1128, height: 22, flexDirection: 'row', alignItems: 'center', justifyContent: 'space-between' }}&gt;&#10;    &lt;Text style={{ fontSize: 13, color: '#8B97A8' }}&gt;知迹 · 基于大模型智能体的 AI 教育学习系统&lt;/Text&gt;&#10;    &lt;Text style={{ fontSize: 14, fontWeight: 'bold', color: '#0E3F8C' }}&gt;10 / 10&lt;/Text&gt;&#10;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5" name=""/>
          <p:cNvSpPr/>
          <p:nvPr/>
        </p:nvSpPr>
        <p:spPr>
          <a:xfrm rot="0" flipH="0" flipV="0">
            <a:off x="0" y="0"/>
            <a:ext cx="12192000" cy="609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723900" y="200025"/>
            <a:ext cx="1114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知迹</a:t>
            </a:r>
            <a:r>
              <a:rPr lang="en-US" sz="1125" spc="7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答辩汇报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9620250" y="200025"/>
            <a:ext cx="1847850" cy="17145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赛道十三</a:t>
            </a:r>
            <a:r>
              <a:rPr lang="en-US" sz="112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智慧教育</a:t>
            </a:r>
            <a:endParaRPr/>
          </a:p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5800725" y="876300"/>
            <a:ext cx="600075" cy="11906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800" b="1">
                <a:solidFill>
                  <a:srgbClr val="1E4FA8"/>
                </a:solidFill>
                <a:latin typeface="PingFang SC"/>
                <a:ea typeface="PingFang SC"/>
              </a:rPr>
              <a:t>3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4743450" y="2162175"/>
            <a:ext cx="27146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A2230"/>
                </a:solidFill>
                <a:latin typeface="PingFang SC"/>
                <a:ea typeface="PingFang SC"/>
              </a:rPr>
              <a:t>项还没做，我不打算留到被问出来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3829050" y="2457450"/>
            <a:ext cx="4543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边界写在这里，也写在材料的功能核对表里——标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计划中</a:t>
            </a:r>
            <a:r>
              <a:rPr lang="en-US" sz="1088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1088">
                <a:solidFill>
                  <a:srgbClr val="4A5568"/>
                </a:solidFill>
                <a:latin typeface="PingFang SC"/>
                <a:ea typeface="PingFang SC"/>
              </a:rPr>
              <a:t>，不冒充已完成</a:t>
            </a:r>
            <a:endParaRPr/>
          </a:p>
        </p:txBody>
      </p:sp>
      <p:sp>
        <p:nvSpPr>
          <p:cNvPr id="51" name=""/>
          <p:cNvSpPr/>
          <p:nvPr/>
        </p:nvSpPr>
        <p:spPr>
          <a:xfrm rot="0" flipH="0" flipV="0">
            <a:off x="723900" y="3048000"/>
            <a:ext cx="3390900" cy="152400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895350" y="3219450"/>
            <a:ext cx="3048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PingFang SC"/>
                <a:ea typeface="PingFang SC"/>
              </a:rPr>
              <a:t>多用户与数据隔离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895350" y="3495675"/>
            <a:ext cx="30480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当前单用户。要做成能交付班级的产品，这是第一件必须补的事——登录、课程归属、数据隔离。</a:t>
            </a:r>
            <a:endParaRPr/>
          </a:p>
        </p:txBody>
      </p:sp>
      <p:sp>
        <p:nvSpPr>
          <p:cNvPr id="54" name=""/>
          <p:cNvSpPr/>
          <p:nvPr/>
        </p:nvSpPr>
        <p:spPr>
          <a:xfrm rot="0" flipH="0" flipV="0">
            <a:off x="4400550" y="3048000"/>
            <a:ext cx="3390900" cy="152400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4572000" y="3219450"/>
            <a:ext cx="3048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PingFang SC"/>
                <a:ea typeface="PingFang SC"/>
              </a:rPr>
              <a:t>在线监控聚合面板</a:t>
            </a:r>
            <a:endParaRPr/>
          </a:p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4572000" y="3495675"/>
            <a:ext cx="30480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目前靠</a:t>
            </a:r>
            <a:r>
              <a:rPr lang="en-US" sz="1013">
                <a:solidFill>
                  <a:srgbClr val="4A5568"/>
                </a:solidFill>
                <a:latin typeface="PingFang SC"/>
                <a:ea typeface="PingFang SC"/>
              </a:rPr>
              <a:t xml:space="preserve"> trace </a:t>
            </a: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命令行诊断，够开发用；长期运营需要面板把失败率与耗时聚起来。</a:t>
            </a:r>
            <a:endParaRPr/>
          </a:p>
        </p:txBody>
      </p:sp>
      <p:sp>
        <p:nvSpPr>
          <p:cNvPr id="57" name=""/>
          <p:cNvSpPr/>
          <p:nvPr/>
        </p:nvSpPr>
        <p:spPr>
          <a:xfrm rot="0" flipH="0" flipV="0">
            <a:off x="8077200" y="3048000"/>
            <a:ext cx="3390900" cy="152400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8248650" y="3219450"/>
            <a:ext cx="3048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PingFang SC"/>
                <a:ea typeface="PingFang SC"/>
              </a:rPr>
              <a:t xml:space="preserve">Reranker </a:t>
            </a:r>
            <a:r>
              <a:rPr lang="zh-CN" sz="1275" b="1">
                <a:solidFill>
                  <a:srgbClr val="0E3F8C"/>
                </a:solidFill>
                <a:latin typeface="PingFang SC"/>
                <a:ea typeface="PingFang SC"/>
              </a:rPr>
              <a:t>重排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8248650" y="3495675"/>
            <a:ext cx="30480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现在四路召回</a:t>
            </a:r>
            <a:r>
              <a:rPr lang="en-US" sz="1013">
                <a:solidFill>
                  <a:srgbClr val="4A5568"/>
                </a:solidFill>
                <a:latin typeface="PingFang SC"/>
                <a:ea typeface="PingFang SC"/>
              </a:rPr>
              <a:t xml:space="preserve"> + RRF </a:t>
            </a: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融合已经够用；资料量再上一个量级时，重排才值得引入。</a:t>
            </a:r>
            <a:endParaRPr/>
          </a:p>
        </p:txBody>
      </p:sp>
      <p:sp>
        <p:nvSpPr>
          <p:cNvPr id="60" name=""/>
          <p:cNvSpPr/>
          <p:nvPr/>
        </p:nvSpPr>
        <p:spPr>
          <a:xfrm rot="0" flipH="0" flipV="0">
            <a:off x="723900" y="4838700"/>
            <a:ext cx="10744200" cy="590550"/>
          </a:xfrm>
          <a:prstGeom prst="roundRect">
            <a:avLst>
              <a:gd name="adj" fmla="val 12903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4524375" y="5010150"/>
            <a:ext cx="31432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 spc="75">
                <a:solidFill>
                  <a:srgbClr val="FFFFFF"/>
                </a:solidFill>
                <a:latin typeface="PingFang SC"/>
                <a:ea typeface="PingFang SC"/>
              </a:rPr>
              <a:t>边界说出来，剩下的部分才可信。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723900" y="5762625"/>
            <a:ext cx="1000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谢谢，欢迎提问</a:t>
            </a:r>
            <a:endParaRPr/>
          </a:p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9582150" y="5772150"/>
            <a:ext cx="18859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材料与代码：知迹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参赛作品仓库</a:t>
            </a:r>
            <a:endParaRPr/>
          </a:p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723900" y="6448425"/>
            <a:ext cx="2447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基于大模型智能体的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AI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教育学习系统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11039475" y="6448425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PingFang SC"/>
                <a:ea typeface="PingFang SC"/>
              </a:rPr>
              <a:t>10 / 10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2026-10-20T21:30:15Z</dcterms:created>
  <dcterms:modified xsi:type="dcterms:W3CDTF">2026-10-20T21:30:15Z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{"AIGC":{"Label":"1","ContentProducer":"00119111010856365494821B355","ProduceID":"01a1596f50277a54a2a2a419ea96b08e","ReservedCode1":"","ContentPropagator":"00119111010856365494821B355","PropagateID":"01a1596f50277a54a2a2a419ea96b08e","ReservedCode2":""}}</vt:lpwstr>
  </property>
</Properties>
</file>