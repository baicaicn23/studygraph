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  <Override PartName="/ppt/slides/slide7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7" Type="http://schemas.openxmlformats.org/officeDocument/2006/relationships/slide" Target="slides/slide7.xml" /><Relationship Id="rId4" Type="http://schemas.openxmlformats.org/officeDocument/2006/relationships/slide" Target="slides/slide4.xml" /><Relationship Id="rId9" Type="http://schemas.openxmlformats.org/officeDocument/2006/relationships/slide" Target="slides/slide9.xml" /><Relationship Id="rId11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3" Type="http://schemas.openxmlformats.org/officeDocument/2006/relationships/slide" Target="slides/slide3.xml" /><Relationship Id="rId2" Type="http://schemas.openxmlformats.org/officeDocument/2006/relationships/slide" Target="slides/slide2.xml" /><Relationship Id="rId6" Type="http://schemas.openxmlformats.org/officeDocument/2006/relationships/slide" Target="slides/slide6.xml" /><Relationship Id="rId12" Type="http://schemas.openxmlformats.org/officeDocument/2006/relationships/presProps" Target="presProps.xml" /><Relationship Id="rId5" Type="http://schemas.openxmlformats.org/officeDocument/2006/relationships/slide" Target="slides/slide5.xml" /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3" Type="http://schemas.openxmlformats.org/officeDocument/2006/relationships/tableStyles" Target="tableStyles.xml" /><Relationship Id="rId1" Type="http://schemas.openxmlformats.org/officeDocument/2006/relationships/slide" Target="slides/slide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0E3F8C', padding: 0, position: 'relative', overflow: 'hidden', fontFamily: 'PingFang SC' }}&gt;&#10;&#10;  &lt;Box style={{ position: 'absolute', top: 0, left: 0, width: 1280, height: 6, background: '#3D7BD9' }} /&gt;&#10;&#10;  &lt;Box style={{ position: 'relative', zIndex: 2, width: 1280, height: 664, flexDirection: 'column', paddingLeft: 76, paddingRight: 76, paddingTop: 60 }}&gt;&#10;&#10;    &lt;Text style={{ fontSize: 15, color: '#8FB2E0', letterSpacing: 1.2 }}&gt;&#10;      全国大学生数字媒体科技作品及创意竞赛 · 赛道十三 · 智慧教育与智能软件类&#10;    &lt;/Text&gt;&#10;&#10;    &lt;Box style={{ flexDirection: 'row', alignItems: 'flex-end', gap: 26, marginTop: 14 }}&gt;&#10;      &lt;Text style={{ fontSize: 104, fontWeight: 'bold', color: '#FFFFFF', letterSpacing: 8 }}&gt;知迹&lt;/Text&gt;&#10;      &lt;Text style={{ fontSize: 18, color: '#8FB2E0', letterSpacing: 5, paddingBottom: 20 }}&gt;ZHIJI&lt;/Text&gt;&#10;    &lt;/Box&gt;&#10;&#10;    &lt;Box style={{ width: 88, height: 2, background: '#3D7BD9', marginTop: 14 }} /&gt;&#10;&#10;    &lt;Text style={{ fontSize: 34, color: '#FFFFFF', letterSpacing: 0.8, marginTop: 16 }}&gt;&#10;      基于大模型智能体的 AI 教育学习系统&#10;    &lt;/Text&gt;&#10;&#10;    &lt;Text style={{ fontSize: 18, color: '#B9CCE8', lineHeight: 1.6, marginTop: 12 }}&gt;&#10;      把讲义、板书与错题沉淀成学科知识库；期末从库里生成复习材料——每一步都留下可复用的数据。&#10;    &lt;/Text&gt;&#10;&#10;    &lt;Box style={{ position: 'relative', width: 1128, height: 258, marginTop: 18 }}&gt;&#10;&#10;      &lt;Box style={{ position: 'absolute', left: 124, top: 57, width: 152, height: 2, background: '#3D7BD9' }} /&gt;&#10;      &lt;Box style={{ position: 'absolute', left: 364, top: 57, width: 152, height: 2, background: '#3D7BD9' }} /&gt;&#10;      &lt;Box style={{ position: 'absolute', left: 604, top: 57, width: 152, height: 2, background: '#3D7BD9' }} /&gt;&#10;      &lt;Box style={{ position: 'absolute', left: 844, top: 57, width: 152, height: 2, background: '#3D7BD9' }} /&gt;&#10;&#10;      &lt;Box style={{ position: 'absolute', left: 36, top: 14, width: 88, height: 88, borderRadius: 44, background: '#1E4FA8', border: '1.4px solid #6EA0E8', justifyContent: 'center', alignItems: 'center' }}&gt;&#10;        &lt;Text style={{ fontSize: 19, color: '#FFFFFF' }}&gt;资料&lt;/Text&gt;&#10;      &lt;/Box&gt;&#10;      &lt;Box style={{ position: 'absolute', left: 276, top: 14, width: 88, height: 88, borderRadius: 44, background: '#1E4FA8', border: '1.4px solid #6EA0E8', justifyContent: 'center', alignItems: 'center' }}&gt;&#10;        &lt;Text style={{ fontSize: 19, color: '#FFFFFF' }}&gt;检索&lt;/Text&gt;&#10;      &lt;/Box&gt;&#10;      &lt;Box style={{ position: 'absolute', left: 516, top: 14, width: 88, height: 88, borderRadius: 44, background: '#1E4FA8', border: '1.4px solid #6EA0E8', justifyContent: 'center', alignItems: 'center' }}&gt;&#10;        &lt;Text style={{ fontSize: 19, color: '#FFFFFF' }}&gt;出题&lt;/Text&gt;&#10;      &lt;/Box&gt;&#10;      &lt;Box style={{ position: 'absolute', left: 756, top: 14, width: 88, height: 88, borderRadius: 44, background: '#1E4FA8', border: '1.4px solid #6EA0E8', justifyContent: 'center', alignItems: 'center' }}&gt;&#10;        &lt;Text style={{ fontSize: 19, color: '#FFFFFF' }}&gt;复习&lt;/Text&gt;&#10;      &lt;/Box&gt;&#10;      &lt;Box style={{ position: 'absolute', left: 996, top: 14, width: 88, height: 88, borderRadius: 44, background: '#1E4FA8', border: '1.4px solid #6EA0E8', justifyContent: 'center', alignItems: 'center' }}&gt;&#10;        &lt;Text style={{ fontSize: 19, color: '#FFFFFF' }}&gt;掌握度&lt;/Text&gt;&#10;      &lt;/Box&gt;&#10;&#10;      &lt;Text style={{ position: 'absolute', left: 5, top: 120, width: 150, textAlign: 'center', fontSize: 15, color: '#8FB2E0' }}&gt;讲义 · 板书 · 错题&lt;/Text&gt;&#10;      &lt;Text style={{ position: 'absolute', left: 245, top: 120, width: 150, textAlign: 'center', fontSize: 15, color: '#8FB2E0' }}&gt;四路召回 · 带页码&lt;/Text&gt;&#10;      &lt;Text style={{ position: 'absolute', left: 485, top: 120, width: 150, textAlign: 'center', fontSize: 15, color: '#8FB2E0' }}&gt;按错因生成变式题&lt;/Text&gt;&#10;      &lt;Text style={{ position: 'absolute', left: 725, top: 120, width: 150, textAlign: 'center', fontSize: 15, color: '#8FB2E0' }}&gt;自评与间隔重复&lt;/Text&gt;&#10;      &lt;Text style={{ position: 'absolute', left: 965, top: 120, width: 150, textAlign: 'center', fontSize: 15, color: '#8FB2E0' }}&gt;学科掌握度画像&lt;/Text&gt;&#10;&#10;      &lt;Box style={{ position: 'absolute', left: 80, top: 176, width: 960, height: 1, background: '#3D7BD9', opacity: 0.55 }} /&gt;&#10;&#10;      &lt;Text style={{ position: 'absolute', left: 80, top: 192, fontSize: 14, color: '#6E8FBF' }}&gt;沉淀&lt;/Text&gt;&#10;      &lt;Text style={{ position: 'absolute', left: 680, top: 192, width: 360, textAlign: 'right', fontSize: 14, color: '#6E8FBF' }}&gt;回到薄弱学科，继续沉淀&lt;/Text&gt;&#10;&#10;      &lt;Box style={{ position: 'absolute', left: 80, top: 228, width: 960, height: 1, background: '#3D7BD9', opacity: 0.25 }} /&gt;&#10;&#10;    &lt;/Box&gt;&#10;&#10;    &lt;Box style={{ flexDirection: 'row', alignItems: 'center', gap: 18, marginTop: 10 }}&gt;&#10;      &lt;Text style={{ fontSize: 14, color: '#C9D8EF' }}&gt;284 项自动化测试&lt;/Text&gt;&#10;      &lt;Box style={{ width: 1, height: 13, background: '#3D7BD9' }} /&gt;&#10;      &lt;Text style={{ fontSize: 14, color: '#C9D8EF' }}&gt;检索 Hit@3 = 1.0&lt;/Text&gt;&#10;      &lt;Box style={{ width: 1, height: 13, background: '#3D7BD9' }} /&gt;&#10;      &lt;Text style={{ fontSize: 14, color: '#C9D8EF' }}&gt;意图准确率 = 1.0&lt;/Text&gt;&#10;      &lt;Box style={{ width: 1, height: 13, background: '#3D7BD9' }} /&gt;&#10;      &lt;Text style={{ fontSize: 14, color: '#C9D8EF' }}&gt;7 个功能页面&lt;/Text&gt;&#10;    &lt;/Box&gt;&#10;&#10;  &lt;/Box&gt;&#10;&#10;  &lt;Box style={{ position: 'absolute', bottom: 0, left: 0, width: 1280, height: 56, background: 'rgba(255, 255, 255, 0.07)', flexDirection: 'row', alignItems: 'center', justifyContent: 'space-between', paddingLeft: 76, paddingRight: 76 }}&gt;&#10;    &lt;Text style={{ fontSize: 14, color: '#C9D8EF' }}&gt;汇报人：项目团队&lt;/Text&gt;&#10;    &lt;Text style={{ fontSize: 14, color: '#C9D8EF' }}&gt;2026 年 10 月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1066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汇报人：项目团队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0610850" y="6515100"/>
            <a:ext cx="857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2026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年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10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月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23900" y="571500"/>
            <a:ext cx="10744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全国大学生数字媒体科技作品及创意竞赛</a:t>
            </a:r>
            <a:r>
              <a:rPr lang="en-US" sz="1125" spc="90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赛道十三</a:t>
            </a:r>
            <a:r>
              <a:rPr lang="en-US" sz="1125" spc="90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智慧教育与智能软件类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2133600" cy="11906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800" b="1" spc="600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3105150" y="1666875"/>
            <a:ext cx="647700" cy="400050"/>
          </a:xfrm>
          <a:prstGeom prst="rect"/>
        </p:spPr>
        <p:txBody>
          <a:bodyPr wrap="none" lIns="0" tIns="0" rIns="0" bIns="142875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8FB2E0"/>
                </a:solidFill>
                <a:latin typeface="PingFang SC"/>
                <a:ea typeface="PingFang SC"/>
              </a:rPr>
              <a:t>ZHIJI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723900" y="2200275"/>
            <a:ext cx="8382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23900" y="2371725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spc="60">
                <a:solidFill>
                  <a:srgbClr val="FFFFFF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2550" spc="60">
                <a:solidFill>
                  <a:srgbClr val="FFFFFF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2550" spc="60">
                <a:solidFill>
                  <a:srgbClr val="FFFFFF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23900" y="2876550"/>
            <a:ext cx="10744200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B9CCE8"/>
                </a:solidFill>
                <a:latin typeface="PingFang SC"/>
                <a:ea typeface="PingFang SC"/>
              </a:rPr>
              <a:t>把讲义、板书与错题沉淀成学科知识库；期末从库里生成复习材料——每一步都留下可复用的数据。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23900" y="5934075"/>
            <a:ext cx="1085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项自动化测试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1981200" y="5953125"/>
            <a:ext cx="9525" cy="1238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2162175" y="5934075"/>
            <a:ext cx="102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检索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Hit@3 = 1.0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3362325" y="5953125"/>
            <a:ext cx="9525" cy="1238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543300" y="5934075"/>
            <a:ext cx="1009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意图准确率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= 1.0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4724400" y="5953125"/>
            <a:ext cx="9525" cy="1238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4905375" y="5934075"/>
            <a:ext cx="790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7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个功能页面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1905000" y="3924300"/>
            <a:ext cx="14478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1" name=""/>
          <p:cNvSpPr/>
          <p:nvPr/>
        </p:nvSpPr>
        <p:spPr>
          <a:xfrm rot="0" flipH="0" flipV="0">
            <a:off x="4191000" y="3924300"/>
            <a:ext cx="14478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" name=""/>
          <p:cNvSpPr/>
          <p:nvPr/>
        </p:nvSpPr>
        <p:spPr>
          <a:xfrm rot="0" flipH="0" flipV="0">
            <a:off x="6477000" y="3924300"/>
            <a:ext cx="14478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3" name=""/>
          <p:cNvSpPr/>
          <p:nvPr/>
        </p:nvSpPr>
        <p:spPr>
          <a:xfrm rot="0" flipH="0" flipV="0">
            <a:off x="8763000" y="3924300"/>
            <a:ext cx="14478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1066800" y="351472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7780">
            <a:solidFill>
              <a:srgbClr val="6EA0E8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304925" y="3829050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PingFang SC"/>
                <a:ea typeface="PingFang SC"/>
              </a:rPr>
              <a:t>资料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3352800" y="351472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7780">
            <a:solidFill>
              <a:srgbClr val="6EA0E8"/>
            </a:solidFill>
            <a:prstDash val="solid"/>
          </a:ln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3590925" y="3829050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PingFang SC"/>
                <a:ea typeface="PingFang SC"/>
              </a:rPr>
              <a:t>检索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5638800" y="351472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7780">
            <a:solidFill>
              <a:srgbClr val="6EA0E8"/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5876925" y="3829050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PingFang SC"/>
                <a:ea typeface="PingFang SC"/>
              </a:rPr>
              <a:t>出题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7924800" y="351472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7780">
            <a:solidFill>
              <a:srgbClr val="6EA0E8"/>
            </a:solidFill>
            <a:prstDash val="solid"/>
          </a:ln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162925" y="3829050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PingFang SC"/>
                <a:ea typeface="PingFang SC"/>
              </a:rPr>
              <a:t>复习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10210800" y="351472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7780">
            <a:solidFill>
              <a:srgbClr val="6EA0E8"/>
            </a:solidFill>
            <a:prstDash val="solid"/>
          </a:ln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0363200" y="3829050"/>
            <a:ext cx="542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PingFang SC"/>
                <a:ea typeface="PingFang SC"/>
              </a:rPr>
              <a:t>掌握度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71525" y="4524375"/>
            <a:ext cx="14287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讲义</a:t>
            </a:r>
            <a:r>
              <a:rPr lang="en-US" sz="112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板书</a:t>
            </a:r>
            <a:r>
              <a:rPr lang="en-US" sz="112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错题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3057525" y="4524375"/>
            <a:ext cx="14287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四路召回</a:t>
            </a:r>
            <a:r>
              <a:rPr lang="en-US" sz="112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带页码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5343525" y="4524375"/>
            <a:ext cx="14287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按错因生成变式题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629525" y="4524375"/>
            <a:ext cx="14287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自评与间隔重复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9915525" y="4524375"/>
            <a:ext cx="14287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学科掌握度画像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1485900" y="5057775"/>
            <a:ext cx="9144000" cy="9525"/>
          </a:xfrm>
          <a:prstGeom prst="rect">
            <a:avLst/>
          </a:prstGeom>
          <a:solidFill>
            <a:srgbClr val="3D7BD9">
              <a:alpha val="55000"/>
            </a:srgbClr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485900" y="5210175"/>
            <a:ext cx="266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E8FBF"/>
                </a:solidFill>
                <a:latin typeface="PingFang SC"/>
                <a:ea typeface="PingFang SC"/>
              </a:rPr>
              <a:t>沉淀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200900" y="5210175"/>
            <a:ext cx="3429000" cy="1619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050">
                <a:solidFill>
                  <a:srgbClr val="6E8FBF"/>
                </a:solidFill>
                <a:latin typeface="PingFang SC"/>
                <a:ea typeface="PingFang SC"/>
              </a:rPr>
              <a:t>回到薄弱学科，继续沉淀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1485900" y="5553075"/>
            <a:ext cx="9144000" cy="9525"/>
          </a:xfrm>
          <a:prstGeom prst="rect">
            <a:avLst/>
          </a:prstGeom>
          <a:solidFill>
            <a:srgbClr val="3D7BD9">
              <a:alpha val="25000"/>
            </a:srgbClr>
          </a:solidFill>
          <a:ln/>
        </p:spPr>
        <p:txBody>
          <a:bodyPr/>
          <a:p/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6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资料都在，为什么复习时找不到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断点不在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有没有资料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，而在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有没有把资料沉淀下来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这一步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6667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现象</a:t>
            </a:r>
            <a:r>
              <a:rPr lang="en-US" sz="1050" spc="113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断在哪一步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723900" y="2162175"/>
            <a:ext cx="381000" cy="381000"/>
          </a:xfrm>
          <a:prstGeom prst="roundRect">
            <a:avLst>
              <a:gd name="adj" fmla="val 15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876300" y="2247900"/>
            <a:ext cx="76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904875" y="2638425"/>
            <a:ext cx="19050" cy="8191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723900" y="3457575"/>
            <a:ext cx="381000" cy="381000"/>
          </a:xfrm>
          <a:prstGeom prst="roundRect">
            <a:avLst>
              <a:gd name="adj" fmla="val 15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866775" y="3543300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904875" y="3933825"/>
            <a:ext cx="19050" cy="8191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723900" y="4752975"/>
            <a:ext cx="381000" cy="381000"/>
          </a:xfrm>
          <a:prstGeom prst="roundRect">
            <a:avLst>
              <a:gd name="adj" fmla="val 15000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66775" y="4838700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276350" y="2162175"/>
            <a:ext cx="6115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PingFang SC"/>
                <a:ea typeface="PingFang SC"/>
              </a:rPr>
              <a:t>资料散落在三处，各存一份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1276350" y="2486025"/>
            <a:ext cx="61150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课程平台上的作业与课件、聊天工具里的答疑记录、手机拍的纸质板书——三处各有一半，谁也不全。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276350" y="3457575"/>
            <a:ext cx="6115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PingFang SC"/>
                <a:ea typeface="PingFang SC"/>
              </a:rPr>
              <a:t>没有沉淀环节，平时不会主动整理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276350" y="3781425"/>
            <a:ext cx="6115050" cy="2952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打开这类工具的第一件事总是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提问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，而不是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归档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；整理只发生在期末，而期末最缺时间。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276350" y="4752975"/>
            <a:ext cx="6115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D9534F"/>
                </a:solidFill>
                <a:latin typeface="PingFang SC"/>
                <a:ea typeface="PingFang SC"/>
              </a:rPr>
              <a:t>期末只剩一个空库，无题可练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1276350" y="5076825"/>
            <a:ext cx="6115050" cy="2952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既没有成套的资料可查，也没有可练的题；只能重新翻聊天记录，从头把知识再捡一遍。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7848600" y="1809750"/>
            <a:ext cx="3619500" cy="2247900"/>
          </a:xfrm>
          <a:prstGeom prst="roundRect">
            <a:avLst>
              <a:gd name="adj" fmla="val 339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8058150" y="201930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8FB2E0"/>
                </a:solidFill>
                <a:latin typeface="PingFang SC"/>
                <a:ea typeface="PingFang SC"/>
              </a:rPr>
              <a:t>我们的判断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058150" y="2533650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00" b="1">
                <a:solidFill>
                  <a:srgbClr val="FFFFFF"/>
                </a:solidFill>
                <a:latin typeface="PingFang SC"/>
                <a:ea typeface="PingFang SC"/>
              </a:rPr>
              <a:t>缺的不是更聪明的问答，而是把日常碎片自动攒成复习材料的机制。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058150" y="360045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所以知识库要当</a:t>
            </a:r>
            <a:r>
              <a:rPr lang="en-US" sz="1013">
                <a:solidFill>
                  <a:srgbClr val="B9CCE8"/>
                </a:solidFill>
                <a:latin typeface="PingFang SC"/>
                <a:ea typeface="PingFang SC"/>
              </a:rPr>
              <a:t>"</a:t>
            </a: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沉淀罐</a:t>
            </a:r>
            <a:r>
              <a:rPr lang="en-US" sz="1013">
                <a:solidFill>
                  <a:srgbClr val="B9CCE8"/>
                </a:solidFill>
                <a:latin typeface="PingFang SC"/>
                <a:ea typeface="PingFang SC"/>
              </a:rPr>
              <a:t>"</a:t>
            </a: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，不是</a:t>
            </a:r>
            <a:r>
              <a:rPr lang="en-US" sz="1013">
                <a:solidFill>
                  <a:srgbClr val="B9CCE8"/>
                </a:solidFill>
                <a:latin typeface="PingFang SC"/>
                <a:ea typeface="PingFang SC"/>
              </a:rPr>
              <a:t>"</a:t>
            </a: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资料夹</a:t>
            </a:r>
            <a:r>
              <a:rPr lang="en-US" sz="1013">
                <a:solidFill>
                  <a:srgbClr val="B9CCE8"/>
                </a:solidFill>
                <a:latin typeface="PingFang SC"/>
                <a:ea typeface="PingFang SC"/>
              </a:rPr>
              <a:t>"</a:t>
            </a: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848600" y="4267200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PingFang SC"/>
                <a:ea typeface="PingFang SC"/>
              </a:rPr>
              <a:t>三处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8553450" y="4267200"/>
            <a:ext cx="2857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课程平台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聊天工具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纸质讲义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7848600" y="467677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PingFang SC"/>
                <a:ea typeface="PingFang SC"/>
              </a:rPr>
              <a:t>缺失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8553450" y="4676775"/>
            <a:ext cx="2857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平时把资料变成可检索片段的那一步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7848600" y="5086350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PingFang SC"/>
                <a:ea typeface="PingFang SC"/>
              </a:rPr>
              <a:t>结果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8553450" y="5086350"/>
            <a:ext cx="2857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期末有资料、没有可练的题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02 / 10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一条五步闭环，每一步都留下数据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闭环的关键不是步骤多，而是每一环都往库里留东西——下一轮从这些东西开始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2190750" y="2371725"/>
            <a:ext cx="1162050" cy="190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4381500" y="2371725"/>
            <a:ext cx="1162050" cy="190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6572250" y="2371725"/>
            <a:ext cx="1162050" cy="190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8763000" y="2371725"/>
            <a:ext cx="1162050" cy="190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1162050" y="1866900"/>
            <a:ext cx="1028700" cy="1028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 w="1778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485900" y="22669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PingFang SC"/>
                <a:ea typeface="PingFang SC"/>
              </a:rPr>
              <a:t>资料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3352800" y="1866900"/>
            <a:ext cx="1028700" cy="1028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 w="1778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3676650" y="22669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PingFang SC"/>
                <a:ea typeface="PingFang SC"/>
              </a:rPr>
              <a:t>检索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5543550" y="1866900"/>
            <a:ext cx="1028700" cy="1028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778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867400" y="22669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PingFang SC"/>
                <a:ea typeface="PingFang SC"/>
              </a:rPr>
              <a:t>出题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7734300" y="1866900"/>
            <a:ext cx="1028700" cy="1028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 w="1778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058150" y="22669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PingFang SC"/>
                <a:ea typeface="PingFang SC"/>
              </a:rPr>
              <a:t>复习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9925050" y="1866900"/>
            <a:ext cx="1028700" cy="1028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 w="1778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201275" y="2286000"/>
            <a:ext cx="485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掌握度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866775" y="2990850"/>
            <a:ext cx="1619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多格式资料入库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66775" y="3219450"/>
            <a:ext cx="16192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片段</a:t>
            </a:r>
            <a:r>
              <a:rPr lang="en-US" sz="1013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页码</a:t>
            </a:r>
            <a:r>
              <a:rPr lang="en-US" sz="1013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出处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057525" y="2990850"/>
            <a:ext cx="1619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四路召回融合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3057525" y="3219450"/>
            <a:ext cx="16192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命中片段</a:t>
            </a:r>
            <a:r>
              <a:rPr lang="en-US" sz="1013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引用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248275" y="2990850"/>
            <a:ext cx="1619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按错因出变式题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5248275" y="3219450"/>
            <a:ext cx="16192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题干</a:t>
            </a:r>
            <a:r>
              <a:rPr lang="en-US" sz="1013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参考答案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7439025" y="2990850"/>
            <a:ext cx="1619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作答与四档自评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7439025" y="3219450"/>
            <a:ext cx="16192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自评</a:t>
            </a:r>
            <a:r>
              <a:rPr lang="en-US" sz="1013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下次复习时间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9629775" y="2990850"/>
            <a:ext cx="1619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学科掌握度画像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9629775" y="3219450"/>
            <a:ext cx="16192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掌握度</a:t>
            </a:r>
            <a:r>
              <a:rPr lang="en-US" sz="1013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薄弱学科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723900" y="3543300"/>
            <a:ext cx="10744200" cy="438150"/>
          </a:xfrm>
          <a:prstGeom prst="roundRect">
            <a:avLst>
              <a:gd name="adj" fmla="val 13043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3838575" y="3676650"/>
            <a:ext cx="452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E4FA8"/>
                </a:solidFill>
                <a:latin typeface="PingFang SC"/>
                <a:ea typeface="PingFang SC"/>
              </a:rPr>
              <a:t>掌握度回到薄弱学科，下一轮从薄弱处开始</a:t>
            </a:r>
            <a:r>
              <a:rPr lang="en-US" sz="1125">
                <a:solidFill>
                  <a:srgbClr val="1E4FA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125">
                <a:solidFill>
                  <a:srgbClr val="1E4FA8"/>
                </a:solidFill>
                <a:latin typeface="PingFang SC"/>
                <a:ea typeface="PingFang SC"/>
              </a:rPr>
              <a:t>这就是闭环成立的地方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723900" y="4343400"/>
            <a:ext cx="10744200" cy="1905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990600" y="4867275"/>
            <a:ext cx="3048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产物落库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990600" y="5153025"/>
            <a:ext cx="30480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每次检索留下带页码的片段，每次出题留下题干与详解，每次自评留下排期与掌握度。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4248150" y="4800600"/>
            <a:ext cx="9525" cy="99060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4467225" y="4867275"/>
            <a:ext cx="3048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产物可复用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4467225" y="5153025"/>
            <a:ext cx="30480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片段能再被检索，题能再派变式题，排期能按自评重排——旧数据一直有用。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7724775" y="4800600"/>
            <a:ext cx="9525" cy="99060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7943850" y="4867275"/>
            <a:ext cx="3048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复用降成本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7943850" y="5153025"/>
            <a:ext cx="30480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第二轮复习不必从零开始，只补薄弱处；时间花在不会的地方，而不是抄一遍笔记。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03 / 10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四层依赖只朝内，一个回合画成图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架构决定可维护性，状态图决定可解释性——这两件事都要能指着图讲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647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分层</a:t>
            </a:r>
            <a:r>
              <a:rPr lang="en-US" sz="1050" spc="113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依赖只朝内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762000" y="2105025"/>
            <a:ext cx="6438900" cy="552450"/>
          </a:xfrm>
          <a:prstGeom prst="roundRect">
            <a:avLst>
              <a:gd name="adj" fmla="val 10345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762000" y="2105025"/>
            <a:ext cx="6438900" cy="552450"/>
          </a:xfrm>
          <a:custGeom>
            <a:pathLst>
              <a:path w="676" h="58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56"/>
                </a:lnTo>
                <a:cubicBezTo>
                  <a:pt x="4" y="57"/>
                  <a:pt x="5" y="58"/>
                  <a:pt x="6" y="58"/>
                </a:cubicBezTo>
                <a:cubicBezTo>
                  <a:pt x="3" y="58"/>
                  <a:pt x="0" y="55"/>
                  <a:pt x="0" y="52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914400" y="229552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interfaces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2076450" y="2305050"/>
            <a:ext cx="4953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FastAPI + SSE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接口层（组合根，依赖全部）</a:t>
            </a:r>
            <a:endParaRPr/>
          </a:p>
        </p:txBody>
      </p:sp>
      <p:sp>
        <p:nvSpPr>
          <p:cNvPr id="156" name=""/>
          <p:cNvSpPr/>
          <p:nvPr/>
        </p:nvSpPr>
        <p:spPr>
          <a:xfrm rot="0" flipH="0" flipV="0">
            <a:off x="762000" y="2733675"/>
            <a:ext cx="5867400" cy="552450"/>
          </a:xfrm>
          <a:prstGeom prst="roundRect">
            <a:avLst>
              <a:gd name="adj" fmla="val 10345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762000" y="2733675"/>
            <a:ext cx="5867400" cy="552450"/>
          </a:xfrm>
          <a:custGeom>
            <a:pathLst>
              <a:path w="616" h="58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56"/>
                </a:lnTo>
                <a:cubicBezTo>
                  <a:pt x="4" y="57"/>
                  <a:pt x="5" y="58"/>
                  <a:pt x="6" y="58"/>
                </a:cubicBezTo>
                <a:cubicBezTo>
                  <a:pt x="3" y="58"/>
                  <a:pt x="0" y="55"/>
                  <a:pt x="0" y="52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914400" y="292417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application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2076450" y="2933700"/>
            <a:ext cx="438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用例编排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端口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Protocol · LangGraph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图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762000" y="3362325"/>
            <a:ext cx="5295900" cy="552450"/>
          </a:xfrm>
          <a:prstGeom prst="roundRect">
            <a:avLst>
              <a:gd name="adj" fmla="val 10345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762000" y="3362325"/>
            <a:ext cx="5295900" cy="552450"/>
          </a:xfrm>
          <a:custGeom>
            <a:pathLst>
              <a:path w="556" h="58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56"/>
                </a:lnTo>
                <a:cubicBezTo>
                  <a:pt x="4" y="57"/>
                  <a:pt x="5" y="58"/>
                  <a:pt x="6" y="58"/>
                </a:cubicBezTo>
                <a:cubicBezTo>
                  <a:pt x="3" y="58"/>
                  <a:pt x="0" y="55"/>
                  <a:pt x="0" y="52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914400" y="355282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domain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2076450" y="3562350"/>
            <a:ext cx="3810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纯函数：路由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切块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· RRF ·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排期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护栏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762000" y="3990975"/>
            <a:ext cx="4724400" cy="552450"/>
          </a:xfrm>
          <a:prstGeom prst="roundRect">
            <a:avLst>
              <a:gd name="adj" fmla="val 10345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762000" y="3990975"/>
            <a:ext cx="4724400" cy="552450"/>
          </a:xfrm>
          <a:custGeom>
            <a:pathLst>
              <a:path w="496" h="58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56"/>
                </a:lnTo>
                <a:cubicBezTo>
                  <a:pt x="4" y="57"/>
                  <a:pt x="5" y="58"/>
                  <a:pt x="6" y="58"/>
                </a:cubicBezTo>
                <a:cubicBezTo>
                  <a:pt x="3" y="58"/>
                  <a:pt x="0" y="55"/>
                  <a:pt x="0" y="52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914400" y="418147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PingFang SC"/>
                <a:ea typeface="PingFang SC"/>
              </a:rPr>
              <a:t>infrastructure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2076450" y="4191000"/>
            <a:ext cx="3238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SQLite · LLM · Embedding ·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文件解析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723900" y="4714875"/>
            <a:ext cx="647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回合</a:t>
            </a:r>
            <a:r>
              <a:rPr lang="en-US" sz="1050" spc="113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显式状态图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723900" y="5010150"/>
            <a:ext cx="7620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76300" y="5267325"/>
            <a:ext cx="46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PingFang SC"/>
                <a:ea typeface="PingFang SC"/>
              </a:rPr>
              <a:t>START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66775" y="57531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用户提问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1485900" y="5448300"/>
            <a:ext cx="32385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1809750" y="5010150"/>
            <a:ext cx="762000" cy="685800"/>
          </a:xfrm>
          <a:prstGeom prst="roundRect">
            <a:avLst>
              <a:gd name="adj" fmla="val 8333"/>
            </a:avLst>
          </a:prstGeom>
          <a:solidFill>
            <a:srgbClr val="E8EFF8"/>
          </a:solidFill>
          <a:ln w="1778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2009775" y="5267325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>route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1952625" y="57531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意图路由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2571750" y="5448300"/>
            <a:ext cx="32385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2895600" y="5010150"/>
            <a:ext cx="762000" cy="685800"/>
          </a:xfrm>
          <a:prstGeom prst="roundRect">
            <a:avLst>
              <a:gd name="adj" fmla="val 8333"/>
            </a:avLst>
          </a:prstGeom>
          <a:solidFill>
            <a:srgbClr val="E8EFF8"/>
          </a:solidFill>
          <a:ln w="1778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3133725" y="5267325"/>
            <a:ext cx="29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>plan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2981325" y="5753100"/>
            <a:ext cx="600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复杂才规划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3657600" y="5448300"/>
            <a:ext cx="32385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3981450" y="5010150"/>
            <a:ext cx="762000" cy="685800"/>
          </a:xfrm>
          <a:prstGeom prst="roundRect">
            <a:avLst>
              <a:gd name="adj" fmla="val 8333"/>
            </a:avLst>
          </a:prstGeom>
          <a:solidFill>
            <a:srgbClr val="1E4FA8"/>
          </a:solidFill>
          <a:ln w="1778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4171950" y="5267325"/>
            <a:ext cx="390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agent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4124325" y="57531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模型推理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4743450" y="5448300"/>
            <a:ext cx="32385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85" name=""/>
          <p:cNvSpPr/>
          <p:nvPr/>
        </p:nvSpPr>
        <p:spPr>
          <a:xfrm rot="0" flipH="0" flipV="0">
            <a:off x="5067300" y="5010150"/>
            <a:ext cx="762000" cy="685800"/>
          </a:xfrm>
          <a:prstGeom prst="roundRect">
            <a:avLst>
              <a:gd name="adj" fmla="val 8333"/>
            </a:avLst>
          </a:prstGeom>
          <a:solidFill>
            <a:srgbClr val="F0F5FC"/>
          </a:solidFill>
          <a:ln w="1778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276850" y="52673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tools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210175" y="57531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工具循环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5829300" y="5448300"/>
            <a:ext cx="32385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6153150" y="5010150"/>
            <a:ext cx="7620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381750" y="5267325"/>
            <a:ext cx="30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PingFang SC"/>
                <a:ea typeface="PingFang SC"/>
              </a:rPr>
              <a:t>END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296025" y="57531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回答落库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7620000" y="1809750"/>
            <a:ext cx="3848100" cy="1352550"/>
          </a:xfrm>
          <a:prstGeom prst="roundRect">
            <a:avLst>
              <a:gd name="adj" fmla="val 5634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7791450" y="1981200"/>
            <a:ext cx="3505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为什么分四层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7791450" y="2257425"/>
            <a:ext cx="3505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domain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只依赖标准库，检索权重与排期规则能在没有网络、没有模型的情况下被单元测试。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7620000" y="3314700"/>
            <a:ext cx="3848100" cy="1352550"/>
          </a:xfrm>
          <a:prstGeom prst="roundRect">
            <a:avLst>
              <a:gd name="adj" fmla="val 5634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7791450" y="3486150"/>
            <a:ext cx="3505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为什么画成图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7791450" y="3762375"/>
            <a:ext cx="3505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状态图让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这一步在做什么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可以被指着讲；每个节点有检查点，能断点续跑，也能在写操作前暂停等人确认。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7620000" y="4819650"/>
            <a:ext cx="3848100" cy="1352550"/>
          </a:xfrm>
          <a:prstGeom prst="roundRect">
            <a:avLst>
              <a:gd name="adj" fmla="val 5634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7791450" y="4991100"/>
            <a:ext cx="3505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所以它可被审阅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791450" y="5267325"/>
            <a:ext cx="3505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流程、分支与中断点都在图里，不在某个函数的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if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里——这是可解释性的前提，不是装饰。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04 / 10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六个功能，一条主线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不是并列的功能清单——每一个都在把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今天的碎片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变成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期末能练的题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2819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主线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723900" y="2085975"/>
            <a:ext cx="2819400" cy="4000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沉淀</a:t>
            </a:r>
            <a:r>
              <a:rPr lang="en-US" sz="1800" b="1">
                <a:solidFill>
                  <a:srgbClr val="0E3F8C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复习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723900" y="2581275"/>
            <a:ext cx="281940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所有功能都服务这一个方向；没有一个是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顺便加的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723900" y="3371850"/>
            <a:ext cx="2838450" cy="438150"/>
          </a:xfrm>
          <a:custGeom>
            <a:pathLst>
              <a:path w="298" h="46">
                <a:moveTo>
                  <a:pt x="0" y="0"/>
                </a:moveTo>
                <a:lnTo>
                  <a:pt x="2" y="0"/>
                </a:lnTo>
                <a:lnTo>
                  <a:pt x="2" y="46"/>
                </a:lnTo>
                <a:lnTo>
                  <a:pt x="0" y="46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57250" y="3371850"/>
            <a:ext cx="2686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PingFang SC"/>
                <a:ea typeface="PingFang SC"/>
              </a:rPr>
              <a:t>资料</a:t>
            </a:r>
            <a:r>
              <a:rPr lang="en-US" sz="1050" b="1">
                <a:solidFill>
                  <a:srgbClr val="1A2230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50" b="1">
                <a:solidFill>
                  <a:srgbClr val="1A2230"/>
                </a:solidFill>
                <a:latin typeface="PingFang SC"/>
                <a:ea typeface="PingFang SC"/>
              </a:rPr>
              <a:t>片段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857250" y="3571875"/>
            <a:ext cx="268605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秒传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懒解析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按页切块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723900" y="3962400"/>
            <a:ext cx="2838450" cy="438150"/>
          </a:xfrm>
          <a:custGeom>
            <a:pathLst>
              <a:path w="298" h="46">
                <a:moveTo>
                  <a:pt x="0" y="0"/>
                </a:moveTo>
                <a:lnTo>
                  <a:pt x="2" y="0"/>
                </a:lnTo>
                <a:lnTo>
                  <a:pt x="2" y="46"/>
                </a:lnTo>
                <a:lnTo>
                  <a:pt x="0" y="46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857250" y="3962400"/>
            <a:ext cx="2686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PingFang SC"/>
                <a:ea typeface="PingFang SC"/>
              </a:rPr>
              <a:t>片段</a:t>
            </a:r>
            <a:r>
              <a:rPr lang="en-US" sz="1050" b="1">
                <a:solidFill>
                  <a:srgbClr val="1A2230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50" b="1">
                <a:solidFill>
                  <a:srgbClr val="1A2230"/>
                </a:solidFill>
                <a:latin typeface="PingFang SC"/>
                <a:ea typeface="PingFang SC"/>
              </a:rPr>
              <a:t>题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857250" y="4162425"/>
            <a:ext cx="268605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错因驱动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变式题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详解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723900" y="4552950"/>
            <a:ext cx="2838450" cy="438150"/>
          </a:xfrm>
          <a:custGeom>
            <a:pathLst>
              <a:path w="298" h="46">
                <a:moveTo>
                  <a:pt x="0" y="0"/>
                </a:moveTo>
                <a:lnTo>
                  <a:pt x="2" y="0"/>
                </a:lnTo>
                <a:lnTo>
                  <a:pt x="2" y="46"/>
                </a:lnTo>
                <a:lnTo>
                  <a:pt x="0" y="46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57250" y="4552950"/>
            <a:ext cx="2686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PingFang SC"/>
                <a:ea typeface="PingFang SC"/>
              </a:rPr>
              <a:t>题</a:t>
            </a:r>
            <a:r>
              <a:rPr lang="en-US" sz="1050" b="1">
                <a:solidFill>
                  <a:srgbClr val="1A2230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50" b="1">
                <a:solidFill>
                  <a:srgbClr val="1A2230"/>
                </a:solidFill>
                <a:latin typeface="PingFang SC"/>
                <a:ea typeface="PingFang SC"/>
              </a:rPr>
              <a:t>掌握度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57250" y="4752975"/>
            <a:ext cx="268605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自评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间隔重复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薄弱学科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723900" y="5181600"/>
            <a:ext cx="2819400" cy="7620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857250" y="5314950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PingFang SC"/>
                <a:ea typeface="PingFang SC"/>
              </a:rPr>
              <a:t>7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028700" y="5343525"/>
            <a:ext cx="619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个功能页面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857250" y="5600700"/>
            <a:ext cx="76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009650" y="5629275"/>
            <a:ext cx="15906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个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SQLite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文件承载全部数据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3924300" y="1809750"/>
            <a:ext cx="7543800" cy="609600"/>
          </a:xfrm>
          <a:prstGeom prst="roundRect">
            <a:avLst>
              <a:gd name="adj" fmla="val 9375"/>
            </a:avLst>
          </a:prstGeom>
          <a:solidFill>
            <a:srgbClr val="F9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4057650" y="196215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4181475" y="2028825"/>
            <a:ext cx="66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495800" y="2019300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多格式资料入库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477000" y="2028825"/>
            <a:ext cx="476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PDF / Word / PPT / Excel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秒传，解析后按页切块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924300" y="2495550"/>
            <a:ext cx="754380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4057650" y="264795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4171950" y="27146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4495800" y="2705100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溯源问答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477000" y="2714625"/>
            <a:ext cx="476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四路召回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+ RRF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融合，回答标注出自哪份资料哪一页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3924300" y="3181350"/>
            <a:ext cx="7543800" cy="609600"/>
          </a:xfrm>
          <a:prstGeom prst="roundRect">
            <a:avLst>
              <a:gd name="adj" fmla="val 9375"/>
            </a:avLst>
          </a:prstGeom>
          <a:solidFill>
            <a:srgbClr val="F9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4057650" y="333375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4171950" y="34004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495800" y="3390900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图片板书入库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6477000" y="3400425"/>
            <a:ext cx="476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拍照的板书由多模态模型转写成文字后入库，可被检索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3924300" y="3867150"/>
            <a:ext cx="754380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4057650" y="401955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171950" y="40862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4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495800" y="4076700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错题按类型归档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477000" y="4086225"/>
            <a:ext cx="476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概念混淆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步骤遗漏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条件误读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计算失误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表述不清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924300" y="4552950"/>
            <a:ext cx="7543800" cy="609600"/>
          </a:xfrm>
          <a:prstGeom prst="roundRect">
            <a:avLst>
              <a:gd name="adj" fmla="val 9375"/>
            </a:avLst>
          </a:prstGeom>
          <a:solidFill>
            <a:srgbClr val="F9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4057650" y="470535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4171950" y="4772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5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495800" y="4762500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变式题与详解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477000" y="4772025"/>
            <a:ext cx="476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由错因生成新题，作答后可看参考答案与关键步骤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3924300" y="5238750"/>
            <a:ext cx="754380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4057650" y="539115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4171950" y="54578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6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4495800" y="5448300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今日复习与日程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477000" y="5457825"/>
            <a:ext cx="476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到期题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薄弱学科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近期误区，再加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什么时候做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3924300" y="5943600"/>
            <a:ext cx="7543800" cy="3429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4076700" y="6029325"/>
            <a:ext cx="4562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六项功能共用一套数据：片段、题、掌握度——不是六个各自为政的小工具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05 / 10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61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6, width: 1128 }}&gt;&#10;    &lt;Text style={{ fontSize: 34, fontWeight: 'bold', color: '#0E3F8C' }}&gt;三条承诺，写在执行层而不是提示词里&lt;/Text&gt;&#10;    &lt;Text style={{ fontSize: 16, color: '#4A5568', marginTop: 10 }}&gt;最小权限、人在环、可评测——每一条都能指出对应的代码位置，而不是一句口号&lt;/Text&gt;&#10;  &lt;/Box&gt;&#10;&#10;  &lt;Box style={{ position: 'absolute', left: 76, top: 196, width: 648, height: 458, flexDirection: 'column' }}&gt;&#10;&#10;    &lt;Box style={{ flexDirection: 'column', height: 146 }}&gt;&#10;      &lt;Box style={{ flexDirection: 'row', alignItems: 'center', gap: 10 }}&gt;&#10;        &lt;Box style={{ width: 26, height: 26, borderRadius: 5, background: '#1E4FA8', justifyContent: 'center', alignItems: 'center' }}&gt;&#10;          &lt;Text style={{ fontSize: 13, fontWeight: 'bold', color: '#FFFFFF' }}&gt;1&lt;/Text&gt;&#10;        &lt;/Box&gt;&#10;        &lt;Text style={{ fontSize: 19, fontWeight: 'bold', color: '#1A2230' }}&gt;工具最小权限，做两层&lt;/Text&gt;&#10;      &lt;/Box&gt;&#10;      &lt;Text style={{ fontSize: 14.5, color: '#4A5568', lineHeight: 1.75, marginTop: 10 }}&gt;&#10;        schema 层决定&quot;模型看得见哪些工具&quot;，执行层再决定&quot;能不能真的跑&quot;：练习 agent 只读、进度 agent 无工具、写操作一律拒绝。&#10;      &lt;/Text&gt;&#10;      &lt;Text style={{ fontSize: 13.5, color: '#8B97A8', lineHeight: 1.7, marginTop: 6 }}&gt;&#10;        只做一层都会失效：模型会反复尝试，或说出被禁工具名后失败。&#10;      &lt;/Text&gt;&#10;    &lt;/Box&gt;&#10;&#10;    &lt;Box style={{ flexDirection: 'column', height: 146, marginTop: 10 }}&gt;&#10;      &lt;Box style={{ flexDirection: 'row', alignItems: 'center', gap: 10 }}&gt;&#10;        &lt;Box style={{ width: 26, height: 26, borderRadius: 5, background: '#1E4FA8', justifyContent: 'center', alignItems: 'center' }}&gt;&#10;          &lt;Text style={{ fontSize: 13, fontWeight: 'bold', color: '#FFFFFF' }}&gt;2&lt;/Text&gt;&#10;        &lt;/Box&gt;&#10;        &lt;Text style={{ fontSize: 19, fontWeight: 'bold', color: '#1A2230' }}&gt;人在环：写操作先暂停&lt;/Text&gt;&#10;      &lt;/Box&gt;&#10;      &lt;Text style={{ fontSize: 14.5, color: '#4A5568', lineHeight: 1.75, marginTop: 10 }}&gt;&#10;        模型要落库时，图在 interrupt 节点暂停；用户点确认后用 Command 从检查点恢复，才真正写入&quot;记住 / 错题&quot;这类数据。&#10;      &lt;/Text&gt;&#10;      &lt;Text style={{ fontSize: 13.5, color: '#8B97A8', lineHeight: 1.7, marginTop: 6 }}&gt;&#10;        不确认就不恢复，流程结构上保证不落库。&#10;      &lt;/Text&gt;&#10;    &lt;/Box&gt;&#10;&#10;    &lt;Box style={{ flexDirection: 'column', height: 146, marginTop: 10 }}&gt;&#10;      &lt;Box style={{ flexDirection: 'row', alignItems: 'center', gap: 10 }}&gt;&#10;        &lt;Box style={{ width: 26, height: 26, borderRadius: 5, background: '#1E4FA8', justifyContent: 'center', alignItems: 'center' }}&gt;&#10;          &lt;Text style={{ fontSize: 13, fontWeight: 'bold', color: '#FFFFFF' }}&gt;3&lt;/Text&gt;&#10;        &lt;/Box&gt;&#10;        &lt;Text style={{ fontSize: 19, fontWeight: 'bold', color: '#1A2230' }}&gt;可评测：有考卷也有门禁&lt;/Text&gt;&#10;      &lt;/Box&gt;&#10;      &lt;Text style={{ fontSize: 14.5, color: '#4A5568', lineHeight: 1.75, marginTop: 10 }}&gt;&#10;        检索 35 题、意图 15 句，各有固定考卷与基线 JSON；改动后重跑，掉出容差命令即返回非零，可直接进 CI。&#10;      &lt;/Text&gt;&#10;      &lt;Text style={{ fontSize: 13.5, color: '#8B97A8', lineHeight: 1.7, marginTop: 6 }}&gt;&#10;        把靠感觉判断，变成靠数字判断。&#10;      &lt;/Text&gt;&#10;    &lt;/Box&gt;&#10;&#10;  &lt;/Box&gt;&#10;&#10;  &lt;Box style={{ position: 'absolute', left: 764, top: 196, width: 440, height: 458, flexDirection: 'column' }}&gt;&#10;&#10;    &lt;Box style={{ background: '#0E3F8C', borderRadius: 8, padding: 22, height: 200, flexDirection: 'column', justifyContent: 'space-between' }}&gt;&#10;      &lt;Text style={{ fontSize: 14, color: '#8FB2E0', letterSpacing: 1.5 }}&gt;为什么值得讲&lt;/Text&gt;&#10;      &lt;Text style={{ fontSize: 19, fontWeight: 'bold', color: '#FFFFFF', lineHeight: 1.55 }}&gt;&#10;        这三条是&quot;产品承诺&quot;，因为它们在执行层强制，而不是写在提示词里。&#10;      &lt;/Text&gt;&#10;      &lt;Text style={{ fontSize: 13.5, color: '#B9CCE8', lineHeight: 1.6 }}&gt;&#10;        提示词可以被绕过，代码路径不能。&#10;      &lt;/Text&gt;&#10;    &lt;/Box&gt;&#10;&#10;    &lt;Box style={{ flexDirection: 'column', marginTop: 16, gap: 12 }}&gt;&#10;&#10;      &lt;Box style={{ flexDirection: 'column', borderLeft: '2px solid #3D7BD9', paddingLeft: 12 }}&gt;&#10;        &lt;Text style={{ fontSize: 14.5, fontWeight: 'bold', color: '#1A2230' }}&gt;权限&lt;/Text&gt;&#10;        &lt;Text style={{ fontSize: 13.5, color: '#4A5568', lineHeight: 1.65, marginTop: 4 }}&gt;角色 → 可见工具 → 是否放行，三列可查&lt;/Text&gt;&#10;      &lt;/Box&gt;&#10;&#10;      &lt;Box style={{ flexDirection: 'column', borderLeft: '2px solid #3D7BD9', paddingLeft: 12 }}&gt;&#10;        &lt;Text style={{ fontSize: 14.5, fontWeight: 'bold', color: '#1A2230' }}&gt;中断&lt;/Text&gt;&#10;        &lt;Text style={{ fontSize: 13.5, color: '#4A5568', lineHeight: 1.65, marginTop: 4 }}&gt;图里的节点，能在回合过程中停下等人&lt;/Text&gt;&#10;      &lt;/Box&gt;&#10;&#10;      &lt;Box style={{ flexDirection: 'column', borderLeft: '2px solid #3D7BD9', paddingLeft: 12 }}&gt;&#10;        &lt;Text style={{ fontSize: 14.5, fontWeight: 'bold', color: '#1A2230' }}&gt;门禁&lt;/Text&gt;&#10;        &lt;Text style={{ fontSize: 13.5, color: '#4A5568', lineHeight: 1.65, marginTop: 4 }}&gt;两份 JSON 基线，掉分即失败，不是看一眼&lt;/Text&gt;&#10;      &lt;/Box&gt;&#10;&#10;      &lt;Box style={{ flexDirection: 'column', borderLeft: '2px solid #3D7BD9', paddingLeft: 12 }}&gt;&#10;        &lt;Text style={{ fontSize: 14.5, fontWeight: 'bold', color: '#1A2230' }}&gt;痕迹&lt;/Text&gt;&#10;        &lt;Text style={{ fontSize: 13.5, color: '#4A5568', lineHeight: 1.65, marginTop: 4 }}&gt;每个回合有 trace，失败可归因到具体环节&lt;/Text&gt;&#10;      &lt;/Box&gt;&#10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6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3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三条承诺，写在执行层而不是提示词里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最小权限、人在环、可评测——每一条都能指出对应的代码位置，而不是一句口号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723900" y="186690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819150" y="1914525"/>
            <a:ext cx="57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066800" y="1885950"/>
            <a:ext cx="180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PingFang SC"/>
                <a:ea typeface="PingFang SC"/>
              </a:rPr>
              <a:t>工具最小权限，做两层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723900" y="2209800"/>
            <a:ext cx="617220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schema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层决定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模型看得见哪些工具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，执行层再决定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能不能真的跑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：练习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只读、进度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无工具、写操作一律拒绝。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23900" y="2847975"/>
            <a:ext cx="6172200" cy="2667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只做一层都会失效：模型会反复尝试，或说出被禁工具名后失败。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723900" y="335280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09625" y="34004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066800" y="3371850"/>
            <a:ext cx="180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PingFang SC"/>
                <a:ea typeface="PingFang SC"/>
              </a:rPr>
              <a:t>人在环：写操作先暂停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723900" y="3695700"/>
            <a:ext cx="617220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模型要落库时，图在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interrupt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节点暂停；用户点确认后用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Command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从检查点恢复，才真正写入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记住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错题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这类数据。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723900" y="4333875"/>
            <a:ext cx="6172200" cy="2667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不确认就不恢复，流程结构上保证不落库。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723900" y="483870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809625" y="48863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066800" y="4857750"/>
            <a:ext cx="1990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PingFang SC"/>
                <a:ea typeface="PingFang SC"/>
              </a:rPr>
              <a:t>可评测：有考卷也有门禁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723900" y="5181600"/>
            <a:ext cx="617220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检索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35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题、意图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15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句，各有固定考卷与基线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JSON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；改动后重跑，掉出容差命令即返回非零，可直接进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CI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23900" y="5819775"/>
            <a:ext cx="6172200" cy="2667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把靠感觉判断，变成靠数字判断。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7277100" y="1866900"/>
            <a:ext cx="4191000" cy="1905000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486650" y="2076450"/>
            <a:ext cx="3771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8FB2E0"/>
                </a:solidFill>
                <a:latin typeface="PingFang SC"/>
                <a:ea typeface="PingFang SC"/>
              </a:rPr>
              <a:t>为什么值得讲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486650" y="2438400"/>
            <a:ext cx="377190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这三条是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"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产品承诺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"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，因为它们在执行层强制，而不是写在提示词里。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486650" y="3314700"/>
            <a:ext cx="3771900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提示词可以被绕过，代码路径不能。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7277100" y="3924300"/>
            <a:ext cx="4210050" cy="466725"/>
          </a:xfrm>
          <a:custGeom>
            <a:pathLst>
              <a:path w="442" h="49">
                <a:moveTo>
                  <a:pt x="0" y="0"/>
                </a:moveTo>
                <a:lnTo>
                  <a:pt x="2" y="0"/>
                </a:lnTo>
                <a:lnTo>
                  <a:pt x="2" y="49"/>
                </a:lnTo>
                <a:lnTo>
                  <a:pt x="0" y="49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7410450" y="3924300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权限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7410450" y="4133850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角色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可见工具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是否放行，三列可查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7277100" y="4505325"/>
            <a:ext cx="4210050" cy="466725"/>
          </a:xfrm>
          <a:custGeom>
            <a:pathLst>
              <a:path w="442" h="49">
                <a:moveTo>
                  <a:pt x="0" y="0"/>
                </a:moveTo>
                <a:lnTo>
                  <a:pt x="2" y="0"/>
                </a:lnTo>
                <a:lnTo>
                  <a:pt x="2" y="49"/>
                </a:lnTo>
                <a:lnTo>
                  <a:pt x="0" y="49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7410450" y="4505325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中断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410450" y="4714875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图里的节点，能在回合过程中停下等人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7277100" y="5086350"/>
            <a:ext cx="4210050" cy="466725"/>
          </a:xfrm>
          <a:custGeom>
            <a:pathLst>
              <a:path w="442" h="49">
                <a:moveTo>
                  <a:pt x="0" y="0"/>
                </a:moveTo>
                <a:lnTo>
                  <a:pt x="2" y="0"/>
                </a:lnTo>
                <a:lnTo>
                  <a:pt x="2" y="49"/>
                </a:lnTo>
                <a:lnTo>
                  <a:pt x="0" y="49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410450" y="5086350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门禁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7410450" y="5295900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两份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JSON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基线，掉分即失败，不是看一眼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7277100" y="5667375"/>
            <a:ext cx="4210050" cy="466725"/>
          </a:xfrm>
          <a:custGeom>
            <a:pathLst>
              <a:path w="442" h="49">
                <a:moveTo>
                  <a:pt x="0" y="0"/>
                </a:moveTo>
                <a:lnTo>
                  <a:pt x="2" y="0"/>
                </a:lnTo>
                <a:lnTo>
                  <a:pt x="2" y="49"/>
                </a:lnTo>
                <a:lnTo>
                  <a:pt x="0" y="49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7410450" y="5667375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痕迹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7410450" y="5876925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每个回合有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trace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，失败可归因到具体环节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06 / 10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301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6, width: 1128 }}&gt;&#10;    &lt;Text style={{ fontSize: 34, fontWeight: 'bold', color: '#0E3F8C' }}&gt;可评测，所以可改进&lt;/Text&gt;&#10;    &lt;Text style={{ fontSize: 16, color: '#4A5568', marginTop: 10 }}&gt;数字的意义不在满分，而在&quot;有固定考卷和基线门禁&quot;——改动会掉分，掉分会被发现&lt;/Text&gt;&#10;  &lt;/Box&gt;&#10;&#10;  &lt;Box style={{ position: 'absolute', left: 76, top: 188, width: 1128, height: 176, flexDirection: 'row' }}&gt;&#10;&#10;    &lt;Box style={{ width: 258, flexDirection: 'column', justifyContent: 'flex-end' }}&gt;&#10;      &lt;Box style={{ flexDirection: 'row', alignItems: 'flex-end', gap: 8 }}&gt;&#10;        &lt;Text style={{ fontSize: 84, fontWeight: 'bold', color: '#1E4FA8', lineHeight: 1 }}&gt;284&lt;/Text&gt;&#10;        &lt;Text style={{ fontSize: 18, color: '#4A5568', paddingBottom: 10 }}&gt;项&lt;/Text&gt;&#10;      &lt;/Box&gt;&#10;      &lt;Text style={{ fontSize: 15, fontWeight: 'bold', color: '#1A2230', marginTop: 10 }}&gt;自动化测试&lt;/Text&gt;&#10;      &lt;Text style={{ fontSize: 13, color: '#8B97A8', marginTop: 4 }}&gt;全程离线 · 零 API 消耗&lt;/Text&gt;&#10;    &lt;/Box&gt;&#10;&#10;    &lt;Box style={{ width: 1, height: 140, background: '#E5E7EB', marginLeft: 26, marginRight: 26 }} /&gt;&#10;&#10;    &lt;Box style={{ width: 232, flexDirection: 'column', justifyContent: 'flex-end' }}&gt;&#10;      &lt;Text style={{ fontSize: 84, fontWeight: 'bold', color: '#1E4FA8', lineHeight: 1 }}&gt;1.0&lt;/Text&gt;&#10;      &lt;Text style={{ fontSize: 15, fontWeight: 'bold', color: '#1A2230', marginTop: 10 }}&gt;检索 Hit@3 与 MRR&lt;/Text&gt;&#10;      &lt;Text style={{ fontSize: 13, color: '#8B97A8', marginTop: 4 }}&gt;评测集 35 题&lt;/Text&gt;&#10;    &lt;/Box&gt;&#10;&#10;    &lt;Box style={{ width: 1, height: 140, background: '#E5E7EB', marginLeft: 26, marginRight: 26 }} /&gt;&#10;&#10;    &lt;Box style={{ width: 232, flexDirection: 'column', justifyContent: 'flex-end' }}&gt;&#10;      &lt;Text style={{ fontSize: 84, fontWeight: 'bold', color: '#1E4FA8', lineHeight: 1 }}&gt;1.0&lt;/Text&gt;&#10;      &lt;Text style={{ fontSize: 15, fontWeight: 'bold', color: '#1A2230', marginTop: 10 }}&gt;意图分类准确率&lt;/Text&gt;&#10;      &lt;Text style={{ fontSize: 13, color: '#8B97A8', marginTop: 4 }}&gt;评测集 15 句&lt;/Text&gt;&#10;    &lt;/Box&gt;&#10;&#10;    &lt;Box style={{ width: 1, height: 140, background: '#E5E7EB', marginLeft: 26, marginRight: 26 }} /&gt;&#10;&#10;    &lt;Box style={{ width: 232, flexDirection: 'column', justifyContent: 'flex-end' }}&gt;&#10;      &lt;Text style={{ fontSize: 84, fontWeight: 'bold', color: '#1E4FA8', lineHeight: 1 }}&gt;0&lt;/Text&gt;&#10;      &lt;Text style={{ fontSize: 15, fontWeight: 'bold', color: '#1A2230', marginTop: 10 }}&gt;测试期外部调用&lt;/Text&gt;&#10;      &lt;Text style={{ fontSize: 13, color: '#8B97A8', marginTop: 4 }}&gt;Mock 模型，可离线跑&lt;/Text&gt;&#10;    &lt;/Box&gt;&#10;&#10;  &lt;/Box&gt;&#10;&#10;  &lt;Box style={{ position: 'absolute', left: 76, top: 392, width: 1128, height: 262, flexDirection: 'row', gap: 20 }}&gt;&#10;&#10;    &lt;Box style={{ width: 554, flexDirection: 'column', background: '#F7F9FC', borderRadius: 8, padding: 22 }}&gt;&#10;      &lt;Text style={{ fontSize: 14, color: '#3D7BD9', letterSpacing: 1.5 }}&gt;这些数字说明什么&lt;/Text&gt;&#10;      &lt;Text style={{ fontSize: 16, color: '#1A2230', lineHeight: 1.8, marginTop: 12 }}&gt;&#10;        满分本身不稀奇——真题只有 9 道与 15 句。真正有意义的是：它是一份**可复跑的考卷**。改检索权重、改意图规则、换模型，重跑一次就知道有没有变差。&#10;      &lt;/Text&gt;&#10;      &lt;Text style={{ fontSize: 14, color: '#4A5568', lineHeight: 1.75, marginTop: 12 }}&gt;&#10;        掉出容差时命令返回非零，因此它能进 CI——把&quot;感觉变笨了&quot;变成一个会让流水线变红的数字。&#10;      &lt;/Text&gt;&#10;    &lt;/Box&gt;&#10;&#10;    &lt;Box style={{ width: 554, flexDirection: 'column', background: '#0E3F8C', borderRadius: 8, padding: 22 }}&gt;&#10;      &lt;Text style={{ fontSize: 14, color: '#8FB2E0', letterSpacing: 1.5 }}&gt;门禁怎么跑&lt;/Text&gt;&#10;      &lt;Box style={{ flexDirection: 'column', marginTop: 14, gap: 10 }}&gt;&#10;        &lt;Text style={{ fontSize: 14.5, color: '#FFFFFF', lineHeight: 1.6 }}&gt;1　两份 JSON 考卷：检索题 + 意图句&lt;/Text&gt;&#10;        &lt;Text style={{ fontSize: 14.5, color: '#FFFFFF', lineHeight: 1.6 }}&gt;2　一份基线：记录当前 Hit@3 / MRR / 准确率&lt;/Text&gt;&#10;        &lt;Text style={{ fontSize: 14.5, color: '#FFFFFF', lineHeight: 1.6 }}&gt;3　改完代码重跑，与基线比差&lt;/Text&gt;&#10;        &lt;Text style={{ fontSize: 14.5, color: '#FFFFFF', lineHeight: 1.6 }}&gt;4　超出容差 → 命令非零退出，拦住提交&lt;/Text&gt;&#10;      &lt;/Box&gt;&#10;      &lt;Text style={{ fontSize: 13, color: '#8FB2E0', lineHeight: 1.6, marginTop: 12 }}&gt;&#10;        另外每个回合有 trace，失败能归因到具体环节，而不是&quot;模型不行&quot;。&#10;      &lt;/Text&gt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7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3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可评测，所以可改进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数字的意义不在满分，而在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有固定考卷和基线门禁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"——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改动会掉分，掉分会被发现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723900" y="2047875"/>
            <a:ext cx="1447800" cy="962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300" b="1">
                <a:solidFill>
                  <a:srgbClr val="1E4FA8"/>
                </a:solidFill>
                <a:latin typeface="PingFang SC"/>
                <a:ea typeface="PingFang SC"/>
              </a:rPr>
              <a:t>284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2247900" y="2705100"/>
            <a:ext cx="171450" cy="304800"/>
          </a:xfrm>
          <a:prstGeom prst="rect"/>
        </p:spPr>
        <p:txBody>
          <a:bodyPr wrap="none" lIns="0" tIns="0" rIns="0" bIns="71438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PingFang SC"/>
                <a:ea typeface="PingFang SC"/>
              </a:rPr>
              <a:t>项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723900" y="3105150"/>
            <a:ext cx="2457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自动化测试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723900" y="3314700"/>
            <a:ext cx="24574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全程离线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零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API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消耗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3429000" y="1790700"/>
            <a:ext cx="9525" cy="1333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3686175" y="2047875"/>
            <a:ext cx="2209800" cy="962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300" b="1">
                <a:solidFill>
                  <a:srgbClr val="1E4FA8"/>
                </a:solidFill>
                <a:latin typeface="PingFang SC"/>
                <a:ea typeface="PingFang SC"/>
              </a:rPr>
              <a:t>1.0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686175" y="31051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检索</a:t>
            </a:r>
            <a:r>
              <a:rPr lang="en-US" sz="1125" b="1">
                <a:solidFill>
                  <a:srgbClr val="1A2230"/>
                </a:solidFill>
                <a:latin typeface="PingFang SC"/>
                <a:ea typeface="PingFang SC"/>
              </a:rPr>
              <a:t xml:space="preserve"> Hit@3 </a:t>
            </a: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与</a:t>
            </a:r>
            <a:r>
              <a:rPr lang="en-US" sz="1125" b="1">
                <a:solidFill>
                  <a:srgbClr val="1A2230"/>
                </a:solidFill>
                <a:latin typeface="PingFang SC"/>
                <a:ea typeface="PingFang SC"/>
              </a:rPr>
              <a:t xml:space="preserve"> MRR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686175" y="33147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评测集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35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题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6143625" y="1790700"/>
            <a:ext cx="9525" cy="1333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400800" y="2047875"/>
            <a:ext cx="2209800" cy="962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300" b="1">
                <a:solidFill>
                  <a:srgbClr val="1E4FA8"/>
                </a:solidFill>
                <a:latin typeface="PingFang SC"/>
                <a:ea typeface="PingFang SC"/>
              </a:rPr>
              <a:t>1.0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6400800" y="31051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意图分类准确率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400800" y="33147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评测集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15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句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8858250" y="1790700"/>
            <a:ext cx="9525" cy="1333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9115425" y="2047875"/>
            <a:ext cx="2209800" cy="962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300" b="1">
                <a:solidFill>
                  <a:srgbClr val="1E4FA8"/>
                </a:solidFill>
                <a:latin typeface="PingFang SC"/>
                <a:ea typeface="PingFang SC"/>
              </a:rPr>
              <a:t>0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9115425" y="31051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测试期外部调用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9115425" y="33147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Mock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模型，可离线跑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723900" y="3733800"/>
            <a:ext cx="5276850" cy="2495550"/>
          </a:xfrm>
          <a:prstGeom prst="roundRect">
            <a:avLst>
              <a:gd name="adj" fmla="val 305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933450" y="3943350"/>
            <a:ext cx="485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这些数字说明什么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933450" y="4219575"/>
            <a:ext cx="485775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满分本身不稀奇——真题只有</a:t>
            </a:r>
            <a:r>
              <a:rPr lang="en-US" sz="1200">
                <a:solidFill>
                  <a:srgbClr val="1A2230"/>
                </a:solidFill>
                <a:latin typeface="PingFang SC"/>
                <a:ea typeface="PingFang SC"/>
              </a:rPr>
              <a:t xml:space="preserve"> 9 </a:t>
            </a: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道与</a:t>
            </a:r>
            <a:r>
              <a:rPr lang="en-US" sz="1200">
                <a:solidFill>
                  <a:srgbClr val="1A2230"/>
                </a:solidFill>
                <a:latin typeface="PingFang SC"/>
                <a:ea typeface="PingFang SC"/>
              </a:rPr>
              <a:t xml:space="preserve"> 15 </a:t>
            </a: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句。真正有意义的是：它是一份</a:t>
            </a:r>
            <a:r>
              <a:rPr lang="en-US" sz="1200">
                <a:solidFill>
                  <a:srgbClr val="1A2230"/>
                </a:solidFill>
                <a:latin typeface="PingFang SC"/>
                <a:ea typeface="PingFang SC"/>
              </a:rPr>
              <a:t>**</a:t>
            </a: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可复跑的考卷</a:t>
            </a:r>
            <a:r>
              <a:rPr lang="en-US" sz="1200">
                <a:solidFill>
                  <a:srgbClr val="1A2230"/>
                </a:solidFill>
                <a:latin typeface="PingFang SC"/>
                <a:ea typeface="PingFang SC"/>
              </a:rPr>
              <a:t>**</a:t>
            </a: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。改检索权重、改意图规则、换模型，重跑一次就知道有没有变差。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933450" y="5324475"/>
            <a:ext cx="485775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掉出容差时命令返回非零，因此它能进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CI——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把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感觉变笨了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变成一个会让流水线变红的数字。</a:t>
            </a:r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6191250" y="3733800"/>
            <a:ext cx="5276850" cy="2495550"/>
          </a:xfrm>
          <a:prstGeom prst="roundRect">
            <a:avLst>
              <a:gd name="adj" fmla="val 305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6400800" y="3943350"/>
            <a:ext cx="485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8FB2E0"/>
                </a:solidFill>
                <a:latin typeface="PingFang SC"/>
                <a:ea typeface="PingFang SC"/>
              </a:rPr>
              <a:t>门禁怎么跑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6400800" y="4238625"/>
            <a:ext cx="485775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　两份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JSON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考卷：检索题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意图句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6400800" y="4600575"/>
            <a:ext cx="485775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　一份基线：记录当前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Hit@3 / MRR /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准确率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400800" y="4962525"/>
            <a:ext cx="485775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　改完代码重跑，与基线比差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400800" y="5324475"/>
            <a:ext cx="485775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>4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　超出容差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命令非零退出，拦住提交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6400800" y="5705475"/>
            <a:ext cx="485775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另外每个回合有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 xml:space="preserve"> trace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，失败能归因到具体环节，而不是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>"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模型不行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>"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11020425" y="6448425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07 / 10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37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6, width: 1128 }}&gt;&#10;    &lt;Text style={{ fontSize: 34, fontWeight: 'bold', color: '#0E3F8C' }}&gt;八个模块，决定它是系统还是原型&lt;/Text&gt;&#10;    &lt;Text style={{ fontSize: 16, color: '#4A5568', marginTop: 10 }}&gt;这些不是&quot;有更好&quot;，而是&quot;缺一项就不算能交付的工程系统&quot;&lt;/Text&gt;&#10;  &lt;/Box&gt;&#10;&#10;  &lt;Box style={{ position: 'absolute', left: 76, top: 196, width: 296, height: 458, flexDirection: 'column' }}&gt;&#10;&#10;    &lt;Text style={{ fontSize: 14, color: '#3D7BD9', letterSpacing: 1.5 }}&gt;工程完整度&lt;/Text&gt;&#10;&#10;    &lt;Text style={{ fontSize: 22, fontWeight: 'bold', color: '#0E3F8C', lineHeight: 1.5, marginTop: 12 }}&gt;&#10;      缺一项，\n就退回原型&#10;    &lt;/Text&gt;&#10;&#10;    &lt;Text style={{ fontSize: 14, color: '#4A5568', lineHeight: 1.8, marginTop: 12 }}&gt;&#10;      只做一个能跑的对话循环，半天就够；难的是让它出错时不炸、花钱有上限、变差了能发现。下面八项各自解决一个问题。&#10;    &lt;/Text&gt;&#10;&#10;    &lt;Box style={{ flexDirection: 'column', marginTop: 20, background: '#F7F9FC', borderRadius: 8, padding: 18, gap: 10 }}&gt;&#10;      &lt;Text style={{ fontSize: 13, color: '#4A5568', lineHeight: 1.65 }}&gt;全部八项都有对应测试，共 284 项，离线可跑。&lt;/Text&gt;&#10;      &lt;Text style={{ fontSize: 13, color: '#4A5568', lineHeight: 1.65 }}&gt;而且它们互相咬合：没有检查点就做不了人在环，没有权限双层就谈不上可评测。&lt;/Text&gt;&#10;      &lt;Text style={{ fontSize: 13, color: '#4A5568', lineHeight: 1.65 }}&gt;所以这不是八个模块的清单，是一套依赖关系。&lt;/Text&gt;&#10;    &lt;/Box&gt;&#10;&#10;  &lt;/Box&gt;&#10;&#10;  &lt;Box style={{ position: 'absolute', left: 412, top: 196, width: 380, height: 458, flexDirection: 'column' }}&gt;&#10;&#10;    &lt;Box style={{ flexDirection: 'column', height: 106 }}&gt;&#10;      &lt;Box style={{ flexDirection: 'row', alignItems: 'center', gap: 8 }}&gt;&#10;        &lt;Text style={{ fontSize: 13, fontWeight: 'bold', color: '#1E4FA8' }}&gt;01&lt;/Text&gt;&#10;        &lt;Text style={{ fontSize: 16, fontWeight: 'bold', color: '#1A2230' }}&gt;输入输出护栏&lt;/Text&gt;&#10;      &lt;/Box&gt;&#10;      &lt;Text style={{ fontSize: 13, color: '#4A5568', lineHeight: 1.6, marginTop: 8 }}&gt;输入拦越界与提示词注入，输出拦空回答与系统提示词泄漏。&lt;/Text&gt;&#10;    &lt;/Box&gt;&#10;&#10;    &lt;Box style={{ flexDirection: 'column', height: 106, marginTop: 8 }}&gt;&#10;      &lt;Box style={{ flexDirection: 'row', alignItems: 'center', gap: 8 }}&gt;&#10;        &lt;Text style={{ fontSize: 13, fontWeight: 'bold', color: '#1E4FA8' }}&gt;02&lt;/Text&gt;&#10;        &lt;Text style={{ fontSize: 16, fontWeight: 'bold', color: '#1A2230' }}&gt;工具超时与重试&lt;/Text&gt;&#10;      &lt;/Box&gt;&#10;      &lt;Text style={{ fontSize: 13, color: '#4A5568', lineHeight: 1.6, marginTop: 8 }}&gt;单次超时；只对可重试错误做有限退避，失败转成工具消息而不炸回合。&lt;/Text&gt;&#10;    &lt;/Box&gt;&#10;&#10;    &lt;Box style={{ flexDirection: 'column', height: 106, marginTop: 8 }}&gt;&#10;      &lt;Box style={{ flexDirection: 'row', alignItems: 'center', gap: 8 }}&gt;&#10;        &lt;Text style={{ fontSize: 13, fontWeight: 'bold', color: '#1E4FA8' }}&gt;03&lt;/Text&gt;&#10;        &lt;Text style={{ fontSize: 16, fontWeight: 'bold', color: '#1A2230' }}&gt;上下文压缩&lt;/Text&gt;&#10;      &lt;/Box&gt;&#10;      &lt;Text style={{ fontSize: 13, color: '#4A5568', lineHeight: 1.6, marginTop: 8 }}&gt;历史过长时从整轮边界裁剪，绝不拆散&quot;调用—结果&quot;的配对。&lt;/Text&gt;&#10;    &lt;/Box&gt;&#10;&#10;    &lt;Box style={{ flexDirection: 'column', height: 106, marginTop: 8 }}&gt;&#10;      &lt;Box style={{ flexDirection: 'row', alignItems: 'center', gap: 8 }}&gt;&#10;        &lt;Text style={{ fontSize: 13, fontWeight: 'bold', color: '#1E4FA8' }}&gt;04&lt;/Text&gt;&#10;        &lt;Text style={{ fontSize: 16, fontWeight: 'bold', color: '#1A2230' }}&gt;模型路由与预算&lt;/Text&gt;&#10;      &lt;/Box&gt;&#10;      &lt;Text style={{ fontSize: 13, color: '#4A5568', lineHeight: 1.6, marginTop: 8 }}&gt;按意图与复杂度选档；token 记账，当日超预算直接阻止真实调用。&lt;/Text&gt;&#10;    &lt;/Box&gt;&#10;&#10;  &lt;/Box&gt;&#10;&#10;  &lt;Box style={{ position: 'absolute', left: 828, top: 196, width: 380, height: 458, flexDirection: 'column' }}&gt;&#10;&#10;    &lt;Box style={{ flexDirection: 'column', height: 106 }}&gt;&#10;      &lt;Box style={{ flexDirection: 'row', alignItems: 'center', gap: 8 }}&gt;&#10;        &lt;Text style={{ fontSize: 13, fontWeight: 'bold', color: '#1E4FA8' }}&gt;05&lt;/Text&gt;&#10;        &lt;Text style={{ fontSize: 16, fontWeight: 'bold', color: '#1A2230' }}&gt;MCP 客户端&lt;/Text&gt;&#10;      &lt;/Box&gt;&#10;      &lt;Text style={{ fontSize: 13, color: '#4A5568', lineHeight: 1.6, marginTop: 8 }}&gt;自写 stdio JSON-RPC，能启动外部 server、发现工具并注册进工具表。&lt;/Text&gt;&#10;    &lt;/Box&gt;&#10;&#10;    &lt;Box style={{ flexDirection: 'column', height: 106, marginTop: 8 }}&gt;&#10;      &lt;Box style={{ flexDirection: 'row', alignItems: 'center', gap: 8 }}&gt;&#10;        &lt;Text style={{ fontSize: 13, fontWeight: 'bold', color: '#1E4FA8' }}&gt;06&lt;/Text&gt;&#10;        &lt;Text style={{ fontSize: 16, fontWeight: 'bold', color: '#1A2230' }}&gt;检查点与续跑&lt;/Text&gt;&#10;      &lt;/Box&gt;&#10;      &lt;Text style={{ fontSize: 13, color: '#4A5568', lineHeight: 1.6, marginTop: 8 }}&gt;会话可断点续跑；它同时也是&quot;写操作先暂停&quot;能成立的前提。&lt;/Text&gt;&#10;    &lt;/Box&gt;&#10;&#10;    &lt;Box style={{ flexDirection: 'column', height: 106, marginTop: 8 }}&gt;&#10;      &lt;Box style={{ flexDirection: 'row', alignItems: 'center', gap: 8 }}&gt;&#10;        &lt;Text style={{ fontSize: 13, fontWeight: 'bold', color: '#1E4FA8' }}&gt;07&lt;/Text&gt;&#10;        &lt;Text style={{ fontSize: 16, fontWeight: 'bold', color: '#1A2230' }}&gt;回合诊断&lt;/Text&gt;&#10;      &lt;/Box&gt;&#10;      &lt;Text style={{ fontSize: 13, color: '#4A5568', lineHeight: 1.6, marginTop: 8 }}&gt;每个回合留 trace，失败可归因到路由、检索、工具还是生成。&lt;/Text&gt;&#10;    &lt;/Box&gt;&#10;&#10;    &lt;Box style={{ flexDirection: 'column', height: 106, marginTop: 8 }}&gt;&#10;      &lt;Box style={{ flexDirection: 'row', alignItems: 'center', gap: 8 }}&gt;&#10;        &lt;Text style={{ fontSize: 13, fontWeight: 'bold', color: '#1E4FA8' }}&gt;08&lt;/Text&gt;&#10;        &lt;Text style={{ fontSize: 16, fontWeight: 'bold', color: '#1A2230' }}&gt;评测门禁&lt;/Text&gt;&#10;      &lt;/Box&gt;&#10;      &lt;Text style={{ fontSize: 13, color: '#4A5568', lineHeight: 1.6, marginTop: 8 }}&gt;两份考卷 + 基线；改完重跑，掉出容差即返回非零，拦住提交。&lt;/Text&gt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8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八个模块，决定它是系统还是原型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这些不是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有更好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，而是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缺一项就不算能交付的工程系统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23900" y="1866900"/>
            <a:ext cx="2819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工程完整度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723900" y="2143125"/>
            <a:ext cx="2819400" cy="762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 b="1">
                <a:solidFill>
                  <a:srgbClr val="0E3F8C"/>
                </a:solidFill>
                <a:latin typeface="PingFang SC"/>
                <a:ea typeface="PingFang SC"/>
              </a:rPr>
              <a:t>缺一项，
就退回原型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723900" y="3019425"/>
            <a:ext cx="2819400" cy="866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只做一个能跑的对话循环，半天就够；难的是让它出错时不炸、花钱有上限、变差了能发现。下面八项各自解决一个问题。</a:t>
            </a:r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723900" y="4076700"/>
            <a:ext cx="2819400" cy="2019300"/>
          </a:xfrm>
          <a:prstGeom prst="roundRect">
            <a:avLst>
              <a:gd name="adj" fmla="val 377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895350" y="4248150"/>
            <a:ext cx="24765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全部八项都有对应测试，共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284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项，离线可跑。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895350" y="4838700"/>
            <a:ext cx="24765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而且它们互相咬合：没有检查点就做不了人在环，没有权限双层就谈不上可评测。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895350" y="5429250"/>
            <a:ext cx="24765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所以这不是八个模块的清单，是一套依赖关系。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3924300" y="1885950"/>
            <a:ext cx="133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01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4133850" y="1866900"/>
            <a:ext cx="914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输入输出护栏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924300" y="2133600"/>
            <a:ext cx="36195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输入拦越界与提示词注入，输出拦空回答与系统提示词泄漏。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3924300" y="2971800"/>
            <a:ext cx="15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02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4152900" y="2952750"/>
            <a:ext cx="1066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工具超时与重试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3924300" y="3219450"/>
            <a:ext cx="3619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单次超时；只对可重试错误做有限退避，失败转成工具消息而不炸回合。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3924300" y="4057650"/>
            <a:ext cx="15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03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4152900" y="4038600"/>
            <a:ext cx="762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上下文压缩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3924300" y="4305300"/>
            <a:ext cx="36195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历史过长时从整轮边界裁剪，绝不拆散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调用—结果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的配对。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924300" y="5143500"/>
            <a:ext cx="15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04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4152900" y="5124450"/>
            <a:ext cx="1066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模型路由与预算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924300" y="5391150"/>
            <a:ext cx="3619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按意图与复杂度选档；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token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记账，当日超预算直接阻止真实调用。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7886700" y="1885950"/>
            <a:ext cx="15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05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8115300" y="1866900"/>
            <a:ext cx="857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PingFang SC"/>
                <a:ea typeface="PingFang SC"/>
              </a:rPr>
              <a:t xml:space="preserve">MCP </a:t>
            </a: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客户端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7886700" y="2133600"/>
            <a:ext cx="3619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自写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stdio JSON-RPC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，能启动外部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server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、发现工具并注册进工具表。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7886700" y="2971800"/>
            <a:ext cx="15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06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8115300" y="2952750"/>
            <a:ext cx="914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检查点与续跑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7886700" y="3219450"/>
            <a:ext cx="36195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会话可断点续跑；它同时也是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写操作先暂停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能成立的前提。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7886700" y="4057650"/>
            <a:ext cx="14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07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8105775" y="403860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回合诊断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7886700" y="4305300"/>
            <a:ext cx="36195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每个回合留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trace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，失败可归因到路由、检索、工具还是生成。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7886700" y="5143500"/>
            <a:ext cx="15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08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8115300" y="512445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评测门禁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7886700" y="5391150"/>
            <a:ext cx="36195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两份考卷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基线；改完重跑，掉出容差即返回非零，拦住提交。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08 / 10</a:t>
            </a:r>
            <a:endParaRPr/>
          </a:p>
        </p:txBody>
      </p:sp>
    </p:spTree>
  </p:cSld>
</p:sld>
</file>

<file path=ppt/slides/slide9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3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不是示意图，是真实运行的界面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七个页面都在跑；引用能落到具体页码，才算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有据可查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723900" y="1809750"/>
            <a:ext cx="7429500" cy="3352800"/>
          </a:xfrm>
          <a:prstGeom prst="roundRect">
            <a:avLst>
              <a:gd name="adj" fmla="val 1705"/>
            </a:avLst>
          </a:prstGeom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385" name=""/>
          <p:cNvPicPr>
            <a:picLocks noChangeAspect="1"/>
          </p:cNvPicPr>
          <p:nvPr/>
        </p:nvPicPr>
        <p:blipFill>
          <a:blip r:embed="rId1"/>
          <a:srcRect l="0" t="100" r="0" b="100"/>
          <a:stretch>
            <a:fillRect/>
          </a:stretch>
        </p:blipFill>
        <p:spPr>
          <a:xfrm rot="0" flipH="0" flipV="0">
            <a:off x="723900" y="1809750"/>
            <a:ext cx="7410450" cy="3333750"/>
          </a:xfrm>
          <a:custGeom>
            <a:pathLst>
              <a:path w="778" h="350">
                <a:moveTo>
                  <a:pt x="774" y="0"/>
                </a:moveTo>
                <a:cubicBezTo>
                  <a:pt x="776" y="0"/>
                  <a:pt x="777" y="1"/>
                  <a:pt x="778" y="2"/>
                </a:cubicBezTo>
                <a:lnTo>
                  <a:pt x="778" y="350"/>
                </a:lnTo>
                <a:lnTo>
                  <a:pt x="2" y="350"/>
                </a:lnTo>
                <a:cubicBezTo>
                  <a:pt x="1" y="349"/>
                  <a:pt x="0" y="347"/>
                  <a:pt x="0" y="34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774" y="0"/>
                </a:lnTo>
                <a:close/>
              </a:path>
            </a:pathLst>
          </a:custGeom>
          <a:ln/>
        </p:spPr>
      </p:pic>
      <p:sp>
        <p:nvSpPr>
          <p:cNvPr id="386" name=""/>
          <p:cNvSpPr/>
          <p:nvPr/>
        </p:nvSpPr>
        <p:spPr>
          <a:xfrm rot="0" flipH="0" flipV="0">
            <a:off x="8382000" y="1809750"/>
            <a:ext cx="209550" cy="20955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8467725" y="1847850"/>
            <a:ext cx="476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8667750" y="1819275"/>
            <a:ext cx="762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三栏阅读页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8382000" y="2095500"/>
            <a:ext cx="3086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左目录树、中正文、右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助手与大纲；大纲跟着滚动高亮，长文档不迷路。</a:t>
            </a:r>
            <a:endParaRPr/>
          </a:p>
        </p:txBody>
      </p:sp>
      <p:sp>
        <p:nvSpPr>
          <p:cNvPr id="390" name=""/>
          <p:cNvSpPr/>
          <p:nvPr/>
        </p:nvSpPr>
        <p:spPr>
          <a:xfrm rot="0" flipH="0" flipV="0">
            <a:off x="8382000" y="2952750"/>
            <a:ext cx="209550" cy="20955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8458200" y="2990850"/>
            <a:ext cx="666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8667750" y="2962275"/>
            <a:ext cx="762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引用落到页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8382000" y="3238500"/>
            <a:ext cx="3086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PDF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与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PPT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按页切块，出处带「第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N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页」；原件能内联预览，也能下载。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8382000" y="4095750"/>
            <a:ext cx="209550" cy="20955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458200" y="4133850"/>
            <a:ext cx="666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8667750" y="4105275"/>
            <a:ext cx="914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作答后看详解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382000" y="4381500"/>
            <a:ext cx="3086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复习卡里写完思路可看参考答案与关键步骤，再四档自评。</a:t>
            </a:r>
            <a:endParaRPr/>
          </a:p>
        </p:txBody>
      </p:sp>
      <p:sp>
        <p:nvSpPr>
          <p:cNvPr id="398" name=""/>
          <p:cNvSpPr/>
          <p:nvPr/>
        </p:nvSpPr>
        <p:spPr>
          <a:xfrm rot="0" flipH="0" flipV="0">
            <a:off x="723900" y="5448300"/>
            <a:ext cx="10744200" cy="80010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952500" y="566737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演示库规模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952500" y="5857875"/>
            <a:ext cx="3143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PingFang SC"/>
                <a:ea typeface="PingFang SC"/>
              </a:rPr>
              <a:t xml:space="preserve">7 </a:t>
            </a: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个学科库</a:t>
            </a:r>
            <a:r>
              <a:rPr lang="en-US" sz="1125" b="1">
                <a:solidFill>
                  <a:srgbClr val="1A2230"/>
                </a:solidFill>
                <a:latin typeface="PingFang SC"/>
                <a:ea typeface="PingFang SC"/>
              </a:rPr>
              <a:t xml:space="preserve"> · 24 </a:t>
            </a: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份资料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4286250" y="5638800"/>
            <a:ext cx="9525" cy="41910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4486275" y="566737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检索片段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4486275" y="5857875"/>
            <a:ext cx="3143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PingFang SC"/>
                <a:ea typeface="PingFang SC"/>
              </a:rPr>
              <a:t xml:space="preserve">46 </a:t>
            </a: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个片段，全部带出处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7820025" y="5638800"/>
            <a:ext cx="9525" cy="41910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8020050" y="566737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资料类型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8020050" y="5857875"/>
            <a:ext cx="3143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PingFang SC"/>
                <a:ea typeface="PingFang SC"/>
              </a:rPr>
              <a:t xml:space="preserve">PDF / Word / PPT / </a:t>
            </a: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图片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09 / 10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5800725" y="876300"/>
            <a:ext cx="600075" cy="11906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00" b="1">
                <a:solidFill>
                  <a:srgbClr val="1E4FA8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4743450" y="2162175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PingFang SC"/>
                <a:ea typeface="PingFang SC"/>
              </a:rPr>
              <a:t>项还没做，我不打算留到被问出来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29050" y="2457450"/>
            <a:ext cx="4543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边界写在这里，也写在材料的功能核对表里——标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计划中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，不冒充已完成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723900" y="3048000"/>
            <a:ext cx="3390900" cy="1524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895350" y="3219450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多用户与数据隔离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95350" y="3495675"/>
            <a:ext cx="3048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当前单用户。要做成能交付班级的产品，这是第一件必须补的事——登录、课程归属、数据隔离。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4400550" y="3048000"/>
            <a:ext cx="3390900" cy="1524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4572000" y="3219450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在线监控聚合面板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4572000" y="3495675"/>
            <a:ext cx="3048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目前靠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trace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命令行诊断，够开发用；长期运营需要面板把失败率与耗时聚起来。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8077200" y="3048000"/>
            <a:ext cx="3390900" cy="1524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248650" y="3219450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PingFang SC"/>
                <a:ea typeface="PingFang SC"/>
              </a:rPr>
              <a:t xml:space="preserve">Reranker </a:t>
            </a: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重排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248650" y="3495675"/>
            <a:ext cx="3048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现在四路召回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+ RRF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融合已经够用；资料量再上一个量级时，重排才值得引入。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723900" y="4838700"/>
            <a:ext cx="10744200" cy="590550"/>
          </a:xfrm>
          <a:prstGeom prst="roundRect">
            <a:avLst>
              <a:gd name="adj" fmla="val 12903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524375" y="5010150"/>
            <a:ext cx="3143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 spc="75">
                <a:solidFill>
                  <a:srgbClr val="FFFFFF"/>
                </a:solidFill>
                <a:latin typeface="PingFang SC"/>
                <a:ea typeface="PingFang SC"/>
              </a:rPr>
              <a:t>边界说出来，剩下的部分才可信。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23900" y="5762625"/>
            <a:ext cx="100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谢谢，欢迎提问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9582150" y="5772150"/>
            <a:ext cx="1885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材料与代码：知迹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参赛作品仓库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1039475" y="6448425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10 / 10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2026-10-20T22:25:20Z</dcterms:created>
  <dcterms:modified xsi:type="dcterms:W3CDTF">2026-10-20T22:25:20Z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{"AIGC":{"Label":"1","ContentProducer":"00119111010856365494821B355","ProduceID":"01a1596f50277a54a2a2a419ea96b08e","ReservedCode1":"","ContentPropagator":"00119111010856365494821B355","PropagateID":"01a1596f50277a54a2a2a419ea96b08e","ReservedCode2":""}}</vt:lpwstr>
  </property>
</Properties>
</file>