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s/slide15.xml" ContentType="application/vnd.openxmlformats-officedocument.presentationml.slide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20" Type="http://schemas.openxmlformats.org/officeDocument/2006/relationships/viewProps" Target="viewProps.xml" /><Relationship Id="rId2" Type="http://schemas.openxmlformats.org/officeDocument/2006/relationships/slide" Target="slides/slide2.xml" /><Relationship Id="rId19" Type="http://schemas.openxmlformats.org/officeDocument/2006/relationships/tableStyles" Target="tableStyles.xml" /><Relationship Id="rId18" Type="http://schemas.openxmlformats.org/officeDocument/2006/relationships/presProps" Target="presProps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7" Type="http://schemas.openxmlformats.org/officeDocument/2006/relationships/notesMaster" Target="notesMasters/notesMaster1.xml" /><Relationship Id="rId16" Type="http://schemas.openxmlformats.org/officeDocument/2006/relationships/slide" Target="slides/slide16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slide1.xml><?xml version="1.0" encoding="utf-8"?>
<p:sld xmlns:r="http://schemas.openxmlformats.org/officeDocument/2006/relationships" xmlns:p="http://schemas.openxmlformats.org/presentationml/2006/main" xmlns:a="http://schemas.openxmlformats.org/drawingml/2006/main">
  <p:cSld name="01 封面｜知迹：把学习资料变成题，再把题变成复习计划">
    <p:spTree>
      <p:nvGrpSpPr>
        <p:cNvPr id="1" name="" descr="&lt;Slide style={{ width: 1280, height: 720, position: 'relative', background: '#0E3F8C', fontFamily: 'PingFang SC, Hiragino Sans GB, sans-serif' }}&gt;&#10;    {/* 右侧配图：明亮浅色调的书桌场景（需生图，见 assets/配图提示词.md） */}&#10;    &lt;Image src=&quot;assets/p01-cover-desk.png&quot; style={{ position: 'absolute', top: 0, right: 0, width: 620, height: 720, objectFit: 'cover' }} /&gt;&#10;    &lt;Box style={{ position: 'absolute', top: 0, right: 0, width: 620, height: 720, background: '#0E3F8C', opacity: 0.24 }} /&gt;&#10;    &lt;Box style={{ position: 'absolute', top: 0, right: 620, width: 320, height: 720, background: '#0E3F8C' }} /&gt;&#10;    &lt;Box style={{ position: 'absolute', top: 0, right: 620, width: 200, height: 720, background: '#0E3F8C', opacity: 0.7 }} /&gt;&#10;&#10;    &lt;Box style={{ position: 'absolute', top: 96, right: 96, width: 200, height: 2, background: '#FFFFFF', opacity: 0.4 }} /&gt;&#10;    &lt;Box style={{ position: 'absolute', top: 128, right: 96, width: 120, height: 2, background: '#FFFFFF', opacity: 0.25 }} /&gt;&#10;&#10;    &lt;Box style={{ position: 'absolute', top: 112, left: 72, width: 700, flexDirection: 'column', gap: 22 }}&gt;&#10;        &lt;Text style={{ fontSize: 15, color: '#A9C6EF', letterSpacing: 2.5 }}&gt;&#10;            全国大学生数字媒体科技作品及创意竞赛 · 赛道十三 · 智慧教育&#10;        &lt;/Text&gt;&#10;&#10;        &lt;Text style={{ fontSize: 62, fontWeight: 'bold', color: '#FFFFFF', lineHeight: 1.1 }}&gt;&#10;            知迹&#10;        &lt;/Text&gt;&#10;&#10;        &lt;Box style={{ width: 64, height: 3, background: '#3D7BD9' }} /&gt;&#10;&#10;        &lt;Text style={{ fontSize: 27, fontWeight: 'bold', color: '#FFFFFF', lineHeight: 1.45 }}&gt;&#10;            把学习资料变成题，&#10;            &lt;br /&gt;&#10;            再把题变成复习计划&#10;        &lt;/Text&gt;&#10;&#10;        &lt;Text style={{ fontSize: 17, color: '#C9DDF5', lineHeight: 1.75 }}&gt;&#10;            一个在「可恢复 · 可拦截 · 可度量」三道坎上&#10;            &lt;br /&gt;&#10;            都做过工程化处理的 LangGraph 学习 Agent&#10;        &lt;/Text&gt;&#10;    &lt;/Box&gt;&#10;&#10;    &lt;Box style={{ position: 'absolute', bottom: 52, left: 72, flexDirection: 'row', alignItems: 'center', gap: 24 }}&gt;&#10;        &lt;Box style={{ width: 4, height: 42, background: '#3D7BD9' }} /&gt;&#10;        &lt;Box style={{ flexDirection: 'column', gap: 4 }}&gt;&#10;            &lt;Text style={{ fontSize: 16, color: '#FFFFFF' }}&gt;知迹 ZhiJi · AI 学习私教与智能复习系统&lt;/Text&gt;&#10;            &lt;Text style={{ fontSize: 14, color: '#8FB4E8' }}&gt;LangGraph · FastAPI · SQLite · Next.js 16&lt;/Text&gt;&#10;        &lt;/Box&gt;&#10;    &lt;/Box&gt;&#10;&#10;    &lt;Box style={{ position: 'absolute', bottom: 52, right: 96, alignItems: 'flex-end' }}&gt;&#10;        &lt;Text style={{ fontSize: 14, color: '#FFFFFF', opacity: 0.85 }}&gt;答辩汇报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6286500" y="0"/>
            <a:ext cx="59055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6286500" y="0"/>
            <a:ext cx="5905500" cy="6858000"/>
          </a:xfrm>
          <a:prstGeom prst="rect">
            <a:avLst/>
          </a:prstGeom>
          <a:solidFill>
            <a:srgbClr val="0E3F8C">
              <a:alpha val="24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323850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" name=""/>
          <p:cNvSpPr/>
          <p:nvPr/>
        </p:nvSpPr>
        <p:spPr>
          <a:xfrm rot="0" flipH="0" flipV="0">
            <a:off x="4381500" y="0"/>
            <a:ext cx="1905000" cy="6858000"/>
          </a:xfrm>
          <a:prstGeom prst="rect">
            <a:avLst/>
          </a:prstGeom>
          <a:solidFill>
            <a:srgbClr val="0E3F8C">
              <a:alpha val="70000"/>
            </a:srgbClr>
          </a:solidFill>
          <a:ln/>
        </p:spPr>
        <p:txBody>
          <a:bodyPr/>
          <a:p/>
        </p:txBody>
      </p:sp>
      <p:sp>
        <p:nvSpPr>
          <p:cNvPr id="7" name=""/>
          <p:cNvSpPr/>
          <p:nvPr/>
        </p:nvSpPr>
        <p:spPr>
          <a:xfrm rot="0" flipH="0" flipV="0">
            <a:off x="9372600" y="914400"/>
            <a:ext cx="1905000" cy="1905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"/>
          <p:cNvSpPr/>
          <p:nvPr/>
        </p:nvSpPr>
        <p:spPr>
          <a:xfrm rot="0" flipH="0" flipV="0">
            <a:off x="10134600" y="1219200"/>
            <a:ext cx="11430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1066800"/>
            <a:ext cx="666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188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赛道十三</a:t>
            </a:r>
            <a:r>
              <a:rPr lang="en-US" sz="1125" spc="188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188">
                <a:solidFill>
                  <a:srgbClr val="A9C6EF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1447800"/>
            <a:ext cx="6667500" cy="7810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650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685800" y="2438400"/>
            <a:ext cx="6096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6667500" cy="8953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PingFang SC"/>
                <a:ea typeface="PingFang SC"/>
              </a:rPr>
              <a:t>把学习资料变成题，</a:t>
            </a:r>
            <a:endParaRPr/>
          </a:p>
          <a:p>
            <a:pPr>
              <a:lnSpc>
                <a:spcPct val="145000"/>
              </a:lnSpc>
            </a:pPr>
            <a:r>
              <a:rPr lang="zh-CN" sz="2025" b="1">
                <a:solidFill>
                  <a:srgbClr val="FFFFFF"/>
                </a:solidFill>
                <a:latin typeface="PingFang SC"/>
                <a:ea typeface="PingFang SC"/>
              </a:rPr>
              <a:t>再把题变成复习计划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3781425"/>
            <a:ext cx="6667500" cy="685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一个在「可恢复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可拦截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可度量」三道坎上</a:t>
            </a:r>
            <a:endParaRPr/>
          </a:p>
          <a:p>
            <a:pPr>
              <a:lnSpc>
                <a:spcPct val="175000"/>
              </a:lnSpc>
            </a:pP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都做过工程化处理的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LangGraph </a:t>
            </a:r>
            <a:r>
              <a:rPr lang="zh-CN" sz="1275">
                <a:solidFill>
                  <a:srgbClr val="C9DDF5"/>
                </a:solidFill>
                <a:latin typeface="PingFang SC"/>
                <a:ea typeface="PingFang SC"/>
              </a:rPr>
              <a:t>学习</a:t>
            </a:r>
            <a:r>
              <a:rPr lang="en-US" sz="1275">
                <a:solidFill>
                  <a:srgbClr val="C9DDF5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5962650"/>
            <a:ext cx="38100" cy="400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952500" y="5972175"/>
            <a:ext cx="2733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r>
              <a:rPr lang="en-US" sz="1200">
                <a:solidFill>
                  <a:srgbClr val="FFFFFF"/>
                </a:solidFill>
                <a:latin typeface="PingFang SC"/>
                <a:ea typeface="PingFang SC"/>
              </a:rPr>
              <a:t xml:space="preserve"> ZhiJi · AI </a:t>
            </a:r>
            <a:r>
              <a:rPr lang="zh-CN" sz="1200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620077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PingFang SC"/>
                <a:ea typeface="PingFang SC"/>
              </a:rPr>
              <a:t>LangGraph · FastAPI · SQLite · Next.js 16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744200" y="62007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 name="02 情景｜一个学生的一周，三个动作">
    <p:spTree>
      <p:nvGrpSpPr>
        <p:cNvPr id="329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情景 · 一个学生的普通一周&lt;/Text&gt;&#10;    &lt;/Box&gt;&#10;    &lt;Box style={{ position: 'absolute', top: 56, left: 40, width: 1200, height: 92, flexDirection: 'column', justifyContent: 'center', gap: 8 }}&gt;&#10;        &lt;Text style={{ fontSize: 34, fontWeight: 'bold', color: '#0E3F8C' }}&gt;一个学生的一周，三个动作&lt;/Text&gt;&#10;        &lt;Text style={{ fontSize: 19, color: '#4A5568' }}&gt;先不谈技术。这是知迹被使用的样子 —— 四个动作，一周&lt;/Text&gt;&#10;    &lt;/Box&gt;&#10;&#10;    &lt;Box style={{ position: 'absolute', top: 172, left: 40, width: 1200, height: 336, flexDirection: 'column', gap: 20 }}&gt;&#10;        &lt;Box style={{ flexDirection: 'row', alignItems: 'center', height: 30 }}&gt;&#10;            &lt;Box style={{ width: 10, height: 10, borderRadius: 5, background: '#1E4FA8' }} /&gt;&#10;            &lt;Box style={{ flex: 1, height: 3, background: '#C9DDF5' }} /&gt;&#10;            &lt;Box style={{ width: 10, height: 10, borderRadius: 5, background: '#1E4FA8' }} /&gt;&#10;            &lt;Box style={{ flex: 1, height: 3, background: '#C9DDF5' }} /&gt;&#10;            &lt;Box style={{ width: 10, height: 10, borderRadius: 5, background: '#1E4FA8' }} /&gt;&#10;            &lt;Box style={{ flex: 1, height: 3, background: '#C9DDF5' }} /&gt;&#10;            &lt;Box style={{ width: 10, height: 10, borderRadius: 5, background: '#1E4FA8' }} /&gt;&#10;        &lt;/Box&gt;&#10;        &lt;Box style={{ flex: 1, flexDirection: 'row', gap: 20 }}&gt;&#10;            &lt;Box style={{ flex: 1, background: '#FFFFFF', border: '1px solid #D6DCE5', borderRadius: 8, padding: 18, gap: 10 }}&gt;&#10;                &lt;Box style={{ flexDirection: 'row', alignItems: 'center', gap: 10 }}&gt;&#10;                    &lt;Box style={{ width: 52, height: 30, background: '#1E4FA8', borderRadius: 4, justifyContent: 'center', alignItems: 'center' }}&gt;&#10;                        &lt;Text style={{ fontSize: 16, color: '#FFFFFF', fontWeight: 'bold' }}&gt;周一&lt;/Text&gt;&#10;                    &lt;/Box&gt;&#10;                    &lt;Text style={{ fontSize: 25, fontWeight: 'bold', color: '#0E3F8C' }}&gt;传讲义&lt;/Text&gt;&#10;                &lt;/Box&gt;&#10;                &lt;Box style={{ height: 2, background: '#E8EFF8' }} /&gt;&#10;                &lt;Text style={{ fontSize: 16, color: '#4A5568', lineHeight: 1.75 }}&gt;《高数》《四级》《数据结构》&lt;br /&gt;三份资料进知识库&lt;/Text&gt;&#10;            &lt;/Box&gt;&#10;&lt;Box style={{ flex: 1, background: '#FFFFFF', border: '1px solid #D6DCE5', borderRadius: 8, padding: 18, gap: 10 }}&gt;&#10;                &lt;Box style={{ flexDirection: 'row', alignItems: 'center', gap: 10 }}&gt;&#10;                    &lt;Box style={{ width: 52, height: 30, background: '#3D7BD9', borderRadius: 4, justifyContent: 'center', alignItems: 'center' }}&gt;&#10;                        &lt;Text style={{ fontSize: 16, color: '#FFFFFF', fontWeight: 'bold' }}&gt;周三&lt;/Text&gt;&#10;                    &lt;/Box&gt;&#10;                    &lt;Text style={{ fontSize: 25, fontWeight: 'bold', color: '#0E3F8C' }}&gt;提个问&lt;/Text&gt;&#10;                &lt;/Box&gt;&#10;                &lt;Box style={{ height: 2, background: '#E8EFF8' }} /&gt;&#10;                &lt;Text style={{ fontSize: 16, color: '#4A5568', lineHeight: 1.75 }}&gt;「拉格朗日中值定理的条件是什么」&lt;br /&gt;要求给出处&lt;/Text&gt;&#10;            &lt;/Box&gt;&#10;&lt;Box style={{ flex: 1, background: '#FFFFFF', border: '1px solid #D6DCE5', borderRadius: 8, padding: 18, gap: 10 }}&gt;&#10;                &lt;Box style={{ flexDirection: 'row', alignItems: 'center', gap: 10 }}&gt;&#10;                    &lt;Box style={{ width: 52, height: 30, background: '#0E3F8C', borderRadius: 4, justifyContent: 'center', alignItems: 'center' }}&gt;&#10;                        &lt;Text style={{ fontSize: 16, color: '#FFFFFF', fontWeight: 'bold' }}&gt;周五&lt;/Text&gt;&#10;                    &lt;/Box&gt;&#10;                    &lt;Text style={{ fontSize: 25, fontWeight: 'bold', color: '#0E3F8C' }}&gt;出点题&lt;/Text&gt;&#10;                &lt;/Box&gt;&#10;                &lt;Box style={{ height: 2, background: '#E8EFF8' }} /&gt;&#10;                &lt;Text style={{ fontSize: 16, color: '#4A5568', lineHeight: 1.75 }}&gt;按讲义出题，昨天做错的方向&lt;br /&gt;多出几道变式题&lt;/Text&gt;&#10;            &lt;/Box&gt;&#10;&lt;Box style={{ flex: 1, background: '#FFFFFF', border: '1px solid #D6DCE5', borderRadius: 8, padding: 18, gap: 10 }}&gt;&#10;                &lt;Box style={{ flexDirection: 'row', alignItems: 'center', gap: 10 }}&gt;&#10;                    &lt;Box style={{ width: 52, height: 30, background: '#4FB3A4', borderRadius: 4, justifyContent: 'center', alignItems: 'center' }}&gt;&#10;                        &lt;Text style={{ fontSize: 16, color: '#FFFFFF', fontWeight: 'bold' }}&gt;周日&lt;/Text&gt;&#10;                    &lt;/Box&gt;&#10;                    &lt;Text style={{ fontSize: 25, fontWeight: 'bold', color: '#0E3F8C' }}&gt;练一下&lt;/Text&gt;&#10;                &lt;/Box&gt;&#10;                &lt;Box style={{ height: 2, background: '#E8EFF8' }} /&gt;&#10;                &lt;Text style={{ fontSize: 16, color: '#4A5568', lineHeight: 1.75 }}&gt;打开今日复习做三道&lt;br /&gt;自评完，明天的题自己排好&lt;/Text&gt;&#10;            &lt;/Box&gt;&#10;        &lt;/Box&gt;&#10;    &lt;/Box&gt;&#10;&#10;    &lt;Box style={{ position: 'absolute', top: 528, left: 40, width: 1200, height: 92, background: '#F7F9FC', border: '1px solid #D6DCE5', borderRadius: 8, flexDirection: 'row', alignItems: 'center', padding: '0 24px', gap: 18 }}&gt;&#10;        &lt;Text style={{ fontSize: 20, fontWeight: 'bold', color: '#0E3F8C' }}&gt;四件事，四个动作：&lt;/Text&gt;&#10;        &lt;Text style={{ fontSize: 18, color: '#4A5568', flex: 1 }}&gt;资料进得来　·　问题问得清　·　题目出得准　·　复习排得对&lt;/Text&gt;&#10;        &lt;Text style={{ fontSize: 16, color: '#8B97A8' }}&gt;听着都是小事 —— 下一页看第三件为什么最难&lt;/Text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这四件事看着都顺，但第三件有个说不清的问题 —— 下一页说它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2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1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10182225" y="190500"/>
            <a:ext cx="1628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情景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一个学生的普通一周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一个学生的一周，三个动作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先不谈技术。这是知迹被使用的样子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四个动作，一周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381000" y="17335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476250" y="1771650"/>
            <a:ext cx="3686175" cy="28575"/>
          </a:xfrm>
          <a:prstGeom prst="rect">
            <a:avLst/>
          </a:prstGeom>
          <a:solidFill>
            <a:srgbClr val="C9DDF5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4162425" y="17335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4257675" y="1771650"/>
            <a:ext cx="3676650" cy="28575"/>
          </a:xfrm>
          <a:prstGeom prst="rect">
            <a:avLst/>
          </a:prstGeom>
          <a:solidFill>
            <a:srgbClr val="C9DDF5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7934325" y="17335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3" name=""/>
          <p:cNvSpPr/>
          <p:nvPr/>
        </p:nvSpPr>
        <p:spPr>
          <a:xfrm rot="0" flipH="0" flipV="0">
            <a:off x="8029575" y="1771650"/>
            <a:ext cx="3686175" cy="28575"/>
          </a:xfrm>
          <a:prstGeom prst="rect">
            <a:avLst/>
          </a:prstGeom>
          <a:solidFill>
            <a:srgbClr val="C9DDF5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11715750" y="17335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381000" y="2114550"/>
            <a:ext cx="2714625" cy="272415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52450" y="2286000"/>
            <a:ext cx="4953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47700" y="233362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周一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143000" y="228600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传讲义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552450" y="2667000"/>
            <a:ext cx="237172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552450" y="2781300"/>
            <a:ext cx="237172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《高数》《四级》《数据结构》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三份资料进知识库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3286125" y="2114550"/>
            <a:ext cx="2714625" cy="272415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3457575" y="2286000"/>
            <a:ext cx="495300" cy="285750"/>
          </a:xfrm>
          <a:prstGeom prst="roundRect">
            <a:avLst>
              <a:gd name="adj" fmla="val 1333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552825" y="233362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周三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048125" y="228600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提个问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457575" y="2667000"/>
            <a:ext cx="237172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457575" y="2781300"/>
            <a:ext cx="2371725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「拉格朗日中值定理的条件是什么」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要求给出处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6191250" y="2114550"/>
            <a:ext cx="2714625" cy="272415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8" name=""/>
          <p:cNvSpPr/>
          <p:nvPr/>
        </p:nvSpPr>
        <p:spPr>
          <a:xfrm rot="0" flipH="0" flipV="0">
            <a:off x="6362700" y="2286000"/>
            <a:ext cx="495300" cy="285750"/>
          </a:xfrm>
          <a:prstGeom prst="roundRect">
            <a:avLst>
              <a:gd name="adj" fmla="val 13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457950" y="233362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周五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953250" y="228600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出点题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362700" y="2667000"/>
            <a:ext cx="237172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362700" y="2781300"/>
            <a:ext cx="237172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按讲义出题，昨天做错的方向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多出几道变式题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9096375" y="2114550"/>
            <a:ext cx="2714625" cy="272415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9267825" y="2286000"/>
            <a:ext cx="495300" cy="285750"/>
          </a:xfrm>
          <a:prstGeom prst="roundRect">
            <a:avLst>
              <a:gd name="adj" fmla="val 13333"/>
            </a:avLst>
          </a:prstGeom>
          <a:solidFill>
            <a:srgbClr val="4FB3A4"/>
          </a:solidFill>
          <a:ln/>
        </p:spPr>
        <p:txBody>
          <a:bodyPr/>
          <a:p/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9363075" y="233362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周日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9858375" y="228600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0E3F8C"/>
                </a:solidFill>
                <a:latin typeface="PingFang SC"/>
                <a:ea typeface="PingFang SC"/>
              </a:rPr>
              <a:t>练一下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9267825" y="2667000"/>
            <a:ext cx="237172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267825" y="2781300"/>
            <a:ext cx="237172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打开今日复习做三道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自评完，明天的题自己排好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381000" y="5029200"/>
            <a:ext cx="11430000" cy="876300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09600" y="5353050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四件事，四个动作：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2495550" y="5362575"/>
            <a:ext cx="57626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PingFang SC"/>
                <a:ea typeface="PingFang SC"/>
              </a:rPr>
              <a:t>资料进得来　·　问题问得清　·　题目出得准　·　复习排得对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429625" y="5372100"/>
            <a:ext cx="3152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听着都是小事</a:t>
            </a:r>
            <a:r>
              <a:rPr lang="en-US" sz="1200">
                <a:solidFill>
                  <a:srgbClr val="8B97A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下一页看第三件为什么最难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191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这四件事看着都顺，但第三件有个说不清的问题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下一页说它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 name="03 情景｜第三件事最难：凭什么它就比前两个准">
    <p:spTree>
      <p:nvGrpSpPr>
        <p:cNvPr id="380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情景 · 转折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三件事最难：凭什么它就比前两个准&lt;/Text&gt;&#10;        &lt;Text style={{ fontSize: 19, color: '#4A5568' }}&gt;答案不是「更聪明的模型」，而是「一套能被检查的流程」&lt;/Text&gt;&#10;    &lt;/Box&gt;&#10;&#10;    &lt;Box style={{ position: 'absolute', top: 168, left: 40, width: 1200, height: 460, flexDirection: 'row', gap: 20 }}&gt;&#10;        &lt;Box style={{ flex: 1, background: '#F7F9FC', border: '1px solid #D6DCE5', borderRadius: 8, padding: 24, gap: 14 }}&gt;&#10;            &lt;Text style={{ fontSize: 23, fontWeight: 'bold', color: '#4A5568' }}&gt;前两件：做个脚本也能做&lt;/Text&gt;&#10;            &lt;Box style={{ gap: 12, marginTop: 4 }}&gt;&#10;                &lt;Box style={{ flexDirection: 'row', gap: 12, alignItems: 'flex-start' }}&gt;&#10;                    &lt;Box style={{ width: 8, height: 8, borderRadius: 4, background: '#8B97A8', marginTop: 8 }} /&gt;&#10;                    &lt;Text style={{ fontSize: 17, color: '#1A2230', lineHeight: 1.65, flex: 1 }}&gt;存资料 —— 上传、分类、抽文本，没有 Agent 也能做&lt;/Text&gt;&#10;                &lt;/Box&gt;&#10;                &lt;Box style={{ flexDirection: 'row', gap: 12, alignItems: 'flex-start' }}&gt;&#10;                    &lt;Box style={{ width: 8, height: 8, borderRadius: 4, background: '#8B97A8', marginTop: 8 }} /&gt;&#10;                    &lt;Text style={{ fontSize: 17, color: '#1A2230', lineHeight: 1.65, flex: 1 }}&gt;出题 —— 按模板抽关键词组题，能凑出题，但凑不出好题&lt;/Text&gt;&#10;                &lt;/Box&gt;&#10;            &lt;/Box&gt;&#10;            &lt;Box style={{ flex: 1, background: '#FFFFFF', border: '1px solid #D6DCE5', borderRadius: 6, padding: 16, justifyContent: 'center' }}&gt;&#10;                &lt;Text style={{ fontSize: 15, color: '#4A5568', lineHeight: 1.7 }}&gt;&#10;                    这两件事的共同点：&lt;b&gt;做错了你能看出来&lt;/b&gt;。文件没进去、题目明显跑题，你自己一眼就知道。&#10;                &lt;/Text&gt;&#10;            &lt;/Box&gt;&#10;        &lt;/Box&gt;&#10;&#10;        &lt;Box style={{ flex: 1, background: '#E8EFF8', border: '2px solid #1E4FA8', borderRadius: 8, padding: 24, gap: 14 }}&gt;&#10;            &lt;Text style={{ fontSize: 23, fontWeight: 'bold', color: '#0E3F8C' }}&gt;第三件：绕不开 Agent&lt;/Text&gt;&#10;            &lt;Text style={{ fontSize: 16, color: '#4A5568', lineHeight: 1.7 }}&gt;&#10;                题要「基于你的资料」，错题要「影响难度」，复习要「按掌握度排」——&#10;                一旦要读懂你的资料并据此判断，就绕不开一个会自己推理的东西。&#10;            &lt;/Text&gt;&#10;            &lt;Box style={{ flex: 1, background: '#FFFFFF', border: '1px solid #1E4FA8', borderRadius: 6, padding: 18, justifyContent: 'center', gap: 10 }}&gt;&#10;                &lt;Text style={{ fontSize: 19, fontWeight: 'bold', color: '#D9534F' }}&gt;但它带来了一个新问题&lt;/Text&gt;&#10;                &lt;Text style={{ fontSize: 18, color: '#1A2230', lineHeight: 1.7 }}&gt;&#10;                    前两件事做错了你能看出来，&lt;b&gt;这件事做错了你不知道&lt;/b&gt;。&#10;                &lt;/Text&gt;&#10;                &lt;Text style={{ fontSize: 15, color: '#4A5568', lineHeight: 1.65 }}&gt;&#10;                    它答得很流畅、引用了一堆资料，看着全对 —— 但可能整段都是编的。&#10;                &lt;/Text&gt;&#10;            &lt;/Box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所以难的从来不是 AI 会不会答，而是答了之后你敢不敢信 —— 这才是要解决的问题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3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11115675" y="190500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情景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转折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第三件事最难：凭什么它就比前两个准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答案不是「更聪明的模型」，而是「一套能被检查的流程」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381000" y="1600200"/>
            <a:ext cx="5619750" cy="4381500"/>
          </a:xfrm>
          <a:prstGeom prst="roundRect">
            <a:avLst>
              <a:gd name="adj" fmla="val 173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09600" y="1828800"/>
            <a:ext cx="51625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4A5568"/>
                </a:solidFill>
                <a:latin typeface="PingFang SC"/>
                <a:ea typeface="PingFang SC"/>
              </a:rPr>
              <a:t>前两件：做个脚本也能做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609600" y="23431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00100" y="226695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存资料</a:t>
            </a: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上传、分类、抽文本，没有</a:t>
            </a: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 Agent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也能做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6096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00100" y="2705100"/>
            <a:ext cx="4972050" cy="3238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出题</a:t>
            </a:r>
            <a:r>
              <a:rPr lang="en-US" sz="1275">
                <a:solidFill>
                  <a:srgbClr val="1A2230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275">
                <a:solidFill>
                  <a:srgbClr val="1A2230"/>
                </a:solidFill>
                <a:latin typeface="PingFang SC"/>
                <a:ea typeface="PingFang SC"/>
              </a:rPr>
              <a:t>按模板抽关键词组题，能凑出题，但凑不出好题</a:t>
            </a:r>
            <a:endParaRPr/>
          </a:p>
        </p:txBody>
      </p:sp>
      <p:sp>
        <p:nvSpPr>
          <p:cNvPr id="395" name=""/>
          <p:cNvSpPr/>
          <p:nvPr/>
        </p:nvSpPr>
        <p:spPr>
          <a:xfrm rot="0" flipH="0" flipV="0">
            <a:off x="609600" y="3162300"/>
            <a:ext cx="5162550" cy="259080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62000" y="4162425"/>
            <a:ext cx="48577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这两件事的共同点：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做错了你能看出来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。文件没进去、题目明显跑题，你自己一眼就知道。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6191250" y="1600200"/>
            <a:ext cx="5619750" cy="4381500"/>
          </a:xfrm>
          <a:prstGeom prst="roundRect">
            <a:avLst>
              <a:gd name="adj" fmla="val 1739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419850" y="1828800"/>
            <a:ext cx="51625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PingFang SC"/>
                <a:ea typeface="PingFang SC"/>
              </a:rPr>
              <a:t>第三件：绕不开</a:t>
            </a:r>
            <a:r>
              <a:rPr lang="en-US" sz="1725" b="1">
                <a:solidFill>
                  <a:srgbClr val="0E3F8C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6419850" y="2228850"/>
            <a:ext cx="51625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题要「基于你的资料」，错题要「影响难度」，复习要「按掌握度排」——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一旦要读懂你的资料并据此判断，就绕不开一个会自己推理的东西。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6419850" y="2990850"/>
            <a:ext cx="5162550" cy="276225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591300" y="3848100"/>
            <a:ext cx="4819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PingFang SC"/>
                <a:ea typeface="PingFang SC"/>
              </a:rPr>
              <a:t>但它带来了一个新问题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591300" y="4162425"/>
            <a:ext cx="4819650" cy="3524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前两件事做错了你能看出来，</a:t>
            </a: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这件事做错了你不知道</a:t>
            </a:r>
            <a:r>
              <a:rPr lang="zh-CN" sz="1350">
                <a:solidFill>
                  <a:srgbClr val="1A2230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591300" y="4610100"/>
            <a:ext cx="48196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它答得很流畅、引用了一堆资料，看着全对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但可能整段都是编的。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753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所以难的从来不是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会不会答，而是答了之后你敢不敢信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这才是要解决的问题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 name="04 问题｜可信比聪明重要：可恢复、可拦截、可度量">
    <p:spTree>
      <p:nvGrpSpPr>
        <p:cNvPr id="411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问题 · 三道坎&lt;/Text&gt;&#10;    &lt;/Box&gt;&#10;    &lt;Box style={{ position: 'absolute', top: 56, left: 40, width: 1200, height: 92, flexDirection: 'column', justifyContent: 'center', gap: 8 }}&gt;&#10;        &lt;Text style={{ fontSize: 34, fontWeight: 'bold', color: '#0E3F8C' }}&gt;可信比聪明重要：可恢复、可拦截、可度量&lt;/Text&gt;&#10;        &lt;Text style={{ fontSize: 19, color: '#4A5568' }}&gt;每道坎背后都是一个具体的、会真实发生的失效场景&lt;/Text&gt;&#10;    &lt;/Box&gt;&#10;&#10;    &lt;Box style={{ position: 'absolute', top: 168, left: 40, width: 1200, height: 456, flexDirection: 'row', gap: 20 }}&gt;&#10;        &lt;Box style={{ flex: 1, background: '#F7F9FC', border: '1px solid #D6DCE5', borderRadius: 8, padding: 22, gap: 11, justifyContent: 'center' }}&gt;&#10;            &lt;Box style={{ flexDirection: 'row', alignItems: 'center', gap: 12 }}&gt;&#10;                &lt;Box style={{ width: 46, height: 46, background: '#1E4FA8', borderRadius: 6, justifyContent: 'center', alignItems: 'center' }}&gt;&#10;                    &lt;Text style={{ fontSize: 24, color: '#FFFFFF', fontWeight: 'bold' }}&gt;1&lt;/Text&gt;&#10;                &lt;/Box&gt;&#10;                &lt;Text style={{ fontSize: 27, fontWeight: 'bold', color: '#0E3F8C' }}&gt;可恢复&lt;/Text&gt;&#10;            &lt;/Box&gt;&#10;            &lt;Box style={{ height: 2, background: '#E8EFF8' }} /&gt;&#10;            &lt;Text style={{ fontSize: 16, color: '#1A2230', lineHeight: 1.55 }}&gt;失效场景：会话崩在第 7 步，前 6 步的检索与工具调用全部作废&lt;/Text&gt;&#10;            &lt;Text style={{ fontSize: 14, color: '#4A5568', lineHeight: 1.5 }}&gt;为什么难：状态在消息列表里，进程一挂就没了&lt;/Text&gt;&#10;            &lt;Box style={{ background: '#E8EFF8', borderRadius: 5, padding: '10px 12px' }}&gt;&#10;                &lt;Text style={{ fontSize: 14, color: '#0E3F8C', lineHeight: 1.6 }}&gt;LangGraph 的 checkpointer 正是为此刻态而设计&lt;/Text&gt;&#10;            &lt;/Box&gt;&#10;        &lt;/Box&gt;&#10;&lt;Box style={{ flex: 1, background: '#F7F9FC', border: '1px solid #D6DCE5', borderRadius: 8, padding: 22, gap: 11, justifyContent: 'center' }}&gt;&#10;            &lt;Box style={{ flexDirection: 'row', alignItems: 'center', gap: 12 }}&gt;&#10;                &lt;Box style={{ width: 46, height: 46, background: '#1E4FA8', borderRadius: 6, justifyContent: 'center', alignItems: 'center' }}&gt;&#10;                    &lt;Text style={{ fontSize: 24, color: '#FFFFFF', fontWeight: 'bold' }}&gt;2&lt;/Text&gt;&#10;                &lt;/Box&gt;&#10;                &lt;Text style={{ fontSize: 27, fontWeight: 'bold', color: '#0E3F8C' }}&gt;可拦截&lt;/Text&gt;&#10;            &lt;/Box&gt;&#10;            &lt;Box style={{ height: 2, background: '#E8EFF8' }} /&gt;&#10;            &lt;Text style={{ fontSize: 16, color: '#1A2230', lineHeight: 1.55 }}&gt;失效场景：模型幻觉出一个被禁工具名并真的发起调用&lt;/Text&gt;&#10;            &lt;Text style={{ fontSize: 14, color: '#4A5568', lineHeight: 1.5 }}&gt;为什么难：只在 schema 层裁剪工具，执行层没有第二道判定&lt;/Text&gt;&#10;            &lt;Box style={{ background: '#E8EFF8', borderRadius: 5, padding: '10px 12px' }}&gt;&#10;                &lt;Text style={{ fontSize: 14, color: '#0E3F8C', lineHeight: 1.6 }}&gt;schema 层不够 —— 模型能「说出」工具名并失败&lt;/Text&gt;&#10;            &lt;/Box&gt;&#10;        &lt;/Box&gt;&#10;&lt;Box style={{ flex: 1, background: '#F7F9FC', border: '1px solid #D6DCE5', borderRadius: 8, padding: 22, gap: 11, justifyContent: 'center' }}&gt;&#10;            &lt;Box style={{ flexDirection: 'row', alignItems: 'center', gap: 12 }}&gt;&#10;                &lt;Box style={{ width: 46, height: 46, background: '#1E4FA8', borderRadius: 6, justifyContent: 'center', alignItems: 'center' }}&gt;&#10;                    &lt;Text style={{ fontSize: 24, color: '#FFFFFF', fontWeight: 'bold' }}&gt;3&lt;/Text&gt;&#10;                &lt;/Box&gt;&#10;                &lt;Text style={{ fontSize: 27, fontWeight: 'bold', color: '#0E3F8C' }}&gt;可度量&lt;/Text&gt;&#10;            &lt;/Box&gt;&#10;            &lt;Box style={{ height: 2, background: '#E8EFF8' }} /&gt;&#10;            &lt;Text style={{ fontSize: 16, color: '#1A2230', lineHeight: 1.55 }}&gt;失效场景：改了一行检索权重，重跑一次看着更好了&lt;/Text&gt;&#10;            &lt;Text style={{ fontSize: 14, color: '#4A5568', lineHeight: 1.5 }}&gt;为什么难：没有固定考卷，波动和真实提升混在一起&lt;/Text&gt;&#10;            &lt;Box style={{ background: '#E8EFF8', borderRadius: 5, padding: '10px 12px' }}&gt;&#10;                &lt;Text style={{ fontSize: 14, color: '#0E3F8C', lineHeight: 1.6 }}&gt;τ-bench 实测 pass^1 ≈ 61%、pass^8 &amp;lt; 25%&lt;/Text&gt;&#10;            &lt;/Box&gt;&#10;        &lt;/Box&gt;&#10;    &lt;/Box&gt;&#10;&#10;    &lt;Box style={{ position: 'absolute', top: 636, left: 40, width: 1200, height: 60, background: '#E8EFF8', borderRadius: 6, flexDirection: 'row', alignItems: 'center', padding: '0 20px', gap: 12 }}&gt;&#10;        &lt;Text style={{ fontSize: 18, color: '#0E3F8C', fontWeight: 'bold' }}&gt;这三件事都不是模型能力问题，是系统设计问题&lt;/Text&gt;&#10;        &lt;Text style={{ fontSize: 17, color: '#4A5568', flex: 1 }}&gt;—— 下面跟着一次提问，看它依次怎么过这七关&lt;/Text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知迹选了一个具体领域，把这三道坎都当作必须用工程手段解决的问题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4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3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0982325" y="190500"/>
            <a:ext cx="82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问题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三道坎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可信比聪明重要：可恢复、可拦截、可度量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每道坎背后都是一个具体的、会真实发生的失效场景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1600200"/>
            <a:ext cx="3686175" cy="4343400"/>
          </a:xfrm>
          <a:prstGeom prst="roundRect">
            <a:avLst>
              <a:gd name="adj" fmla="val 20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1" name=""/>
          <p:cNvSpPr/>
          <p:nvPr/>
        </p:nvSpPr>
        <p:spPr>
          <a:xfrm rot="0" flipH="0" flipV="0">
            <a:off x="590550" y="2705100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762000" y="2790825"/>
            <a:ext cx="95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7715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可恢复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590550" y="3248025"/>
            <a:ext cx="326707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90550" y="3371850"/>
            <a:ext cx="32670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失效场景：会话崩在第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7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步，前</a:t>
            </a:r>
            <a:r>
              <a:rPr lang="en-US" sz="1200">
                <a:solidFill>
                  <a:srgbClr val="1A2230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步的检索与工具调用全部作废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90550" y="4048125"/>
            <a:ext cx="32670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为什么难：状态在消息列表里，进程一挂就没了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590550" y="4400550"/>
            <a:ext cx="3267075" cy="447675"/>
          </a:xfrm>
          <a:prstGeom prst="roundRect">
            <a:avLst>
              <a:gd name="adj" fmla="val 1063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704850" y="4495800"/>
            <a:ext cx="30384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的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checkpointer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正是为此刻态而设计</a:t>
            </a:r>
            <a:endParaRPr/>
          </a:p>
        </p:txBody>
      </p:sp>
      <p:sp>
        <p:nvSpPr>
          <p:cNvPr id="429" name=""/>
          <p:cNvSpPr/>
          <p:nvPr/>
        </p:nvSpPr>
        <p:spPr>
          <a:xfrm rot="0" flipH="0" flipV="0">
            <a:off x="4257675" y="1600200"/>
            <a:ext cx="3676650" cy="4343400"/>
          </a:xfrm>
          <a:prstGeom prst="roundRect">
            <a:avLst>
              <a:gd name="adj" fmla="val 207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0" name=""/>
          <p:cNvSpPr/>
          <p:nvPr/>
        </p:nvSpPr>
        <p:spPr>
          <a:xfrm rot="0" flipH="0" flipV="0">
            <a:off x="4467225" y="258127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619625" y="2667000"/>
            <a:ext cx="1428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019675" y="2647950"/>
            <a:ext cx="7715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可拦截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4467225" y="3124200"/>
            <a:ext cx="3257550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4467225" y="3248025"/>
            <a:ext cx="32575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失效场景：模型幻觉出一个被禁工具名并真的发起调用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4467225" y="3924300"/>
            <a:ext cx="32575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为什么难：只在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schema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层裁剪工具，执行层没有第二道判定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4467225" y="4514850"/>
            <a:ext cx="3257550" cy="447675"/>
          </a:xfrm>
          <a:prstGeom prst="roundRect">
            <a:avLst>
              <a:gd name="adj" fmla="val 1063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4581525" y="4610100"/>
            <a:ext cx="3028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schema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层不够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模型能「说出」工具名并失败</a:t>
            </a:r>
            <a:endParaRPr/>
          </a:p>
        </p:txBody>
      </p:sp>
      <p:sp>
        <p:nvSpPr>
          <p:cNvPr id="438" name=""/>
          <p:cNvSpPr/>
          <p:nvPr/>
        </p:nvSpPr>
        <p:spPr>
          <a:xfrm rot="0" flipH="0" flipV="0">
            <a:off x="8124825" y="1600200"/>
            <a:ext cx="3686175" cy="4343400"/>
          </a:xfrm>
          <a:prstGeom prst="roundRect">
            <a:avLst>
              <a:gd name="adj" fmla="val 20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8334375" y="2705100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486775" y="2790825"/>
            <a:ext cx="1428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886825" y="2771775"/>
            <a:ext cx="7715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025" b="1">
                <a:solidFill>
                  <a:srgbClr val="0E3F8C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8334375" y="3248025"/>
            <a:ext cx="3267075" cy="190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8334375" y="3371850"/>
            <a:ext cx="32670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1A2230"/>
                </a:solidFill>
                <a:latin typeface="PingFang SC"/>
                <a:ea typeface="PingFang SC"/>
              </a:rPr>
              <a:t>失效场景：改了一行检索权重，重跑一次看着更好了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8334375" y="4048125"/>
            <a:ext cx="32670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为什么难：没有固定考卷，波动和真实提升混在一起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8334375" y="4400550"/>
            <a:ext cx="3267075" cy="447675"/>
          </a:xfrm>
          <a:prstGeom prst="roundRect">
            <a:avLst>
              <a:gd name="adj" fmla="val 1063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8448675" y="4495800"/>
            <a:ext cx="30384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τ-bench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实测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pass^1 ≈ 61%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、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>pass^8 &lt; 25%</a:t>
            </a:r>
            <a:endParaRPr/>
          </a:p>
        </p:txBody>
      </p:sp>
      <p:sp>
        <p:nvSpPr>
          <p:cNvPr id="447" name=""/>
          <p:cNvSpPr/>
          <p:nvPr/>
        </p:nvSpPr>
        <p:spPr>
          <a:xfrm rot="0" flipH="0" flipV="0">
            <a:off x="381000" y="6057900"/>
            <a:ext cx="11430000" cy="571500"/>
          </a:xfrm>
          <a:prstGeom prst="roundRect">
            <a:avLst>
              <a:gd name="adj" fmla="val 1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571500" y="6238875"/>
            <a:ext cx="3600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这三件事都不是模型能力问题，是系统设计问题</a:t>
            </a:r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4286250" y="6248400"/>
            <a:ext cx="733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PingFang SC"/>
                <a:ea typeface="PingFang SC"/>
              </a:rPr>
              <a:t xml:space="preserve">—— </a:t>
            </a:r>
            <a:r>
              <a:rPr lang="zh-CN" sz="1275">
                <a:solidFill>
                  <a:srgbClr val="4A5568"/>
                </a:solidFill>
                <a:latin typeface="PingFang SC"/>
                <a:ea typeface="PingFang SC"/>
              </a:rPr>
              <a:t>下面跟着一次提问，看它依次怎么过这七关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610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知迹选了一个具体领域，把这三道坎都当作必须用工程手段解决的问题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 name="05 选型｜为什么用 LangGraph，而不是自己写个 while 循环">
    <p:spTree>
      <p:nvGrpSpPr>
        <p:cNvPr id="457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技术选型&lt;/Text&gt;&#10;    &lt;/Box&gt;&#10;    &lt;Box style={{ position: 'absolute', top: 56, left: 40, width: 1200, height: 92, flexDirection: 'column', justifyContent: 'center', gap: 8 }}&gt;&#10;        &lt;Text style={{ fontSize: 34, fontWeight: 'bold', color: '#0E3F8C' }}&gt;为什么用 LangGraph，而不是自己写个 while 循环&lt;/Text&gt;&#10;        &lt;Text style={{ fontSize: 19, color: '#4A5568' }}&gt;状态、检查点、中断、条件跳转 —— 这四件事是选型的全部理由&lt;/Text&gt;&#10;    &lt;/Box&gt;&#10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application/graph.py:311-320&lt;/Text&gt;&#10;            &lt;/Box&gt;&#10;            &lt;Text style={{ fontSize: 13, color: '#E3ECFA', lineHeight: 1.52, fontFamily: 'SF Mono, Menlo, monospace', flex: 1 }}&gt;builder = StateGraph(StudyState)&lt;br /&gt;builder.add_node('route', route_node)&lt;br /&gt;builder.add_node('plan',  plan_node)&lt;br /&gt;builder.add_node('agent', agent_node)&lt;br /&gt;builder.add_node('tools', tools_node)&lt;br /&gt;builder.add_edge(START, 'route')&lt;br /&gt;builder.add_edge('route', 'plan')&lt;br /&gt;builder.add_edge('plan',  'agent')&lt;br /&gt;builder.add_conditional_edges(&lt;br /&gt;    'agent', should_continue,&lt;br /&gt;    &amp;#123;'tools': 'tools', END: END&amp;#125;)&lt;br /&gt;builder.add_edge('tools', 'agent')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画出来的回合&lt;/Text&gt;&#10;        &lt;Text style={{ fontSize: 14, color: '#8B97A8' }}&gt;上面那段代码编译后长这样&lt;/Text&gt;&#10;&#10;        &lt;Box style={{ flex: 1, flexDirection: 'column', gap: 8, justifyContent: 'center' }}&gt;&#10;            &lt;Box style={{ flexDirection: 'row', alignItems: 'center', gap: 5 }}&gt;&#10;                &lt;Box style={{ width: 78, height: 44, background: '#F7F9FC', border: '2px solid #1E4FA8', borderRadius: 6, justifyContent: 'center', alignItems: 'center' }}&gt;&#10;                    &lt;Text style={{ fontSize: 14, fontWeight: 'bold', color: '#1E4FA8' }}&gt;START&lt;/Text&gt;&#10;                &lt;/Box&gt;&#10;                &lt;Box style={{ width: 18, height: 22, flexDirection: 'row', alignItems: 'center' }}&gt;&#10;                &lt;Box style={{ flex: 1, height: 3, background: '#1E4FA8' }} /&gt;&#10;                &lt;Box style={{ width: 9, height: 9, background: '#1E4FA8', borderRadius: 2, transform: 'rotate(45deg)' }} /&gt;&#10;            &lt;/Box&gt;&#10;                &lt;Box style={{ width: 100, height: 56, background: '#1E4FA8', border: '2px solid #1E4FA8', borderRadius: 7, justifyContent: 'center', alignItems: 'center' }}&gt;&#10;                &lt;Text style={{ fontSize: 19, fontWeight: 'bold', color: '#FFFFFF' }}&gt;route&lt;/Text&gt;&#10;            &lt;/Box&gt;&#10;                &lt;Box style={{ width: 18, height: 22, flexDirection: 'row', alignItems: 'center' }}&gt;&#10;                &lt;Box style={{ flex: 1, height: 3, background: '#1E4FA8' }} /&gt;&#10;                &lt;Box style={{ width: 9, height: 9, background: '#1E4FA8', borderRadius: 2, transform: 'rotate(45deg)' }} /&gt;&#10;            &lt;/Box&gt;&#10;                &lt;Box style={{ width: 100, height: 56, background: '#1E4FA8', border: '2px solid #1E4FA8', borderRadius: 7, justifyContent: 'center', alignItems: 'center' }}&gt;&#10;                &lt;Text style={{ fontSize: 19, fontWeight: 'bold', color: '#FFFFFF' }}&gt;plan&lt;/Text&gt;&#10;            &lt;/Box&gt;&#10;                &lt;Box style={{ width: 18, height: 22, flexDirection: 'row', alignItems: 'center' }}&gt;&#10;                &lt;Box style={{ flex: 1, height: 3, background: '#1E4FA8' }} /&gt;&#10;                &lt;Box style={{ width: 9, height: 9, background: '#1E4FA8', borderRadius: 2, transform: 'rotate(45deg)' }} /&gt;&#10;            &lt;/Box&gt;&#10;                &lt;Box style={{ width: 100, height: 56, background: '#0E3F8C', border: '2px solid #1E4FA8', borderRadius: 7, justifyContent: 'center', alignItems: 'center' }}&gt;&#10;                &lt;Text style={{ fontSize: 19, fontWeight: 'bold', color: '#FFFFFF' }}&gt;agent&lt;/Text&gt;&#10;            &lt;/Box&gt;&#10;                &lt;Box style={{ width: 70, height: 44, background: '#F7F9FC', border: '2px solid #1E4FA8', borderRadius: 6, justifyContent: 'center', alignItems: 'center' }}&gt;&#10;                    &lt;Text style={{ fontSize: 14, fontWeight: 'bold', color: '#1E4FA8' }}&gt;END&lt;/Text&gt;&#10;                &lt;/Box&gt;&#10;            &lt;/Box&gt;&#10;            &lt;Box style={{ flexDirection: 'row', alignItems: 'center', gap: 8, paddingLeft: 26 }}&gt;&#10;                &lt;Box style={{ width: 22, height: 26, alignItems: 'center', justifyContent: 'center' }}&gt;&#10;                &lt;Box style={{ width: 3, height: 14, background: '#3D7BD9' }} /&gt;&#10;                &lt;Box style={{ width: 9, height: 9, background: '#3D7BD9', borderRadius: 2, transform: 'rotate(45deg)' }} /&gt;&#10;            &lt;/Box&gt;&#10;                &lt;Box style={{ width: 120, height: 54, background: '#0E3F8C', border: '2px solid #1E4FA8', borderRadius: 7, justifyContent: 'center', alignItems: 'center' }}&gt;&#10;                    &lt;Text style={{ fontSize: 18, fontWeight: 'bold', color: '#FFFFFF' }}&gt;tools&lt;/Text&gt;&#10;                &lt;/Box&gt;&#10;                &lt;Box style={{ flex: 1, height: 34, border: '2px solid #3D7BD9', borderRadius: 6, background: '#E8EFF8', justifyContent: 'center', alignItems: 'center' }}&gt;&#10;                    &lt;Text style={{ fontSize: 13, color: '#0E3F8C', fontWeight: 'bold' }}&gt;tools → agent 回到模型（结果回填）&lt;/Text&gt;&#10;                &lt;/Box&gt;&#10;            &lt;/Box&gt;&#10;        &lt;/Box&gt;&#10;&#10;        &lt;Box style={{ background: '#FFFFFF', border: '1px solid #D6DCE5', borderRadius: 6, padding: 14, gap: 5 }}&gt;&#10;            &lt;Text style={{ fontSize: 16, fontWeight: 'bold', color: '#0E3F8C' }}&gt;为什么不用 while 循环自己写&lt;/Text&gt;&#10;            &lt;Text style={{ fontSize: 14, color: '#4A5568', lineHeight: 1.6 }}&gt;检查点、循环上限、中断恢复、条件跳转这四件事，用框架写是十几行；自己写是几百行状态管理，而且每加一个能力都要重写一遍。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框架负责编排，决策留给自己 —— 我要的是控制权，不是省事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5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9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461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848975" y="19050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技术选型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为什么用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LangGraph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，而不是自己写个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while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循环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状态、检查点、中断、条件跳转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这四件事是选型的全部理由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application/graph.py:311-320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 = StateGraph(StudyState)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builder.add_node('route', route_node)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builder.add_node('plan',  plan_node)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builder.add_node('agent', agent_node)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builder.add_node('tools', tools_node)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builder.add_edge(START, 'route')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builder.add_edge('route', 'plan')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builder.add_edge('plan',  'agent')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builder.add_conditional_edges(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'agent', should_continue,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{'tools': 'tools', END: END})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builder.add_edge('tools', 'agent')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画出来的回合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5124450" y="2133600"/>
            <a:ext cx="632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上面那段代码编译后长这样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5124450" y="3076575"/>
            <a:ext cx="742950" cy="419100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5276850" y="3209925"/>
            <a:ext cx="43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START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5915025" y="3276600"/>
            <a:ext cx="85725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6134100" y="3019425"/>
            <a:ext cx="952500" cy="5334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6381750" y="3181350"/>
            <a:ext cx="457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7134225" y="3276600"/>
            <a:ext cx="85725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7353300" y="3019425"/>
            <a:ext cx="952500" cy="5334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7648575" y="3181350"/>
            <a:ext cx="371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353425" y="3276600"/>
            <a:ext cx="85725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572500" y="3019425"/>
            <a:ext cx="952500" cy="533400"/>
          </a:xfrm>
          <a:prstGeom prst="roundRect">
            <a:avLst>
              <a:gd name="adj" fmla="val 12500"/>
            </a:avLst>
          </a:prstGeom>
          <a:solidFill>
            <a:srgbClr val="0E3F8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810625" y="3181350"/>
            <a:ext cx="485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9572625" y="3076575"/>
            <a:ext cx="666750" cy="419100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9763125" y="3209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END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5467350" y="3781425"/>
            <a:ext cx="28575" cy="1333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7" name=""/>
          <p:cNvSpPr/>
          <p:nvPr/>
        </p:nvSpPr>
        <p:spPr>
          <a:xfrm rot="0" flipH="0" flipV="0">
            <a:off x="5657850" y="3629025"/>
            <a:ext cx="1143000" cy="514350"/>
          </a:xfrm>
          <a:prstGeom prst="roundRect">
            <a:avLst>
              <a:gd name="adj" fmla="val 12963"/>
            </a:avLst>
          </a:prstGeom>
          <a:solidFill>
            <a:srgbClr val="0E3F8C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6029325" y="3781425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77050" y="3724275"/>
            <a:ext cx="457200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 w="254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105775" y="38100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PingFang SC"/>
                <a:ea typeface="PingFang SC"/>
              </a:rPr>
              <a:t xml:space="preserve">tools → agent </a:t>
            </a:r>
            <a:r>
              <a:rPr lang="zh-CN" sz="975" b="1">
                <a:solidFill>
                  <a:srgbClr val="0E3F8C"/>
                </a:solidFill>
                <a:latin typeface="PingFang SC"/>
                <a:ea typeface="PingFang SC"/>
              </a:rPr>
              <a:t>回到模型（结果回填）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5124450" y="4867275"/>
            <a:ext cx="6324600" cy="1019175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5257800" y="5000625"/>
            <a:ext cx="605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PingFang SC"/>
                <a:ea typeface="PingFang SC"/>
              </a:rPr>
              <a:t xml:space="preserve"> while </a:t>
            </a: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循环自己写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257800" y="5238750"/>
            <a:ext cx="6057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检查点、循环上限、中断恢复、条件跳转这四件事，用框架写是十几行；自己写是几百行状态管理，而且每加一个能力都要重写一遍。</a:t>
            </a:r>
            <a:endParaRPr/>
          </a:p>
        </p:txBody>
      </p:sp>
      <p:grpSp>
        <p:nvGrpSpPr>
          <p:cNvPr id="494" name=""/>
          <p:cNvGrpSpPr/>
          <p:nvPr/>
        </p:nvGrpSpPr>
        <p:grpSpPr>
          <a:xfrm rot="2700000" flipH="0" flipV="0">
            <a:off x="6000750" y="3248025"/>
            <a:ext cx="85725" cy="85725"/>
            <a:chOff x="6000750" y="3248025"/>
            <a:chExt cx="85725" cy="85725"/>
          </a:xfrm>
        </p:grpSpPr>
        <p:sp>
          <p:nvSpPr>
            <p:cNvPr id="495" name=""/>
            <p:cNvSpPr/>
            <p:nvPr/>
          </p:nvSpPr>
          <p:spPr>
            <a:xfrm rot="0" flipH="0" flipV="0">
              <a:off x="6000750" y="3248025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grpSp>
        <p:nvGrpSpPr>
          <p:cNvPr id="496" name=""/>
          <p:cNvGrpSpPr/>
          <p:nvPr/>
        </p:nvGrpSpPr>
        <p:grpSpPr>
          <a:xfrm rot="2700000" flipH="0" flipV="0">
            <a:off x="7219950" y="3248025"/>
            <a:ext cx="85725" cy="85725"/>
            <a:chOff x="7219950" y="3248025"/>
            <a:chExt cx="85725" cy="85725"/>
          </a:xfrm>
        </p:grpSpPr>
        <p:sp>
          <p:nvSpPr>
            <p:cNvPr id="497" name=""/>
            <p:cNvSpPr/>
            <p:nvPr/>
          </p:nvSpPr>
          <p:spPr>
            <a:xfrm rot="0" flipH="0" flipV="0">
              <a:off x="7219950" y="3248025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grpSp>
        <p:nvGrpSpPr>
          <p:cNvPr id="498" name=""/>
          <p:cNvGrpSpPr/>
          <p:nvPr/>
        </p:nvGrpSpPr>
        <p:grpSpPr>
          <a:xfrm rot="2700000" flipH="0" flipV="0">
            <a:off x="8439150" y="3248025"/>
            <a:ext cx="85725" cy="85725"/>
            <a:chOff x="8439150" y="3248025"/>
            <a:chExt cx="85725" cy="85725"/>
          </a:xfrm>
        </p:grpSpPr>
        <p:sp>
          <p:nvSpPr>
            <p:cNvPr id="499" name=""/>
            <p:cNvSpPr/>
            <p:nvPr/>
          </p:nvSpPr>
          <p:spPr>
            <a:xfrm rot="0" flipH="0" flipV="0">
              <a:off x="8439150" y="3248025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grpSp>
        <p:nvGrpSpPr>
          <p:cNvPr id="500" name=""/>
          <p:cNvGrpSpPr/>
          <p:nvPr/>
        </p:nvGrpSpPr>
        <p:grpSpPr>
          <a:xfrm rot="2700000" flipH="0" flipV="0">
            <a:off x="5438775" y="3914775"/>
            <a:ext cx="85725" cy="85725"/>
            <a:chOff x="5438775" y="3914775"/>
            <a:chExt cx="85725" cy="85725"/>
          </a:xfrm>
        </p:grpSpPr>
        <p:sp>
          <p:nvSpPr>
            <p:cNvPr id="501" name=""/>
            <p:cNvSpPr/>
            <p:nvPr/>
          </p:nvSpPr>
          <p:spPr>
            <a:xfrm rot="0" flipH="0" flipV="0">
              <a:off x="5438775" y="3914775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3D7BD9"/>
            </a:solidFill>
            <a:ln/>
          </p:spPr>
          <p:txBody>
            <a:bodyPr/>
            <a:p/>
          </p:txBody>
        </p:sp>
      </p:grpSp>
      <p:sp>
        <p:nvSpPr>
          <p:cNvPr id="502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3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框架负责编排，决策留给自己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我要的是控制权，不是省事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 name="06 技术·第一关｜看得懂意图">
    <p:spTree>
      <p:nvGrpSpPr>
        <p:cNvPr id="509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一关 · 看得懂意图&lt;/Text&gt;&#10;        &lt;Text style={{ fontSize: 19, color: '#4A5568' }}&gt;先判这是哪一类问题 —— 判错了，检索和权限都会跟着错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1 关&lt;/Text&gt;&#10;        &lt;Box style={{ width: 1, height: 14, background: '#5B8FD9' }} /&gt;&#10;        &lt;Text style={{ fontSize: 15, color: '#C9DDF5' }}&gt;看得懂意图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application/routing.py:61 / :132&lt;/Text&gt;&#10;            &lt;/Box&gt;&#10;            &lt;Text style={{ fontSize: 13, color: '#E3ECFA', lineHeight: 1.52, fontFamily: 'SF Mono, Menlo, monospace', flex: 1 }}&gt;def classify(text: str) -&amp;gt; tuple[str, float]:&lt;br /&gt;    # 判断意图，返回 (意图, 置信度)&lt;br /&gt;    ...&lt;br /&gt;    return best_intent, best_score&lt;br /&gt;&lt;br /&gt;AGENT_PROFILES: dict[str, AgentProfile] = &amp;#123;&lt;br /&gt;    'tutor':    AgentProfile(...),&lt;br /&gt;    'practice': AgentProfile(...),   # 只读&lt;br /&gt;    'progress': AgentProfile(&lt;br /&gt;        deny_all=True, ...),       # 一个工具都不给&lt;br /&gt;&amp;#125;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六类意图，四个角色&lt;/Text&gt;&#10;        &lt;Box style={{ flex: 1, flexDirection: 'row', gap: 12 }}&gt;&#10;            &lt;Box style={{ width: 236, background: '#FFFFFF', border: '1px solid #D6DCE5', borderRadius: 6, padding: 12, gap: 8 }}&gt;&#10;                &lt;Text style={{ fontSize: 14, color: '#8B97A8' }}&gt;classify(text)&lt;/Text&gt;&#10;                &lt;Box style={{ gap: 5, marginTop: 4 }}&gt;&#10;                    &lt;Text style={{ fontSize: 15, color: '#1A2230' }}&gt;讲解　检索　练习&lt;/Text&gt;&#10;                    &lt;Text style={{ fontSize: 15, color: '#1A2230' }}&gt;进度　计算　闲聊&lt;/Text&gt;&#10;                &lt;/Box&gt;&#10;                &lt;Box style={{ flex: 1, background: '#E8EFF8', borderRadius: 4, padding: 8, justifyContent: 'center' }}&gt;&#10;                    &lt;Text style={{ fontSize: 13, color: '#0E3F8C' }}&gt;识别错了，后面全是错的&lt;/Text&gt;&#10;                &lt;/Box&gt;&#10;            &lt;/Box&gt;&#10;            &lt;Box style={{ width: 24, justifyContent: 'center', alignItems: 'center' }}&gt;&#10;                &lt;Box style={{ width: 18, height: 3, background: '#1E4FA8' }} /&gt;&#10;                &lt;Box style={{ width: 9, height: 9, background: '#1E4FA8', borderRadius: 2, transform: 'rotate(45deg)' }} /&gt;&#10;            &lt;/Box&gt;&#10;            &lt;Box style={{ flex: 1, gap: 8 }}&gt;&#10;                &lt;Box style={{ background: '#FFFFFF', border: '1px solid #D6DCE5', borderRadius: 5, padding: 10, gap: 2 }}&gt;&#10;                    &lt;Text style={{ fontSize: 15, fontWeight: 'bold', color: '#0E3F8C' }}&gt;tutor 讲解&lt;/Text&gt;&#10;                    &lt;Text style={{ fontSize: 13, color: '#8B97A8' }}&gt;可读可写&lt;/Text&gt;&#10;                &lt;/Box&gt;&#10;                &lt;Box style={{ background: '#FFFFFF', border: '1px solid #D6DCE5', borderRadius: 5, padding: 10, gap: 2 }}&gt;&#10;                    &lt;Text style={{ fontSize: 15, fontWeight: 'bold', color: '#0E3F8C' }}&gt;practice 练习&lt;/Text&gt;&#10;                    &lt;Text style={{ fontSize: 13, color: '#8B97A8' }}&gt;只读，不给写工具&lt;/Text&gt;&#10;                &lt;/Box&gt;&#10;                &lt;Box style={{ background: '#FFFFFF', border: '1px solid #D6DCE5', borderRadius: 5, padding: 10, gap: 2 }}&gt;&#10;                    &lt;Text style={{ fontSize: 15, fontWeight: 'bold', color: '#0E3F8C' }}&gt;progress 进度&lt;/Text&gt;&#10;                    &lt;Text style={{ fontSize: 13, color: '#8B97A8' }}&gt;deny_all，一个工具都没有&lt;/Text&gt;&#10;                &lt;/Box&gt;&#10;            &lt;/Box&gt;&#10;        &lt;/Box&gt;&#10;        &lt;Box style={{ background: '#FFFFFF', border: '1px solid #D6DCE5', borderRadius: 6, padding: 12, gap: 4 }}&gt;&#10;            &lt;Text style={{ fontSize: 15, fontWeight: 'bold', color: '#0E3F8C' }}&gt;顺带解决了第三关的一半&lt;/Text&gt;&#10;            &lt;Text style={{ fontSize: 13, color: '#4A5568', lineHeight: 1.55 }}&gt;权限跟着角色走 —— 讲题的角色不给写文件的工具，练题的角色只给读的工具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意图识别不是「小功能」，它是后面所有权限与检索策略的前提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6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第一关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看得懂意图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先判这是哪一类问题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判错了，检索和权限都会跟着错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10191750" y="685800"/>
            <a:ext cx="16192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10325100" y="752475"/>
            <a:ext cx="476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1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10877550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963275" y="762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看得懂意图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23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2571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application/routing.py:61 / :132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classify(text: str) -&gt; tuple[str, float]: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判断意图，返回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(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意图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,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置信度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...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return best_intent, best_score</a:t>
            </a:r>
            <a:endParaRPr/>
          </a:p>
          <a:p>
            <a:pPr>
              <a:lnSpc>
                <a:spcPct val="152000"/>
              </a:lnSpc>
            </a:pPr>
            <a:r>
              <a:rPr sz="975">
                <a:solidFill>
                  <a:srgbClr val="E3ECFA"/>
                </a:solidFill>
                <a:latin typeface="SF Mono"/>
                <a:ea typeface="SF Mono"/>
              </a:rPr>
              <a:t xml:space="preserve"> 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AGENT_PROFILES: dict[str, AgentProfile] = {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'tutor':    AgentProfile(...),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'practice': AgentProfile(...),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只读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'progress': AgentProfile(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deny_all=True, ...), 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一个工具都不给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}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六类意图，四个角色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5124450" y="2133600"/>
            <a:ext cx="2247900" cy="2962275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5238750" y="2247900"/>
            <a:ext cx="2019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classify(text)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5238750" y="252412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讲解　检索　练习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5238750" y="2743200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PingFang SC"/>
                <a:ea typeface="PingFang SC"/>
              </a:rPr>
              <a:t>进度　计算　闲聊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5238750" y="2990850"/>
            <a:ext cx="2019300" cy="1990725"/>
          </a:xfrm>
          <a:prstGeom prst="roundRect">
            <a:avLst>
              <a:gd name="adj" fmla="val 191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5314950" y="3914775"/>
            <a:ext cx="1866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E3F8C"/>
                </a:solidFill>
                <a:latin typeface="PingFang SC"/>
                <a:ea typeface="PingFang SC"/>
              </a:rPr>
              <a:t>识别错了，后面全是错的</a:t>
            </a:r>
            <a:endParaRPr/>
          </a:p>
        </p:txBody>
      </p:sp>
      <p:sp>
        <p:nvSpPr>
          <p:cNvPr id="534" name=""/>
          <p:cNvSpPr/>
          <p:nvPr/>
        </p:nvSpPr>
        <p:spPr>
          <a:xfrm rot="0" flipH="0" flipV="0">
            <a:off x="7515225" y="3562350"/>
            <a:ext cx="17145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5" name=""/>
          <p:cNvSpPr/>
          <p:nvPr/>
        </p:nvSpPr>
        <p:spPr>
          <a:xfrm rot="0" flipH="0" flipV="0">
            <a:off x="7829550" y="2133600"/>
            <a:ext cx="3619500" cy="5334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924800" y="2228850"/>
            <a:ext cx="3429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tutor </a:t>
            </a: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讲解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7924800" y="2419350"/>
            <a:ext cx="342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可读可写</a:t>
            </a:r>
            <a:endParaRPr/>
          </a:p>
        </p:txBody>
      </p:sp>
      <p:sp>
        <p:nvSpPr>
          <p:cNvPr id="538" name=""/>
          <p:cNvSpPr/>
          <p:nvPr/>
        </p:nvSpPr>
        <p:spPr>
          <a:xfrm rot="0" flipH="0" flipV="0">
            <a:off x="7829550" y="2743200"/>
            <a:ext cx="3619500" cy="5334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7924800" y="2838450"/>
            <a:ext cx="3429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practice </a:t>
            </a: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练习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7924800" y="3028950"/>
            <a:ext cx="342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只读，不给写工具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7829550" y="3352800"/>
            <a:ext cx="3619500" cy="5334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7924800" y="3448050"/>
            <a:ext cx="3429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progress </a:t>
            </a: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进度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7924800" y="3638550"/>
            <a:ext cx="3429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>deny_all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，一个工具都没有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5124450" y="5210175"/>
            <a:ext cx="63246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238750" y="5324475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顺带解决了第三关的一半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238750" y="5534025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权限跟着角色走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讲题的角色不给写文件的工具，练题的角色只给读的工具</a:t>
            </a:r>
            <a:endParaRPr/>
          </a:p>
        </p:txBody>
      </p:sp>
      <p:grpSp>
        <p:nvGrpSpPr>
          <p:cNvPr id="547" name=""/>
          <p:cNvGrpSpPr/>
          <p:nvPr/>
        </p:nvGrpSpPr>
        <p:grpSpPr>
          <a:xfrm rot="2700000" flipH="0" flipV="0">
            <a:off x="7562850" y="3590925"/>
            <a:ext cx="85725" cy="85725"/>
            <a:chOff x="7562850" y="3590925"/>
            <a:chExt cx="85725" cy="85725"/>
          </a:xfrm>
        </p:grpSpPr>
        <p:sp>
          <p:nvSpPr>
            <p:cNvPr id="548" name=""/>
            <p:cNvSpPr/>
            <p:nvPr/>
          </p:nvSpPr>
          <p:spPr>
            <a:xfrm rot="0" flipH="0" flipV="0">
              <a:off x="7562850" y="3590925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54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067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意图识别不是「小功能」，它是后面所有权限与检索策略的前提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06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 name="07 技术·第二关｜看得准资料">
    <p:spTree>
      <p:nvGrpSpPr>
        <p:cNvPr id="55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二关 · 看得准资料&lt;/Text&gt;&#10;        &lt;Text style={{ fontSize: 19, color: '#4A5568' }}&gt;中文资料难找 —— 同义不同词、短词进不了索引，所以不只找一路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2 关&lt;/Text&gt;&#10;        &lt;Box style={{ width: 1, height: 14, background: '#5B8FD9' }} /&gt;&#10;        &lt;Text style={{ fontSize: 15, color: '#C9DDF5' }}&gt;看得准资料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infrastructure/knowledge.py:643&lt;/Text&gt;&#10;            &lt;/Box&gt;&#10;            &lt;Text style={{ fontSize: 13, color: '#E3ECFA', lineHeight: 1.52, fontFamily: 'SF Mono, Menlo, monospace', flex: 1 }}&gt;rankings = [&lt;br /&gt;    self._search_fts(cleaned, ...),      # 字面&lt;br /&gt;    self._search_expanded(cleaned, ...), # 扩写&lt;br /&gt;    self._search_like(cleaned, ...),     # 短词&lt;br /&gt;    self._search_vectors(cleaned, ...),  # 向量&lt;br /&gt;]&lt;br /&gt;# 权重：原查询字面命中最高，扩写路按推断降权&lt;br /&gt;weights = [1.0, self.expansion_weight, 0.8, 1.0]&lt;br /&gt;fused = rrf_fuse(rankings, k=self.rrf_k,&lt;br /&gt;               weights=weights)[:pool]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四条通道，一个出口&lt;/Text&gt;&#10;        &lt;Box style={{ flexDirection: 'row', gap: 8, height: 172 }}&gt;&#10;            &lt;Box style={{ flex: 1, background: '#FFFFFF', border: '1px solid #D6DCE5', borderRadius: 6, padding: 10, gap: 4, justifyContent: 'space-between' }}&gt;&#10;                    &lt;Text style={{ fontSize: 15, fontWeight: 'bold', color: '#0E3F8C' }}&gt;字面 FTS&lt;/Text&gt;&#10;                    &lt;Text style={{ fontSize: 12, color: '#8B97A8' }}&gt;trigram&lt;/Text&gt;&#10;                    &lt;Box style={{ height: 10, width: '100%', background: '#1E4FA8', borderRadius: 5 }} /&gt;&#10;                    &lt;Text style={{ fontSize: 13, color: '#1E4FA8', fontFamily: 'SF Mono, Menlo, monospace' }}&gt;1.0&lt;/Text&gt;&#10;                &lt;/Box&gt;&#10;&lt;Box style={{ flex: 1, background: '#FFFFFF', border: '1px solid #D6DCE5', borderRadius: 6, padding: 10, gap: 4, justifyContent: 'space-between' }}&gt;&#10;                    &lt;Text style={{ fontSize: 15, fontWeight: 'bold', color: '#0E3F8C' }}&gt;同义扩写&lt;/Text&gt;&#10;                    &lt;Text style={{ fontSize: 12, color: '#8B97A8' }}&gt;中英对照&lt;/Text&gt;&#10;                    &lt;Box style={{ height: 10, width: '50%', background: '#3D7BD9', borderRadius: 5 }} /&gt;&#10;                    &lt;Text style={{ fontSize: 13, color: '#3D7BD9', fontFamily: 'SF Mono, Menlo, monospace' }}&gt;0.5&lt;/Text&gt;&#10;                &lt;/Box&gt;&#10;&lt;Box style={{ flex: 1, background: '#FFFFFF', border: '1px solid #D6DCE5', borderRadius: 6, padding: 10, gap: 4, justifyContent: 'space-between' }}&gt;&#10;                    &lt;Text style={{ fontSize: 15, fontWeight: 'bold', color: '#0E3F8C' }}&gt;短词 LIKE&lt;/Text&gt;&#10;                    &lt;Text style={{ fontSize: 12, color: '#8B97A8' }}&gt;两字兜底&lt;/Text&gt;&#10;                    &lt;Box style={{ height: 10, width: '80%', background: '#E5B54B', borderRadius: 5 }} /&gt;&#10;                    &lt;Text style={{ fontSize: 13, color: '#E5B54B', fontFamily: 'SF Mono, Menlo, monospace' }}&gt;0.8&lt;/Text&gt;&#10;                &lt;/Box&gt;&#10;&lt;Box style={{ flex: 1, background: '#FFFFFF', border: '1px solid #D6DCE5', borderRadius: 6, padding: 10, gap: 4, justifyContent: 'space-between' }}&gt;&#10;                    &lt;Text style={{ fontSize: 15, fontWeight: 'bold', color: '#0E3F8C' }}&gt;向量语义&lt;/Text&gt;&#10;                    &lt;Text style={{ fontSize: 12, color: '#8B97A8' }}&gt;零字面&lt;/Text&gt;&#10;                    &lt;Box style={{ height: 10, width: '100%', background: '#9B7FD4', borderRadius: 5 }} /&gt;&#10;                    &lt;Text style={{ fontSize: 13, color: '#9B7FD4', fontFamily: 'SF Mono, Menlo, monospace' }}&gt;1.0&lt;/Text&gt;&#10;                &lt;/Box&gt;&#10;        &lt;/Box&gt;&#10;        &lt;Box style={{ background: '#E8EFF8', border: '2px solid #1E4FA8', borderRadius: 6, padding: 12, flexDirection: 'row', alignItems: 'center', gap: 12 }}&gt;&#10;            &lt;Text style={{ fontSize: 17, fontWeight: 'bold', color: '#0E3F8C' }}&gt;加权 RRF 融合&lt;/Text&gt;&#10;            &lt;Text style={{ fontSize: 14, color: '#4A5568', flex: 1 }}&gt;k = 60，按权重合并四路排名&lt;/Text&gt;&#10;        &lt;/Box&gt;&#10;        &lt;Box style={{ background: '#FFFFFF', border: '1px solid #D6DCE5', borderRadius: 6, padding: 12, gap: 4 }}&gt;&#10;            &lt;Text style={{ fontSize: 15, fontWeight: 'bold', color: '#0E3F8C' }}&gt;为什么降权扩写路&lt;/Text&gt;&#10;            &lt;Text style={{ fontSize: 13, color: '#4A5568', lineHeight: 1.55 }}&gt;「本征值」能搜到写着「特征值」的资料，靠的是推断；字面命中的可信度不该和它一样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35 题考卷 Hit@3 = MRR = 0.9714；关掉精排掉到 0.9571，机制有用当场可见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7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56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第二关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看得准资料</a:t>
            </a:r>
            <a:endParaRPr/>
          </a:p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中文资料难找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同义不同词、短词进不了索引，所以不只找一路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10163175" y="685800"/>
            <a:ext cx="1647825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10296525" y="75247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2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10877550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963275" y="762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看得准资料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570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2495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infrastructure/knowledge.py:643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rankings = [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self._search_fts(cleaned, ...),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字面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self._search_expanded(cleaned, ...),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扩写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self._search_like(cleaned, ...),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短词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self._search_vectors(cleaned, ...),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向量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]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权重：原查询字面命中最高，扩写路按推断降权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weights = [1.0, self.expansion_weight, 0.8, 1.0]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fused = rrf_fuse(rankings, k=self.rrf_k,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   weights=weights)[:pool]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四条通道，一个出口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5124450" y="2133600"/>
            <a:ext cx="1524000" cy="16383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219700" y="222885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字面</a:t>
            </a: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 FTS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5219700" y="2695575"/>
            <a:ext cx="1333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>trigram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5219700" y="3133725"/>
            <a:ext cx="133350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5219700" y="3524250"/>
            <a:ext cx="1333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E4FA8"/>
                </a:solidFill>
                <a:latin typeface="SF Mono"/>
                <a:ea typeface="SF Mono"/>
              </a:rPr>
              <a:t>1.0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6724650" y="2133600"/>
            <a:ext cx="1524000" cy="16383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6819900" y="222885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同义扩写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6819900" y="2695575"/>
            <a:ext cx="1333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中英对照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6819900" y="3133725"/>
            <a:ext cx="6667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6819900" y="3524250"/>
            <a:ext cx="1333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3D7BD9"/>
                </a:solidFill>
                <a:latin typeface="SF Mono"/>
                <a:ea typeface="SF Mono"/>
              </a:rPr>
              <a:t>0.5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8324850" y="2133600"/>
            <a:ext cx="1524000" cy="16383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8420100" y="222885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短词</a:t>
            </a: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 LIKE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420100" y="2695575"/>
            <a:ext cx="1333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两字兜底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8420100" y="3133725"/>
            <a:ext cx="1066800" cy="95250"/>
          </a:xfrm>
          <a:prstGeom prst="roundRect">
            <a:avLst>
              <a:gd name="adj" fmla="val 50000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8420100" y="3524250"/>
            <a:ext cx="1333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E5B54B"/>
                </a:solidFill>
                <a:latin typeface="SF Mono"/>
                <a:ea typeface="SF Mono"/>
              </a:rPr>
              <a:t>0.8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9925050" y="2133600"/>
            <a:ext cx="1524000" cy="16383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0020300" y="222885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向量语义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0020300" y="2695575"/>
            <a:ext cx="1333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零字面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10020300" y="3133725"/>
            <a:ext cx="1333500" cy="95250"/>
          </a:xfrm>
          <a:prstGeom prst="roundRect">
            <a:avLst>
              <a:gd name="adj" fmla="val 50000"/>
            </a:avLst>
          </a:prstGeom>
          <a:solidFill>
            <a:srgbClr val="9B7FD4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10020300" y="3524250"/>
            <a:ext cx="1333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B7FD4"/>
                </a:solidFill>
                <a:latin typeface="SF Mono"/>
                <a:ea typeface="SF Mono"/>
              </a:rPr>
              <a:t>1.0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5124450" y="3886200"/>
            <a:ext cx="6324600" cy="428625"/>
          </a:xfrm>
          <a:prstGeom prst="roundRect">
            <a:avLst>
              <a:gd name="adj" fmla="val 13333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5238750" y="4000500"/>
            <a:ext cx="1076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加权</a:t>
            </a:r>
            <a:r>
              <a:rPr lang="en-US" sz="1275" b="1">
                <a:solidFill>
                  <a:srgbClr val="0E3F8C"/>
                </a:solidFill>
                <a:latin typeface="PingFang SC"/>
                <a:ea typeface="PingFang SC"/>
              </a:rPr>
              <a:t xml:space="preserve"> RRF </a:t>
            </a: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融合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6429375" y="4019550"/>
            <a:ext cx="490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>k = 60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，按权重合并四路排名</a:t>
            </a:r>
            <a:endParaRPr/>
          </a:p>
        </p:txBody>
      </p:sp>
      <p:sp>
        <p:nvSpPr>
          <p:cNvPr id="598" name=""/>
          <p:cNvSpPr/>
          <p:nvPr/>
        </p:nvSpPr>
        <p:spPr>
          <a:xfrm rot="0" flipH="0" flipV="0">
            <a:off x="5124450" y="4429125"/>
            <a:ext cx="63246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5238750" y="4543425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为什么降权扩写路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5238750" y="4752975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「本征值」能搜到写着「特征值」的资料，靠的是推断；字面命中的可信度不该和它一样</a:t>
            </a:r>
            <a:endParaRPr/>
          </a:p>
        </p:txBody>
      </p:sp>
      <p:sp>
        <p:nvSpPr>
          <p:cNvPr id="601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2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3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334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题考卷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Hit@3 = MRR = 0.9714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；关掉精排掉到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0.9571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，机制有用当场可见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07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 name="08 技术·第三关｜管得住工具">
    <p:spTree>
      <p:nvGrpSpPr>
        <p:cNvPr id="608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三关 · 管得住工具&lt;/Text&gt;&#10;        &lt;Text style={{ fontSize: 19, color: '#4A5568' }}&gt;模型能说什么由它定，能做什么由系统定 —— 写操作还要再问一次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3 关&lt;/Text&gt;&#10;        &lt;Box style={{ width: 1, height: 14, background: '#5B8FD9' }} /&gt;&#10;        &lt;Text style={{ fontSize: 15, color: '#C9DDF5' }}&gt;管得住工具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application/routing.py:294 · tools.py:196&lt;/Text&gt;&#10;            &lt;/Box&gt;&#10;            &lt;Text style={{ fontSize: 13, color: '#E3ECFA', lineHeight: 1.52, fontFamily: 'SF Mono, Menlo, monospace', flex: 1 }}&gt;def is_tool_allowed(profile, name) -&amp;gt; bool:&lt;br /&gt;    if profile.deny_all:&lt;br /&gt;        return False&lt;br /&gt;    if not profile.mcp_enabled and is_mcp_tool(name):&lt;br /&gt;        return False        # 幻觉出的 MCP 工具也执行不了&lt;br /&gt;    ...&lt;br /&gt;&lt;br /&gt;@tool&lt;br /&gt;def save_note(title, content, library) -&amp;gt; str:&lt;br /&gt;    approved = interrupt(&amp;#123;        # ← 图在这里暂停&lt;br /&gt;        'action': 'save_note',&lt;br /&gt;        'preview': content[:200],&lt;br /&gt;    &amp;#125;)&lt;br /&gt;    if not approved:&lt;br /&gt;        return '已取消，未保存。'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两道闸门，一个确认框&lt;/Text&gt;&#10;        &lt;Box style={{ flex: 1, flexDirection: 'row', gap: 10 }}&gt;&#10;            &lt;Box style={{ flex: 1, background: '#FFFFFF', border: '2px solid #1E4FA8', borderRadius: 6, padding: 12, gap: 6 }}&gt;&#10;                &lt;Text style={{ fontSize: 15, fontWeight: 'bold', color: '#1E4FA8' }}&gt;① schema 层&lt;/Text&gt;&#10;                &lt;Text style={{ fontSize: 13, color: '#4A5568', lineHeight: 1.55 }}&gt;按角色裁剪工具表，禁用的工具不出现在提示词里&lt;/Text&gt;&#10;                &lt;Box style={{ flex: 1, background: '#E8EFF8', borderRadius: 4, padding: 8, justifyContent: 'center' }}&gt;&#10;                    &lt;Text style={{ fontSize: 13, color: '#0E3F8C', lineHeight: 1.5 }}&gt;模型「看不见」它&lt;/Text&gt;&#10;                &lt;/Box&gt;&#10;            &lt;/Box&gt;&#10;            &lt;Box style={{ width: 24, justifyContent: 'center', alignItems: 'center' }}&gt;&#10;                &lt;Box style={{ width: 18, height: 3, background: '#1E4FA8' }} /&gt;&#10;                &lt;Box style={{ width: 9, height: 9, background: '#1E4FA8', borderRadius: 2, transform: 'rotate(45deg)' }} /&gt;&#10;            &lt;/Box&gt;&#10;            &lt;Box style={{ flex: 1, background: '#FFFFFF', border: '2px solid #0E3F8C', borderRadius: 6, padding: 12, gap: 6 }}&gt;&#10;                &lt;Text style={{ fontSize: 15, fontWeight: 'bold', color: '#0E3F8C' }}&gt;② 执行层&lt;/Text&gt;&#10;                &lt;Text style={{ fontSize: 13, color: '#4A5568', lineHeight: 1.55 }}&gt;逐次判定，模型硬发被禁工具也执行不了&lt;/Text&gt;&#10;                &lt;Box style={{ flex: 1, background: '#E8EFF8', borderRadius: 4, padding: 8, justifyContent: 'center' }}&gt;&#10;                    &lt;Text style={{ fontSize: 13, color: '#0E3F8C', lineHeight: 1.5 }}&gt;模型「说了」也跑不了&lt;/Text&gt;&#10;                &lt;/Box&gt;&#10;            &lt;/Box&gt;&#10;        &lt;/Box&gt;&#10;        &lt;Box style={{ background: '#FCF6E4', border: '2px solid #E5B54B', borderRadius: 6, padding: 12, gap: 5 }}&gt;&#10;            &lt;Text style={{ fontSize: 15, fontWeight: 'bold', color: '#7A5A16' }}&gt;写操作：再加第三道 —— 问一句&lt;/Text&gt;&#10;            &lt;Text style={{ fontSize: 13, color: '#4A5568', lineHeight: 1.55 }}&gt;interrupt() 在工具执行前暂停整张图，用户点确认才继续；点取消就到此结束，什么都没变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「AI 不改你的数据」写在提示词里是请求，写在 interrupt() 里才是承诺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8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第三关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管得住工具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模型能说什么由它定，能做什么由系统定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写操作还要再问一次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10163175" y="685800"/>
            <a:ext cx="1647825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296525" y="75247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3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10877550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10963275" y="762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管得住工具</a:t>
            </a:r>
            <a:endParaRPr/>
          </a:p>
        </p:txBody>
      </p:sp>
      <p:sp>
        <p:nvSpPr>
          <p:cNvPr id="621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22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3295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application/routing.py:294 · tools.py:196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is_tool_allowed(profile, name) -&gt; bool: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if profile.deny_all: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return False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if not profile.mcp_enabled and is_mcp_tool(name):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return False  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幻觉出的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MCP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工具也执行不了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...</a:t>
            </a:r>
            <a:endParaRPr/>
          </a:p>
          <a:p>
            <a:pPr>
              <a:lnSpc>
                <a:spcPct val="152000"/>
              </a:lnSpc>
            </a:pPr>
            <a:r>
              <a:rPr sz="975">
                <a:solidFill>
                  <a:srgbClr val="E3ECFA"/>
                </a:solidFill>
                <a:latin typeface="SF Mono"/>
                <a:ea typeface="SF Mono"/>
              </a:rPr>
              <a:t xml:space="preserve"> 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@tool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save_note(title, content, library) -&gt; str: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approved = interrupt({        # ←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图在这里暂停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'action': 'save_note',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'preview': content[:200],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})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if not approved: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return '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已取消，未保存。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'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两道闸门，一个确认框</a:t>
            </a:r>
            <a:endParaRPr/>
          </a:p>
        </p:txBody>
      </p:sp>
      <p:sp>
        <p:nvSpPr>
          <p:cNvPr id="627" name=""/>
          <p:cNvSpPr/>
          <p:nvPr/>
        </p:nvSpPr>
        <p:spPr>
          <a:xfrm rot="0" flipH="0" flipV="0">
            <a:off x="5124450" y="2133600"/>
            <a:ext cx="2952750" cy="295275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5238750" y="224790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 xml:space="preserve">① schema </a:t>
            </a:r>
            <a:r>
              <a:rPr lang="zh-CN" sz="1125" b="1">
                <a:solidFill>
                  <a:srgbClr val="1E4FA8"/>
                </a:solidFill>
                <a:latin typeface="PingFang SC"/>
                <a:ea typeface="PingFang SC"/>
              </a:rPr>
              <a:t>层</a:t>
            </a:r>
            <a:endParaRPr/>
          </a:p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5238750" y="2476500"/>
            <a:ext cx="272415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按角色裁剪工具表，禁用的工具不出现在提示词里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5238750" y="2771775"/>
            <a:ext cx="2724150" cy="2200275"/>
          </a:xfrm>
          <a:prstGeom prst="roundRect">
            <a:avLst>
              <a:gd name="adj" fmla="val 173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5314950" y="3762375"/>
            <a:ext cx="25717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0E3F8C"/>
                </a:solidFill>
                <a:latin typeface="PingFang SC"/>
                <a:ea typeface="PingFang SC"/>
              </a:rPr>
              <a:t>模型「看不见」它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8201025" y="3552825"/>
            <a:ext cx="17145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3" name=""/>
          <p:cNvSpPr/>
          <p:nvPr/>
        </p:nvSpPr>
        <p:spPr>
          <a:xfrm rot="0" flipH="0" flipV="0">
            <a:off x="8496300" y="2133600"/>
            <a:ext cx="2952750" cy="295275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254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8610600" y="224790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PingFang SC"/>
                <a:ea typeface="PingFang SC"/>
              </a:rPr>
              <a:t xml:space="preserve">② </a:t>
            </a: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执行层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8610600" y="2476500"/>
            <a:ext cx="272415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逐次判定，模型硬发被禁工具也执行不了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8610600" y="2771775"/>
            <a:ext cx="2724150" cy="2200275"/>
          </a:xfrm>
          <a:prstGeom prst="roundRect">
            <a:avLst>
              <a:gd name="adj" fmla="val 173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8686800" y="3762375"/>
            <a:ext cx="25717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0E3F8C"/>
                </a:solidFill>
                <a:latin typeface="PingFang SC"/>
                <a:ea typeface="PingFang SC"/>
              </a:rPr>
              <a:t>模型「说了」也跑不了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5124450" y="5200650"/>
            <a:ext cx="6324600" cy="685800"/>
          </a:xfrm>
          <a:prstGeom prst="roundRect">
            <a:avLst>
              <a:gd name="adj" fmla="val 8333"/>
            </a:avLst>
          </a:prstGeom>
          <a:solidFill>
            <a:srgbClr val="FCF6E4"/>
          </a:solidFill>
          <a:ln w="25400">
            <a:solidFill>
              <a:srgbClr val="E5B54B"/>
            </a:solidFill>
            <a:prstDash val="solid"/>
          </a:ln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5238750" y="531495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7A5A16"/>
                </a:solidFill>
                <a:latin typeface="PingFang SC"/>
                <a:ea typeface="PingFang SC"/>
              </a:rPr>
              <a:t>写操作：再加第三道</a:t>
            </a:r>
            <a:r>
              <a:rPr lang="en-US" sz="1125" b="1">
                <a:solidFill>
                  <a:srgbClr val="7A5A16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 b="1">
                <a:solidFill>
                  <a:srgbClr val="7A5A16"/>
                </a:solidFill>
                <a:latin typeface="PingFang SC"/>
                <a:ea typeface="PingFang SC"/>
              </a:rPr>
              <a:t>问一句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5238750" y="5534025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interrupt()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在工具执行前暂停整张图，用户点确认才继续；点取消就到此结束，什么都没变</a:t>
            </a:r>
            <a:endParaRPr/>
          </a:p>
        </p:txBody>
      </p:sp>
      <p:grpSp>
        <p:nvGrpSpPr>
          <p:cNvPr id="641" name=""/>
          <p:cNvGrpSpPr/>
          <p:nvPr/>
        </p:nvGrpSpPr>
        <p:grpSpPr>
          <a:xfrm rot="2700000" flipH="0" flipV="0">
            <a:off x="8248650" y="3581400"/>
            <a:ext cx="85725" cy="85725"/>
            <a:chOff x="8248650" y="3581400"/>
            <a:chExt cx="85725" cy="85725"/>
          </a:xfrm>
        </p:grpSpPr>
        <p:sp>
          <p:nvSpPr>
            <p:cNvPr id="642" name=""/>
            <p:cNvSpPr/>
            <p:nvPr/>
          </p:nvSpPr>
          <p:spPr>
            <a:xfrm rot="0" flipH="0" flipV="0">
              <a:off x="8248650" y="3581400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643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734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「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AI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不改你的数据」写在提示词里是请求，写在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interrupt()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里才是承诺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08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 name="09 技术·第四关｜说得清出处">
    <p:spTree>
      <p:nvGrpSpPr>
        <p:cNvPr id="650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四关 · 说得清出处&lt;/Text&gt;&#10;        &lt;Text style={{ fontSize: 19, color: '#4A5568' }}&gt;检索准不代表引用对得上原文 —— 切块粒度决定答案能不能被验证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4 关&lt;/Text&gt;&#10;        &lt;Box style={{ width: 1, height: 14, background: '#5B8FD9' }} /&gt;&#10;        &lt;Text style={{ fontSize: 15, color: '#C9DDF5' }}&gt;说得清出处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infrastructure/extract.py · chunk_pages&lt;/Text&gt;&#10;            &lt;/Box&gt;&#10;            &lt;Text style={{ fontSize: 13, color: '#E3ECFA', lineHeight: 1.52, fontFamily: 'SF Mono, Menlo, monospace', flex: 1 }}&gt;def chunk_pages(pages: list[str]) -&amp;gt; list[Chunk]:&lt;br /&gt;    # PDF / PPT 逐页切块，每块记住来自第几页&lt;br /&gt;    chunks = []&lt;br /&gt;    for page_no, text in enumerate(pages, start=1):&lt;br /&gt;        for piece in split_by_structure(text):&lt;br /&gt;            chunks.append(Chunk(&lt;br /&gt;                content=piece,&lt;br /&gt;                page_no=page_no,   # ← 出处就在这儿定下&lt;br /&gt;            ))&lt;br /&gt;    return chunks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一页纸，切成三块&lt;/Text&gt;&#10;        &lt;Box style={{ flexDirection: 'row', gap: 10, height: 200 }}&gt;&#10;            &lt;Box style={{ width: 112, background: '#FFFFFF', border: '2px solid #1E4FA8', borderRadius: 6, padding: 10, gap: 6 }}&gt;&#10;                &lt;Box style={{ width: 44, height: 24, background: '#1E4FA8', borderRadius: 4, justifyContent: 'center', alignItems: 'center' }}&gt;&#10;                    &lt;Text style={{ fontSize: 13, color: '#FFFFFF', fontWeight: 'bold' }}&gt;P12&lt;/Text&gt;&#10;                &lt;/Box&gt;&#10;                &lt;Text style={{ fontSize: 13, color: '#4A5568' }}&gt;片段 1&lt;/Text&gt;&#10;                &lt;Text style={{ fontSize: 13, color: '#4A5568' }}&gt;片段 2&lt;/Text&gt;&#10;                &lt;Text style={{ fontSize: 13, color: '#4A5568' }}&gt;片段 3&lt;/Text&gt;&#10;                &lt;Box style={{ flex: 1, background: '#E8EFF8', borderRadius: 4, padding: 6, justifyContent: 'center' }}&gt;&#10;                    &lt;Text style={{ fontSize: 12, color: '#0E3F8C' }}&gt;同一页&lt;/Text&gt;&#10;                &lt;/Box&gt;&#10;            &lt;/Box&gt;&#10;            &lt;Box style={{ width: 112, background: '#FFFFFF', border: '2px solid #3D7BD9', borderRadius: 6, padding: 10, gap: 6 }}&gt;&#10;                &lt;Box style={{ width: 44, height: 24, background: '#3D7BD9', borderRadius: 4, justifyContent: 'center', alignItems: 'center' }}&gt;&#10;                    &lt;Text style={{ fontSize: 13, color: '#FFFFFF', fontWeight: 'bold' }}&gt;P07&lt;/Text&gt;&#10;                &lt;/Box&gt;&#10;                &lt;Text style={{ fontSize: 13, color: '#4A5568' }}&gt;片段 4&lt;/Text&gt;&#10;                &lt;Text style={{ fontSize: 13, color: '#4A5568' }}&gt;片段 5&lt;/Text&gt;&#10;                &lt;Box style={{ flex: 1, background: '#E8EFF8', borderRadius: 4, padding: 6, justifyContent: 'center' }}&gt;&#10;                    &lt;Text style={{ fontSize: 12, color: '#0E3F8C' }}&gt;下一份资料&lt;/Text&gt;&#10;                &lt;/Box&gt;&#10;            &lt;/Box&gt;&#10;            &lt;Box style={{ flex: 1, background: '#E8EFF8', borderRadius: 6, padding: 14, justifyContent: 'center', gap: 8 }}&gt;&#10;                &lt;Text style={{ fontSize: 17, fontWeight: 'bold', color: '#0E3F8C' }}&gt;检索结果&lt;/Text&gt;&#10;                &lt;Text style={{ fontSize: 13, color: '#4A5568', lineHeight: 1.55 }}&gt;每条片段都带着自己的页码&lt;/Text&gt;&#10;            &lt;/Box&gt;&#10;        &lt;/Box&gt;&#10;        &lt;Box style={{ background: '#FFFFFF', border: '1px solid #D6DCE5', borderRadius: 6, padding: 12, gap: 4 }}&gt;&#10;            &lt;Text style={{ fontSize: 15, fontWeight: 'bold', color: '#0E3F8C' }}&gt;为什么必须这么切&lt;/Text&gt;&#10;            &lt;Text style={{ fontSize: 13, color: '#4A5568', lineHeight: 1.55 }}&gt;整篇切成一个片段，引用就只能指向「整篇文档」—— 答案对不对就无从核验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点开任一条引用能跳到那一页，检索与引用的正确性才变成可核验的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09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54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第四关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说得清出处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检索准不代表引用对得上原文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切块粒度决定答案能不能被验证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10163175" y="685800"/>
            <a:ext cx="1647825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10296525" y="75247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4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10877550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963275" y="762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说得清出处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664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3133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infrastructure/extract.py · chunk_pages</a:t>
            </a:r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chunk_pages(pages: list[str]) -&gt; list[Chunk]: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# PDF / PPT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逐页切块，每块记住来自第几页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chunks = []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for page_no, text in enumerate(pages, start=1):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for piece in split_by_structure(text):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chunks.append(Chunk(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    content=piece,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    page_no=page_no,   # ←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出处就在这儿定下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))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return chunks</a:t>
            </a:r>
            <a:endParaRPr/>
          </a:p>
        </p:txBody>
      </p:sp>
      <p:sp>
        <p:nvSpPr>
          <p:cNvPr id="667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一页纸，切成三块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5124450" y="2133600"/>
            <a:ext cx="1066800" cy="19050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0" name=""/>
          <p:cNvSpPr/>
          <p:nvPr/>
        </p:nvSpPr>
        <p:spPr>
          <a:xfrm rot="0" flipH="0" flipV="0">
            <a:off x="5219700" y="2228850"/>
            <a:ext cx="419100" cy="228600"/>
          </a:xfrm>
          <a:prstGeom prst="roundRect">
            <a:avLst>
              <a:gd name="adj" fmla="val 1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5324475" y="2266950"/>
            <a:ext cx="209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P12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219700" y="2514600"/>
            <a:ext cx="876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片段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1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5219700" y="2724150"/>
            <a:ext cx="876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片段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2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5219700" y="2933700"/>
            <a:ext cx="876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片段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3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5219700" y="3143250"/>
            <a:ext cx="876300" cy="800100"/>
          </a:xfrm>
          <a:prstGeom prst="roundRect">
            <a:avLst>
              <a:gd name="adj" fmla="val 476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5276850" y="3476625"/>
            <a:ext cx="76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同一页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6286500" y="2133600"/>
            <a:ext cx="1066800" cy="19050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54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6381750" y="2228850"/>
            <a:ext cx="419100" cy="228600"/>
          </a:xfrm>
          <a:prstGeom prst="roundRect">
            <a:avLst>
              <a:gd name="adj" fmla="val 16667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6477000" y="2266950"/>
            <a:ext cx="22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PingFang SC"/>
                <a:ea typeface="PingFang SC"/>
              </a:rPr>
              <a:t>P07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6381750" y="2514600"/>
            <a:ext cx="876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片段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4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6381750" y="2724150"/>
            <a:ext cx="876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片段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5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6381750" y="2933700"/>
            <a:ext cx="876300" cy="1009650"/>
          </a:xfrm>
          <a:prstGeom prst="roundRect">
            <a:avLst>
              <a:gd name="adj" fmla="val 434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6438900" y="3371850"/>
            <a:ext cx="76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下一份资料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448550" y="2133600"/>
            <a:ext cx="4000500" cy="1905000"/>
          </a:xfrm>
          <a:prstGeom prst="roundRect">
            <a:avLst>
              <a:gd name="adj" fmla="val 3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581900" y="2828925"/>
            <a:ext cx="3733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检索结果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7581900" y="3105150"/>
            <a:ext cx="37338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每条片段都带着自己的页码</a:t>
            </a:r>
            <a:endParaRPr/>
          </a:p>
        </p:txBody>
      </p:sp>
      <p:sp>
        <p:nvSpPr>
          <p:cNvPr id="687" name=""/>
          <p:cNvSpPr/>
          <p:nvPr/>
        </p:nvSpPr>
        <p:spPr>
          <a:xfrm rot="0" flipH="0" flipV="0">
            <a:off x="5124450" y="4152900"/>
            <a:ext cx="63246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5238750" y="426720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为什么必须这么切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5238750" y="4476750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整篇切成一个片段，引用就只能指向「整篇文档」——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答案对不对就无从核验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1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429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点开任一条引用能跳到那一页，检索与引用的正确性才变成可核验的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11353800" y="6610350"/>
            <a:ext cx="171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09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 name="10 技术·第五关｜练得下去">
    <p:spTree>
      <p:nvGrpSpPr>
        <p:cNvPr id="18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五关 · 练得下去&lt;/Text&gt;&#10;        &lt;Text style={{ fontSize: 19, color: '#4A5568' }}&gt;模型写题会失败 —— 所以出题有退路，而详解没有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5 关&lt;/Text&gt;&#10;        &lt;Box style={{ width: 1, height: 14, background: '#5B8FD9' }} /&gt;&#10;        &lt;Text style={{ fontSize: 15, color: '#C9DDF5' }}&gt;练得下去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application/question_writer.py&lt;/Text&gt;&#10;            &lt;/Box&gt;&#10;            &lt;Text style={{ fontSize: 13, color: '#E3ECFA', lineHeight: 1.52, fontFamily: 'SF Mono, Menlo, monospace', flex: 1 }}&gt;def write_question(...):&lt;br /&gt;    try:&lt;br /&gt;        raw = model.invoke(prompt)&lt;br /&gt;        question = parse(raw)      # 解析失败会抛&lt;br /&gt;    except Exception:&lt;br /&gt;        return fallback_question()  # ← 退回模板，不抛异常&lt;br /&gt;    return question&lt;br /&gt;&lt;br /&gt;def write_explanation(question_id):&lt;br /&gt;    cached = repo.get_explanation(question_id)&lt;br /&gt;    if cached:&lt;br /&gt;        return cached             # ← 命中缓存 0.02s&lt;br /&gt;    ...                          # 首次约 3.7s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一条主路，一条退路&lt;/Text&gt;&#10;        &lt;Box style={{ flexDirection: 'row', alignItems: 'center', gap: 5, height: 80 }}&gt;&#10;            &lt;Box style={{ flex: 1, height: 60, background: '#1E4FA8', borderRadius: 6, justifyContent: 'center', alignItems: 'center' }}&gt;&#10;                &lt;Text style={{ fontSize: 16, color: '#FFFFFF', fontWeight: 'bold' }}&gt;模型写题&lt;/Text&gt;&#10;            &lt;/Box&gt;&#10;            &lt;Box style={{ width: 16, height: 22, flexDirection: 'row', alignItems: 'center' }}&gt;&#10;                &lt;Box style={{ flex: 1, height: 3, background: '#1E4FA8' }} /&gt;&#10;                &lt;Box style={{ width: 9, height: 9, background: '#1E4FA8', borderRadius: 2, transform: 'rotate(45deg)' }} /&gt;&#10;            &lt;/Box&gt;&#10;            &lt;Box style={{ flex: 1, height: 60, background: '#1E4FA8', borderRadius: 6, justifyContent: 'center', alignItems: 'center' }}&gt;&#10;                &lt;Text style={{ fontSize: 16, color: '#FFFFFF', fontWeight: 'bold' }}&gt;解析校验&lt;/Text&gt;&#10;            &lt;/Box&gt;&#10;            &lt;Box style={{ width: 16, height: 22, flexDirection: 'row', alignItems: 'center' }}&gt;&#10;                &lt;Box style={{ flex: 1, height: 3, background: '#1E4FA8' }} /&gt;&#10;                &lt;Box style={{ width: 9, height: 9, background: '#1E4FA8', borderRadius: 2, transform: 'rotate(45deg)' }} /&gt;&#10;            &lt;/Box&gt;&#10;            &lt;Box style={{ flex: 1, height: 60, background: '#0E3F8C', borderRadius: 6, justifyContent: 'center', alignItems: 'center' }}&gt;&#10;                &lt;Text style={{ fontSize: 16, color: '#FFFFFF', fontWeight: 'bold' }}&gt;成题入库&lt;/Text&gt;&#10;            &lt;/Box&gt;&#10;        &lt;/Box&gt;&#10;        &lt;Box style={{ background: '#FFFFFF', border: '1px dashed #8B97A8', borderRadius: 6, padding: 10, gap: 5 }}&gt;&#10;            &lt;Text style={{ fontSize: 14, color: '#4A5568' }}&gt;↓ 失败时走这条&lt;/Text&gt;&#10;            &lt;Box style={{ background: '#F7F9FC', borderRadius: 5, padding: 10, alignItems: 'center' }}&gt;&#10;                &lt;Text style={{ fontSize: 16, fontWeight: 'bold', color: '#4A5568' }}&gt;退回模板题 · 绝不抛异常&lt;/Text&gt;&#10;            &lt;/Box&gt;&#10;        &lt;/Box&gt;&#10;        &lt;Box style={{ background: '#FCF6E4', border: '2px solid #E5B54B', borderRadius: 6, padding: 12, gap: 5 }}&gt;&#10;            &lt;Text style={{ fontSize: 15, fontWeight: 'bold', color: '#7A5A16' }}&gt;但详解没有退路&lt;/Text&gt;&#10;            &lt;Text style={{ fontSize: 13, color: '#4A5568', lineHeight: 1.55 }}&gt;答案对错由学科事实决定，编一个参考答案比不给更糟 —— 这一环宁可不给，也不乱给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有退路的地方退得干脆，没退路的地方宁可停下来 —— 两种都是设计，不是意外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0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第五关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练得下去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模型写题会失败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所以出题有退路，而详解没有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10306050" y="685800"/>
            <a:ext cx="15049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0439400" y="75247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5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11020425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1106150" y="762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练得下去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2409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application/question_writer.py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write_question(...):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try: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raw = model.invoke(prompt)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question = parse(raw)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解析失败会抛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except Exception: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return fallback_question()  # ←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退回模板，不抛异常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return question</a:t>
            </a:r>
            <a:endParaRPr/>
          </a:p>
          <a:p>
            <a:pPr>
              <a:lnSpc>
                <a:spcPct val="152000"/>
              </a:lnSpc>
            </a:pPr>
            <a:r>
              <a:rPr sz="975">
                <a:solidFill>
                  <a:srgbClr val="E3ECFA"/>
                </a:solidFill>
                <a:latin typeface="SF Mono"/>
                <a:ea typeface="SF Mono"/>
              </a:rPr>
              <a:t xml:space="preserve"> 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write_explanation(question_id):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cached = repo.get_explanation(question_id)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if cached: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return cached             # ←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命中缓存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0.02s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...                    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首次约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3.7s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一条主路，一条退路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5124450" y="2228850"/>
            <a:ext cx="1943100" cy="571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5791200" y="24193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模型写题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7115175" y="2505075"/>
            <a:ext cx="66675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7315200" y="2228850"/>
            <a:ext cx="1943100" cy="571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981950" y="24193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解析校验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9305925" y="2505075"/>
            <a:ext cx="66675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9505950" y="2228850"/>
            <a:ext cx="1943100" cy="57150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172700" y="24193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成题入库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124450" y="3009900"/>
            <a:ext cx="6324600" cy="78105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8B97A8"/>
            </a:solidFill>
            <a:prstDash val="dash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219700" y="3105150"/>
            <a:ext cx="6134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↓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失败时走这条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5219700" y="3314700"/>
            <a:ext cx="6134100" cy="381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39025" y="3409950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4A5568"/>
                </a:solidFill>
                <a:latin typeface="PingFang SC"/>
                <a:ea typeface="PingFang SC"/>
              </a:rPr>
              <a:t>退回模板题</a:t>
            </a:r>
            <a:r>
              <a:rPr lang="en-US" sz="1200" b="1">
                <a:solidFill>
                  <a:srgbClr val="4A556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00" b="1">
                <a:solidFill>
                  <a:srgbClr val="4A5568"/>
                </a:solidFill>
                <a:latin typeface="PingFang SC"/>
                <a:ea typeface="PingFang SC"/>
              </a:rPr>
              <a:t>绝不抛异常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124450" y="3905250"/>
            <a:ext cx="6324600" cy="685800"/>
          </a:xfrm>
          <a:prstGeom prst="roundRect">
            <a:avLst>
              <a:gd name="adj" fmla="val 8333"/>
            </a:avLst>
          </a:prstGeom>
          <a:solidFill>
            <a:srgbClr val="FCF6E4"/>
          </a:solidFill>
          <a:ln w="25400">
            <a:solidFill>
              <a:srgbClr val="E5B54B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238750" y="401955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7A5A16"/>
                </a:solidFill>
                <a:latin typeface="PingFang SC"/>
                <a:ea typeface="PingFang SC"/>
              </a:rPr>
              <a:t>但详解没有退路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238750" y="4238625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答案对错由学科事实决定，编一个参考答案比不给更糟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这一环宁可不给，也不乱给</a:t>
            </a:r>
            <a:endParaRPr/>
          </a:p>
        </p:txBody>
      </p:sp>
      <p:grpSp>
        <p:nvGrpSpPr>
          <p:cNvPr id="52" name=""/>
          <p:cNvGrpSpPr/>
          <p:nvPr/>
        </p:nvGrpSpPr>
        <p:grpSpPr>
          <a:xfrm rot="2700000" flipH="0" flipV="0">
            <a:off x="7181850" y="2476500"/>
            <a:ext cx="85725" cy="85725"/>
            <a:chOff x="7181850" y="2476500"/>
            <a:chExt cx="85725" cy="85725"/>
          </a:xfrm>
        </p:grpSpPr>
        <p:sp>
          <p:nvSpPr>
            <p:cNvPr id="53" name=""/>
            <p:cNvSpPr/>
            <p:nvPr/>
          </p:nvSpPr>
          <p:spPr>
            <a:xfrm rot="0" flipH="0" flipV="0">
              <a:off x="7181850" y="2476500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grpSp>
        <p:nvGrpSpPr>
          <p:cNvPr id="54" name=""/>
          <p:cNvGrpSpPr/>
          <p:nvPr/>
        </p:nvGrpSpPr>
        <p:grpSpPr>
          <a:xfrm rot="2700000" flipH="0" flipV="0">
            <a:off x="9372600" y="2476500"/>
            <a:ext cx="85725" cy="85725"/>
            <a:chOff x="9372600" y="2476500"/>
            <a:chExt cx="85725" cy="85725"/>
          </a:xfrm>
        </p:grpSpPr>
        <p:sp>
          <p:nvSpPr>
            <p:cNvPr id="55" name=""/>
            <p:cNvSpPr/>
            <p:nvPr/>
          </p:nvSpPr>
          <p:spPr>
            <a:xfrm rot="0" flipH="0" flipV="0">
              <a:off x="9372600" y="2476500"/>
              <a:ext cx="85725" cy="85725"/>
            </a:xfrm>
            <a:prstGeom prst="roundRect">
              <a:avLst>
                <a:gd name="adj" fmla="val 22222"/>
              </a:avLst>
            </a:prstGeom>
            <a:solidFill>
              <a:srgbClr val="1E4FA8"/>
            </a:solidFill>
            <a:ln/>
          </p:spPr>
          <p:txBody>
            <a:bodyPr/>
            <a:p/>
          </p:txBody>
        </p:sp>
      </p:grpSp>
      <p:sp>
        <p:nvSpPr>
          <p:cNvPr id="56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457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有退路的地方退得干脆，没退路的地方宁可停下来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两种都是设计，不是意外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10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 name="11 技术·第六关｜记得住">
    <p:spTree>
      <p:nvGrpSpPr>
        <p:cNvPr id="63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六关 · 记得住&lt;/Text&gt;&#10;        &lt;Text style={{ fontSize: 19, color: '#4A5568' }}&gt;答完这一题，下次什么时候再见到它 —— 是算出来的，不是建议的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6 关&lt;/Text&gt;&#10;        &lt;Box style={{ width: 1, height: 14, background: '#5B8FD9' }} /&gt;&#10;        &lt;Text style={{ fontSize: 15, color: '#C9DDF5' }}&gt;记得住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domain/scheduling.py:15-18&lt;/Text&gt;&#10;            &lt;/Box&gt;&#10;            &lt;Text style={{ fontSize: 13, color: '#E3ECFA', lineHeight: 1.52, fontFamily: 'SF Mono, Menlo, monospace', flex: 1 }}&gt;_RATING = &amp;#123;&lt;br /&gt;    'again': (-10,        0),            # 掌握度, 间隔秒&lt;br /&gt;    'hard':  (-3,  24 * 60 * 60),      # 1 天&lt;br /&gt;    'good':  (+5,   3 * 24 * 60 * 60), # 3 天&lt;br /&gt;    'easy':  (+10,  7 * 24 * 60 * 60), # 7 天&lt;br /&gt;&amp;#125;&lt;br /&gt;def review(rating, current_mastery):&lt;br /&gt;    delta, interval = _RATING[rating]&lt;br /&gt;    return ReviewResult(&lt;br /&gt;        mastery=clamp_mastery(current + delta),&lt;br /&gt;        due_in_seconds=interval)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自评四档 → 下次什么时候见&lt;/Text&gt;&#10;        &lt;Box style={{ flexDirection: 'row', gap: 10, height: 176, alignItems: 'flex-end' }}&gt;&#10;            &lt;Box style={{ flex: 1, background: '#FFFFFF', border: '1px solid #D6DCE5', borderRadius: 6, padding: 10, gap: 3, height: 64, justifyContent: 'center' }}&gt;&#10;                    &lt;Text style={{ fontSize: 15, fontWeight: 'bold', color: '#D9534F' }}&gt;again&lt;/Text&gt;&#10;                    &lt;Text style={{ fontSize: 13, color: '#D9534F' }}&gt;−10&lt;/Text&gt;&#10;                    &lt;Text style={{ fontSize: 12, color: '#8B97A8' }}&gt;立即&lt;/Text&gt;&#10;                &lt;/Box&gt;&#10;&lt;Box style={{ flex: 1, background: '#FFFFFF', border: '1px solid #D6DCE5', borderRadius: 6, padding: 10, gap: 3, height: 98, justifyContent: 'center' }}&gt;&#10;                    &lt;Text style={{ fontSize: 15, fontWeight: 'bold', color: '#A87F22' }}&gt;hard&lt;/Text&gt;&#10;                    &lt;Text style={{ fontSize: 13, color: '#A87F22' }}&gt;−3&lt;/Text&gt;&#10;                    &lt;Text style={{ fontSize: 12, color: '#8B97A8' }}&gt;1 天&lt;/Text&gt;&#10;                &lt;/Box&gt;&#10;&lt;Box style={{ flex: 1, background: '#FFFFFF', border: '1px solid #D6DCE5', borderRadius: 6, padding: 10, gap: 3, height: 132, justifyContent: 'center' }}&gt;&#10;                    &lt;Text style={{ fontSize: 15, fontWeight: 'bold', color: '#3D7BD9' }}&gt;good&lt;/Text&gt;&#10;                    &lt;Text style={{ fontSize: 13, color: '#3D7BD9' }}&gt;+5&lt;/Text&gt;&#10;                    &lt;Text style={{ fontSize: 12, color: '#8B97A8' }}&gt;3 天&lt;/Text&gt;&#10;                &lt;/Box&gt;&#10;&lt;Box style={{ flex: 1, background: '#FFFFFF', border: '1px solid #D6DCE5', borderRadius: 6, padding: 10, gap: 3, height: 164, justifyContent: 'center' }}&gt;&#10;                    &lt;Text style={{ fontSize: 15, fontWeight: 'bold', color: '#1E4FA8' }}&gt;easy&lt;/Text&gt;&#10;                    &lt;Text style={{ fontSize: 13, color: '#1E4FA8' }}&gt;+10&lt;/Text&gt;&#10;                    &lt;Text style={{ fontSize: 12, color: '#8B97A8' }}&gt;7 天&lt;/Text&gt;&#10;                &lt;/Box&gt;&#10;        &lt;/Box&gt;&#10;        &lt;Box style={{ background: '#E8EFF8', borderRadius: 6, padding: 12, gap: 4 }}&gt;&#10;            &lt;Text style={{ fontSize: 15, fontWeight: 'bold', color: '#0E3F8C' }}&gt;整个排期是纯函数&lt;/Text&gt;&#10;            &lt;Text style={{ fontSize: 13, color: '#4A5568', lineHeight: 1.55 }}&gt;不调模型、不随机 —— 同样的输入永远得到同样的排期，所以能被单测覆盖&lt;/Text&gt;&#10;        &lt;/Box&gt;&#10;        &lt;Box style={{ background: '#FFFFFF', border: '1px solid #D6DCE5', borderRadius: 6, padding: 12, gap: 4 }}&gt;&#10;            &lt;Text style={{ fontSize: 15, fontWeight: 'bold', color: '#0E3F8C' }}&gt;长期记忆按课程隔离&lt;/Text&gt;&#10;            &lt;Text style={{ fontSize: 13, color: '#4A5568', lineHeight: 1.55 }}&gt;学期的数据不串到下学期；写入前先问一句要不要记&lt;/Text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复习计划不是模型「建议」的，是按规则算出来的 —— 这才排得住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1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第六关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记得住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答完这一题，下次什么时候再见到它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是算出来的，不是建议的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10448925" y="685800"/>
            <a:ext cx="1362075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0582275" y="752475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1163300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1249025" y="7620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记得住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2095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domain/scheduling.py:15-18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_RATING = {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'again': (-10,        0),        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掌握度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,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间隔秒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'hard':  (-3,  24 * 60 * 60),      # 1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天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'good':  (+5,   3 * 24 * 60 * 60), # 3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天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'easy':  (+10,  7 * 24 * 60 * 60), # 7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天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}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review(rating, current_mastery):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delta, interval = _RATING[rating]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return ReviewResult(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mastery=clamp_mastery(current + delta),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due_in_seconds=interval)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自评四档</a:t>
            </a:r>
            <a:r>
              <a:rPr lang="en-US" sz="1575" b="1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下次什么时候见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5124450" y="3200400"/>
            <a:ext cx="1514475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219700" y="324802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PingFang SC"/>
                <a:ea typeface="PingFang SC"/>
              </a:rPr>
              <a:t>again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9700" y="3448050"/>
            <a:ext cx="1323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D9534F"/>
                </a:solidFill>
                <a:latin typeface="PingFang SC"/>
                <a:ea typeface="PingFang SC"/>
              </a:rPr>
              <a:t>−10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9700" y="3629025"/>
            <a:ext cx="1323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立即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734175" y="2876550"/>
            <a:ext cx="1504950" cy="93345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29425" y="3086100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A87F22"/>
                </a:solidFill>
                <a:latin typeface="PingFang SC"/>
                <a:ea typeface="PingFang SC"/>
              </a:rPr>
              <a:t>hard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29425" y="3286125"/>
            <a:ext cx="1314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A87F22"/>
                </a:solidFill>
                <a:latin typeface="PingFang SC"/>
                <a:ea typeface="PingFang SC"/>
              </a:rPr>
              <a:t>−3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29425" y="3467100"/>
            <a:ext cx="1314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1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天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334375" y="2552700"/>
            <a:ext cx="1514475" cy="12573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29625" y="2924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PingFang SC"/>
                <a:ea typeface="PingFang SC"/>
              </a:rPr>
              <a:t>good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429625" y="3124200"/>
            <a:ext cx="1323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3D7BD9"/>
                </a:solidFill>
                <a:latin typeface="PingFang SC"/>
                <a:ea typeface="PingFang SC"/>
              </a:rPr>
              <a:t>+5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8429625" y="3305175"/>
            <a:ext cx="1323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3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天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9944100" y="2247900"/>
            <a:ext cx="1504950" cy="156210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10039350" y="2771775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easy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039350" y="2971800"/>
            <a:ext cx="1314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E4FA8"/>
                </a:solidFill>
                <a:latin typeface="PingFang SC"/>
                <a:ea typeface="PingFang SC"/>
              </a:rPr>
              <a:t>+10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039350" y="3152775"/>
            <a:ext cx="1314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天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5124450" y="3924300"/>
            <a:ext cx="6324600" cy="676275"/>
          </a:xfrm>
          <a:prstGeom prst="roundRect">
            <a:avLst>
              <a:gd name="adj" fmla="val 845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238750" y="403860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整个排期是纯函数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238750" y="4248150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不调模型、不随机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同样的输入永远得到同样的排期，所以能被单测覆盖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5124450" y="4714875"/>
            <a:ext cx="63246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238750" y="4829175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PingFang SC"/>
                <a:ea typeface="PingFang SC"/>
              </a:rPr>
              <a:t>长期记忆按课程隔离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238750" y="5038725"/>
            <a:ext cx="60960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学期的数据不串到下学期；写入前先问一句要不要记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复习计划不是模型「建议」的，是按规则算出来的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这才排得住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123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11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 name="12 技术·第七关｜省得下来">
    <p:spTree>
      <p:nvGrpSpPr>
        <p:cNvPr id="111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一次提问，七道关&lt;/Text&gt;&#10;    &lt;/Box&gt;&#10;    &lt;Box style={{ position: 'absolute', top: 56, left: 40, width: 1200, height: 92, flexDirection: 'column', justifyContent: 'center', gap: 8 }}&gt;&#10;        &lt;Text style={{ fontSize: 34, fontWeight: 'bold', color: '#0E3F8C' }}&gt;第七关 · 省得下来&lt;/Text&gt;&#10;        &lt;Text style={{ fontSize: 19, color: '#4A5568' }}&gt;上下文、预算、护栏 —— 用户看不到，但少了任何一样系统都会垮&lt;/Text&gt;&#10;    &lt;/Box&gt;&#10;&#10;&lt;Box style={{ position: 'absolute', top: 72, right: 40, background: '#1E4FA8', borderRadius: 6, padding: '7px 14px', flexDirection: 'row', alignItems: 'center', gap: 8 }}&gt;&#10;        &lt;Text style={{ fontSize: 16, color: '#FFFFFF', fontWeight: 'bold' }}&gt;第 7 关&lt;/Text&gt;&#10;        &lt;Box style={{ width: 1, height: 14, background: '#5B8FD9' }} /&gt;&#10;        &lt;Text style={{ fontSize: 15, color: '#C9DDF5' }}&gt;省得下来&lt;/Text&gt;&#10;    &lt;/Box&gt;&#10;    &lt;Box style={{ position: 'absolute', top: 168, left: 40, width: 1200, height: 468, flexDirection: 'row', gap: 20 }}&gt;&#10;        &lt;Box style={{ width: 460, height: '100%' }}&gt;&lt;Box style={{ background: '#1B2A44', borderRadius: 8, padding: 13, gap: 8, height: '100%' }}&gt;&#10;            &lt;Box style={{ flexDirection: 'row', alignItems: 'center', gap: 8 }}&gt;&#10;                &lt;Box style={{ width: 8, height: 8, borderRadius: 4, background: '#5B8FD9' }} /&gt;&#10;                &lt;Text style={{ fontSize: 14, color: '#8FB4E8', fontFamily: 'SF Mono, Menlo, monospace' }}&gt;application/context.py:72 · domain/guardrails.py&lt;/Text&gt;&#10;            &lt;/Box&gt;&#10;            &lt;Text style={{ fontSize: 13, color: '#E3ECFA', lineHeight: 1.52, fontFamily: 'SF Mono, Menlo, monospace', flex: 1 }}&gt;def compress(messages, *, max_messages=24,&lt;br /&gt;               keep_recent=14):&lt;br /&gt;    # 只从整轮边界裁，不拆散「调用—结果」配对&lt;br /&gt;    head = summarize(messages[:-keep_recent])&lt;br /&gt;    tail = messages[-keep_recent:]&lt;br /&gt;    return head + tail    # 摘要 ≤ 240 字，不额外调模型&lt;br /&gt;&lt;br /&gt;def check_input(text):&lt;br /&gt;    for marker in _INJECTION_MARKERS:&lt;br /&gt;        if marker in text: return BLOCK&lt;/Text&gt;&#10;        &lt;/Box&gt;&lt;/Box&gt;&#10;        &lt;Box style={{ flex: 1, height: '100%' }}&gt;    &lt;Box style={{ position: 'absolute', top: 0, left: 0, width: 700, height: 468, background: '#F7F9FC', border: '1px solid #D6DCE5', borderRadius: 8, padding: 18, gap: 12 }}&gt;&#10;        &lt;Text style={{ fontSize: 21, fontWeight: 'bold', color: '#0E3F8C' }}&gt;三件用户看不见的事&lt;/Text&gt;&#10;        &lt;Box style={{ flex: 1, gap: 10 }}&gt;&#10;            &lt;Box style={{ flex: 1, background: '#FFFFFF', border: '1px solid #D6DCE5', borderRadius: 6, padding: 14, gap: 6, justifyContent: 'center' }}&gt;&#10;                &lt;Box style={{ flexDirection: 'row', alignItems: 'center', gap: 10 }}&gt;&#10;                    &lt;Text style={{ fontSize: 17, fontWeight: 'bold', color: '#0E3F8C' }}&gt;上下文压缩&lt;/Text&gt;&#10;                    &lt;Text style={{ fontSize: 13, color: '#8B97A8' }}&gt;24 条上限 · 保留最近 14 条&lt;/Text&gt;&#10;                &lt;/Box&gt;&#10;                &lt;Box style={{ flexDirection: 'row', gap: 6, alignItems: 'center' }}&gt;&#10;                    &lt;Box style={{ flex: 1, height: 22, background: '#E8EFF8', borderRadius: 4, justifyContent: 'center' }}&gt;&#10;                        &lt;Text style={{ fontSize: 12, color: '#0E3F8C' }}&gt;摘要 ≤ 240 字&lt;/Text&gt;&#10;                    &lt;/Box&gt;&#10;                    &lt;Box style={{ width: 18, height: 3, background: '#1E4FA8' }} /&gt;&#10;                    &lt;Box style={{ width: 118, height: 22, background: '#1E4FA8', borderRadius: 4, justifyContent: 'center' }}&gt;&#10;                        &lt;Text style={{ fontSize: 12, color: '#FFFFFF' }}&gt;保留 14 条&lt;/Text&gt;&#10;                    &lt;/Box&gt;&#10;                &lt;/Box&gt;&#10;                &lt;Text style={{ fontSize: 13, color: '#4A5568' }}&gt;只从整轮边界裁 —— 拆散「调用—结果」模型会报错&lt;/Text&gt;&#10;            &lt;/Box&gt;&#10;            &lt;Box style={{ flex: 1, background: '#FFFFFF', border: '1px solid #D6DCE5', borderRadius: 6, padding: 14, gap: 6, justifyContent: 'center' }}&gt;&#10;                &lt;Box style={{ flexDirection: 'row', alignItems: 'center', gap: 10 }}&gt;&#10;                    &lt;Text style={{ fontSize: 17, fontWeight: 'bold', color: '#0E3F8C' }}&gt;模型路由与预算&lt;/Text&gt;&#10;                    &lt;Text style={{ fontSize: 13, color: '#8B97A8' }}&gt;按意图与复杂度选档位&lt;/Text&gt;&#10;                &lt;/Box&gt;&#10;                &lt;Box style={{ flexDirection: 'row', gap: 6 }}&gt;&#10;                    &lt;Box style={{ flex: 1, height: 26, background: '#E8EFF8', borderRadius: 4, justifyContent: 'center' }}&gt;&#10;                        &lt;Text style={{ fontSize: 12, color: '#0E3F8C' }}&gt;简单意图 → 小模型&lt;/Text&gt;&#10;                    &lt;/Box&gt;&#10;                    &lt;Box style={{ flex: 1, height: 26, background: '#1E4FA8', borderRadius: 4, justifyContent: 'center' }}&gt;&#10;                        &lt;Text style={{ fontSize: 12, color: '#FFFFFF' }}&gt;复杂请求 → 大模型&lt;/Text&gt;&#10;                    &lt;/Box&gt;&#10;                &lt;/Box&gt;&#10;                &lt;Text style={{ fontSize: 13, color: '#4A5568' }}&gt;token 记账 + 当日超预算直接阻止调用&lt;/Text&gt;&#10;            &lt;/Box&gt;&#10;            &lt;Box style={{ flex: 1, background: '#FFFFFF', border: '1px solid #D6DCE5', borderRadius: 6, padding: 14, gap: 6, justifyContent: 'center' }}&gt;&#10;                &lt;Box style={{ flexDirection: 'row', alignItems: 'center', gap: 10 }}&gt;&#10;                    &lt;Text style={{ fontSize: 17, fontWeight: 'bold', color: '#0E3F8C' }}&gt;护栏&lt;/Text&gt;&#10;                    &lt;Text style={{ fontSize: 13, color: '#8B97A8' }}&gt;纯函数，可单测&lt;/Text&gt;&#10;                &lt;/Box&gt;&#10;                &lt;Box style={{ flexDirection: 'row', gap: 6 }}&gt;&#10;                    &lt;Box style={{ flex: 1, height: 26, background: '#FFF4F3', borderRadius: 4, justifyContent: 'center' }}&gt;&#10;                        &lt;Text style={{ fontSize: 12, color: '#D9534F' }}&gt;输入：拦越界与注入&lt;/Text&gt;&#10;                    &lt;/Box&gt;&#10;                    &lt;Box style={{ flex: 1, height: 26, background: '#E8EFF8', borderRadius: 4, justifyContent: 'center' }}&gt;&#10;                        &lt;Text style={{ fontSize: 12, color: '#0E3F8C' }}&gt;输出：拦泄漏与空答&lt;/Text&gt;&#10;                    &lt;/Box&gt;&#10;                &lt;/Box&gt;&#10;                &lt;Text style={{ fontSize: 13, color: '#4A5568' }}&gt;不靠模型自觉 —— 自觉不是工程手段&lt;/Text&gt;&#10;            &lt;/Box&gt;&#10;        &lt;/Box&gt;&#10;    &lt;/Box&gt;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这三件事决定系统能撑多久 —— 而它们全都不在界面上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2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315575" y="1905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一次提问，七道关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第七关</a:t>
            </a:r>
            <a:r>
              <a:rPr lang="en-US" sz="2550" b="1">
                <a:solidFill>
                  <a:srgbClr val="0E3F8C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省得下来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上下文、预算、护栏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用户看不到，但少了任何一样系统都会垮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10315575" y="685800"/>
            <a:ext cx="1495425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448925" y="752475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PingFang SC"/>
                <a:ea typeface="PingFang SC"/>
              </a:rPr>
              <a:t xml:space="preserve"> 7 </a:t>
            </a: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11020425" y="781050"/>
            <a:ext cx="9525" cy="13335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106150" y="762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省得下来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381000" y="1600200"/>
            <a:ext cx="4381500" cy="4457700"/>
          </a:xfrm>
          <a:prstGeom prst="roundRect">
            <a:avLst>
              <a:gd name="adj" fmla="val 1739"/>
            </a:avLst>
          </a:prstGeom>
          <a:solidFill>
            <a:srgbClr val="1B2A44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504825" y="1771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57225" y="1724025"/>
            <a:ext cx="3857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E8"/>
                </a:solidFill>
                <a:latin typeface="SF Mono"/>
                <a:ea typeface="SF Mono"/>
              </a:rPr>
              <a:t>application/context.py:72 · domain/guardrails.py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504825" y="1962150"/>
            <a:ext cx="4133850" cy="3971925"/>
          </a:xfrm>
          <a:prstGeom prst="rect"/>
        </p:spPr>
        <p:txBody>
          <a:bodyPr wrap="none" lIns="0" tIns="0" rIns="0" bIns="0"/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compress(messages, *, max_messages=24,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       keep_recent=14):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只从整轮边界裁，不拆散「调用—结果」配对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head = summarize(messages[:-keep_recent])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tail = messages[-keep_recent:]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return head + tail    #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摘要</a:t>
            </a: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≤ 240 </a:t>
            </a:r>
            <a:r>
              <a:rPr lang="zh-CN" sz="975">
                <a:solidFill>
                  <a:srgbClr val="E3ECFA"/>
                </a:solidFill>
                <a:latin typeface="SF Mono"/>
                <a:ea typeface="SF Mono"/>
              </a:rPr>
              <a:t>字，不额外调模型</a:t>
            </a:r>
            <a:endParaRPr/>
          </a:p>
          <a:p>
            <a:pPr>
              <a:lnSpc>
                <a:spcPct val="152000"/>
              </a:lnSpc>
            </a:pPr>
            <a:r>
              <a:rPr sz="975">
                <a:solidFill>
                  <a:srgbClr val="E3ECFA"/>
                </a:solidFill>
                <a:latin typeface="SF Mono"/>
                <a:ea typeface="SF Mono"/>
              </a:rPr>
              <a:t xml:space="preserve"> 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>def check_input(text):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for marker in _INJECTION_MARKERS:</a:t>
            </a:r>
            <a:endParaRPr/>
          </a:p>
          <a:p>
            <a:pPr>
              <a:lnSpc>
                <a:spcPct val="152000"/>
              </a:lnSpc>
            </a:pPr>
            <a:r>
              <a:rPr lang="en-US" sz="975">
                <a:solidFill>
                  <a:srgbClr val="E3ECFA"/>
                </a:solidFill>
                <a:latin typeface="SF Mono"/>
                <a:ea typeface="SF Mono"/>
              </a:rPr>
              <a:t xml:space="preserve">        if marker in text: return BLOCK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4953000" y="1600200"/>
            <a:ext cx="6667500" cy="4457700"/>
          </a:xfrm>
          <a:prstGeom prst="roundRect">
            <a:avLst>
              <a:gd name="adj" fmla="val 17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124450" y="1771650"/>
            <a:ext cx="632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三件用户看不见的事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5124450" y="2133600"/>
            <a:ext cx="6324600" cy="1162050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257800" y="23812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上下文压缩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162675" y="240982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24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条上限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保留最近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14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条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5257800" y="2638425"/>
            <a:ext cx="4648200" cy="209550"/>
          </a:xfrm>
          <a:prstGeom prst="roundRect">
            <a:avLst>
              <a:gd name="adj" fmla="val 1818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257800" y="2676525"/>
            <a:ext cx="4648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摘要</a:t>
            </a:r>
            <a:r>
              <a:rPr lang="en-US" sz="900">
                <a:solidFill>
                  <a:srgbClr val="0E3F8C"/>
                </a:solidFill>
                <a:latin typeface="PingFang SC"/>
                <a:ea typeface="PingFang SC"/>
              </a:rPr>
              <a:t xml:space="preserve"> ≤ 240 </a:t>
            </a: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字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9963150" y="2733675"/>
            <a:ext cx="17145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10191750" y="2638425"/>
            <a:ext cx="1123950" cy="20955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191750" y="2676525"/>
            <a:ext cx="1123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/>
                </a:solidFill>
                <a:latin typeface="PingFang SC"/>
                <a:ea typeface="PingFang SC"/>
              </a:rPr>
              <a:t>保留</a:t>
            </a:r>
            <a:r>
              <a:rPr lang="en-US" sz="900">
                <a:solidFill>
                  <a:srgbClr val="FFFFFF"/>
                </a:solidFill>
                <a:latin typeface="PingFang SC"/>
                <a:ea typeface="PingFang SC"/>
              </a:rPr>
              <a:t xml:space="preserve"> 14 </a:t>
            </a:r>
            <a:r>
              <a:rPr lang="zh-CN" sz="900">
                <a:solidFill>
                  <a:srgbClr val="FFFFFF"/>
                </a:solidFill>
                <a:latin typeface="PingFang SC"/>
                <a:ea typeface="PingFang SC"/>
              </a:rPr>
              <a:t>条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5257800" y="2905125"/>
            <a:ext cx="6057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只从整轮边界裁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拆散「调用—结果」模型会报错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5124450" y="3390900"/>
            <a:ext cx="6324600" cy="120015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257800" y="3638550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模型路由与预算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486525" y="3667125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按意图与复杂度选档位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5257800" y="3895725"/>
            <a:ext cx="3000375" cy="247650"/>
          </a:xfrm>
          <a:prstGeom prst="roundRect">
            <a:avLst>
              <a:gd name="adj" fmla="val 1538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257800" y="395287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简单意图</a:t>
            </a:r>
            <a:r>
              <a:rPr lang="en-US" sz="900">
                <a:solidFill>
                  <a:srgbClr val="0E3F8C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小模型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8315325" y="3895725"/>
            <a:ext cx="3000375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315325" y="395287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/>
                </a:solidFill>
                <a:latin typeface="PingFang SC"/>
                <a:ea typeface="PingFang SC"/>
              </a:rPr>
              <a:t>复杂请求</a:t>
            </a:r>
            <a:r>
              <a:rPr lang="en-US" sz="900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900">
                <a:solidFill>
                  <a:srgbClr val="FFFFFF"/>
                </a:solidFill>
                <a:latin typeface="PingFang SC"/>
                <a:ea typeface="PingFang SC"/>
              </a:rPr>
              <a:t>大模型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257800" y="4200525"/>
            <a:ext cx="6057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token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记账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当日超预算直接阻止调用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5124450" y="4686300"/>
            <a:ext cx="6324600" cy="120015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257800" y="49339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PingFang SC"/>
                <a:ea typeface="PingFang SC"/>
              </a:rPr>
              <a:t>护栏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676900" y="4962525"/>
            <a:ext cx="866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纯函数，可单测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5257800" y="5191125"/>
            <a:ext cx="3000375" cy="247650"/>
          </a:xfrm>
          <a:prstGeom prst="roundRect">
            <a:avLst>
              <a:gd name="adj" fmla="val 15385"/>
            </a:avLst>
          </a:prstGeom>
          <a:solidFill>
            <a:srgbClr val="FFF4F3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257800" y="524827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输入：拦越界与注入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8315325" y="5191125"/>
            <a:ext cx="3000375" cy="247650"/>
          </a:xfrm>
          <a:prstGeom prst="roundRect">
            <a:avLst>
              <a:gd name="adj" fmla="val 1538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15325" y="524827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E3F8C"/>
                </a:solidFill>
                <a:latin typeface="PingFang SC"/>
                <a:ea typeface="PingFang SC"/>
              </a:rPr>
              <a:t>输出：拦泄漏与空答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5257800" y="5495925"/>
            <a:ext cx="6057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不靠模型自觉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自觉不是工程手段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4467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这三件事决定系统能撑多久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而它们全都不在界面上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12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 name="13 技术·收束｜一次提问，走完七道关">
    <p:spTree>
      <p:nvGrpSpPr>
        <p:cNvPr id="162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解法 · 收束&lt;/Text&gt;&#10;    &lt;/Box&gt;&#10;    &lt;Box style={{ position: 'absolute', top: 56, left: 40, width: 1200, height: 92, flexDirection: 'column', justifyContent: 'center', gap: 8 }}&gt;&#10;        &lt;Text style={{ fontSize: 34, fontWeight: 'bold', color: '#0E3F8C' }}&gt;一次提问，走完七道关&lt;/Text&gt;&#10;        &lt;Text style={{ fontSize: 19, color: '#4A5568' }}&gt;七道关不是模块清单，是一条链 —— 每一关都是上一关逼出来的&lt;/Text&gt;&#10;    &lt;/Box&gt;&#10;&#10;    &lt;Box style={{ position: 'absolute', top: 176, left: 40, width: 1200, height: 104, flexDirection: 'row', alignItems: 'center', gap: 6 }}&gt;&#10;        &lt;Box style={{ flex: 1, background: '#1E4FA8', borderRadius: 8, padding: 14, gap: 3, justifyContent: 'center', alignItems: 'center' }}&gt;&#10;                    &lt;Text style={{ fontSize: 13, color: '#FFFFFF', opacity: 0.75 }}&gt;第 1 关&lt;/Text&gt;&#10;                    &lt;Text style={{ fontSize: 18, color: '#FFFFFF', fontWeight: 'bold' }}&gt;看得懂意图&lt;/Text&gt;&#10;                &lt;/Box&gt;&#10;&lt;Box style={{ flex: 1, background: '#3D7BD9', borderRadius: 8, padding: 14, gap: 3, justifyContent: 'center', alignItems: 'center' }}&gt;&#10;                    &lt;Text style={{ fontSize: 13, color: '#FFFFFF', opacity: 0.75 }}&gt;第 2 关&lt;/Text&gt;&#10;                    &lt;Text style={{ fontSize: 18, color: '#FFFFFF', fontWeight: 'bold' }}&gt;看得准资料&lt;/Text&gt;&#10;                &lt;/Box&gt;&#10;&lt;Box style={{ flex: 1, background: '#0E3F8C', borderRadius: 8, padding: 14, gap: 3, justifyContent: 'center', alignItems: 'center' }}&gt;&#10;                    &lt;Text style={{ fontSize: 13, color: '#FFFFFF', opacity: 0.75 }}&gt;第 3 关&lt;/Text&gt;&#10;                    &lt;Text style={{ fontSize: 18, color: '#FFFFFF', fontWeight: 'bold' }}&gt;管得住工具&lt;/Text&gt;&#10;                &lt;/Box&gt;&#10;&lt;Box style={{ flex: 1, background: '#4FB3A4', borderRadius: 8, padding: 14, gap: 3, justifyContent: 'center', alignItems: 'center' }}&gt;&#10;                    &lt;Text style={{ fontSize: 13, color: '#FFFFFF', opacity: 0.75 }}&gt;第 4 关&lt;/Text&gt;&#10;                    &lt;Text style={{ fontSize: 18, color: '#FFFFFF', fontWeight: 'bold' }}&gt;说得清出处&lt;/Text&gt;&#10;                &lt;/Box&gt;&#10;&lt;Box style={{ flex: 1, background: '#E5B54B', borderRadius: 8, padding: 14, gap: 3, justifyContent: 'center', alignItems: 'center' }}&gt;&#10;                    &lt;Text style={{ fontSize: 13, color: '#FFFFFF', opacity: 0.75 }}&gt;第 5 关&lt;/Text&gt;&#10;                    &lt;Text style={{ fontSize: 18, color: '#FFFFFF', fontWeight: 'bold' }}&gt;练得下去&lt;/Text&gt;&#10;                &lt;/Box&gt;&#10;&lt;Box style={{ flex: 1, background: '#A87F22', borderRadius: 8, padding: 14, gap: 3, justifyContent: 'center', alignItems: 'center' }}&gt;&#10;                    &lt;Text style={{ fontSize: 13, color: '#FFFFFF', opacity: 0.75 }}&gt;第 6 关&lt;/Text&gt;&#10;                    &lt;Text style={{ fontSize: 18, color: '#FFFFFF', fontWeight: 'bold' }}&gt;记得住&lt;/Text&gt;&#10;                &lt;/Box&gt;&#10;&lt;Box style={{ flex: 1, background: '#6B4E9E', borderRadius: 8, padding: 14, gap: 3, justifyContent: 'center', alignItems: 'center' }}&gt;&#10;                    &lt;Text style={{ fontSize: 13, color: '#FFFFFF', opacity: 0.75 }}&gt;第 7 关&lt;/Text&gt;&#10;                    &lt;Text style={{ fontSize: 18, color: '#FFFFFF', fontWeight: 'bold' }}&gt;省得下来&lt;/Text&gt;&#10;                &lt;/Box&gt;&#10;    &lt;/Box&gt;&#10;&#10;    &lt;Box style={{ position: 'absolute', top: 300, left: 40, width: 1200, height: 112, background: '#F7F9FC', border: '1px solid #D6DCE5', borderRadius: 8, flexDirection: 'row', alignItems: 'center', padding: '0 24px', gap: 20 }}&gt;&#10;        &lt;Text style={{ fontSize: 20, fontWeight: 'bold', color: '#0E3F8C' }}&gt;一次提问&lt;/Text&gt;&#10;        &lt;Box style={{ width: 30, height: 3, background: '#1E4FA8' }} /&gt;&#10;        &lt;Text style={{ fontSize: 18, color: '#4A5568', flex: 1 }}&gt;七道关全过，产出一个带出处的答案；中间任何一关失守，最终答案就不可信&lt;/Text&gt;&#10;        &lt;Box style={{ background: '#E8EFF8', borderRadius: 6, padding: '10px 16px' }}&gt;&#10;            &lt;Text style={{ fontSize: 16, color: '#0E3F8C', fontWeight: 'bold' }}&gt;最多 6 轮工具调用&lt;/Text&gt;&#10;        &lt;/Box&gt;&#10;    &lt;/Box&gt;&#10;&#10;    &lt;Box style={{ position: 'absolute', top: 432, left: 40, width: 1200, height: 184, flexDirection: 'row', gap: 16 }}&gt;&#10;        &lt;Box style={{ flex: 1, background: '#F7F9FC', border: '1px solid #D6DCE5', borderRadius: 8, padding: 18, gap: 8, justifyContent: 'center' }}&gt;&#10;            &lt;Text style={{ fontSize: 19, fontWeight: 'bold', color: '#0E3F8C' }}&gt;这七关的共同点&lt;/Text&gt;&#10;            &lt;Text style={{ fontSize: 15, color: '#4A5568', lineHeight: 1.7 }}&gt;&#10;                每一关都不是「让模型更聪明」，而是&lt;b&gt;给模型加一道能被检查的约束&lt;/b&gt;。&#10;                关掉了它们，系统照样能跑 —— 只是你没法相信它的输出。&#10;            &lt;/Text&gt;&#10;        &lt;/Box&gt;&#10;        &lt;Box style={{ flex: 1, background: '#E8EFF8', borderRadius: 8, padding: 18, gap: 8, justifyContent: 'center' }}&gt;&#10;            &lt;Text style={{ fontSize: 19, fontWeight: 'bold', color: '#0E3F8C' }}&gt;为什么值得讲这些&lt;/Text&gt;&#10;            &lt;Text style={{ fontSize: 15, color: '#4A5568', lineHeight: 1.7 }}&gt;&#10;                因为这些是&lt;b&gt;能被单测覆盖、能被复现、能进 CI&lt;/b&gt;的部分。&#10;                下一段就讲：怎么证明它们真的在起作用。&#10;            &lt;/Text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模型能力决定上限，工程约束决定下限 —— 知迹做的是后者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3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115675" y="190500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解法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收束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一次提问，走完七道关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七道关不是模块清单，是一条链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每一关都是上一关逼出来的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81000" y="1847850"/>
            <a:ext cx="1581150" cy="657225"/>
          </a:xfrm>
          <a:prstGeom prst="roundRect">
            <a:avLst>
              <a:gd name="adj" fmla="val 1159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42950" y="2162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看得懂意图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2019300" y="1847850"/>
            <a:ext cx="1590675" cy="657225"/>
          </a:xfrm>
          <a:prstGeom prst="roundRect">
            <a:avLst>
              <a:gd name="adj" fmla="val 1159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390775" y="2162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看得准资料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3667125" y="1847850"/>
            <a:ext cx="1581150" cy="657225"/>
          </a:xfrm>
          <a:prstGeom prst="roundRect">
            <a:avLst>
              <a:gd name="adj" fmla="val 1159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029075" y="2162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管得住工具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5305425" y="1847850"/>
            <a:ext cx="1581150" cy="657225"/>
          </a:xfrm>
          <a:prstGeom prst="roundRect">
            <a:avLst>
              <a:gd name="adj" fmla="val 11594"/>
            </a:avLst>
          </a:prstGeom>
          <a:solidFill>
            <a:srgbClr val="4FB3A4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5667375" y="2162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说得清出处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943725" y="1847850"/>
            <a:ext cx="1581150" cy="657225"/>
          </a:xfrm>
          <a:prstGeom prst="roundRect">
            <a:avLst>
              <a:gd name="adj" fmla="val 11594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7391400" y="21621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练得下去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8582025" y="1847850"/>
            <a:ext cx="1590675" cy="657225"/>
          </a:xfrm>
          <a:prstGeom prst="roundRect">
            <a:avLst>
              <a:gd name="adj" fmla="val 11594"/>
            </a:avLst>
          </a:prstGeom>
          <a:solidFill>
            <a:srgbClr val="A87F22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124950" y="2162175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记得住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10229850" y="1847850"/>
            <a:ext cx="1581150" cy="657225"/>
          </a:xfrm>
          <a:prstGeom prst="roundRect">
            <a:avLst>
              <a:gd name="adj" fmla="val 11594"/>
            </a:avLst>
          </a:prstGeom>
          <a:solidFill>
            <a:srgbClr val="6B4E9E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0677525" y="21621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省得下来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81075" y="1981200"/>
            <a:ext cx="381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1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2609850" y="198120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2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4257675" y="198120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3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895975" y="198120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4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7534275" y="198120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5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9172575" y="1981200"/>
            <a:ext cx="40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6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0820400" y="1981200"/>
            <a:ext cx="400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第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7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关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81000" y="2857500"/>
            <a:ext cx="11430000" cy="1066800"/>
          </a:xfrm>
          <a:prstGeom prst="roundRect">
            <a:avLst>
              <a:gd name="adj" fmla="val 714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9600" y="3276600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PingFang SC"/>
                <a:ea typeface="PingFang SC"/>
              </a:rPr>
              <a:t>一次提问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1562100" y="3381375"/>
            <a:ext cx="28575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2038350" y="3286125"/>
            <a:ext cx="7781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PingFang SC"/>
                <a:ea typeface="PingFang SC"/>
              </a:rPr>
              <a:t>七道关全过，产出一个带出处的答案；中间任何一关失守，最终答案就不可信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10010775" y="3200400"/>
            <a:ext cx="1571625" cy="381000"/>
          </a:xfrm>
          <a:prstGeom prst="roundRect">
            <a:avLst>
              <a:gd name="adj" fmla="val 15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0163175" y="3295650"/>
            <a:ext cx="1266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最多</a:t>
            </a:r>
            <a:r>
              <a:rPr lang="en-US" sz="1200" b="1">
                <a:solidFill>
                  <a:srgbClr val="0E3F8C"/>
                </a:solidFill>
                <a:latin typeface="PingFang SC"/>
                <a:ea typeface="PingFang SC"/>
              </a:rPr>
              <a:t xml:space="preserve"> 6 </a:t>
            </a:r>
            <a:r>
              <a:rPr lang="zh-CN" sz="1200" b="1">
                <a:solidFill>
                  <a:srgbClr val="0E3F8C"/>
                </a:solidFill>
                <a:latin typeface="PingFang SC"/>
                <a:ea typeface="PingFang SC"/>
              </a:rPr>
              <a:t>轮工具调用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381000" y="4114800"/>
            <a:ext cx="5638800" cy="175260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552450" y="4552950"/>
            <a:ext cx="5295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这七关的共同点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52450" y="4848225"/>
            <a:ext cx="5295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每一关都不是「让模型更聪明」，而是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给模型加一道能被检查的约束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关掉了它们，系统照样能跑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只是你没法相信它的输出。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6172200" y="4114800"/>
            <a:ext cx="5638800" cy="1752600"/>
          </a:xfrm>
          <a:prstGeom prst="roundRect">
            <a:avLst>
              <a:gd name="adj" fmla="val 434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343650" y="4552950"/>
            <a:ext cx="5295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为什么值得讲这些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343650" y="4848225"/>
            <a:ext cx="5295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因为这些是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能被单测覆盖、能被复现、能进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CI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的部分。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下一段就讲：怎么证明它们真的在起作用。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4829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模型能力决定上限，工程约束决定下限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知迹做的是后者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 name="14 证据｜怎么证明它今天没比昨天变笨">
    <p:spTree>
      <p:nvGrpSpPr>
        <p:cNvPr id="211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证据 · 怎么判断今天没比昨天变笨&lt;/Text&gt;&#10;    &lt;/Box&gt;&#10;    &lt;Box style={{ position: 'absolute', top: 56, left: 40, width: 1200, height: 92, flexDirection: 'column', justifyContent: 'center', gap: 8 }}&gt;&#10;        &lt;Text style={{ fontSize: 34, fontWeight: 'bold', color: '#0E3F8C' }}&gt;怎么证明它没坏&lt;/Text&gt;&#10;        &lt;Text style={{ fontSize: 19, color: '#4A5568' }}&gt;不是「我觉得挺准」，是每次改动都能复跑同一份考卷&lt;/Text&gt;&#10;    &lt;/Box&gt;&#10;&#10;    &lt;Box style={{ position: 'absolute', top: 168, left: 40, width: 1200, height: 218, flexDirection: 'row', gap: 16 }}&gt;&#10;        &lt;Box style={{ flex: 1, background: '#F7F9FC', border: '1px solid #D6DCE5', borderRadius: 8, padding: 20, gap: 10, justifyContent: 'center' }}&gt;&#10;            &lt;Text style={{ fontSize: 21, fontWeight: 'bold', color: '#0E3F8C' }}&gt;固定考卷&lt;/Text&gt;&#10;            &lt;Box style={{ flexDirection: 'row', alignItems: 'flex-end', gap: 8 }}&gt;&#10;                &lt;Text style={{ fontSize: 54, fontWeight: 'bold', color: '#1E4FA8', lineHeight: 1.05 }}&gt;35&lt;/Text&gt;&#10;                &lt;Text style={{ fontSize: 19, color: '#4A5568', marginBottom: 7 }}&gt;题检索 + 15 句意图&lt;/Text&gt;&#10;            &lt;/Box&gt;&#10;            &lt;Text style={{ fontSize: 14, color: '#4A5568', lineHeight: 1.6 }}&gt;每题标注正确片段，覆盖同义换词与短词考点&lt;/Text&gt;&#10;        &lt;/Box&gt;&#10;        &lt;Box style={{ flex: 1, background: '#F7F9FC', border: '1px solid #D6DCE5', borderRadius: 8, padding: 20, gap: 10, justifyContent: 'center' }}&gt;&#10;            &lt;Text style={{ fontSize: 21, fontWeight: 'bold', color: '#0E3F8C' }}&gt;基线门禁&lt;/Text&gt;&#10;            &lt;Box style={{ flexDirection: 'row', alignItems: 'flex-end', gap: 8 }}&gt;&#10;                &lt;Text style={{ fontSize: 54, fontWeight: 'bold', color: '#1E4FA8', lineHeight: 1.05 }}&gt;0.05&lt;/Text&gt;&#10;                &lt;Text style={{ fontSize: 19, color: '#4A5568', marginBottom: 7 }}&gt;容差&lt;/Text&gt;&#10;            &lt;/Box&gt;&#10;            &lt;Text style={{ fontSize: 14, color: '#4A5568', lineHeight: 1.6 }}&gt;掉出容差，命令返回非零 —— 能进提交前检查&lt;/Text&gt;&#10;        &lt;/Box&gt;&#10;        &lt;Box style={{ flex: 1, background: '#F7F9FC', border: '1px solid #D6DCE5', borderRadius: 8, padding: 20, gap: 10, justifyContent: 'center' }}&gt;&#10;            &lt;Text style={{ fontSize: 21, fontWeight: 'bold', color: '#0E3F8C' }}&gt;当前水平&lt;/Text&gt;&#10;            &lt;Box style={{ flexDirection: 'row', alignItems: 'flex-end', gap: 8 }}&gt;&#10;                &lt;Text style={{ fontSize: 54, fontWeight: 'bold', color: '#0E3F8C', lineHeight: 1.05 }}&gt;0.9714&lt;/Text&gt;&#10;                &lt;Text style={{ fontSize: 19, color: '#4A5568', marginBottom: 7 }}&gt;Hit@3 = MRR&lt;/Text&gt;&#10;            &lt;/Box&gt;&#10;            &lt;Text style={{ fontSize: 14, color: '#4A5568', lineHeight: 1.6 }}&gt;意图准确率 1.0；接真实向量 35 题全中&lt;/Text&gt;&#10;        &lt;/Box&gt;&#10;    &lt;/Box&gt;&#10;&#10;    &lt;Box style={{ position: 'absolute', top: 404, left: 40, width: 1200, height: 232, flexDirection: 'row', gap: 16 }}&gt;&#10;        &lt;Box style={{ flex: 1, background: '#F7F9FC', border: '1px solid #D6DCE5', borderRadius: 8, padding: 20, gap: 10 }}&gt;&#10;            &lt;Text style={{ fontSize: 23, fontWeight: 'bold', color: '#0E3F8C' }}&gt;消融：机制有用，当场可见&lt;/Text&gt;&#10;            &lt;Box style={{ flexDirection: 'row', alignItems: 'center', gap: 16 }}&gt;&#10;                &lt;Box style={{ background: '#1E4FA8', borderRadius: 6, padding: '9px 16px' }}&gt;&#10;                    &lt;Text style={{ fontSize: 25, fontWeight: 'bold', color: '#FFFFFF', fontFamily: 'SF Mono, Menlo, monospace' }}&gt;0.9714&lt;/Text&gt;&#10;                &lt;/Box&gt;&#10;                &lt;Text style={{ fontSize: 19, color: '#8B97A8' }}&gt;→&lt;/Text&gt;&#10;                &lt;Box style={{ background: '#D9534F', borderRadius: 6, padding: '9px 16px' }}&gt;&#10;                    &lt;Text style={{ fontSize: 25, fontWeight: 'bold', color: '#FFFFFF', fontFamily: 'SF Mono, Menlo, monospace' }}&gt;0.9571&lt;/Text&gt;&#10;                &lt;/Box&gt;&#10;                &lt;Text style={{ fontSize: 15, color: '#4A5568', flex: 1 }}&gt;关掉词面精排，MRR 立刻掉下来 —— 不需要「我觉得更好」&lt;/Text&gt;&#10;            &lt;/Box&gt;&#10;            &lt;Text style={{ fontSize: 14, color: '#4A5568', lineHeight: 1.65 }}&gt;&#10;                评测用确定性向量（同版本任何人跑出同样分数），有基线 JSON 与容差门禁。&#10;            &lt;/Text&gt;&#10;        &lt;/Box&gt;&#10;        &lt;Box style={{ flex: 1, background: '#F7F9FC', border: '1px solid #D6DCE5', borderRadius: 8, padding: 20, gap: 10 }}&gt;&#10;            &lt;Text style={{ fontSize: 23, fontWeight: 'bold', color: '#0E3F8C' }}&gt;但还有测不出来的&lt;/Text&gt;&#10;            &lt;Text style={{ fontSize: 15, color: '#4A5568', lineHeight: 1.7 }}&gt;&#10;                目前只能测「找到没」和「分类对不对」，&lt;b&gt;测不了「这次复习到底有没有用」&lt;/b&gt;。&#10;            &lt;/Text&gt;&#10;            &lt;Box style={{ flex: 1, background: '#E8EFF8', borderRadius: 5, padding: 12, justifyContent: 'center' }}&gt;&#10;                &lt;Text style={{ fontSize: 14, color: '#0E3F8C', lineHeight: 1.6 }}&gt;&#10;                    下一步要补任务级成功率，并用 pass^k 看稳定性 —— 报 pass@1 会把「偶尔能成」包装成「稳定可用」。&#10;                &lt;/Text&gt;&#10;            &lt;/Box&gt;&#10;        &lt;/Box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评测的价值不在分数高，在&lt;b&gt;分数掉了能立刻知道&lt;/b&gt; —— 这是它能进 CI 的前提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4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782175" y="190500"/>
            <a:ext cx="2028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证据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怎么判断今天没比昨天变笨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怎么证明它没坏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不是「我觉得挺准」，是每次改动都能复跑同一份考卷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81000" y="1600200"/>
            <a:ext cx="3705225" cy="2076450"/>
          </a:xfrm>
          <a:prstGeom prst="roundRect">
            <a:avLst>
              <a:gd name="adj" fmla="val 36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571500" y="1962150"/>
            <a:ext cx="33242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固定考卷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571500" y="2305050"/>
            <a:ext cx="619125" cy="6572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050" b="1">
                <a:solidFill>
                  <a:srgbClr val="1E4FA8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266825" y="2676525"/>
            <a:ext cx="156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题检索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+ 15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句意图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71500" y="305752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每题标注正确片段，覆盖同义换词与短词考点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4238625" y="1600200"/>
            <a:ext cx="3714750" cy="2076450"/>
          </a:xfrm>
          <a:prstGeom prst="roundRect">
            <a:avLst>
              <a:gd name="adj" fmla="val 36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429125" y="1962150"/>
            <a:ext cx="3333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基线门禁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429125" y="2305050"/>
            <a:ext cx="1076325" cy="6572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050" b="1">
                <a:solidFill>
                  <a:srgbClr val="1E4FA8"/>
                </a:solidFill>
                <a:latin typeface="PingFang SC"/>
                <a:ea typeface="PingFang SC"/>
              </a:rPr>
              <a:t>0.05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5581650" y="2676525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容差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429125" y="3057525"/>
            <a:ext cx="33337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掉出容差，命令返回非零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能进提交前检查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8105775" y="1600200"/>
            <a:ext cx="3705225" cy="2076450"/>
          </a:xfrm>
          <a:prstGeom prst="roundRect">
            <a:avLst>
              <a:gd name="adj" fmla="val 367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296275" y="1962150"/>
            <a:ext cx="33242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当前水平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296275" y="2305050"/>
            <a:ext cx="1571625" cy="6572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050" b="1">
                <a:solidFill>
                  <a:srgbClr val="0E3F8C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944100" y="2676525"/>
            <a:ext cx="1143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>Hit@3 = MRR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296275" y="305752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意图准确率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1.0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；接真实向量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题全中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381000" y="3848100"/>
            <a:ext cx="5638800" cy="2209800"/>
          </a:xfrm>
          <a:prstGeom prst="roundRect">
            <a:avLst>
              <a:gd name="adj" fmla="val 34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571500" y="4038600"/>
            <a:ext cx="52578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PingFang SC"/>
                <a:ea typeface="PingFang SC"/>
              </a:rPr>
              <a:t>消融：机制有用，当场可见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71500" y="4400550"/>
            <a:ext cx="1171575" cy="4572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723900" y="4486275"/>
            <a:ext cx="8667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FFFFFF"/>
                </a:solidFill>
                <a:latin typeface="SF Mono"/>
                <a:ea typeface="SF Mono"/>
              </a:rPr>
              <a:t>0.9714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895475" y="4524375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425">
                <a:solidFill>
                  <a:srgbClr val="8B97A8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2228850" y="4400550"/>
            <a:ext cx="1171575" cy="457200"/>
          </a:xfrm>
          <a:prstGeom prst="roundRect">
            <a:avLst>
              <a:gd name="adj" fmla="val 125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381250" y="4486275"/>
            <a:ext cx="8667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FFFFFF"/>
                </a:solidFill>
                <a:latin typeface="SF Mono"/>
                <a:ea typeface="SF Mono"/>
              </a:rPr>
              <a:t>0.9571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552825" y="4543425"/>
            <a:ext cx="2276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关掉词面精排，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MRR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立刻掉下来</a:t>
            </a:r>
            <a:r>
              <a:rPr lang="en-US" sz="11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不需要「我觉得更好」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71500" y="4953000"/>
            <a:ext cx="5257800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评测用确定性向量（同版本任何人跑出同样分数），有基线</a:t>
            </a:r>
            <a:r>
              <a:rPr lang="en-US" sz="1050">
                <a:solidFill>
                  <a:srgbClr val="4A5568"/>
                </a:solidFill>
                <a:latin typeface="PingFang SC"/>
                <a:ea typeface="PingFang SC"/>
              </a:rPr>
              <a:t xml:space="preserve"> JSON </a:t>
            </a:r>
            <a:r>
              <a:rPr lang="zh-CN" sz="1050">
                <a:solidFill>
                  <a:srgbClr val="4A5568"/>
                </a:solidFill>
                <a:latin typeface="PingFang SC"/>
                <a:ea typeface="PingFang SC"/>
              </a:rPr>
              <a:t>与容差门禁。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6172200" y="3848100"/>
            <a:ext cx="5638800" cy="2209800"/>
          </a:xfrm>
          <a:prstGeom prst="roundRect">
            <a:avLst>
              <a:gd name="adj" fmla="val 34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362700" y="4038600"/>
            <a:ext cx="52578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PingFang SC"/>
                <a:ea typeface="PingFang SC"/>
              </a:rPr>
              <a:t>但还有测不出来的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362700" y="4400550"/>
            <a:ext cx="52578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目前只能测「找到没」和「分类对不对」，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测不了「这次复习到底有没有用」</a:t>
            </a:r>
            <a:r>
              <a:rPr lang="zh-CN" sz="112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362700" y="4791075"/>
            <a:ext cx="5257800" cy="1076325"/>
          </a:xfrm>
          <a:prstGeom prst="roundRect">
            <a:avLst>
              <a:gd name="adj" fmla="val 442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477000" y="5076825"/>
            <a:ext cx="5029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下一步要补任务级成功率，并用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pass^k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看稳定性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报</a:t>
            </a:r>
            <a:r>
              <a:rPr lang="en-US" sz="1050">
                <a:solidFill>
                  <a:srgbClr val="0E3F8C"/>
                </a:solidFill>
                <a:latin typeface="PingFang SC"/>
                <a:ea typeface="PingFang SC"/>
              </a:rPr>
              <a:t xml:space="preserve"> pass@1 </a:t>
            </a:r>
            <a:r>
              <a:rPr lang="zh-CN" sz="1050">
                <a:solidFill>
                  <a:srgbClr val="0E3F8C"/>
                </a:solidFill>
                <a:latin typeface="PingFang SC"/>
                <a:ea typeface="PingFang SC"/>
              </a:rPr>
              <a:t>会把「偶尔能成」包装成「稳定可用」。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603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评测的价值不在分数高，在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分数掉了能立刻知道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这是它能进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 CI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的前提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14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 name="15 边界｜六项能力：两项达标，三项一半，一项没做">
    <p:spTree>
      <p:nvGrpSpPr>
        <p:cNvPr id="256" name="" descr="&lt;Slide style={{ width: 1280, height: 720, position: 'relative', background: '#FFFFFF', fontFamily: 'PingFang SC, Hiragino Sans GB, sans-serif' }}&gt;&#10;    &lt;Box style={{ position: 'absolute', top: 0, left: 0, width: 1280, height: 56, background: '#1E4FA8' }} /&gt;&#10;    &lt;Box style={{ position: 'absolute', top: 0, left: 40, height: 56, flexDirection: 'row', alignItems: 'center', gap: 14 }}&gt;&#10;        &lt;Text style={{ fontSize: 17, color: '#FFFFFF', fontWeight: 'bold' }}&gt;知迹&lt;/Text&gt;&#10;        &lt;Box style={{ width: 1, height: 16, background: '#5B8FD9' }} /&gt;&#10;        &lt;Text style={{ fontSize: 15, color: '#C9DDF5' }}&gt;Agent 工程化实践&lt;/Text&gt;&#10;    &lt;/Box&gt;&#10;    &lt;Box style={{ position: 'absolute', top: 0, right: 40, height: 56, flexDirection: 'row', alignItems: 'center' }}&gt;&#10;        &lt;Text style={{ fontSize: 14, color: '#A9C6EF' }}&gt;边界 · 诚实清单&lt;/Text&gt;&#10;    &lt;/Box&gt;&#10;    &lt;Box style={{ position: 'absolute', top: 56, left: 40, width: 1200, height: 92, flexDirection: 'column', justifyContent: 'center', gap: 8 }}&gt;&#10;        &lt;Text style={{ fontSize: 34, fontWeight: 'bold', color: '#0E3F8C' }}&gt;六项能力：两项达标，三项一半，一项没做&lt;/Text&gt;&#10;        &lt;Text style={{ fontSize: 19, color: '#4A5568' }}&gt;把没做的说出来，比多做一点更有用 —— 这是下一步的排序依据&lt;/Text&gt;&#10;    &lt;/Box&gt;&#10;&#10;&lt;Box style={{ position: 'absolute', top: 186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中断可恢复&lt;/Text&gt;&#10;                &lt;Box style={{ width: 72, height: 30, background: '#1E4FA8', borderRadius: 4, justifyContent: 'center', alignItems: 'center' }}&gt;&#10;                    &lt;Text style={{ fontSize: 16, color: '#FFFFFF', fontWeight: 'bold' }}&gt;达标&lt;/Text&gt;&#10;                &lt;/Box&gt;&#10;                &lt;Text style={{ fontSize: 16, color: '#4A5568', flex: 1 }}&gt;状态图 + 检查点 + 中断恢复，孤儿线程级联清理&lt;/Text&gt;&#10;            &lt;/Box&gt;&#10;&lt;Box style={{ position: 'absolute', top: 250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检索准确可追溯&lt;/Text&gt;&#10;                &lt;Box style={{ width: 72, height: 30, background: '#1E4FA8', borderRadius: 4, justifyContent: 'center', alignItems: 'center' }}&gt;&#10;                    &lt;Text style={{ fontSize: 16, color: '#FFFFFF', fontWeight: 'bold' }}&gt;达标&lt;/Text&gt;&#10;                &lt;/Box&gt;&#10;                &lt;Text style={{ fontSize: 16, color: '#4A5568', flex: 1 }}&gt;35 题考卷，真实向量 35/35，引用精确到页&lt;/Text&gt;&#10;            &lt;/Box&gt;&#10;&lt;Box style={{ position: 'absolute', top: 314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工具执行治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有双层权限、超时退避、并发与失败转消息；缺参数级约束&lt;/Text&gt;&#10;            &lt;/Box&gt;&#10;&lt;Box style={{ position: 'absolute', top: 378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长上下文管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有抽取式摘要与预算控制；缺关键事实外置成结构化笔记&lt;/Text&gt;&#10;            &lt;/Box&gt;&#10;&lt;Box style={{ position: 'absolute', top: 442, left: 40, width: 1200, height: 54, background: '#F7F9FC', border: '1px solid #D6DCE5', borderRadius: 5, flexDirection: 'row', alignItems: 'center', padding: '0 20px', gap: 18 }}&gt;&#10;                &lt;Text style={{ fontSize: 21, fontWeight: 'bold', color: '#0E3F8C', width: 244 }}&gt;长期记忆&lt;/Text&gt;&#10;                &lt;Box style={{ width: 72, height: 30, background: '#E5B54B', borderRadius: 4, justifyContent: 'center', alignItems: 'center' }}&gt;&#10;                    &lt;Text style={{ fontSize: 16, color: '#FFFFFF', fontWeight: 'bold' }}&gt;一半&lt;/Text&gt;&#10;                &lt;/Box&gt;&#10;                &lt;Text style={{ fontSize: 16, color: '#4A5568', flex: 1 }}&gt;按课程隔离、写入前确认；缺过期、替换与删除机制&lt;/Text&gt;&#10;            &lt;/Box&gt;&#10;&lt;Box style={{ position: 'absolute', top: 506, left: 40, width: 1200, height: 54, background: '#FFFFFF', border: '1px solid #D6DCE5', borderRadius: 5, flexDirection: 'row', alignItems: 'center', padding: '0 20px', gap: 18 }}&gt;&#10;                &lt;Text style={{ fontSize: 21, fontWeight: 'bold', color: '#0E3F8C', width: 244 }}&gt;任务级成功率评测&lt;/Text&gt;&#10;                &lt;Box style={{ width: 72, height: 30, background: '#D9534F', borderRadius: 4, justifyContent: 'center', alignItems: 'center' }}&gt;&#10;                    &lt;Text style={{ fontSize: 16, color: '#FFFFFF', fontWeight: 'bold' }}&gt;没做&lt;/Text&gt;&#10;                &lt;/Box&gt;&#10;                &lt;Text style={{ fontSize: 16, color: '#4A5568', flex: 1 }}&gt;考卷只测「找到没」「分类对不对」，不测「复习有没有用」&lt;/Text&gt;&#10;            &lt;/Box&gt;&#10;    &lt;Box style={{ position: 'absolute', top: 162, left: 40, width: 1200, flexDirection: 'row', gap: 18, paddingBottom: 6 }}&gt;&#10;        &lt;Text style={{ fontSize: 16, color: '#8B97A8', width: 244, paddingLeft: 20 }}&gt;能力项&lt;/Text&gt;&#10;        &lt;Text style={{ fontSize: 16, color: '#8B97A8', width: 72, textAlign: 'center' }}&gt;状态&lt;/Text&gt;&#10;        &lt;Text style={{ fontSize: 16, color: '#8B97A8', flex: 1 }}&gt;依据 / 还缺什么&lt;/Text&gt;&#10;    &lt;/Box&gt;&#10;&#10;    &lt;Box style={{ position: 'absolute', top: 578, left: 40, width: 1200, height: 58, background: '#E8EFF8', borderRadius: 6, flexDirection: 'row', alignItems: 'center', padding: '0 20px', gap: 12 }}&gt;&#10;        &lt;Text style={{ fontSize: 18, color: '#0E3F8C', fontWeight: 'bold' }}&gt;下一步排序：&lt;/Text&gt;&#10;        &lt;Text style={{ fontSize: 18, color: '#0E3F8C' }}&gt;① 任务级成功率评测　② 记忆的过期与删除　③ 更难的检索考卷&lt;/Text&gt;&#10;    &lt;/Box&gt;&#10;&#10;    &lt;Box style={{ position: 'absolute', top: 648, left: 40, width: 1200, height: 56, background: '#E8EFF8', borderTop: '2px solid #1E4FA8', flexDirection: 'row', alignItems: 'center', padding: '0 20px', gap: 12 }}&gt;&#10;        &lt;Box style={{ width: 4, height: 24, background: '#1E4FA8' }} /&gt;&#10;        &lt;Text style={{ fontSize: 19, color: '#0E3F8C', fontWeight: 'bold' }}&gt;另外四项也标为「计划中」：多用户与数据隔离、在线监控聚合面板、Reranker 重排、反思式自我批判&lt;/Text&gt;&#10;    &lt;/Box&gt;&#10;&#10;    &lt;Box style={{ position: 'absolute', bottom: 8, left: 40, flexDirection: 'row', alignItems: 'center' }}&gt;&#10;        &lt;Text style={{ fontSize: 14, color: '#8B97A8' }}&gt;知迹 · 赛道十三 · 智慧教育&lt;/Text&gt;&#10;    &lt;/Box&gt;&#10;    &lt;Box style={{ position: 'absolute', bottom: 8, right: 40, flexDirection: 'row', alignItems: 'center', gap: 4 }}&gt;&#10;        &lt;Text style={{ fontSize: 15, color: '#1E4FA8', fontWeight: 'bold' }}&gt;15&lt;/Text&gt;&#10;        &lt;Text style={{ fontSize: 14, color: '#8B97A8' }}&gt;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0" y="0"/>
            <a:ext cx="12192000" cy="533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17145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838200" y="190500"/>
            <a:ext cx="9525" cy="152400"/>
          </a:xfrm>
          <a:prstGeom prst="rect">
            <a:avLst/>
          </a:prstGeom>
          <a:solidFill>
            <a:srgbClr val="5B8FD9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81075" y="180975"/>
            <a:ext cx="1152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DF5"/>
                </a:solidFill>
                <a:latin typeface="PingFang SC"/>
                <a:ea typeface="PingFang SC"/>
              </a:rPr>
              <a:t xml:space="preserve">Agent </a:t>
            </a:r>
            <a:r>
              <a:rPr lang="zh-CN" sz="1125">
                <a:solidFill>
                  <a:srgbClr val="C9DDF5"/>
                </a:solidFill>
                <a:latin typeface="PingFang SC"/>
                <a:ea typeface="PingFang SC"/>
              </a:rPr>
              <a:t>工程化实践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0848975" y="19050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边界</a:t>
            </a:r>
            <a:r>
              <a:rPr lang="en-US" sz="1050">
                <a:solidFill>
                  <a:srgbClr val="A9C6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A9C6EF"/>
                </a:solidFill>
                <a:latin typeface="PingFang SC"/>
                <a:ea typeface="PingFang SC"/>
              </a:rPr>
              <a:t>诚实清单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E3F8C"/>
                </a:solidFill>
                <a:latin typeface="PingFang SC"/>
                <a:ea typeface="PingFang SC"/>
              </a:rPr>
              <a:t>六项能力：两项达标，三项一半，一项没做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1095375"/>
            <a:ext cx="11430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把没做的说出来，比多做一点更有用</a:t>
            </a:r>
            <a:r>
              <a:rPr lang="en-US" sz="1425">
                <a:solidFill>
                  <a:srgbClr val="4A5568"/>
                </a:solidFill>
                <a:latin typeface="PingFang SC"/>
                <a:ea typeface="PingFang SC"/>
              </a:rPr>
              <a:t xml:space="preserve"> —— </a:t>
            </a:r>
            <a:r>
              <a:rPr lang="zh-CN" sz="1425">
                <a:solidFill>
                  <a:srgbClr val="4A5568"/>
                </a:solidFill>
                <a:latin typeface="PingFang SC"/>
                <a:ea typeface="PingFang SC"/>
              </a:rPr>
              <a:t>这是下一步的排序依据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381000" y="17716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571500" y="19050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中断可恢复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3067050" y="18859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257550" y="19335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924300" y="19335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检查点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中断恢复，孤儿线程级联清理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381000" y="23812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71500" y="25146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检索准确可追溯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067050" y="24955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3257550" y="25431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924300" y="25431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题考卷，真实向量</a:t>
            </a:r>
            <a:r>
              <a:rPr lang="en-US" sz="1200">
                <a:solidFill>
                  <a:srgbClr val="4A5568"/>
                </a:solidFill>
                <a:latin typeface="PingFang SC"/>
                <a:ea typeface="PingFang SC"/>
              </a:rPr>
              <a:t xml:space="preserve"> 35/35</a:t>
            </a: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，引用精确到页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381000" y="29908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71500" y="31242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工具执行治理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3067050" y="31051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3257550" y="31527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924300" y="31527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有双层权限、超时退避、并发与失败转消息；缺参数级约束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381000" y="36004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71500" y="37338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长上下文管理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3067050" y="37147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257550" y="37623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924300" y="37623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有抽取式摘要与预算控制；缺关键事实外置成结构化笔记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381000" y="42100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571500" y="43434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长期记忆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3067050" y="43243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E5B54B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257550" y="43719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一半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3924300" y="43719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按课程隔离、写入前确认；缺过期、替换与删除机制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381000" y="4819650"/>
            <a:ext cx="11430000" cy="51435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71500" y="4953000"/>
            <a:ext cx="23241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PingFang SC"/>
                <a:ea typeface="PingFang SC"/>
              </a:rPr>
              <a:t>任务级成功率评测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3067050" y="493395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3257550" y="4981575"/>
            <a:ext cx="304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没做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924300" y="4981575"/>
            <a:ext cx="769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PingFang SC"/>
                <a:ea typeface="PingFang SC"/>
              </a:rPr>
              <a:t>考卷只测「找到没」「分类对不对」，不测「复习有没有用」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81000" y="1543050"/>
            <a:ext cx="2324100" cy="190500"/>
          </a:xfrm>
          <a:prstGeom prst="rect"/>
        </p:spPr>
        <p:txBody>
          <a:bodyPr wrap="none" lIns="142875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能力项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2876550" y="1543050"/>
            <a:ext cx="685800" cy="1905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状态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733800" y="1543050"/>
            <a:ext cx="807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依据</a:t>
            </a:r>
            <a:r>
              <a:rPr lang="en-US" sz="1200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200">
                <a:solidFill>
                  <a:srgbClr val="8B97A8"/>
                </a:solidFill>
                <a:latin typeface="PingFang SC"/>
                <a:ea typeface="PingFang SC"/>
              </a:rPr>
              <a:t>还缺什么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81000" y="5505450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71500" y="567690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PingFang SC"/>
                <a:ea typeface="PingFang SC"/>
              </a:rPr>
              <a:t>下一步排序：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714500" y="5676900"/>
            <a:ext cx="4972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①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任务级成功率评测　②</a:t>
            </a: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记忆的过期与删除　③</a:t>
            </a:r>
            <a:r>
              <a:rPr lang="en-US" sz="1350">
                <a:solidFill>
                  <a:srgbClr val="0E3F8C"/>
                </a:solidFill>
                <a:latin typeface="PingFang SC"/>
                <a:ea typeface="PingFang SC"/>
              </a:rPr>
              <a:t xml:space="preserve"> </a:t>
            </a:r>
            <a:r>
              <a:rPr lang="zh-CN" sz="1350">
                <a:solidFill>
                  <a:srgbClr val="0E3F8C"/>
                </a:solidFill>
                <a:latin typeface="PingFang SC"/>
                <a:ea typeface="PingFang SC"/>
              </a:rPr>
              <a:t>更难的检索考卷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381000" y="6191250"/>
            <a:ext cx="114300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02" name=""/>
          <p:cNvSpPr/>
          <p:nvPr/>
        </p:nvSpPr>
        <p:spPr>
          <a:xfrm rot="0" flipH="0" flipV="0">
            <a:off x="381000" y="6172200"/>
            <a:ext cx="11430000" cy="533400"/>
          </a:xfrm>
          <a:custGeom>
            <a:pathLst>
              <a:path w="1200" h="56">
                <a:moveTo>
                  <a:pt x="0" y="0"/>
                </a:moveTo>
                <a:lnTo>
                  <a:pt x="1200" y="0"/>
                </a:lnTo>
                <a:lnTo>
                  <a:pt x="1200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3" name=""/>
          <p:cNvSpPr/>
          <p:nvPr/>
        </p:nvSpPr>
        <p:spPr>
          <a:xfrm rot="0" flipH="0" flipV="0">
            <a:off x="571500" y="6334125"/>
            <a:ext cx="38100" cy="228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23900" y="6343650"/>
            <a:ext cx="8258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另外四项也标为「计划中」：多用户与数据隔离、在线监控聚合面板、</a:t>
            </a:r>
            <a:r>
              <a:rPr lang="en-US" sz="1425" b="1">
                <a:solidFill>
                  <a:srgbClr val="0E3F8C"/>
                </a:solidFill>
                <a:latin typeface="PingFang SC"/>
                <a:ea typeface="PingFang SC"/>
              </a:rPr>
              <a:t xml:space="preserve">Reranker </a:t>
            </a:r>
            <a:r>
              <a:rPr lang="zh-CN" sz="1425" b="1">
                <a:solidFill>
                  <a:srgbClr val="0E3F8C"/>
                </a:solidFill>
                <a:latin typeface="PingFang SC"/>
                <a:ea typeface="PingFang SC"/>
              </a:rPr>
              <a:t>重排、反思式自我批判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赛道十三</a:t>
            </a: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PingFang SC"/>
                <a:ea typeface="PingFang SC"/>
              </a:rPr>
              <a:t>智慧教育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372850" y="6610350"/>
            <a:ext cx="152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PingFang SC"/>
                <a:ea typeface="PingFang SC"/>
              </a:rPr>
              <a:t>15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563350" y="6619875"/>
            <a:ext cx="24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PingFang SC"/>
                <a:ea typeface="PingFang SC"/>
              </a:rPr>
              <a:t>/ 16</a:t>
            </a:r>
            <a:endParaRPr/>
          </a:p>
        </p:txBody>
      </p:sp>
    </p:spTree>
  </p:cSld>
</p:sld>
</file>

<file path=ppt/slides/slide16.xml><?xml version="1.0" encoding="utf-8"?>
<p:sld xmlns:r="http://schemas.openxmlformats.org/officeDocument/2006/relationships" xmlns:p="http://schemas.openxmlformats.org/presentationml/2006/main" xmlns:a="http://schemas.openxmlformats.org/drawingml/2006/main">
  <p:cSld name="16 收束｜资料进去，题出来，复习排好">
    <p:spTree>
      <p:nvGrpSpPr>
        <p:cNvPr id="308" name="" descr="&lt;Slide style={{ width: 1280, height: 720, position: 'relative', background: '#0E3F8C', fontFamily: 'PingFang SC, Hiragino Sans GB, sans-serif' }}&gt;&#10;    &lt;Image src=&quot;assets/p16-closing-desk.png&quot; style={{ position: 'absolute', top: 0, right: 0, width: 520, height: 720, objectFit: 'cover' }} /&gt;&#10;    &lt;Box style={{ position: 'absolute', top: 0, right: 0, width: 520, height: 720, background: '#0E3F8C', opacity: 0.45 }} /&gt;&#10;&#10;    &lt;Box style={{ position: 'absolute', top: 84, left: 80, width: 700, flexDirection: 'column', gap: 20 }}&gt;&#10;        &lt;Text style={{ fontSize: 15, color: '#A9C6EF', letterSpacing: 3 }}&gt;收束&lt;/Text&gt;&#10;        &lt;Text style={{ fontSize: 46, fontWeight: 'bold', color: '#FFFFFF', lineHeight: 1.3 }}&gt;&#10;            资料进去，题出来，复习排好&#10;        &lt;/Text&gt;&#10;        &lt;Box style={{ width: 64, height: 3, background: '#3D7BD9' }} /&gt;&#10;        &lt;Text style={{ fontSize: 19, color: '#C9DDF5', lineHeight: 1.7 }}&gt;&#10;            支撑这三件事的，是七道能被检查的关卡。&#10;        &lt;/Text&gt;&#10;        &lt;Text style={{ fontSize: 16, color: '#8FB4E8', lineHeight: 1.7 }}&gt;&#10;            每一步能恢复 · 每次写入先问 · 改动有没有变差算得出来&#10;        &lt;/Text&gt;&#10;    &lt;/Box&gt;&#10;&#10;    &lt;Box style={{ position: 'absolute', top: 396, left: 80, width: 1120, flexDirection: 'row', gap: 14 }}&gt;&#10;        &lt;Box style={{ flex: 1, background: '#1E4FA8', borderRadius: 8, padding: 16, gap: 6 }}&gt;&#10;            &lt;Text style={{ fontSize: 22, fontWeight: 'bold', color: '#FFFFFF' }}&gt;整理资料&lt;/Text&gt;&#10;            &lt;Text style={{ fontSize: 14, color: '#C9DDF5', lineHeight: 1.6 }}&gt;传进来，按学科分好，能翻到第几页&lt;/Text&gt;&#10;        &lt;/Box&gt;&#10;        &lt;Box style={{ flex: 1, background: '#1E4FA8', borderRadius: 8, padding: 16, gap: 6 }}&gt;&#10;            &lt;Text style={{ fontSize: 22, fontWeight: 'bold', color: '#FFFFFF' }}&gt;出题&lt;/Text&gt;&#10;            &lt;Text style={{ fontSize: 14, color: '#C9DDF5', lineHeight: 1.6 }}&gt;按你的资料出，做错的方向多出几道&lt;/Text&gt;&#10;        &lt;/Box&gt;&#10;        &lt;Box style={{ flex: 1, background: '#1E4FA8', borderRadius: 8, padding: 16, gap: 6 }}&gt;&#10;            &lt;Text style={{ fontSize: 22, fontWeight: 'bold', color: '#FFFFFF' }}&gt;复习&lt;/Text&gt;&#10;            &lt;Text style={{ fontSize: 14, color: '#C9DDF5', lineHeight: 1.6 }}&gt;今天练哪几题排好，翻得回原文那一页&lt;/Text&gt;&#10;        &lt;/Box&gt;&#10;    &lt;/Box&gt;&#10;&#10;    &lt;Box style={{ position: 'absolute', bottom: 44, left: 80, flexDirection: 'row', alignItems: 'center', gap: 24 }}&gt;&#10;        &lt;Box style={{ width: 4, height: 40, background: '#3D7BD9' }} /&gt;&#10;        &lt;Box style={{ flexDirection: 'column', gap: 3 }}&gt;&#10;            &lt;Text style={{ fontSize: 15, color: '#FFFFFF' }}&gt;知迹 ZhiJi · AI 学习私教与智能复习系统&lt;/Text&gt;&#10;            &lt;Text style={{ fontSize: 13, color: '#8FB4E8' }}&gt;284 项测试 · 检索 35 题 Hit@3 = MRR = 0.9714 · 意图 15 句准确率 1.0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10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7239000" y="0"/>
            <a:ext cx="4953000" cy="685800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7239000" y="0"/>
            <a:ext cx="4953000" cy="6858000"/>
          </a:xfrm>
          <a:prstGeom prst="rect">
            <a:avLst/>
          </a:prstGeom>
          <a:solidFill>
            <a:srgbClr val="0E3F8C">
              <a:alpha val="45000"/>
            </a:srgbClr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62000" y="800100"/>
            <a:ext cx="666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225">
                <a:solidFill>
                  <a:srgbClr val="A9C6EF"/>
                </a:solidFill>
                <a:latin typeface="PingFang SC"/>
                <a:ea typeface="PingFang SC"/>
              </a:rPr>
              <a:t>收束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62000" y="1162050"/>
            <a:ext cx="6667500" cy="685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450" b="1">
                <a:solidFill>
                  <a:srgbClr val="FFFFFF"/>
                </a:solidFill>
                <a:latin typeface="PingFang SC"/>
                <a:ea typeface="PingFang SC"/>
              </a:rPr>
              <a:t>资料进去，题出来，复习排好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62000" y="2038350"/>
            <a:ext cx="60960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62000" y="2257425"/>
            <a:ext cx="66675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425">
                <a:solidFill>
                  <a:srgbClr val="C9DDF5"/>
                </a:solidFill>
                <a:latin typeface="PingFang SC"/>
                <a:ea typeface="PingFang SC"/>
              </a:rPr>
              <a:t>支撑这三件事的，是七道能被检查的关卡。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62000" y="2819400"/>
            <a:ext cx="6667500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8FB4E8"/>
                </a:solidFill>
                <a:latin typeface="PingFang SC"/>
                <a:ea typeface="PingFang SC"/>
              </a:rPr>
              <a:t>每一步能恢复</a:t>
            </a:r>
            <a:r>
              <a:rPr lang="en-US" sz="1200">
                <a:solidFill>
                  <a:srgbClr val="8FB4E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00">
                <a:solidFill>
                  <a:srgbClr val="8FB4E8"/>
                </a:solidFill>
                <a:latin typeface="PingFang SC"/>
                <a:ea typeface="PingFang SC"/>
              </a:rPr>
              <a:t>每次写入先问</a:t>
            </a:r>
            <a:r>
              <a:rPr lang="en-US" sz="1200">
                <a:solidFill>
                  <a:srgbClr val="8FB4E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200">
                <a:solidFill>
                  <a:srgbClr val="8FB4E8"/>
                </a:solidFill>
                <a:latin typeface="PingFang SC"/>
                <a:ea typeface="PingFang SC"/>
              </a:rPr>
              <a:t>改动有没有变差算得出来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762000" y="3771900"/>
            <a:ext cx="3467100" cy="87630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914400" y="3924300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整理资料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914400" y="423862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C9DDF5"/>
                </a:solidFill>
                <a:latin typeface="PingFang SC"/>
                <a:ea typeface="PingFang SC"/>
              </a:rPr>
              <a:t>传进来，按学科分好，能翻到第几页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4362450" y="3771900"/>
            <a:ext cx="3467100" cy="87630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514850" y="3924300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出题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4514850" y="423862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C9DDF5"/>
                </a:solidFill>
                <a:latin typeface="PingFang SC"/>
                <a:ea typeface="PingFang SC"/>
              </a:rPr>
              <a:t>按你的资料出，做错的方向多出几道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7962900" y="3771900"/>
            <a:ext cx="3467100" cy="876300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115300" y="3924300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复习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8115300" y="423862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C9DDF5"/>
                </a:solidFill>
                <a:latin typeface="PingFang SC"/>
                <a:ea typeface="PingFang SC"/>
              </a:rPr>
              <a:t>今天练哪几题排好，翻得回原文那一页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762000" y="6057900"/>
            <a:ext cx="38100" cy="38100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1028700" y="6076950"/>
            <a:ext cx="4029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r>
              <a:rPr lang="en-US" sz="1125">
                <a:solidFill>
                  <a:srgbClr val="FFFFFF"/>
                </a:solidFill>
                <a:latin typeface="PingFang SC"/>
                <a:ea typeface="PingFang SC"/>
              </a:rPr>
              <a:t xml:space="preserve"> ZhiJi · AI </a:t>
            </a: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028700" y="6276975"/>
            <a:ext cx="4029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975">
                <a:solidFill>
                  <a:srgbClr val="8FB4E8"/>
                </a:solidFill>
                <a:latin typeface="PingFang SC"/>
                <a:ea typeface="PingFang SC"/>
              </a:rPr>
              <a:t>项测试</a:t>
            </a: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4E8"/>
                </a:solidFill>
                <a:latin typeface="PingFang SC"/>
                <a:ea typeface="PingFang SC"/>
              </a:rPr>
              <a:t>检索</a:t>
            </a: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8FB4E8"/>
                </a:solidFill>
                <a:latin typeface="PingFang SC"/>
                <a:ea typeface="PingFang SC"/>
              </a:rPr>
              <a:t>题</a:t>
            </a: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 Hit@3 = MRR = 0.9714 · </a:t>
            </a:r>
            <a:r>
              <a:rPr lang="zh-CN" sz="975">
                <a:solidFill>
                  <a:srgbClr val="8FB4E8"/>
                </a:solidFill>
                <a:latin typeface="PingFang SC"/>
                <a:ea typeface="PingFang SC"/>
              </a:rPr>
              <a:t>意图</a:t>
            </a: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 15 </a:t>
            </a:r>
            <a:r>
              <a:rPr lang="zh-CN" sz="975">
                <a:solidFill>
                  <a:srgbClr val="8FB4E8"/>
                </a:solidFill>
                <a:latin typeface="PingFang SC"/>
                <a:ea typeface="PingFang SC"/>
              </a:rPr>
              <a:t>句准确率</a:t>
            </a:r>
            <a:r>
              <a:rPr lang="en-US" sz="975">
                <a:solidFill>
                  <a:srgbClr val="8FB4E8"/>
                </a:solidFill>
                <a:latin typeface="PingFang SC"/>
                <a:ea typeface="PingFang SC"/>
              </a:rPr>
              <a:t xml:space="preserve"> 1.0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2026-10-21T21:52:47Z</dcterms:created>
  <dcterms:modified xsi:type="dcterms:W3CDTF">2026-10-21T21:52:47Z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AIGC">
    <vt:lpwstr>{"AIGC":{"Label":"1","ContentProducer":"00119111010856365494821B355","ProduceID":"01a15eacebc57fbcb22662ec3b016ce7","ReservedCode1":"","ContentPropagator":"00119111010856365494821B355","PropagateID":"01a15eacebc57fbcb22662ec3b016ce7","ReservedCode2":""}}</vt:lpwstr>
  </op:property>
  <op:property fmtid="{D5CDD505-2E9C-101B-9397-08002B2CF9AE}" pid="3" name="OfficeCLI.Version">
    <vt:lpwstr>1.0.158</vt:lpwstr>
  </op:property>
  <op:property fmtid="{D5CDD505-2E9C-101B-9397-08002B2CF9AE}" pid="4" name="OfficeCLI.LastModified">
    <vt:lpwstr>2026-10-21T13:54:07Z</vt:lpwstr>
  </op:property>
</op:Properties>
</file>