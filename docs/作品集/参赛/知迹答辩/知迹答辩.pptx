
<file path=[Content_Types].xml><?xml version="1.0" encoding="utf-8"?>
<Types xmlns="http://schemas.openxmlformats.org/package/2006/content-types">
  <Default Extension="png" ContentType="image/png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ppt/slides/slide3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s/slide11.xml" ContentType="application/vnd.openxmlformats-officedocument.presentationml.slide+xml"/>
  <Override PartName="/docProps/custom.xml" ContentType="application/vnd.openxmlformats-officedocument.custom-properties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presentation.xml" ContentType="application/vnd.openxmlformats-officedocument.presentationml.presentation.main+xml"/>
  <Override PartName="/ppt/slides/slide15.xml" ContentType="application/vnd.openxmlformats-officedocument.presentationml.slide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slides/slide5.xml" ContentType="application/vnd.openxmlformats-officedocument.presentationml.slide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r="http://schemas.openxmlformats.org/officeDocument/2006/relationships" xmlns:p="http://schemas.openxmlformats.org/presentationml/2006/main" xmlns:a="http://schemas.openxmlformats.org/drawingml/2006/main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8" Type="http://schemas.openxmlformats.org/officeDocument/2006/relationships/slide" Target="slides/slide8.xml" /><Relationship Id="rId7" Type="http://schemas.openxmlformats.org/officeDocument/2006/relationships/slide" Target="slides/slide7.xml" /><Relationship Id="rId5" Type="http://schemas.openxmlformats.org/officeDocument/2006/relationships/slide" Target="slides/slide5.xml" /><Relationship Id="rId20" Type="http://schemas.openxmlformats.org/officeDocument/2006/relationships/viewProps" Target="viewProps.xml" /><Relationship Id="rId9" Type="http://schemas.openxmlformats.org/officeDocument/2006/relationships/slide" Target="slides/slide9.xml" /><Relationship Id="rId2" Type="http://schemas.openxmlformats.org/officeDocument/2006/relationships/slide" Target="slides/slide2.xml" /><Relationship Id="rId16" Type="http://schemas.openxmlformats.org/officeDocument/2006/relationships/slide" Target="slides/slide16.xml" /><Relationship Id="rId15" Type="http://schemas.openxmlformats.org/officeDocument/2006/relationships/slide" Target="slides/slide15.xml" /><Relationship Id="rId14" Type="http://schemas.openxmlformats.org/officeDocument/2006/relationships/slide" Target="slides/slide14.xml" /><Relationship Id="rId18" Type="http://schemas.openxmlformats.org/officeDocument/2006/relationships/presProps" Target="presProps.xml" /><Relationship Id="rId10" Type="http://schemas.openxmlformats.org/officeDocument/2006/relationships/slide" Target="slides/slide10.xml" /><Relationship Id="rId1" Type="http://schemas.openxmlformats.org/officeDocument/2006/relationships/slide" Target="slides/slide1.xml" /><Relationship Id="rId6" Type="http://schemas.openxmlformats.org/officeDocument/2006/relationships/slide" Target="slides/slide6.xml" /><Relationship Id="rId17" Type="http://schemas.openxmlformats.org/officeDocument/2006/relationships/notesMaster" Target="notesMasters/notesMaster1.xml" /><Relationship Id="rId12" Type="http://schemas.openxmlformats.org/officeDocument/2006/relationships/slide" Target="slides/slide12.xml" /><Relationship Id="rId3" Type="http://schemas.openxmlformats.org/officeDocument/2006/relationships/slide" Target="slides/slide3.xml" /><Relationship Id="rId11" Type="http://schemas.openxmlformats.org/officeDocument/2006/relationships/slide" Target="slides/slide11.xml" /><Relationship Id="rId13" Type="http://schemas.openxmlformats.org/officeDocument/2006/relationships/slide" Target="slides/slide13.xml" /><Relationship Id="rId4" Type="http://schemas.openxmlformats.org/officeDocument/2006/relationships/slide" Target="slides/slide4.xml" /><Relationship Id="rId19" Type="http://schemas.openxmlformats.org/officeDocument/2006/relationships/tableStyles" Target="tableStyles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media/image3.pn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media/image2.png" /><Relationship Id="rId0" Type="http://schemas.openxmlformats.org/officeDocument/2006/relationships/slideLayout" Target="../slideLayouts/slideLayout1.xml" /></Relationships>
</file>

<file path=ppt/slides/slide1.xml><?xml version="1.0" encoding="utf-8"?>
<p:sld xmlns:r="http://schemas.openxmlformats.org/officeDocument/2006/relationships" xmlns:p="http://schemas.openxmlformats.org/presentationml/2006/main" xmlns:a="http://schemas.openxmlformats.org/drawingml/2006/main">
  <p:cSld name="01 封面｜知迹：把学习资料变成题，再把题变成复习计划">
    <p:spTree>
      <p:nvGrpSpPr>
        <p:cNvPr id="1" name="" descr="&lt;Slide style={{ width: 1280, height: 720, position: 'relative', background: '#0E3F8C', fontFamily: 'PingFang SC, Hiragino Sans GB, sans-serif' }}&gt;&#10;    {/* 右侧配图：明亮浅色调的书桌场景（需生图，见 assets/配图提示词.md） */}&#10;    &lt;Image src=&quot;assets/p01-cover-desk.png&quot; style={{ position: 'absolute', top: 0, right: 0, width: 620, height: 720, objectFit: 'cover' }} /&gt;&#10;    &lt;Box style={{ position: 'absolute', top: 0, right: 0, width: 620, height: 720, background: '#0E3F8C', opacity: 0.24 }} /&gt;&#10;    &lt;Box style={{ position: 'absolute', top: 0, right: 620, width: 320, height: 720, background: '#0E3F8C' }} /&gt;&#10;    &lt;Box style={{ position: 'absolute', top: 0, right: 620, width: 200, height: 720, background: '#0E3F8C', opacity: 0.7 }} /&gt;&#10;&#10;    &lt;Box style={{ position: 'absolute', top: 96, right: 96, width: 200, height: 2, background: '#FFFFFF', opacity: 0.4 }} /&gt;&#10;    &lt;Box style={{ position: 'absolute', top: 128, right: 96, width: 120, height: 2, background: '#FFFFFF', opacity: 0.25 }} /&gt;&#10;&#10;    &lt;Box style={{ position: 'absolute', top: 112, left: 72, width: 700, flexDirection: 'column', gap: 22 }}&gt;&#10;        &lt;Text style={{ fontSize: 15, color: '#A9C6EF', letterSpacing: 2.5 }}&gt;&#10;            全国大学生数字媒体科技作品及创意竞赛 · 赛道十三 · 智慧教育&#10;        &lt;/Text&gt;&#10;&#10;        &lt;Text style={{ fontSize: 62, fontWeight: 'bold', color: '#FFFFFF', lineHeight: 1.1 }}&gt;&#10;            知迹&#10;        &lt;/Text&gt;&#10;&#10;        &lt;Box style={{ width: 64, height: 3, background: '#3D7BD9' }} /&gt;&#10;&#10;        &lt;Text style={{ fontSize: 27, fontWeight: 'bold', color: '#FFFFFF', lineHeight: 1.45 }}&gt;&#10;            把学习资料变成题，&#10;            &lt;br /&gt;&#10;            再把题变成复习计划&#10;        &lt;/Text&gt;&#10;&#10;        &lt;Text style={{ fontSize: 17, color: '#C9DDF5', lineHeight: 1.75 }}&gt;&#10;            一个在「可恢复 · 可拦截 · 可度量」三道坎上&#10;            &lt;br /&gt;&#10;            都做过工程化处理的 LangGraph 学习 Agent&#10;        &lt;/Text&gt;&#10;    &lt;/Box&gt;&#10;&#10;    &lt;Box style={{ position: 'absolute', bottom: 52, left: 72, flexDirection: 'row', alignItems: 'center', gap: 24 }}&gt;&#10;        &lt;Box style={{ width: 4, height: 42, background: '#3D7BD9' }} /&gt;&#10;        &lt;Box style={{ flexDirection: 'column', gap: 4 }}&gt;&#10;            &lt;Text style={{ fontSize: 16, color: '#FFFFFF' }}&gt;知迹 ZhiJi · AI 学习私教与智能复习系统&lt;/Text&gt;&#10;            &lt;Text style={{ fontSize: 14, color: '#8FB4E8' }}&gt;LangGraph · FastAPI · SQLite · Next.js 16&lt;/Text&gt;&#10;        &lt;/Box&gt;&#10;    &lt;/Box&gt;&#10;&#10;    &lt;Box style={{ position: 'absolute', bottom: 52, right: 96, alignItems: 'flex-end' }}&gt;&#10;        &lt;Text style={{ fontSize: 14, color: '#FFFFFF', opacity: 0.85 }}&gt;答辩汇报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6286500" y="0"/>
            <a:ext cx="59055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6286500" y="0"/>
            <a:ext cx="5905500" cy="6858000"/>
          </a:xfrm>
          <a:prstGeom prst="rect">
            <a:avLst/>
          </a:prstGeom>
          <a:solidFill>
            <a:srgbClr val="0E3F8C">
              <a:alpha val="24000"/>
            </a:srgbClr>
          </a:soli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323850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" name=""/>
          <p:cNvSpPr/>
          <p:nvPr/>
        </p:nvSpPr>
        <p:spPr>
          <a:xfrm rot="0" flipH="0" flipV="0">
            <a:off x="4381500" y="0"/>
            <a:ext cx="1905000" cy="6858000"/>
          </a:xfrm>
          <a:prstGeom prst="rect">
            <a:avLst/>
          </a:prstGeom>
          <a:solidFill>
            <a:srgbClr val="0E3F8C">
              <a:alpha val="70000"/>
            </a:srgbClr>
          </a:solidFill>
          <a:ln/>
        </p:spPr>
        <p:txBody>
          <a:bodyPr/>
          <a:p/>
        </p:txBody>
      </p:sp>
      <p:sp>
        <p:nvSpPr>
          <p:cNvPr id="7" name=""/>
          <p:cNvSpPr/>
          <p:nvPr/>
        </p:nvSpPr>
        <p:spPr>
          <a:xfrm rot="0" flipH="0" flipV="0">
            <a:off x="9372600" y="914400"/>
            <a:ext cx="1905000" cy="19050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  <p:txBody>
          <a:bodyPr/>
          <a:p/>
        </p:txBody>
      </p:sp>
      <p:sp>
        <p:nvSpPr>
          <p:cNvPr id="8" name=""/>
          <p:cNvSpPr/>
          <p:nvPr/>
        </p:nvSpPr>
        <p:spPr>
          <a:xfrm rot="0" flipH="0" flipV="0">
            <a:off x="10134600" y="1219200"/>
            <a:ext cx="114300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685800" y="1066800"/>
            <a:ext cx="6667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188">
                <a:solidFill>
                  <a:srgbClr val="A9C6EF"/>
                </a:solidFill>
                <a:latin typeface="PingFang SC"/>
                <a:ea typeface="PingFang SC"/>
              </a:rPr>
              <a:t>全国大学生数字媒体科技作品及创意竞赛</a:t>
            </a:r>
            <a:r>
              <a:rPr lang="en-US" sz="1125" spc="188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188">
                <a:solidFill>
                  <a:srgbClr val="A9C6EF"/>
                </a:solidFill>
                <a:latin typeface="PingFang SC"/>
                <a:ea typeface="PingFang SC"/>
              </a:rPr>
              <a:t>赛道十三</a:t>
            </a:r>
            <a:r>
              <a:rPr lang="en-US" sz="1125" spc="188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188">
                <a:solidFill>
                  <a:srgbClr val="A9C6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1447800"/>
            <a:ext cx="6667500" cy="7810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zh-CN" sz="4650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685800" y="2438400"/>
            <a:ext cx="609600" cy="2857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2676525"/>
            <a:ext cx="6667500" cy="8953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025" b="1">
                <a:solidFill>
                  <a:srgbClr val="FFFFFF"/>
                </a:solidFill>
                <a:latin typeface="PingFang SC"/>
                <a:ea typeface="PingFang SC"/>
              </a:rPr>
              <a:t>把学习资料变成题，</a:t>
            </a:r>
            <a:endParaRPr/>
          </a:p>
          <a:p>
            <a:pPr>
              <a:lnSpc>
                <a:spcPct val="145000"/>
              </a:lnSpc>
            </a:pPr>
            <a:r>
              <a:rPr lang="zh-CN" sz="2025" b="1">
                <a:solidFill>
                  <a:srgbClr val="FFFFFF"/>
                </a:solidFill>
                <a:latin typeface="PingFang SC"/>
                <a:ea typeface="PingFang SC"/>
              </a:rPr>
              <a:t>再把题变成复习计划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3781425"/>
            <a:ext cx="6667500" cy="6858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75">
                <a:solidFill>
                  <a:srgbClr val="C9DDF5"/>
                </a:solidFill>
                <a:latin typeface="PingFang SC"/>
                <a:ea typeface="PingFang SC"/>
              </a:rPr>
              <a:t>一个在「可恢复</a:t>
            </a:r>
            <a:r>
              <a:rPr lang="en-US" sz="1275">
                <a:solidFill>
                  <a:srgbClr val="C9DDF5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275">
                <a:solidFill>
                  <a:srgbClr val="C9DDF5"/>
                </a:solidFill>
                <a:latin typeface="PingFang SC"/>
                <a:ea typeface="PingFang SC"/>
              </a:rPr>
              <a:t>可拦截</a:t>
            </a:r>
            <a:r>
              <a:rPr lang="en-US" sz="1275">
                <a:solidFill>
                  <a:srgbClr val="C9DDF5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275">
                <a:solidFill>
                  <a:srgbClr val="C9DDF5"/>
                </a:solidFill>
                <a:latin typeface="PingFang SC"/>
                <a:ea typeface="PingFang SC"/>
              </a:rPr>
              <a:t>可度量」三道坎上</a:t>
            </a:r>
            <a:endParaRPr/>
          </a:p>
          <a:p>
            <a:pPr>
              <a:lnSpc>
                <a:spcPct val="175000"/>
              </a:lnSpc>
            </a:pPr>
            <a:r>
              <a:rPr lang="zh-CN" sz="1275">
                <a:solidFill>
                  <a:srgbClr val="C9DDF5"/>
                </a:solidFill>
                <a:latin typeface="PingFang SC"/>
                <a:ea typeface="PingFang SC"/>
              </a:rPr>
              <a:t>都做过工程化处理的</a:t>
            </a:r>
            <a:r>
              <a:rPr lang="en-US" sz="1275">
                <a:solidFill>
                  <a:srgbClr val="C9DDF5"/>
                </a:solidFill>
                <a:latin typeface="PingFang SC"/>
                <a:ea typeface="PingFang SC"/>
              </a:rPr>
              <a:t xml:space="preserve"> LangGraph </a:t>
            </a:r>
            <a:r>
              <a:rPr lang="zh-CN" sz="1275">
                <a:solidFill>
                  <a:srgbClr val="C9DDF5"/>
                </a:solidFill>
                <a:latin typeface="PingFang SC"/>
                <a:ea typeface="PingFang SC"/>
              </a:rPr>
              <a:t>学习</a:t>
            </a:r>
            <a:r>
              <a:rPr lang="en-US" sz="1275">
                <a:solidFill>
                  <a:srgbClr val="C9DDF5"/>
                </a:solidFill>
                <a:latin typeface="PingFang SC"/>
                <a:ea typeface="PingFang SC"/>
              </a:rPr>
              <a:t xml:space="preserve"> Agent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5962650"/>
            <a:ext cx="38100" cy="400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952500" y="5972175"/>
            <a:ext cx="2733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r>
              <a:rPr lang="en-US" sz="1200">
                <a:solidFill>
                  <a:srgbClr val="FFFFFF"/>
                </a:solidFill>
                <a:latin typeface="PingFang SC"/>
                <a:ea typeface="PingFang SC"/>
              </a:rPr>
              <a:t xml:space="preserve"> ZhiJi · AI </a:t>
            </a:r>
            <a:r>
              <a:rPr lang="zh-CN" sz="1200">
                <a:solidFill>
                  <a:srgbClr val="FFFFFF"/>
                </a:solidFill>
                <a:latin typeface="PingFang SC"/>
                <a:ea typeface="PingFang SC"/>
              </a:rPr>
              <a:t>学习私教与智能复习系统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952500" y="6200775"/>
            <a:ext cx="2733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FB4E8"/>
                </a:solidFill>
                <a:latin typeface="PingFang SC"/>
                <a:ea typeface="PingFang SC"/>
              </a:rPr>
              <a:t>LangGraph · FastAPI · SQLite · Next.js 16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0744200" y="62007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 name="02 问题｜Agent 从能跑到能用，差的不是模型">
    <p:spTree>
      <p:nvGrpSpPr>
        <p:cNvPr id="320" name="" descr="&lt;Slide style={{ width: 1280, height: 720, position: 'relative', background: '#FFFFFF', fontFamily: 'PingFang SC, Hiragino Sans GB, sans-serif' }}&gt;&#10;    {/* A 页眉 */}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6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问题 · Agent 从能跑到能用的三道坎&lt;/Text&gt;&#10;    &lt;/Box&gt;&#10;&#10;    {/* B 标题块 */}&#10;    &lt;Box style={{ position: 'absolute', top: 56, left: 40, width: 1200, height: 92, flexDirection: 'column', justifyContent: 'center', gap: 8 }}&gt;&#10;        &lt;Text style={{ fontSize: 34, fontWeight: 'bold', color: '#0E3F8C' }}&gt;&#10;            Agent 从能跑到能用，差的不是模型&#10;        &lt;/Text&gt;&#10;        &lt;Text style={{ fontSize: 19, color: '#4A5568' }}&gt;&#10;            大模型让「做出来」变容易，让「敢上线」变困难 —— 差的是系统设计&#10;        &lt;/Text&gt;&#10;    &lt;/Box&gt;&#10;&#10;    {/* C 内容区：三栏 */}&#10;    &lt;Box style={{ position: 'absolute', top: 156, left: 40, width: 1200, height: 480, flexDirection: 'row', gap: 20 }}&gt;&#10;        &lt;Box style={{ flex: 1, background: '#F7F9FC', border: '1px solid #D6DCE5', borderRadius: 8, padding: 24, flexDirection: 'column', gap: 14 }}&gt;&#10;            &lt;Box style={{ width: 48, height: 48, background: '#1E4FA8', borderRadius: 6, justifyContent: 'center', alignItems: 'center' }}&gt;&#10;                &lt;Text style={{ fontSize: 26, color: '#FFFFFF', fontWeight: 'bold' }}&gt;1&lt;/Text&gt;&#10;            &lt;/Box&gt;&#10;            &lt;Text style={{ fontSize: 27, fontWeight: 'bold', color: '#0E3F8C' }}&gt;可恢复&lt;/Text&gt;&#10;            &lt;Text style={{ fontSize: 16, color: '#4A5568', lineHeight: 1.7 }}&gt;&#10;                一次会话跨几十次工具调用，崩在第 7 步时，前 6 步的代价归零吗？&#10;            &lt;/Text&gt;&#10;            &lt;Box style={{ flex: 1, background: '#E8EFF8', borderRadius: 5, padding: '12px 14px', justifyContent: 'center' }}&gt;&#10;                &lt;Text style={{ fontSize: 15, color: '#0E3F8C', lineHeight: 1.65 }}&gt;&#10;                    需要显式状态机 + 持久化检查点，而不是把状态堆在消息列表里&#10;                &lt;/Text&gt;&#10;            &lt;/Box&gt;&#10;        &lt;/Box&gt;&#10;&#10;        &lt;Box style={{ flex: 1, background: '#F7F9FC', border: '1px solid #D6DCE5', borderRadius: 8, padding: 24, flexDirection: 'column', gap: 14 }}&gt;&#10;            &lt;Box style={{ width: 48, height: 48, background: '#1E4FA8', borderRadius: 6, justifyContent: 'center', alignItems: 'center' }}&gt;&#10;                &lt;Text style={{ fontSize: 26, color: '#FFFFFF', fontWeight: 'bold' }}&gt;2&lt;/Text&gt;&#10;            &lt;/Box&gt;&#10;            &lt;Text style={{ fontSize: 27, fontWeight: 'bold', color: '#0E3F8C' }}&gt;可拦截&lt;/Text&gt;&#10;            &lt;Text style={{ fontSize: 16, color: '#4A5568', lineHeight: 1.7 }}&gt;&#10;                模型说「要写库」，谁在它真的写下去之前拦一下？&#10;            &lt;/Text&gt;&#10;            &lt;Box style={{ flex: 1, background: '#E8EFF8', borderRadius: 5, padding: '12px 14px', justifyContent: 'center' }}&gt;&#10;                &lt;Text style={{ fontSize: 15, color: '#0E3F8C', lineHeight: 1.65 }}&gt;&#10;                    提示词劝告挡不住越权工具调用，必须在执行层判定&#10;                &lt;/Text&gt;&#10;            &lt;/Box&gt;&#10;        &lt;/Box&gt;&#10;&#10;        &lt;Box style={{ flex: 1, background: '#F7F9FC', border: '1px solid #D6DCE5', borderRadius: 8, padding: 24, flexDirection: 'column', gap: 14 }}&gt;&#10;            &lt;Box style={{ width: 48, height: 48, background: '#1E4FA8', borderRadius: 6, justifyContent: 'center', alignItems: 'center' }}&gt;&#10;                &lt;Text style={{ fontSize: 26, color: '#FFFFFF', fontWeight: 'bold' }}&gt;3&lt;/Text&gt;&#10;            &lt;/Box&gt;&#10;            &lt;Text style={{ fontSize: 27, fontWeight: 'bold', color: '#0E3F8C' }}&gt;可度量&lt;/Text&gt;&#10;            &lt;Text style={{ fontSize: 16, color: '#4A5568', lineHeight: 1.7 }}&gt;&#10;                改了一行检索逻辑，怎么知道它没让效果悄悄变差？&#10;            &lt;/Text&gt;&#10;            &lt;Box style={{ flex: 1, background: '#E8EFF8', borderRadius: 5, padding: '12px 14px', justifyContent: 'center' }}&gt;&#10;                &lt;Text style={{ fontSize: 15, color: '#0E3F8C', lineHeight: 1.65 }}&gt;&#10;                    「感觉变好了」可能只是随机波动，需要固定考卷与基线&#10;                &lt;/Text&gt;&#10;            &lt;/Box&gt;&#10;        &lt;/Box&gt;&#10;    &lt;/Box&gt;&#10;&#10;    {/* 底部结论条 */}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&#10;            这三件事都不是模型能力问题，是系统设计问题 —— 知迹选了一个具体领域，把三道坎都过了一遍&#10;        &lt;/Text&gt;&#10;    &lt;/Box&gt;&#10;&#10;    {/* D 页脚 */}&#10;    &lt;Box style={{ position: 'absolute', bottom: 24, left: 40, flexDirection: 'row', alignItems: 'center', gap: 10 }}&gt;&#10;        &lt;Text style={{ fontSize: 14, color: '#8B97A8' }}&gt;知迹 · 赛道十三 · 智慧教育&lt;/Text&gt;&#10;    &lt;/Box&gt;&#10;    &lt;Box style={{ position: 'absolute', bottom: 24, right: 40, flexDirection: 'row', alignItems: 'center', gap: 4 }}&gt;&#10;        &lt;Text style={{ fontSize: 15, color: '#1E4FA8', fontWeight: 'bold' }}&gt;02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324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6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9639300" y="190500"/>
            <a:ext cx="2171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问题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Agent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从能跑到能用的三道坎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从能跑到能用，差的不是模型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大模型让「做出来」变容易，让「敢上线」变困难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差的是系统设计</a:t>
            </a:r>
            <a:endParaRPr/>
          </a:p>
        </p:txBody>
      </p:sp>
      <p:sp>
        <p:nvSpPr>
          <p:cNvPr id="329" name=""/>
          <p:cNvSpPr/>
          <p:nvPr/>
        </p:nvSpPr>
        <p:spPr>
          <a:xfrm rot="0" flipH="0" flipV="0">
            <a:off x="381000" y="1485900"/>
            <a:ext cx="3686175" cy="4572000"/>
          </a:xfrm>
          <a:prstGeom prst="roundRect">
            <a:avLst>
              <a:gd name="adj" fmla="val 206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30" name=""/>
          <p:cNvSpPr/>
          <p:nvPr/>
        </p:nvSpPr>
        <p:spPr>
          <a:xfrm rot="0" flipH="0" flipV="0">
            <a:off x="609600" y="1714500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790575" y="1790700"/>
            <a:ext cx="1047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609600" y="2305050"/>
            <a:ext cx="3228975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 b="1">
                <a:solidFill>
                  <a:srgbClr val="0E3F8C"/>
                </a:solidFill>
                <a:latin typeface="PingFang SC"/>
                <a:ea typeface="PingFang SC"/>
              </a:rPr>
              <a:t>可恢复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609600" y="2752725"/>
            <a:ext cx="322897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一次会话跨几十次工具调用，崩在第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 xml:space="preserve"> 7 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步时，前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 xml:space="preserve"> 6 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步的代价归零吗？</a:t>
            </a:r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609600" y="3514725"/>
            <a:ext cx="3228975" cy="2314575"/>
          </a:xfrm>
          <a:prstGeom prst="roundRect">
            <a:avLst>
              <a:gd name="adj" fmla="val 205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742950" y="4391025"/>
            <a:ext cx="296227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需要显式状态机</a:t>
            </a:r>
            <a:r>
              <a:rPr lang="en-US" sz="1125">
                <a:solidFill>
                  <a:srgbClr val="0E3F8C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持久化检查点，而不是把状态堆在消息列表里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4257675" y="1485900"/>
            <a:ext cx="3676650" cy="4572000"/>
          </a:xfrm>
          <a:prstGeom prst="roundRect">
            <a:avLst>
              <a:gd name="adj" fmla="val 207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37" name=""/>
          <p:cNvSpPr/>
          <p:nvPr/>
        </p:nvSpPr>
        <p:spPr>
          <a:xfrm rot="0" flipH="0" flipV="0">
            <a:off x="4486275" y="1714500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4638675" y="1790700"/>
            <a:ext cx="152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4486275" y="2305050"/>
            <a:ext cx="321945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 b="1">
                <a:solidFill>
                  <a:srgbClr val="0E3F8C"/>
                </a:solidFill>
                <a:latin typeface="PingFang SC"/>
                <a:ea typeface="PingFang SC"/>
              </a:rPr>
              <a:t>可拦截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4486275" y="2752725"/>
            <a:ext cx="32194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模型说「要写库」，谁在它真的写下去之前拦一下？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4486275" y="3514725"/>
            <a:ext cx="3219450" cy="2314575"/>
          </a:xfrm>
          <a:prstGeom prst="roundRect">
            <a:avLst>
              <a:gd name="adj" fmla="val 205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4619625" y="4391025"/>
            <a:ext cx="29527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提示词劝告挡不住越权工具调用，必须在执行层判定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8124825" y="1485900"/>
            <a:ext cx="3686175" cy="4572000"/>
          </a:xfrm>
          <a:prstGeom prst="roundRect">
            <a:avLst>
              <a:gd name="adj" fmla="val 206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44" name=""/>
          <p:cNvSpPr/>
          <p:nvPr/>
        </p:nvSpPr>
        <p:spPr>
          <a:xfrm rot="0" flipH="0" flipV="0">
            <a:off x="8353425" y="1714500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8505825" y="1790700"/>
            <a:ext cx="152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8353425" y="2305050"/>
            <a:ext cx="3228975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 b="1">
                <a:solidFill>
                  <a:srgbClr val="0E3F8C"/>
                </a:solidFill>
                <a:latin typeface="PingFang SC"/>
                <a:ea typeface="PingFang SC"/>
              </a:rPr>
              <a:t>可度量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8353425" y="2752725"/>
            <a:ext cx="322897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改了一行检索逻辑，怎么知道它没让效果悄悄变差？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8353425" y="3514725"/>
            <a:ext cx="3228975" cy="2314575"/>
          </a:xfrm>
          <a:prstGeom prst="roundRect">
            <a:avLst>
              <a:gd name="adj" fmla="val 205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8486775" y="4391025"/>
            <a:ext cx="296227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「感觉变好了」可能只是随机波动，需要固定考卷与基线</a:t>
            </a:r>
            <a:endParaRPr/>
          </a:p>
        </p:txBody>
      </p:sp>
      <p:sp>
        <p:nvSpPr>
          <p:cNvPr id="350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51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2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7905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这三件事都不是模型能力问题，是系统设计问题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知迹选了一个具体领域，把三道坎都过了一遍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381000" y="64674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11353800" y="6457950"/>
            <a:ext cx="171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02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11563350" y="64674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 name="03 问题｜可恢复、可拦截、可度量：Agent 落地的三道坎">
    <p:spTree>
      <p:nvGrpSpPr>
        <p:cNvPr id="357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问题 · 三道坎的具体形态&lt;/Text&gt;&#10;    &lt;/Box&gt;&#10;    &lt;Box style={{ position: 'absolute', top: 56, left: 40, width: 1200, height: 92, flexDirection: 'column', justifyContent: 'center', gap: 8 }}&gt;&#10;        &lt;Text style={{ fontSize: 34, fontWeight: 'bold', color: '#0E3F8C' }}&gt;可恢复、可拦截、可度量：Agent 落地的三道坎&lt;/Text&gt;&#10;        &lt;Text style={{ fontSize: 19, color: '#4A5568' }}&gt;每道坎背后都是一个具体的、会真实发生的失效场景&lt;/Text&gt;&#10;    &lt;/Box&gt;&#10;&#10;&lt;Box style={{ position: 'absolute', top: 160, left: 40, width: 1200, height: 148, background: '#F7F9FC', border: '1px solid #D6DCE5', borderRadius: 8, flexDirection: 'row', alignItems: 'center', padding: '0 22px', gap: 22 }}&gt;&#10;            &lt;Box style={{ width: 52, height: 52, background: '#1E4FA8', borderRadius: 6, justifyContent: 'center', alignItems: 'center' }}&gt;&#10;                &lt;Text style={{ fontSize: 27, color: '#FFFFFF', fontWeight: 'bold' }}&gt;1&lt;/Text&gt;&#10;            &lt;/Box&gt;&#10;            &lt;Box style={{ width: 150, justifyContent: 'center' }}&gt;&#10;                &lt;Text style={{ fontSize: 27, fontWeight: 'bold', color: '#0E3F8C' }}&gt;可恢复&lt;/Text&gt;&#10;            &lt;/Box&gt;&#10;            &lt;Box style={{ flex: 1, gap: 6 }}&gt;&#10;                &lt;Text style={{ fontSize: 18, color: '#1A2230', lineHeight: 1.55 }}&gt;失效场景：会话崩在第 7 步，前 6 步的检索与工具调用全部作废&lt;/Text&gt;&#10;                &lt;Text style={{ fontSize: 15, color: '#4A5568', lineHeight: 1.55 }}&gt;为什么难：状态在消息列表里，进程一挂就没了&lt;/Text&gt;&#10;            &lt;/Box&gt;&#10;            &lt;Box style={{ width: 340, background: '#E8EFF8', borderRadius: 5, padding: '12px 14px' }}&gt;&#10;                &lt;Text style={{ fontSize: 14, color: '#0E3F8C', lineHeight: 1.6 }}&gt;LangGraph 的 checkpointer 机制正是为此刻态而设计&lt;/Text&gt;&#10;            &lt;/Box&gt;&#10;        &lt;/Box&gt;&#10;&lt;Box style={{ position: 'absolute', top: 322, left: 40, width: 1200, height: 148, background: '#F7F9FC', border: '1px solid #D6DCE5', borderRadius: 8, flexDirection: 'row', alignItems: 'center', padding: '0 22px', gap: 22 }}&gt;&#10;            &lt;Box style={{ width: 52, height: 52, background: '#1E4FA8', borderRadius: 6, justifyContent: 'center', alignItems: 'center' }}&gt;&#10;                &lt;Text style={{ fontSize: 27, color: '#FFFFFF', fontWeight: 'bold' }}&gt;2&lt;/Text&gt;&#10;            &lt;/Box&gt;&#10;            &lt;Box style={{ width: 150, justifyContent: 'center' }}&gt;&#10;                &lt;Text style={{ fontSize: 27, fontWeight: 'bold', color: '#0E3F8C' }}&gt;可拦截&lt;/Text&gt;&#10;            &lt;/Box&gt;&#10;            &lt;Box style={{ flex: 1, gap: 6 }}&gt;&#10;                &lt;Text style={{ fontSize: 18, color: '#1A2230', lineHeight: 1.55 }}&gt;失效场景：模型幻觉出一个被禁工具名并真的发起调用&lt;/Text&gt;&#10;                &lt;Text style={{ fontSize: 15, color: '#4A5568', lineHeight: 1.55 }}&gt;为什么难：只在 schema 层裁剪工具，执行层没有第二道判定&lt;/Text&gt;&#10;            &lt;/Box&gt;&#10;            &lt;Box style={{ width: 340, background: '#E8EFF8', borderRadius: 5, padding: '12px 14px' }}&gt;&#10;                &lt;Text style={{ fontSize: 14, color: '#0E3F8C', lineHeight: 1.6 }}&gt;schema 层不够 —— 模型能「说出」工具名并失败&lt;/Text&gt;&#10;            &lt;/Box&gt;&#10;        &lt;/Box&gt;&#10;&lt;Box style={{ position: 'absolute', top: 484, left: 40, width: 1200, height: 148, background: '#F7F9FC', border: '1px solid #D6DCE5', borderRadius: 8, flexDirection: 'row', alignItems: 'center', padding: '0 22px', gap: 22 }}&gt;&#10;            &lt;Box style={{ width: 52, height: 52, background: '#1E4FA8', borderRadius: 6, justifyContent: 'center', alignItems: 'center' }}&gt;&#10;                &lt;Text style={{ fontSize: 27, color: '#FFFFFF', fontWeight: 'bold' }}&gt;3&lt;/Text&gt;&#10;            &lt;/Box&gt;&#10;            &lt;Box style={{ width: 150, justifyContent: 'center' }}&gt;&#10;                &lt;Text style={{ fontSize: 27, fontWeight: 'bold', color: '#0E3F8C' }}&gt;可度量&lt;/Text&gt;&#10;            &lt;/Box&gt;&#10;            &lt;Box style={{ flex: 1, gap: 6 }}&gt;&#10;                &lt;Text style={{ fontSize: 18, color: '#1A2230', lineHeight: 1.55 }}&gt;失效场景：改了一行检索权重，重跑一次看着更好了&lt;/Text&gt;&#10;                &lt;Text style={{ fontSize: 15, color: '#4A5568', lineHeight: 1.55 }}&gt;为什么难：没有固定考卷，波动和真实提升混在一起&lt;/Text&gt;&#10;            &lt;/Box&gt;&#10;            &lt;Box style={{ width: 340, background: '#E8EFF8', borderRadius: 5, padding: '12px 14px' }}&gt;&#10;                &lt;Text style={{ fontSize: 14, color: '#0E3F8C', lineHeight: 1.6 }}&gt;τ-bench 实测 pass^1 ≈ 61%、pass^8 &amp;lt; 25%&lt;/Text&gt;&#10;            &lt;/Box&gt;&#10;    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知迹把这三道坎都当作必须用工程手段解决的问题 —— 后面每一页对应其中一道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03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9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0315575" y="190500"/>
            <a:ext cx="1495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问题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三道坎的具体形态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可恢复、可拦截、可度量：</a:t>
            </a:r>
            <a:r>
              <a:rPr lang="en-US" sz="2550" b="1">
                <a:solidFill>
                  <a:srgbClr val="0E3F8C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落地的三道坎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每道坎背后都是一个具体的、会真实发生的失效场景</a:t>
            </a:r>
            <a:endParaRPr/>
          </a:p>
        </p:txBody>
      </p:sp>
      <p:sp>
        <p:nvSpPr>
          <p:cNvPr id="366" name=""/>
          <p:cNvSpPr/>
          <p:nvPr/>
        </p:nvSpPr>
        <p:spPr>
          <a:xfrm rot="0" flipH="0" flipV="0">
            <a:off x="381000" y="1524000"/>
            <a:ext cx="11430000" cy="1409700"/>
          </a:xfrm>
          <a:prstGeom prst="roundRect">
            <a:avLst>
              <a:gd name="adj" fmla="val 540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67" name=""/>
          <p:cNvSpPr/>
          <p:nvPr/>
        </p:nvSpPr>
        <p:spPr>
          <a:xfrm rot="0" flipH="0" flipV="0">
            <a:off x="590550" y="1981200"/>
            <a:ext cx="495300" cy="495300"/>
          </a:xfrm>
          <a:prstGeom prst="roundRect">
            <a:avLst>
              <a:gd name="adj" fmla="val 11538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781050" y="2076450"/>
            <a:ext cx="1143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025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1295400" y="2076450"/>
            <a:ext cx="142875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 b="1">
                <a:solidFill>
                  <a:srgbClr val="0E3F8C"/>
                </a:solidFill>
                <a:latin typeface="PingFang SC"/>
                <a:ea typeface="PingFang SC"/>
              </a:rPr>
              <a:t>可恢复</a:t>
            </a:r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2933700" y="1905000"/>
            <a:ext cx="5219700" cy="3238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350">
                <a:solidFill>
                  <a:srgbClr val="1A2230"/>
                </a:solidFill>
                <a:latin typeface="PingFang SC"/>
                <a:ea typeface="PingFang SC"/>
              </a:rPr>
              <a:t>失效场景：会话崩在第</a:t>
            </a:r>
            <a:r>
              <a:rPr lang="en-US" sz="1350">
                <a:solidFill>
                  <a:srgbClr val="1A2230"/>
                </a:solidFill>
                <a:latin typeface="PingFang SC"/>
                <a:ea typeface="PingFang SC"/>
              </a:rPr>
              <a:t xml:space="preserve"> 7 </a:t>
            </a:r>
            <a:r>
              <a:rPr lang="zh-CN" sz="1350">
                <a:solidFill>
                  <a:srgbClr val="1A2230"/>
                </a:solidFill>
                <a:latin typeface="PingFang SC"/>
                <a:ea typeface="PingFang SC"/>
              </a:rPr>
              <a:t>步，前</a:t>
            </a:r>
            <a:r>
              <a:rPr lang="en-US" sz="1350">
                <a:solidFill>
                  <a:srgbClr val="1A2230"/>
                </a:solidFill>
                <a:latin typeface="PingFang SC"/>
                <a:ea typeface="PingFang SC"/>
              </a:rPr>
              <a:t xml:space="preserve"> 6 </a:t>
            </a:r>
            <a:r>
              <a:rPr lang="zh-CN" sz="1350">
                <a:solidFill>
                  <a:srgbClr val="1A2230"/>
                </a:solidFill>
                <a:latin typeface="PingFang SC"/>
                <a:ea typeface="PingFang SC"/>
              </a:rPr>
              <a:t>步的检索与工具调用全部作废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2933700" y="2286000"/>
            <a:ext cx="52197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为什么难：状态在消息列表里，进程一挂就没了</a:t>
            </a:r>
            <a:endParaRPr/>
          </a:p>
        </p:txBody>
      </p:sp>
      <p:sp>
        <p:nvSpPr>
          <p:cNvPr id="372" name=""/>
          <p:cNvSpPr/>
          <p:nvPr/>
        </p:nvSpPr>
        <p:spPr>
          <a:xfrm rot="0" flipH="0" flipV="0">
            <a:off x="8362950" y="1857375"/>
            <a:ext cx="3238500" cy="742950"/>
          </a:xfrm>
          <a:prstGeom prst="roundRect">
            <a:avLst>
              <a:gd name="adj" fmla="val 641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8496300" y="1971675"/>
            <a:ext cx="2971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LangGraph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的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 checkpointer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机制正是为此刻态而设计</a:t>
            </a:r>
            <a:endParaRPr/>
          </a:p>
        </p:txBody>
      </p:sp>
      <p:sp>
        <p:nvSpPr>
          <p:cNvPr id="374" name=""/>
          <p:cNvSpPr/>
          <p:nvPr/>
        </p:nvSpPr>
        <p:spPr>
          <a:xfrm rot="0" flipH="0" flipV="0">
            <a:off x="381000" y="3067050"/>
            <a:ext cx="11430000" cy="1409700"/>
          </a:xfrm>
          <a:prstGeom prst="roundRect">
            <a:avLst>
              <a:gd name="adj" fmla="val 540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75" name=""/>
          <p:cNvSpPr/>
          <p:nvPr/>
        </p:nvSpPr>
        <p:spPr>
          <a:xfrm rot="0" flipH="0" flipV="0">
            <a:off x="590550" y="3524250"/>
            <a:ext cx="495300" cy="495300"/>
          </a:xfrm>
          <a:prstGeom prst="roundRect">
            <a:avLst>
              <a:gd name="adj" fmla="val 11538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762000" y="3619500"/>
            <a:ext cx="161925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025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1295400" y="3619500"/>
            <a:ext cx="142875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 b="1">
                <a:solidFill>
                  <a:srgbClr val="0E3F8C"/>
                </a:solidFill>
                <a:latin typeface="PingFang SC"/>
                <a:ea typeface="PingFang SC"/>
              </a:rPr>
              <a:t>可拦截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2933700" y="3448050"/>
            <a:ext cx="5219700" cy="3238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350">
                <a:solidFill>
                  <a:srgbClr val="1A2230"/>
                </a:solidFill>
                <a:latin typeface="PingFang SC"/>
                <a:ea typeface="PingFang SC"/>
              </a:rPr>
              <a:t>失效场景：模型幻觉出一个被禁工具名并真的发起调用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2933700" y="3829050"/>
            <a:ext cx="52197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为什么难：只在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schema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层裁剪工具，执行层没有第二道判定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8362950" y="3400425"/>
            <a:ext cx="3238500" cy="742950"/>
          </a:xfrm>
          <a:prstGeom prst="roundRect">
            <a:avLst>
              <a:gd name="adj" fmla="val 641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8496300" y="3514725"/>
            <a:ext cx="2971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schema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层不够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模型能「说出」工具名并失败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81000" y="4610100"/>
            <a:ext cx="11430000" cy="1409700"/>
          </a:xfrm>
          <a:prstGeom prst="roundRect">
            <a:avLst>
              <a:gd name="adj" fmla="val 540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83" name=""/>
          <p:cNvSpPr/>
          <p:nvPr/>
        </p:nvSpPr>
        <p:spPr>
          <a:xfrm rot="0" flipH="0" flipV="0">
            <a:off x="590550" y="5067300"/>
            <a:ext cx="495300" cy="495300"/>
          </a:xfrm>
          <a:prstGeom prst="roundRect">
            <a:avLst>
              <a:gd name="adj" fmla="val 11538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762000" y="5162550"/>
            <a:ext cx="161925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025" b="1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1295400" y="5162550"/>
            <a:ext cx="142875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 b="1">
                <a:solidFill>
                  <a:srgbClr val="0E3F8C"/>
                </a:solidFill>
                <a:latin typeface="PingFang SC"/>
                <a:ea typeface="PingFang SC"/>
              </a:rPr>
              <a:t>可度量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2933700" y="4991100"/>
            <a:ext cx="5219700" cy="3238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350">
                <a:solidFill>
                  <a:srgbClr val="1A2230"/>
                </a:solidFill>
                <a:latin typeface="PingFang SC"/>
                <a:ea typeface="PingFang SC"/>
              </a:rPr>
              <a:t>失效场景：改了一行检索权重，重跑一次看着更好了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2933700" y="5372100"/>
            <a:ext cx="52197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为什么难：没有固定考卷，波动和真实提升混在一起</a:t>
            </a:r>
            <a:endParaRPr/>
          </a:p>
        </p:txBody>
      </p:sp>
      <p:sp>
        <p:nvSpPr>
          <p:cNvPr id="388" name=""/>
          <p:cNvSpPr/>
          <p:nvPr/>
        </p:nvSpPr>
        <p:spPr>
          <a:xfrm rot="0" flipH="0" flipV="0">
            <a:off x="8362950" y="5076825"/>
            <a:ext cx="3238500" cy="485775"/>
          </a:xfrm>
          <a:prstGeom prst="roundRect">
            <a:avLst>
              <a:gd name="adj" fmla="val 980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8496300" y="5191125"/>
            <a:ext cx="29718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τ-bench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实测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 pass^1 ≈ 61%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、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>pass^8 &lt; 25%</a:t>
            </a:r>
            <a:endParaRPr/>
          </a:p>
        </p:txBody>
      </p:sp>
      <p:sp>
        <p:nvSpPr>
          <p:cNvPr id="390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91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2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6457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知迹把这三道坎都当作必须用工程手段解决的问题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后面每一页对应其中一道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11353800" y="6610350"/>
            <a:ext cx="171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03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 name="04 产品｜知迹：一个把三道坎都做掉的学习 Agent">
    <p:spTree>
      <p:nvGrpSpPr>
        <p:cNvPr id="397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问题 · 为什么是学习场景&lt;/Text&gt;&#10;    &lt;/Box&gt;&#10;    &lt;Box style={{ position: 'absolute', top: 56, left: 40, width: 1200, height: 92, flexDirection: 'column', justifyContent: 'center', gap: 8 }}&gt;&#10;        &lt;Text style={{ fontSize: 34, fontWeight: 'bold', color: '#0E3F8C' }}&gt;知迹：一个把三道坎都做掉的学习 Agent&lt;/Text&gt;&#10;        &lt;Text style={{ fontSize: 19, color: '#4A5568' }}&gt;产品定义与工程规模 —— 这不是一个学生小工具&lt;/Text&gt;&#10;    &lt;/Box&gt;&#10;&#10;    &lt;Box style={{ position: 'absolute', top: 160, left: 40, width: 520, height: 476, flexDirection: 'column', gap: 16 }}&gt;&#10;        &lt;Box style={{ background: '#E8EFF8', borderLeft: '4px solid #1E4FA8', borderRadius: 4, padding: '16px 18px' }}&gt;&#10;            &lt;Text style={{ fontSize: 16, color: '#0E3F8C', lineHeight: 1.7 }}&gt;&#10;                知迹 = 一个把学习资料变成题、再把题变成复习计划的 Agent。&#10;            &lt;/Text&gt;&#10;        &lt;/Box&gt;&#10;        &lt;Text style={{ fontSize: 15, color: '#4A5568', lineHeight: 1.75 }}&gt;&#10;            之所以选学习场景，是因为它同时具备三个特征：&#10;        &lt;/Text&gt;&#10;        &lt;Box style={{ gap: 9 }}&gt;&#10;            &lt;Text style={{ fontSize: 15, color: '#1A2230', lineHeight: 1.6 }}&gt;&#10;                &lt;span style={{ fontWeight: 'bold', color: '#0E3F8C' }}&gt;一 · &lt;/span&gt;一次任务要串很多步（整理 → 出题 → 复习），适合验证「可恢复」&#10;            &lt;/Text&gt;&#10;            &lt;Text style={{ fontSize: 15, color: '#1A2230', lineHeight: 1.6 }}&gt;&#10;                &lt;span style={{ fontWeight: 'bold', color: '#0E3F8C' }}&gt;二 · &lt;/span&gt;涉及写操作（沉淀笔记、写文件），适合验证「可拦截」&#10;            &lt;/Text&gt;&#10;            &lt;Text style={{ fontSize: 15, color: '#1A2230', lineHeight: 1.6 }}&gt;&#10;                &lt;span style={{ fontWeight: 'bold', color: '#0E3F8C' }}&gt;三 · &lt;/span&gt;结果好坏能客观判定（题对不对、掌握度变没变），适合验证「可度量」&#10;            &lt;/Text&gt;&#10;        &lt;/Box&gt;&#10;        &lt;Box style={{ flex: 1, background: '#F7F9FC', border: '1px solid #D6DCE5', borderRadius: 6, padding: 14, justifyContent: 'center' }}&gt;&#10;            &lt;Text style={{ fontSize: 14, color: '#4A5568', lineHeight: 1.7 }}&gt;&#10;                这不是「我是个学生所以做了个学生 App」，而是&#10;                &lt;span style={{ fontWeight: 'bold', color: '#0E3F8C' }}&gt;我需要一个能同时压测三项能力的场景&lt;/span&gt;。&#10;            &lt;/Text&gt;&#10;        &lt;/Box&gt;&#10;    &lt;/Box&gt;&#10;&#10;    &lt;Box style={{ position: 'absolute', top: 160, left: 580, width: 660, height: 476, background: '#F7F9FC', border: '1px solid #D6DCE5', borderRadius: 8, padding: 20, flexDirection: 'column', gap: 14 }}&gt;&#10;        &lt;Text style={{ fontSize: 24, fontWeight: 'bold', color: '#0E3F8C' }}&gt;工程规模（非 Demo 的量级）&lt;/Text&gt;&#10;        &lt;Box style={{ flexDirection: 'row', gap: 14 }}&gt;&#10;            &lt;Box style={{ flex: 1, background: '#F7F9FC', border: '1px solid #D6DCE5', borderRadius: 8, padding: 16, flexDirection: 'column', gap: 4, justifyContent: 'center' }}&gt;&#10;            &lt;Box style={{ flexDirection: 'row', alignItems: 'flex-end', gap: 6 }}&gt;&#10;                &lt;Text style={{ fontSize: 58, fontWeight: 'bold', color: '#1E4FA8', lineHeight: 1.05 }}&gt;10036&lt;/Text&gt;&#10;                &lt;Text style={{ fontSize: 20, color: '#4A5568', marginBottom: 8 }}&gt;行&lt;/Text&gt;&#10;            &lt;/Box&gt;&#10;            &lt;Text style={{ fontSize: 21, fontWeight: 'bold', color: '#0E3F8C' }}&gt;后端代码&lt;/Text&gt;&#10;            &lt;Text style={{ fontSize: 14, color: '#8B97A8', lineHeight: 1.6 }}&gt;53 个 Python 模块，四层分层&lt;/Text&gt;&#10;        &lt;/Box&gt;&#10;            &lt;Box style={{ flex: 1, background: '#F7F9FC', border: '1px solid #D6DCE5', borderRadius: 8, padding: 16, flexDirection: 'column', gap: 4, justifyContent: 'center' }}&gt;&#10;            &lt;Box style={{ flexDirection: 'row', alignItems: 'flex-end', gap: 6 }}&gt;&#10;                &lt;Text style={{ fontSize: 58, fontWeight: 'bold', color: '#1E4FA8', lineHeight: 1.05 }}&gt;10325&lt;/Text&gt;&#10;                &lt;Text style={{ fontSize: 20, color: '#4A5568', marginBottom: 8 }}&gt;行&lt;/Text&gt;&#10;            &lt;/Box&gt;&#10;            &lt;Text style={{ fontSize: 21, fontWeight: 'bold', color: '#0E3F8C' }}&gt;前端代码&lt;/Text&gt;&#10;            &lt;Text style={{ fontSize: 14, color: '#8B97A8', lineHeight: 1.6 }}&gt;15 个组件，Next.js 16&lt;/Text&gt;&#10;        &lt;/Box&gt;&#10;        &lt;/Box&gt;&#10;        &lt;Box style={{ flexDirection: 'row', gap: 14 }}&gt;&#10;            &lt;Box style={{ flex: 1, background: '#F7F9FC', border: '1px solid #D6DCE5', borderRadius: 8, padding: 16, flexDirection: 'column', gap: 4, justifyContent: 'center' }}&gt;&#10;            &lt;Box style={{ flexDirection: 'row', alignItems: 'flex-end', gap: 6 }}&gt;&#10;                &lt;Text style={{ fontSize: 58, fontWeight: 'bold', color: '#1E4FA8', lineHeight: 1.05 }}&gt;50&lt;/Text&gt;&#10;                &lt;Text style={{ fontSize: 20, color: '#4A5568', marginBottom: 8 }}&gt;个&lt;/Text&gt;&#10;            &lt;/Box&gt;&#10;            &lt;Text style={{ fontSize: 21, fontWeight: 'bold', color: '#0E3F8C' }}&gt;API 端点&lt;/Text&gt;&#10;            &lt;Text style={{ fontSize: 14, color: '#8B97A8', lineHeight: 1.6 }}&gt;含 SSE 流式与中断恢复&lt;/Text&gt;&#10;        &lt;/Box&gt;&#10;            &lt;Box style={{ flex: 1, background: '#F7F9FC', border: '1px solid #D6DCE5', borderRadius: 8, padding: 16, flexDirection: 'column', gap: 4, justifyContent: 'center' }}&gt;&#10;            &lt;Box style={{ flexDirection: 'row', alignItems: 'flex-end', gap: 6 }}&gt;&#10;                &lt;Text style={{ fontSize: 58, fontWeight: 'bold', color: '#1E4FA8', lineHeight: 1.05 }}&gt;284&lt;/Text&gt;&#10;                &lt;Text style={{ fontSize: 20, color: '#4A5568', marginBottom: 8 }}&gt;项&lt;/Text&gt;&#10;            &lt;/Box&gt;&#10;            &lt;Text style={{ fontSize: 21, fontWeight: 'bold', color: '#0E3F8C' }}&gt;自动测试&lt;/Text&gt;&#10;            &lt;Text style={{ fontSize: 14, color: '#8B97A8', lineHeight: 1.6 }}&gt;全 Mock，零 API 消耗&lt;/Text&gt;&#10;        &lt;/Box&gt;&#10;        &lt;/Box&gt;&#10;        &lt;Box style={{ flex: 1, background: '#E8EFF8', borderRadius: 5, padding: '12px 14px', justifyContent: 'center' }}&gt;&#10;            &lt;Text style={{ fontSize: 14, color: '#0E3F8C', lineHeight: 1.65 }}&gt;&#10;                技术栈：LangGraph 状态图 · FastAPI + SSE · SQLite（端口化，可替换）· Next.js 16&#10;            &lt;/Text&gt;&#10;        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选场景是为了压测能力，不是为了凑一个题目 —— 后面每一页都是这三道坎的具体解法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04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9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10315575" y="190500"/>
            <a:ext cx="1495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问题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为什么是学习场景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知迹：一个把三道坎都做掉的学习</a:t>
            </a:r>
            <a:r>
              <a:rPr lang="en-US" sz="2550" b="1">
                <a:solidFill>
                  <a:srgbClr val="0E3F8C"/>
                </a:solidFill>
                <a:latin typeface="PingFang SC"/>
                <a:ea typeface="PingFang SC"/>
              </a:rPr>
              <a:t xml:space="preserve"> Agent</a:t>
            </a:r>
            <a:endParaRPr/>
          </a:p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产品定义与工程规模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这不是一个学生小工具</a:t>
            </a:r>
            <a:endParaRPr/>
          </a:p>
        </p:txBody>
      </p:sp>
      <p:sp>
        <p:nvSpPr>
          <p:cNvPr id="406" name=""/>
          <p:cNvSpPr/>
          <p:nvPr/>
        </p:nvSpPr>
        <p:spPr>
          <a:xfrm rot="0" flipH="0" flipV="0">
            <a:off x="419100" y="1524000"/>
            <a:ext cx="4953000" cy="619125"/>
          </a:xfrm>
          <a:prstGeom prst="roundRect">
            <a:avLst>
              <a:gd name="adj" fmla="val 615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07" name=""/>
          <p:cNvSpPr/>
          <p:nvPr/>
        </p:nvSpPr>
        <p:spPr>
          <a:xfrm rot="0" flipH="0" flipV="0">
            <a:off x="419100" y="1524000"/>
            <a:ext cx="4953000" cy="619125"/>
          </a:xfrm>
          <a:custGeom>
            <a:pathLst>
              <a:path w="520" h="65">
                <a:moveTo>
                  <a:pt x="4" y="65"/>
                </a:moveTo>
                <a:cubicBezTo>
                  <a:pt x="2" y="65"/>
                  <a:pt x="0" y="63"/>
                  <a:pt x="0" y="61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lnTo>
                  <a:pt x="4" y="65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590550" y="1676400"/>
            <a:ext cx="4572000" cy="314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00">
                <a:solidFill>
                  <a:srgbClr val="0E3F8C"/>
                </a:solidFill>
                <a:latin typeface="PingFang SC"/>
                <a:ea typeface="PingFang SC"/>
              </a:rPr>
              <a:t>知迹</a:t>
            </a:r>
            <a:r>
              <a:rPr lang="en-US" sz="1200">
                <a:solidFill>
                  <a:srgbClr val="0E3F8C"/>
                </a:solidFill>
                <a:latin typeface="PingFang SC"/>
                <a:ea typeface="PingFang SC"/>
              </a:rPr>
              <a:t xml:space="preserve"> = </a:t>
            </a:r>
            <a:r>
              <a:rPr lang="zh-CN" sz="1200">
                <a:solidFill>
                  <a:srgbClr val="0E3F8C"/>
                </a:solidFill>
                <a:latin typeface="PingFang SC"/>
                <a:ea typeface="PingFang SC"/>
              </a:rPr>
              <a:t>一个把学习资料变成题、再把题变成复习计划的</a:t>
            </a:r>
            <a:r>
              <a:rPr lang="en-US" sz="1200">
                <a:solidFill>
                  <a:srgbClr val="0E3F8C"/>
                </a:solidFill>
                <a:latin typeface="PingFang SC"/>
                <a:ea typeface="PingFang SC"/>
              </a:rPr>
              <a:t xml:space="preserve"> Agent</a:t>
            </a:r>
            <a:r>
              <a:rPr lang="zh-CN" sz="1200">
                <a:solidFill>
                  <a:srgbClr val="0E3F8C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381000" y="2295525"/>
            <a:ext cx="4953000" cy="3048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之所以选学习场景，是因为它同时具备三个特征：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381000" y="275272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0E3F8C"/>
                </a:solidFill>
                <a:latin typeface="PingFang SC"/>
                <a:ea typeface="PingFang SC"/>
              </a:rPr>
              <a:t>一</a:t>
            </a:r>
            <a:r>
              <a:rPr lang="en-US" sz="1125" b="1">
                <a:solidFill>
                  <a:srgbClr val="0E3F8C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1A2230"/>
                </a:solidFill>
                <a:latin typeface="PingFang SC"/>
                <a:ea typeface="PingFang SC"/>
              </a:rPr>
              <a:t>一次任务要串很多步（整理</a:t>
            </a:r>
            <a:r>
              <a:rPr lang="en-US" sz="1125">
                <a:solidFill>
                  <a:srgbClr val="1A2230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125">
                <a:solidFill>
                  <a:srgbClr val="1A2230"/>
                </a:solidFill>
                <a:latin typeface="PingFang SC"/>
                <a:ea typeface="PingFang SC"/>
              </a:rPr>
              <a:t>出题</a:t>
            </a:r>
            <a:r>
              <a:rPr lang="en-US" sz="1125">
                <a:solidFill>
                  <a:srgbClr val="1A2230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125">
                <a:solidFill>
                  <a:srgbClr val="1A2230"/>
                </a:solidFill>
                <a:latin typeface="PingFang SC"/>
                <a:ea typeface="PingFang SC"/>
              </a:rPr>
              <a:t>复习），适合验证「可恢复」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381000" y="31146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0E3F8C"/>
                </a:solidFill>
                <a:latin typeface="PingFang SC"/>
                <a:ea typeface="PingFang SC"/>
              </a:rPr>
              <a:t>二</a:t>
            </a:r>
            <a:r>
              <a:rPr lang="en-US" sz="1125" b="1">
                <a:solidFill>
                  <a:srgbClr val="0E3F8C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1A2230"/>
                </a:solidFill>
                <a:latin typeface="PingFang SC"/>
                <a:ea typeface="PingFang SC"/>
              </a:rPr>
              <a:t>涉及写操作（沉淀笔记、写文件），适合验证「可拦截」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81000" y="347662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0E3F8C"/>
                </a:solidFill>
                <a:latin typeface="PingFang SC"/>
                <a:ea typeface="PingFang SC"/>
              </a:rPr>
              <a:t>三</a:t>
            </a:r>
            <a:r>
              <a:rPr lang="en-US" sz="1125" b="1">
                <a:solidFill>
                  <a:srgbClr val="0E3F8C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1A2230"/>
                </a:solidFill>
                <a:latin typeface="PingFang SC"/>
                <a:ea typeface="PingFang SC"/>
              </a:rPr>
              <a:t>结果好坏能客观判定（题对不对、掌握度变没变），适合验证「可度量」</a:t>
            </a:r>
            <a:endParaRPr/>
          </a:p>
        </p:txBody>
      </p:sp>
      <p:sp>
        <p:nvSpPr>
          <p:cNvPr id="413" name=""/>
          <p:cNvSpPr/>
          <p:nvPr/>
        </p:nvSpPr>
        <p:spPr>
          <a:xfrm rot="0" flipH="0" flipV="0">
            <a:off x="381000" y="3905250"/>
            <a:ext cx="4953000" cy="2152650"/>
          </a:xfrm>
          <a:prstGeom prst="roundRect">
            <a:avLst>
              <a:gd name="adj" fmla="val 265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514350" y="4705350"/>
            <a:ext cx="46863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这不是「我是个学生所以做了个学生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App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」，而是</a:t>
            </a:r>
            <a:r>
              <a:rPr lang="zh-CN" sz="1050" b="1">
                <a:solidFill>
                  <a:srgbClr val="0E3F8C"/>
                </a:solidFill>
                <a:latin typeface="PingFang SC"/>
                <a:ea typeface="PingFang SC"/>
              </a:rPr>
              <a:t>我需要一个能同时压测三项能力的场景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415" name=""/>
          <p:cNvSpPr/>
          <p:nvPr/>
        </p:nvSpPr>
        <p:spPr>
          <a:xfrm rot="0" flipH="0" flipV="0">
            <a:off x="5524500" y="1524000"/>
            <a:ext cx="6286500" cy="4533900"/>
          </a:xfrm>
          <a:prstGeom prst="roundRect">
            <a:avLst>
              <a:gd name="adj" fmla="val 168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5715000" y="1714500"/>
            <a:ext cx="5905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工程规模（非</a:t>
            </a:r>
            <a:r>
              <a:rPr lang="en-US" sz="1800" b="1">
                <a:solidFill>
                  <a:srgbClr val="0E3F8C"/>
                </a:solidFill>
                <a:latin typeface="PingFang SC"/>
                <a:ea typeface="PingFang SC"/>
              </a:rPr>
              <a:t xml:space="preserve"> Demo </a:t>
            </a: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的量级）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5715000" y="2124075"/>
            <a:ext cx="2886075" cy="1590675"/>
          </a:xfrm>
          <a:prstGeom prst="roundRect">
            <a:avLst>
              <a:gd name="adj" fmla="val 479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5867400" y="2276475"/>
            <a:ext cx="1552575" cy="70485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350" b="1">
                <a:solidFill>
                  <a:srgbClr val="1E4FA8"/>
                </a:solidFill>
                <a:latin typeface="PingFang SC"/>
                <a:ea typeface="PingFang SC"/>
              </a:rPr>
              <a:t>10036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7477125" y="26765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PingFang SC"/>
                <a:ea typeface="PingFang SC"/>
              </a:rPr>
              <a:t>行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5867400" y="3019425"/>
            <a:ext cx="2581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后端代码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5867400" y="3305175"/>
            <a:ext cx="2581275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53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个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Python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模块，四层分层</a:t>
            </a:r>
            <a:endParaRPr/>
          </a:p>
        </p:txBody>
      </p:sp>
      <p:sp>
        <p:nvSpPr>
          <p:cNvPr id="422" name=""/>
          <p:cNvSpPr/>
          <p:nvPr/>
        </p:nvSpPr>
        <p:spPr>
          <a:xfrm rot="0" flipH="0" flipV="0">
            <a:off x="8734425" y="2124075"/>
            <a:ext cx="2886075" cy="1590675"/>
          </a:xfrm>
          <a:prstGeom prst="roundRect">
            <a:avLst>
              <a:gd name="adj" fmla="val 479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8886825" y="2276475"/>
            <a:ext cx="1552575" cy="70485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350" b="1">
                <a:solidFill>
                  <a:srgbClr val="1E4FA8"/>
                </a:solidFill>
                <a:latin typeface="PingFang SC"/>
                <a:ea typeface="PingFang SC"/>
              </a:rPr>
              <a:t>10325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10496550" y="26765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PingFang SC"/>
                <a:ea typeface="PingFang SC"/>
              </a:rPr>
              <a:t>行</a:t>
            </a:r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8886825" y="3019425"/>
            <a:ext cx="2581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前端代码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8886825" y="3305175"/>
            <a:ext cx="2581275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15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个组件，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Next.js 16</a:t>
            </a:r>
            <a:endParaRPr/>
          </a:p>
        </p:txBody>
      </p:sp>
      <p:sp>
        <p:nvSpPr>
          <p:cNvPr id="427" name=""/>
          <p:cNvSpPr/>
          <p:nvPr/>
        </p:nvSpPr>
        <p:spPr>
          <a:xfrm rot="0" flipH="0" flipV="0">
            <a:off x="5715000" y="3848100"/>
            <a:ext cx="2886075" cy="1590675"/>
          </a:xfrm>
          <a:prstGeom prst="roundRect">
            <a:avLst>
              <a:gd name="adj" fmla="val 479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5867400" y="4000500"/>
            <a:ext cx="666750" cy="70485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350" b="1">
                <a:solidFill>
                  <a:srgbClr val="1E4FA8"/>
                </a:solidFill>
                <a:latin typeface="PingFang SC"/>
                <a:ea typeface="PingFang SC"/>
              </a:rPr>
              <a:t>50</a:t>
            </a:r>
            <a:endParaRPr/>
          </a:p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6591300" y="4400550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PingFang SC"/>
                <a:ea typeface="PingFang SC"/>
              </a:rPr>
              <a:t>个</a:t>
            </a:r>
            <a:endParaRPr/>
          </a:p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5867400" y="4743450"/>
            <a:ext cx="2581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PingFang SC"/>
                <a:ea typeface="PingFang SC"/>
              </a:rPr>
              <a:t xml:space="preserve">API </a:t>
            </a: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端点</a:t>
            </a:r>
            <a:endParaRPr/>
          </a:p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5867400" y="5029200"/>
            <a:ext cx="2581275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含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SSE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流式与中断恢复</a:t>
            </a:r>
            <a:endParaRPr/>
          </a:p>
        </p:txBody>
      </p:sp>
      <p:sp>
        <p:nvSpPr>
          <p:cNvPr id="432" name=""/>
          <p:cNvSpPr/>
          <p:nvPr/>
        </p:nvSpPr>
        <p:spPr>
          <a:xfrm rot="0" flipH="0" flipV="0">
            <a:off x="8734425" y="3848100"/>
            <a:ext cx="2886075" cy="1590675"/>
          </a:xfrm>
          <a:prstGeom prst="roundRect">
            <a:avLst>
              <a:gd name="adj" fmla="val 479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8886825" y="4000500"/>
            <a:ext cx="1000125" cy="70485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350" b="1">
                <a:solidFill>
                  <a:srgbClr val="1E4FA8"/>
                </a:solidFill>
                <a:latin typeface="PingFang SC"/>
                <a:ea typeface="PingFang SC"/>
              </a:rPr>
              <a:t>284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9944100" y="4400550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PingFang SC"/>
                <a:ea typeface="PingFang SC"/>
              </a:rPr>
              <a:t>项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8886825" y="4743450"/>
            <a:ext cx="2581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自动测试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8886825" y="5029200"/>
            <a:ext cx="2581275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全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Mock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，零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API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消耗</a:t>
            </a:r>
            <a:endParaRPr/>
          </a:p>
        </p:txBody>
      </p:sp>
      <p:sp>
        <p:nvSpPr>
          <p:cNvPr id="437" name=""/>
          <p:cNvSpPr/>
          <p:nvPr/>
        </p:nvSpPr>
        <p:spPr>
          <a:xfrm rot="0" flipH="0" flipV="0">
            <a:off x="5715000" y="5572125"/>
            <a:ext cx="5905500" cy="495300"/>
          </a:xfrm>
          <a:prstGeom prst="roundRect">
            <a:avLst>
              <a:gd name="adj" fmla="val 961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5848350" y="5686425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技术栈：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LangGraph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状态图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 · FastAPI + SSE · SQLite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（端口化，可替换）·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 Next.js 16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0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1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7000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选场景是为了压测能力，不是为了凑一个题目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后面每一页都是这三道坎的具体解法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11353800" y="6610350"/>
            <a:ext cx="171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04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 name="05 技术·可恢复｜一次学习回合，是画出来的一张图">
    <p:spTree>
      <p:nvGrpSpPr>
        <p:cNvPr id="446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解法 ① · 可恢复&lt;/Text&gt;&#10;    &lt;/Box&gt;&#10;    &lt;Box style={{ position: 'absolute', top: 56, left: 40, width: 1200, height: 92, flexDirection: 'column', justifyContent: 'center', gap: 8 }}&gt;&#10;        &lt;Text style={{ fontSize: 34, fontWeight: 'bold', color: '#0E3F8C' }}&gt;一次学习回合，是画出来的一张图&lt;/Text&gt;&#10;        &lt;Text style={{ fontSize: 19, color: '#4A5568' }}&gt;route → plan → agent ⇄ tools —— 循环与分支都写在明面上&lt;/Text&gt;&#10;    &lt;/Box&gt;&#10;&#10;&lt;Box style={{ position: 'absolute', top: 214, left: 46, width: 150, height: 74, background: '#F7F9FC', border: '2px solid #1E4FA8', borderRadius: 8, justifyContent: 'center', alignItems: 'center' }}&gt;&#10;                &lt;Text style={{ fontSize: 24, fontWeight: 'bold', color: '#1E4FA8' }}&gt;START&lt;/Text&gt;&#10;            &lt;/Box&gt;&#10;&lt;Box style={{ position: 'absolute', top: 249, left: 199, width: 20, height: 3, background: '#1E4FA8' }} /&gt;&#10;            &lt;Box style={{ position: 'absolute', top: 241, left: 215, width: 11, height: 11, background: '#1E4FA8', borderRadius: 2, transform: 'rotate(45deg)' }} /&gt;&#10;&lt;Box style={{ position: 'absolute', top: 214, left: 230, width: 168, height: 74, background: '#1E4FA8', border: '2px solid #1E4FA8', borderRadius: 8, justifyContent: 'center', alignItems: 'center' }}&gt;&#10;                &lt;Text style={{ fontSize: 24, fontWeight: 'bold', color: '#FFFFFF' }}&gt;route&lt;/Text&gt;&#10;            &lt;/Box&gt;&#10;&lt;Box style={{ position: 'absolute', top: 249, left: 401, width: 20, height: 3, background: '#1E4FA8' }} /&gt;&#10;            &lt;Box style={{ position: 'absolute', top: 241, left: 417, width: 11, height: 11, background: '#1E4FA8', borderRadius: 2, transform: 'rotate(45deg)' }} /&gt;&#10;&lt;Box style={{ position: 'absolute', top: 214, left: 432, width: 168, height: 74, background: '#1E4FA8', border: '2px solid #1E4FA8', borderRadius: 8, justifyContent: 'center', alignItems: 'center' }}&gt;&#10;                &lt;Text style={{ fontSize: 24, fontWeight: 'bold', color: '#FFFFFF' }}&gt;plan&lt;/Text&gt;&#10;            &lt;/Box&gt;&#10;&lt;Box style={{ position: 'absolute', top: 249, left: 603, width: 20, height: 3, background: '#1E4FA8' }} /&gt;&#10;            &lt;Box style={{ position: 'absolute', top: 241, left: 619, width: 11, height: 11, background: '#1E4FA8', borderRadius: 2, transform: 'rotate(45deg)' }} /&gt;&#10;&lt;Box style={{ position: 'absolute', top: 214, left: 634, width: 168, height: 74, background: '#0E3F8C', border: '2px solid #1E4FA8', borderRadius: 8, justifyContent: 'center', alignItems: 'center' }}&gt;&#10;                &lt;Text style={{ fontSize: 24, fontWeight: 'bold', color: '#FFFFFF' }}&gt;agent&lt;/Text&gt;&#10;            &lt;/Box&gt;&#10;&lt;Box style={{ position: 'absolute', top: 249, left: 805, width: 20, height: 3, background: '#1E4FA8' }} /&gt;&#10;            &lt;Box style={{ position: 'absolute', top: 241, left: 821, width: 11, height: 11, background: '#1E4FA8', borderRadius: 2, transform: 'rotate(45deg)' }} /&gt;&#10;&lt;Box style={{ position: 'absolute', top: 214, left: 836, width: 168, height: 74, background: '#0E3F8C', border: '2px solid #1E4FA8', borderRadius: 8, justifyContent: 'center', alignItems: 'center' }}&gt;&#10;                &lt;Text style={{ fontSize: 24, fontWeight: 'bold', color: '#FFFFFF' }}&gt;tools&lt;/Text&gt;&#10;            &lt;/Box&gt;&#10;&lt;Box style={{ position: 'absolute', top: 249, left: 1007, width: 20, height: 3, background: '#1E4FA8' }} /&gt;&#10;            &lt;Box style={{ position: 'absolute', top: 241, left: 1023, width: 11, height: 11, background: '#1E4FA8', borderRadius: 2, transform: 'rotate(45deg)' }} /&gt;&#10;&lt;Box style={{ position: 'absolute', top: 214, left: 1038, width: 150, height: 74, background: '#F7F9FC', border: '2px solid #1E4FA8', borderRadius: 8, justifyContent: 'center', alignItems: 'center' }}&gt;&#10;                &lt;Text style={{ fontSize: 24, fontWeight: 'bold', color: '#1E4FA8' }}&gt;END&lt;/Text&gt;&#10;            &lt;/Box&gt;&#10;    &lt;Box style={{ position: 'absolute', top: 296, left: 560, width: 168, height: 44, borderLeft: '2px solid #3D7BD9', borderBottom: '2px solid #3D7BD9', borderRight: '2px solid #3D7BD9', borderRadius: 6, background: '#E8EFF8', justifyContent: 'center', alignItems: 'center' }}&gt;&#10;        &lt;Text style={{ fontSize: 16, color: '#0E3F8C', fontWeight: 'bold' }}&gt;调用 — 回填&lt;/Text&gt;&#10;    &lt;/Box&gt;&#10;&#10;    &lt;Box style={{ position: 'absolute', top: 362, left: 40, width: 1200, height: 118, flexDirection: 'row', gap: 16 }}&gt;&#10;        &lt;Box style={{ flex: 1, background: '#F7F9FC', border: '1px solid #D6DCE5', borderRadius: 6, padding: 14, gap: 5 }}&gt;&#10;            &lt;Text style={{ fontSize: 19, fontWeight: 'bold', color: '#0E3F8C' }}&gt;route · 判意图&lt;/Text&gt;&#10;            &lt;Text style={{ fontSize: 15, color: '#4A5568', lineHeight: 1.6 }}&gt;六类意图路由到四个子智能体，每个角色带各自的工具权限&lt;/Text&gt;&#10;        &lt;/Box&gt;&#10;        &lt;Box style={{ flex: 1, background: '#F7F9FC', border: '1px solid #D6DCE5', borderRadius: 6, padding: 14, gap: 5 }}&gt;&#10;            &lt;Text style={{ fontSize: 19, fontWeight: 'bold', color: '#0E3F8C' }}&gt;plan · 判要不要规划&lt;/Text&gt;&#10;            &lt;Text style={{ fontSize: 15, color: '#4A5568', lineHeight: 1.6 }}&gt;规则先判复杂度，简单请求直接跳过，需要才调模型（上限 5 步）&lt;/Text&gt;&#10;        &lt;/Box&gt;&#10;        &lt;Box style={{ flex: 1, background: '#F7F9FC', border: '1px solid #D6DCE5', borderRadius: 6, padding: 14, gap: 5 }}&gt;&#10;            &lt;Text style={{ fontSize: 19, fontWeight: 'bold', color: '#0E3F8C' }}&gt;agent ⇄ tools · 循环&lt;/Text&gt;&#10;            &lt;Text style={{ fontSize: 15, color: '#4A5568', lineHeight: 1.6 }}&gt;最多 6 轮工具调用；每轮结束都写检查点，可中断可续跑&lt;/Text&gt;&#10;        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状态存在图里而不是消息列表里，所以第 7 步崩了，第 6 步的检查点还在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05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8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450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10810875" y="190500"/>
            <a:ext cx="1000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解法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①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可恢复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一次学习回合，是画出来的一张图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route → plan → agent ⇄ tools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循环与分支都写在明面上</a:t>
            </a:r>
            <a:endParaRPr/>
          </a:p>
        </p:txBody>
      </p:sp>
      <p:sp>
        <p:nvSpPr>
          <p:cNvPr id="455" name=""/>
          <p:cNvSpPr/>
          <p:nvPr/>
        </p:nvSpPr>
        <p:spPr>
          <a:xfrm rot="0" flipH="0" flipV="0">
            <a:off x="438150" y="2038350"/>
            <a:ext cx="1428750" cy="704850"/>
          </a:xfrm>
          <a:prstGeom prst="roundRect">
            <a:avLst>
              <a:gd name="adj" fmla="val 10811"/>
            </a:avLst>
          </a:prstGeom>
          <a:solidFill>
            <a:srgbClr val="F7F9FC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781050" y="2257425"/>
            <a:ext cx="7524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E4FA8"/>
                </a:solidFill>
                <a:latin typeface="PingFang SC"/>
                <a:ea typeface="PingFang SC"/>
              </a:rPr>
              <a:t>START</a:t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1895475" y="2371725"/>
            <a:ext cx="1905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grpSp>
        <p:nvGrpSpPr>
          <p:cNvPr id="458" name=""/>
          <p:cNvGrpSpPr/>
          <p:nvPr/>
        </p:nvGrpSpPr>
        <p:grpSpPr>
          <a:xfrm rot="2700000" flipH="0" flipV="0">
            <a:off x="2047875" y="2295525"/>
            <a:ext cx="104775" cy="104775"/>
            <a:chOff x="2047875" y="2295525"/>
            <a:chExt cx="104775" cy="104775"/>
          </a:xfrm>
        </p:grpSpPr>
        <p:sp>
          <p:nvSpPr>
            <p:cNvPr id="459" name=""/>
            <p:cNvSpPr/>
            <p:nvPr/>
          </p:nvSpPr>
          <p:spPr>
            <a:xfrm rot="0" flipH="0" flipV="0">
              <a:off x="2047875" y="2295525"/>
              <a:ext cx="104775" cy="104775"/>
            </a:xfrm>
            <a:prstGeom prst="roundRect">
              <a:avLst>
                <a:gd name="adj" fmla="val 18182"/>
              </a:avLst>
            </a:prstGeom>
            <a:solidFill>
              <a:srgbClr val="1E4FA8"/>
            </a:solidFill>
            <a:ln/>
          </p:spPr>
          <p:txBody>
            <a:bodyPr/>
            <a:p/>
          </p:txBody>
        </p:sp>
      </p:grpSp>
      <p:sp>
        <p:nvSpPr>
          <p:cNvPr id="460" name=""/>
          <p:cNvSpPr/>
          <p:nvPr/>
        </p:nvSpPr>
        <p:spPr>
          <a:xfrm rot="0" flipH="0" flipV="0">
            <a:off x="2190750" y="2038350"/>
            <a:ext cx="1600200" cy="704850"/>
          </a:xfrm>
          <a:prstGeom prst="roundRect">
            <a:avLst>
              <a:gd name="adj" fmla="val 10811"/>
            </a:avLst>
          </a:prstGeom>
          <a:solidFill>
            <a:srgbClr val="1E4FA8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2705100" y="2257425"/>
            <a:ext cx="571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PingFang SC"/>
                <a:ea typeface="PingFang SC"/>
              </a:rPr>
              <a:t>route</a:t>
            </a:r>
            <a:endParaRPr/>
          </a:p>
        </p:txBody>
      </p:sp>
      <p:sp>
        <p:nvSpPr>
          <p:cNvPr id="462" name=""/>
          <p:cNvSpPr/>
          <p:nvPr/>
        </p:nvSpPr>
        <p:spPr>
          <a:xfrm rot="0" flipH="0" flipV="0">
            <a:off x="3819525" y="2371725"/>
            <a:ext cx="1905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grpSp>
        <p:nvGrpSpPr>
          <p:cNvPr id="463" name=""/>
          <p:cNvGrpSpPr/>
          <p:nvPr/>
        </p:nvGrpSpPr>
        <p:grpSpPr>
          <a:xfrm rot="2700000" flipH="0" flipV="0">
            <a:off x="3971925" y="2295525"/>
            <a:ext cx="104775" cy="104775"/>
            <a:chOff x="3971925" y="2295525"/>
            <a:chExt cx="104775" cy="104775"/>
          </a:xfrm>
        </p:grpSpPr>
        <p:sp>
          <p:nvSpPr>
            <p:cNvPr id="464" name=""/>
            <p:cNvSpPr/>
            <p:nvPr/>
          </p:nvSpPr>
          <p:spPr>
            <a:xfrm rot="0" flipH="0" flipV="0">
              <a:off x="3971925" y="2295525"/>
              <a:ext cx="104775" cy="104775"/>
            </a:xfrm>
            <a:prstGeom prst="roundRect">
              <a:avLst>
                <a:gd name="adj" fmla="val 18182"/>
              </a:avLst>
            </a:prstGeom>
            <a:solidFill>
              <a:srgbClr val="1E4FA8"/>
            </a:solidFill>
            <a:ln/>
          </p:spPr>
          <p:txBody>
            <a:bodyPr/>
            <a:p/>
          </p:txBody>
        </p:sp>
      </p:grpSp>
      <p:sp>
        <p:nvSpPr>
          <p:cNvPr id="465" name=""/>
          <p:cNvSpPr/>
          <p:nvPr/>
        </p:nvSpPr>
        <p:spPr>
          <a:xfrm rot="0" flipH="0" flipV="0">
            <a:off x="4114800" y="2038350"/>
            <a:ext cx="1600200" cy="704850"/>
          </a:xfrm>
          <a:prstGeom prst="roundRect">
            <a:avLst>
              <a:gd name="adj" fmla="val 10811"/>
            </a:avLst>
          </a:prstGeom>
          <a:solidFill>
            <a:srgbClr val="1E4FA8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4686300" y="2257425"/>
            <a:ext cx="4667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PingFang SC"/>
                <a:ea typeface="PingFang SC"/>
              </a:rPr>
              <a:t>plan</a:t>
            </a:r>
            <a:endParaRPr/>
          </a:p>
        </p:txBody>
      </p:sp>
      <p:sp>
        <p:nvSpPr>
          <p:cNvPr id="467" name=""/>
          <p:cNvSpPr/>
          <p:nvPr/>
        </p:nvSpPr>
        <p:spPr>
          <a:xfrm rot="0" flipH="0" flipV="0">
            <a:off x="5743575" y="2371725"/>
            <a:ext cx="1905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grpSp>
        <p:nvGrpSpPr>
          <p:cNvPr id="468" name=""/>
          <p:cNvGrpSpPr/>
          <p:nvPr/>
        </p:nvGrpSpPr>
        <p:grpSpPr>
          <a:xfrm rot="2700000" flipH="0" flipV="0">
            <a:off x="5895975" y="2295525"/>
            <a:ext cx="104775" cy="104775"/>
            <a:chOff x="5895975" y="2295525"/>
            <a:chExt cx="104775" cy="104775"/>
          </a:xfrm>
        </p:grpSpPr>
        <p:sp>
          <p:nvSpPr>
            <p:cNvPr id="469" name=""/>
            <p:cNvSpPr/>
            <p:nvPr/>
          </p:nvSpPr>
          <p:spPr>
            <a:xfrm rot="0" flipH="0" flipV="0">
              <a:off x="5895975" y="2295525"/>
              <a:ext cx="104775" cy="104775"/>
            </a:xfrm>
            <a:prstGeom prst="roundRect">
              <a:avLst>
                <a:gd name="adj" fmla="val 18182"/>
              </a:avLst>
            </a:prstGeom>
            <a:solidFill>
              <a:srgbClr val="1E4FA8"/>
            </a:solidFill>
            <a:ln/>
          </p:spPr>
          <p:txBody>
            <a:bodyPr/>
            <a:p/>
          </p:txBody>
        </p:sp>
      </p:grpSp>
      <p:sp>
        <p:nvSpPr>
          <p:cNvPr id="470" name=""/>
          <p:cNvSpPr/>
          <p:nvPr/>
        </p:nvSpPr>
        <p:spPr>
          <a:xfrm rot="0" flipH="0" flipV="0">
            <a:off x="6038850" y="2038350"/>
            <a:ext cx="1600200" cy="704850"/>
          </a:xfrm>
          <a:prstGeom prst="roundRect">
            <a:avLst>
              <a:gd name="adj" fmla="val 10811"/>
            </a:avLst>
          </a:prstGeom>
          <a:solidFill>
            <a:srgbClr val="0E3F8C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6534150" y="2257425"/>
            <a:ext cx="6191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PingFang SC"/>
                <a:ea typeface="PingFang SC"/>
              </a:rPr>
              <a:t>agent</a:t>
            </a:r>
            <a:endParaRPr/>
          </a:p>
        </p:txBody>
      </p:sp>
      <p:sp>
        <p:nvSpPr>
          <p:cNvPr id="472" name=""/>
          <p:cNvSpPr/>
          <p:nvPr/>
        </p:nvSpPr>
        <p:spPr>
          <a:xfrm rot="0" flipH="0" flipV="0">
            <a:off x="7667625" y="2371725"/>
            <a:ext cx="1905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grpSp>
        <p:nvGrpSpPr>
          <p:cNvPr id="473" name=""/>
          <p:cNvGrpSpPr/>
          <p:nvPr/>
        </p:nvGrpSpPr>
        <p:grpSpPr>
          <a:xfrm rot="2700000" flipH="0" flipV="0">
            <a:off x="7820025" y="2295525"/>
            <a:ext cx="104775" cy="104775"/>
            <a:chOff x="7820025" y="2295525"/>
            <a:chExt cx="104775" cy="104775"/>
          </a:xfrm>
        </p:grpSpPr>
        <p:sp>
          <p:nvSpPr>
            <p:cNvPr id="474" name=""/>
            <p:cNvSpPr/>
            <p:nvPr/>
          </p:nvSpPr>
          <p:spPr>
            <a:xfrm rot="0" flipH="0" flipV="0">
              <a:off x="7820025" y="2295525"/>
              <a:ext cx="104775" cy="104775"/>
            </a:xfrm>
            <a:prstGeom prst="roundRect">
              <a:avLst>
                <a:gd name="adj" fmla="val 18182"/>
              </a:avLst>
            </a:prstGeom>
            <a:solidFill>
              <a:srgbClr val="1E4FA8"/>
            </a:solidFill>
            <a:ln/>
          </p:spPr>
          <p:txBody>
            <a:bodyPr/>
            <a:p/>
          </p:txBody>
        </p:sp>
      </p:grpSp>
      <p:sp>
        <p:nvSpPr>
          <p:cNvPr id="475" name=""/>
          <p:cNvSpPr/>
          <p:nvPr/>
        </p:nvSpPr>
        <p:spPr>
          <a:xfrm rot="0" flipH="0" flipV="0">
            <a:off x="7962900" y="2038350"/>
            <a:ext cx="1600200" cy="704850"/>
          </a:xfrm>
          <a:prstGeom prst="roundRect">
            <a:avLst>
              <a:gd name="adj" fmla="val 10811"/>
            </a:avLst>
          </a:prstGeom>
          <a:solidFill>
            <a:srgbClr val="0E3F8C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8496300" y="2257425"/>
            <a:ext cx="5429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PingFang SC"/>
                <a:ea typeface="PingFang SC"/>
              </a:rPr>
              <a:t>tools</a:t>
            </a:r>
            <a:endParaRPr/>
          </a:p>
        </p:txBody>
      </p:sp>
      <p:sp>
        <p:nvSpPr>
          <p:cNvPr id="477" name=""/>
          <p:cNvSpPr/>
          <p:nvPr/>
        </p:nvSpPr>
        <p:spPr>
          <a:xfrm rot="0" flipH="0" flipV="0">
            <a:off x="9591675" y="2371725"/>
            <a:ext cx="1905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grpSp>
        <p:nvGrpSpPr>
          <p:cNvPr id="478" name=""/>
          <p:cNvGrpSpPr/>
          <p:nvPr/>
        </p:nvGrpSpPr>
        <p:grpSpPr>
          <a:xfrm rot="2700000" flipH="0" flipV="0">
            <a:off x="9744075" y="2295525"/>
            <a:ext cx="104775" cy="104775"/>
            <a:chOff x="9744075" y="2295525"/>
            <a:chExt cx="104775" cy="104775"/>
          </a:xfrm>
        </p:grpSpPr>
        <p:sp>
          <p:nvSpPr>
            <p:cNvPr id="479" name=""/>
            <p:cNvSpPr/>
            <p:nvPr/>
          </p:nvSpPr>
          <p:spPr>
            <a:xfrm rot="0" flipH="0" flipV="0">
              <a:off x="9744075" y="2295525"/>
              <a:ext cx="104775" cy="104775"/>
            </a:xfrm>
            <a:prstGeom prst="roundRect">
              <a:avLst>
                <a:gd name="adj" fmla="val 18182"/>
              </a:avLst>
            </a:prstGeom>
            <a:solidFill>
              <a:srgbClr val="1E4FA8"/>
            </a:solidFill>
            <a:ln/>
          </p:spPr>
          <p:txBody>
            <a:bodyPr/>
            <a:p/>
          </p:txBody>
        </p:sp>
      </p:grpSp>
      <p:sp>
        <p:nvSpPr>
          <p:cNvPr id="480" name=""/>
          <p:cNvSpPr/>
          <p:nvPr/>
        </p:nvSpPr>
        <p:spPr>
          <a:xfrm rot="0" flipH="0" flipV="0">
            <a:off x="9886950" y="2038350"/>
            <a:ext cx="1428750" cy="704850"/>
          </a:xfrm>
          <a:prstGeom prst="roundRect">
            <a:avLst>
              <a:gd name="adj" fmla="val 10811"/>
            </a:avLst>
          </a:prstGeom>
          <a:solidFill>
            <a:srgbClr val="F7F9FC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10363200" y="2257425"/>
            <a:ext cx="4857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E4FA8"/>
                </a:solidFill>
                <a:latin typeface="PingFang SC"/>
                <a:ea typeface="PingFang SC"/>
              </a:rPr>
              <a:t>END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5353050" y="2819400"/>
            <a:ext cx="1562100" cy="400050"/>
          </a:xfrm>
          <a:prstGeom prst="roundRect">
            <a:avLst>
              <a:gd name="adj" fmla="val 1428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83" name=""/>
          <p:cNvSpPr/>
          <p:nvPr/>
        </p:nvSpPr>
        <p:spPr>
          <a:xfrm rot="0" flipH="0" flipV="0">
            <a:off x="5353050" y="2819400"/>
            <a:ext cx="1562100" cy="400050"/>
          </a:xfrm>
          <a:custGeom>
            <a:pathLst>
              <a:path w="164" h="42">
                <a:moveTo>
                  <a:pt x="6" y="0"/>
                </a:moveTo>
                <a:cubicBezTo>
                  <a:pt x="4" y="0"/>
                  <a:pt x="2" y="2"/>
                  <a:pt x="2" y="4"/>
                </a:cubicBezTo>
                <a:lnTo>
                  <a:pt x="2" y="38"/>
                </a:lnTo>
                <a:cubicBezTo>
                  <a:pt x="2" y="40"/>
                  <a:pt x="3" y="41"/>
                  <a:pt x="5" y="42"/>
                </a:cubicBezTo>
                <a:cubicBezTo>
                  <a:pt x="2" y="41"/>
                  <a:pt x="0" y="39"/>
                  <a:pt x="0" y="36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84" name=""/>
          <p:cNvSpPr/>
          <p:nvPr/>
        </p:nvSpPr>
        <p:spPr>
          <a:xfrm rot="0" flipH="0" flipV="0">
            <a:off x="5353050" y="2819400"/>
            <a:ext cx="1562100" cy="400050"/>
          </a:xfrm>
          <a:custGeom>
            <a:pathLst>
              <a:path w="164" h="42">
                <a:moveTo>
                  <a:pt x="158" y="42"/>
                </a:moveTo>
                <a:cubicBezTo>
                  <a:pt x="160" y="42"/>
                  <a:pt x="162" y="40"/>
                  <a:pt x="162" y="38"/>
                </a:cubicBezTo>
                <a:lnTo>
                  <a:pt x="162" y="4"/>
                </a:lnTo>
                <a:cubicBezTo>
                  <a:pt x="162" y="2"/>
                  <a:pt x="161" y="1"/>
                  <a:pt x="159" y="0"/>
                </a:cubicBezTo>
                <a:cubicBezTo>
                  <a:pt x="162" y="1"/>
                  <a:pt x="164" y="3"/>
                  <a:pt x="164" y="6"/>
                </a:cubicBezTo>
                <a:lnTo>
                  <a:pt x="164" y="36"/>
                </a:lnTo>
                <a:cubicBezTo>
                  <a:pt x="164" y="39"/>
                  <a:pt x="161" y="42"/>
                  <a:pt x="158" y="42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5353050" y="2819400"/>
            <a:ext cx="1562100" cy="400050"/>
          </a:xfrm>
          <a:custGeom>
            <a:pathLst>
              <a:path w="164" h="42">
                <a:moveTo>
                  <a:pt x="0" y="36"/>
                </a:moveTo>
                <a:cubicBezTo>
                  <a:pt x="0" y="38"/>
                  <a:pt x="2" y="40"/>
                  <a:pt x="4" y="40"/>
                </a:cubicBezTo>
                <a:lnTo>
                  <a:pt x="160" y="40"/>
                </a:lnTo>
                <a:cubicBezTo>
                  <a:pt x="162" y="40"/>
                  <a:pt x="163" y="39"/>
                  <a:pt x="164" y="37"/>
                </a:cubicBezTo>
                <a:cubicBezTo>
                  <a:pt x="163" y="40"/>
                  <a:pt x="161" y="42"/>
                  <a:pt x="158" y="42"/>
                </a:cubicBezTo>
                <a:lnTo>
                  <a:pt x="6" y="42"/>
                </a:lnTo>
                <a:cubicBezTo>
                  <a:pt x="3" y="42"/>
                  <a:pt x="0" y="39"/>
                  <a:pt x="0" y="36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5705475" y="2924175"/>
            <a:ext cx="866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PingFang SC"/>
                <a:ea typeface="PingFang SC"/>
              </a:rPr>
              <a:t>调用</a:t>
            </a:r>
            <a:r>
              <a:rPr lang="en-US" sz="1200" b="1">
                <a:solidFill>
                  <a:srgbClr val="0E3F8C"/>
                </a:solidFill>
                <a:latin typeface="PingFang SC"/>
                <a:ea typeface="PingFang SC"/>
              </a:rPr>
              <a:t xml:space="preserve"> — </a:t>
            </a:r>
            <a:r>
              <a:rPr lang="zh-CN" sz="1200" b="1">
                <a:solidFill>
                  <a:srgbClr val="0E3F8C"/>
                </a:solidFill>
                <a:latin typeface="PingFang SC"/>
                <a:ea typeface="PingFang SC"/>
              </a:rPr>
              <a:t>回填</a:t>
            </a:r>
            <a:endParaRPr/>
          </a:p>
        </p:txBody>
      </p:sp>
      <p:sp>
        <p:nvSpPr>
          <p:cNvPr id="487" name=""/>
          <p:cNvSpPr/>
          <p:nvPr/>
        </p:nvSpPr>
        <p:spPr>
          <a:xfrm rot="0" flipH="0" flipV="0">
            <a:off x="381000" y="3448050"/>
            <a:ext cx="3705225" cy="1123950"/>
          </a:xfrm>
          <a:prstGeom prst="roundRect">
            <a:avLst>
              <a:gd name="adj" fmla="val 508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514350" y="3581400"/>
            <a:ext cx="3438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route ·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判意图</a:t>
            </a:r>
            <a:endParaRPr/>
          </a:p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514350" y="3848100"/>
            <a:ext cx="34385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六类意图路由到四个子智能体，每个角色带各自的工具权限</a:t>
            </a:r>
            <a:endParaRPr/>
          </a:p>
        </p:txBody>
      </p:sp>
      <p:sp>
        <p:nvSpPr>
          <p:cNvPr id="490" name=""/>
          <p:cNvSpPr/>
          <p:nvPr/>
        </p:nvSpPr>
        <p:spPr>
          <a:xfrm rot="0" flipH="0" flipV="0">
            <a:off x="4238625" y="3448050"/>
            <a:ext cx="3714750" cy="1123950"/>
          </a:xfrm>
          <a:prstGeom prst="roundRect">
            <a:avLst>
              <a:gd name="adj" fmla="val 508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4371975" y="3581400"/>
            <a:ext cx="3448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plan ·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判要不要规划</a:t>
            </a:r>
            <a:endParaRPr/>
          </a:p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4371975" y="3848100"/>
            <a:ext cx="34480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规则先判复杂度，简单请求直接跳过，需要才调模型（上限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5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步）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8105775" y="3448050"/>
            <a:ext cx="3705225" cy="1123950"/>
          </a:xfrm>
          <a:prstGeom prst="roundRect">
            <a:avLst>
              <a:gd name="adj" fmla="val 508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8239125" y="3581400"/>
            <a:ext cx="3438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agent ⇄ tools ·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循环</a:t>
            </a:r>
            <a:endParaRPr/>
          </a:p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8239125" y="3848100"/>
            <a:ext cx="34385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最多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6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轮工具调用；每轮结束都写检查点，可中断可续跑</a:t>
            </a:r>
            <a:endParaRPr/>
          </a:p>
        </p:txBody>
      </p:sp>
      <p:sp>
        <p:nvSpPr>
          <p:cNvPr id="496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97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8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58864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状态存在图里而不是消息列表里，所以第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7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步崩了，第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6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步的检查点还在</a:t>
            </a:r>
            <a:endParaRPr/>
          </a:p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11353800" y="6610350"/>
            <a:ext cx="171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05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 name="06 技术·可拦截｜九个工具，模型能调哪个由系统决定">
    <p:spTree>
      <p:nvGrpSpPr>
        <p:cNvPr id="503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解法 ② · 可拦截&lt;/Text&gt;&#10;    &lt;/Box&gt;&#10;    &lt;Box style={{ position: 'absolute', top: 56, left: 40, width: 1200, height: 92, flexDirection: 'column', justifyContent: 'center', gap: 8 }}&gt;&#10;        &lt;Text style={{ fontSize: 34, fontWeight: 'bold', color: '#0E3F8C' }}&gt;九个工具，模型能调哪个由系统决定&lt;/Text&gt;&#10;        &lt;Text style={{ fontSize: 19, color: '#4A5568' }}&gt;schema 层 + 执行层双道判定 —— 越权在写下去之前就被拦下&lt;/Text&gt;&#10;    &lt;/Box&gt;&#10;&#10;    &lt;Box style={{ position: 'absolute', top: 160, left: 40, width: 380, height: 476, flexDirection: 'column', gap: 12 }}&gt;&#10;        &lt;Text style={{ fontSize: 24, fontWeight: 'bold', color: '#0E3F8C' }}&gt;双层权限：两道都得过&lt;/Text&gt;&#10;        &lt;Box style={{ background: '#E8EFF8', borderRadius: 6, padding: 16, gap: 6 }}&gt;&#10;            &lt;Text style={{ fontSize: 19, fontWeight: 'bold', color: '#0E3F8C' }}&gt;第一层 · schema&lt;/Text&gt;&#10;            &lt;Text style={{ fontSize: 15, color: '#4A5568', lineHeight: 1.65 }}&gt;按角色裁剪工具表，禁用的工具根本不出现在提示词里&lt;/Text&gt;&#10;        &lt;/Box&gt;&#10;        &lt;Box style={{ background: '#E8EFF8', borderRadius: 6, padding: 16, gap: 6 }}&gt;&#10;            &lt;Text style={{ fontSize: 19, fontWeight: 'bold', color: '#0E3F8C' }}&gt;第二层 · 执行&lt;/Text&gt;&#10;            &lt;Text style={{ fontSize: 15, color: '#4A5568', lineHeight: 1.65 }}&gt;is_tool_allowed 逐次判定，模型硬发被禁工具也执行不了&lt;/Text&gt;&#10;        &lt;/Box&gt;&#10;        &lt;Box style={{ flex: 1, background: '#F7F9FC', border: '1px solid #D6DCE5', borderRadius: 6, padding: 14, gap: 6 }}&gt;&#10;            &lt;Text style={{ fontSize: 17, fontWeight: 'bold', color: '#D9534F' }}&gt;为什么两道都要&lt;/Text&gt;&#10;            &lt;Text style={{ fontSize: 14, color: '#4A5568', lineHeight: 1.65 }}&gt;只做 schema 层，模型仍可能「说出」被禁工具名并失败；只做执行层，模型会反复尝试、白耗轮数。MCP 工具用 mcp_ 前缀兜底 —— 动态注册的名字没法枚举，只能按前缀拦。&lt;/Text&gt;&#10;        &lt;/Box&gt;&#10;    &lt;/Box&gt;&#10;&#10;    &lt;Box style={{ position: 'absolute', top: 160, left: 440, width: 800, height: 476 }}&gt;&#10;        &lt;Text style={{ fontSize: 24, fontWeight: 'bold', color: '#0E3F8C', marginBottom: 8 }}&gt;九个工具：查 · 存 · 问外面&lt;/Text&gt;&#10;        &lt;Box style={{ position: 'absolute', top: 30, left: 0, width: 188, height: 80, background: '#FFFFFF', border: '1px solid #D6DCE5', borderRadius: 6, padding: 12, justifyContent: 'center', gap: 3 }}&gt;&#10;                &lt;Box style={{ flexDirection: 'row', alignItems: 'center', gap: 8 }}&gt;&#10;                    &lt;Box style={{ width: 4, height: 16, background: '#1E4FA8' }} /&gt;&#10;                    &lt;Text style={{ fontSize: 17, fontWeight: 'bold', color: '#1E4FA8' }}&gt;查&lt;/Text&gt;&#10;                &lt;/Box&gt;&#10;                &lt;Text style={{ fontSize: 14, color: '#1A2230', fontFamily: 'SF Mono, Menlo, monospace' }}&gt;knowledge_search&lt;/Text&gt;&#10;            &lt;/Box&gt;&#10;&lt;Box style={{ position: 'absolute', top: 30, left: 200, width: 188, height: 80, background: '#FFFFFF', border: '1px solid #D6DCE5', borderRadius: 6, padding: 12, justifyContent: 'center', gap: 3 }}&gt;&#10;                &lt;Box style={{ flexDirection: 'row', alignItems: 'center', gap: 8 }}&gt;&#10;                    &lt;Box style={{ width: 4, height: 16, background: '#1E4FA8' }} /&gt;&#10;                    &lt;Text style={{ fontSize: 17, fontWeight: 'bold', color: '#1E4FA8' }}&gt;查&lt;/Text&gt;&#10;                &lt;/Box&gt;&#10;                &lt;Text style={{ fontSize: 14, color: '#1A2230', fontFamily: 'SF Mono, Menlo, monospace' }}&gt;mistake_search&lt;/Text&gt;&#10;            &lt;/Box&gt;&#10;&lt;Box style={{ position: 'absolute', top: 30, left: 400, width: 188, height: 80, background: '#FFFFFF', border: '1px solid #D6DCE5', borderRadius: 6, padding: 12, justifyContent: 'center', gap: 3 }}&gt;&#10;                &lt;Box style={{ flexDirection: 'row', alignItems: 'center', gap: 8 }}&gt;&#10;                    &lt;Box style={{ width: 4, height: 16, background: '#1E4FA8' }} /&gt;&#10;                    &lt;Text style={{ fontSize: 17, fontWeight: 'bold', color: '#1E4FA8' }}&gt;查&lt;/Text&gt;&#10;                &lt;/Box&gt;&#10;                &lt;Text style={{ fontSize: 14, color: '#1A2230', fontFamily: 'SF Mono, Menlo, monospace' }}&gt;read_file&lt;/Text&gt;&#10;            &lt;/Box&gt;&#10;&lt;Box style={{ position: 'absolute', top: 122, left: 0, width: 188, height: 80, background: '#FFFFFF', border: '1px solid #D6DCE5', borderRadius: 6, padding: 12, justifyContent: 'center', gap: 3 }}&gt;&#10;                &lt;Box style={{ flexDirection: 'row', alignItems: 'center', gap: 8 }}&gt;&#10;                    &lt;Box style={{ width: 4, height: 16, background: '#0E3F8C' }} /&gt;&#10;                    &lt;Text style={{ fontSize: 17, fontWeight: 'bold', color: '#0E3F8C' }}&gt;存&lt;/Text&gt;&#10;                &lt;/Box&gt;&#10;                &lt;Text style={{ fontSize: 14, color: '#1A2230', fontFamily: 'SF Mono, Menlo, monospace' }}&gt;save_note&lt;/Text&gt;&#10;            &lt;/Box&gt;&#10;&lt;Box style={{ position: 'absolute', top: 122, left: 200, width: 188, height: 80, background: '#FFFFFF', border: '1px solid #D6DCE5', borderRadius: 6, padding: 12, justifyContent: 'center', gap: 3 }}&gt;&#10;                &lt;Box style={{ flexDirection: 'row', alignItems: 'center', gap: 8 }}&gt;&#10;                    &lt;Box style={{ width: 4, height: 16, background: '#0E3F8C' }} /&gt;&#10;                    &lt;Text style={{ fontSize: 17, fontWeight: 'bold', color: '#0E3F8C' }}&gt;存&lt;/Text&gt;&#10;                &lt;/Box&gt;&#10;                &lt;Text style={{ fontSize: 14, color: '#1A2230', fontFamily: 'SF Mono, Menlo, monospace' }}&gt;write_file&lt;/Text&gt;&#10;            &lt;/Box&gt;&#10;&lt;Box style={{ position: 'absolute', top: 122, left: 400, width: 188, height: 80, background: '#FFFFFF', border: '1px solid #D6DCE5', borderRadius: 6, padding: 12, justifyContent: 'center', gap: 3 }}&gt;&#10;                &lt;Box style={{ flexDirection: 'row', alignItems: 'center', gap: 8 }}&gt;&#10;                    &lt;Box style={{ width: 4, height: 16, background: '#1E4FA8' }} /&gt;&#10;                    &lt;Text style={{ fontSize: 17, fontWeight: 'bold', color: '#1E4FA8' }}&gt;查&lt;/Text&gt;&#10;                &lt;/Box&gt;&#10;                &lt;Text style={{ fontSize: 14, color: '#1A2230', fontFamily: 'SF Mono, Menlo, monospace' }}&gt;list_files&lt;/Text&gt;&#10;            &lt;/Box&gt;&#10;&lt;Box style={{ position: 'absolute', top: 214, left: 0, width: 188, height: 80, background: '#FFFFFF', border: '1px solid #D6DCE5', borderRadius: 6, padding: 12, justifyContent: 'center', gap: 3 }}&gt;&#10;                &lt;Box style={{ flexDirection: 'row', alignItems: 'center', gap: 8 }}&gt;&#10;                    &lt;Box style={{ width: 4, height: 16, background: '#3D7BD9' }} /&gt;&#10;                    &lt;Text style={{ fontSize: 17, fontWeight: 'bold', color: '#3D7BD9' }}&gt;外面&lt;/Text&gt;&#10;                &lt;/Box&gt;&#10;                &lt;Text style={{ fontSize: 14, color: '#1A2230', fontFamily: 'SF Mono, Menlo, monospace' }}&gt;web_search&lt;/Text&gt;&#10;            &lt;/Box&gt;&#10;&lt;Box style={{ position: 'absolute', top: 214, left: 200, width: 188, height: 80, background: '#FFFFFF', border: '1px solid #D6DCE5', borderRadius: 6, padding: 12, justifyContent: 'center', gap: 3 }}&gt;&#10;                &lt;Box style={{ flexDirection: 'row', alignItems: 'center', gap: 8 }}&gt;&#10;                    &lt;Box style={{ width: 4, height: 16, background: '#3D7BD9' }} /&gt;&#10;                    &lt;Text style={{ fontSize: 17, fontWeight: 'bold', color: '#3D7BD9' }}&gt;外面&lt;/Text&gt;&#10;                &lt;/Box&gt;&#10;                &lt;Text style={{ fontSize: 14, color: '#1A2230', fontFamily: 'SF Mono, Menlo, monospace' }}&gt;fetch_url&lt;/Text&gt;&#10;            &lt;/Box&gt;&#10;&lt;Box style={{ position: 'absolute', top: 214, left: 400, width: 188, height: 80, background: '#FFFFFF', border: '1px solid #D6DCE5', borderRadius: 6, padding: 12, justifyContent: 'center', gap: 3 }}&gt;&#10;                &lt;Box style={{ flexDirection: 'row', alignItems: 'center', gap: 8 }}&gt;&#10;                    &lt;Box style={{ width: 4, height: 16, background: '#3D7BD9' }} /&gt;&#10;                    &lt;Text style={{ fontSize: 17, fontWeight: 'bold', color: '#3D7BD9' }}&gt;外面&lt;/Text&gt;&#10;                &lt;/Box&gt;&#10;                &lt;Text style={{ fontSize: 14, color: '#1A2230', fontFamily: 'SF Mono, Menlo, monospace' }}&gt;calculator&lt;/Text&gt;&#10;            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权限是执行层的硬判定，不是提示词里的一句请求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06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5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507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10810875" y="190500"/>
            <a:ext cx="1000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解法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②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可拦截</a:t>
            </a:r>
            <a:endParaRPr/>
          </a:p>
        </p:txBody>
      </p:sp>
      <p:sp>
        <p:nvSpPr>
          <p:cNvPr id="510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九个工具，模型能调哪个由系统决定</a:t>
            </a:r>
            <a:endParaRPr/>
          </a:p>
        </p:txBody>
      </p:sp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schema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层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执行层双道判定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越权在写下去之前就被拦下</a:t>
            </a:r>
            <a:endParaRPr/>
          </a:p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381000" y="1524000"/>
            <a:ext cx="3619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双层权限：两道都得过</a:t>
            </a:r>
            <a:endParaRPr/>
          </a:p>
        </p:txBody>
      </p:sp>
      <p:sp>
        <p:nvSpPr>
          <p:cNvPr id="513" name=""/>
          <p:cNvSpPr/>
          <p:nvPr/>
        </p:nvSpPr>
        <p:spPr>
          <a:xfrm rot="0" flipH="0" flipV="0">
            <a:off x="381000" y="1914525"/>
            <a:ext cx="3619500" cy="1152525"/>
          </a:xfrm>
          <a:prstGeom prst="roundRect">
            <a:avLst>
              <a:gd name="adj" fmla="val 495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533400" y="2066925"/>
            <a:ext cx="3314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第一层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· schema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533400" y="2343150"/>
            <a:ext cx="33147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按角色裁剪工具表，禁用的工具根本不出现在提示词里</a:t>
            </a:r>
            <a:endParaRPr/>
          </a:p>
        </p:txBody>
      </p:sp>
      <p:sp>
        <p:nvSpPr>
          <p:cNvPr id="516" name=""/>
          <p:cNvSpPr/>
          <p:nvPr/>
        </p:nvSpPr>
        <p:spPr>
          <a:xfrm rot="0" flipH="0" flipV="0">
            <a:off x="381000" y="3181350"/>
            <a:ext cx="3619500" cy="1152525"/>
          </a:xfrm>
          <a:prstGeom prst="roundRect">
            <a:avLst>
              <a:gd name="adj" fmla="val 495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533400" y="3333750"/>
            <a:ext cx="3314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第二层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执行</a:t>
            </a:r>
            <a:endParaRPr/>
          </a:p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533400" y="3609975"/>
            <a:ext cx="33147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is_tool_allowed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逐次判定，模型硬发被禁工具也执行不了</a:t>
            </a:r>
            <a:endParaRPr/>
          </a:p>
        </p:txBody>
      </p:sp>
      <p:sp>
        <p:nvSpPr>
          <p:cNvPr id="519" name=""/>
          <p:cNvSpPr/>
          <p:nvPr/>
        </p:nvSpPr>
        <p:spPr>
          <a:xfrm rot="0" flipH="0" flipV="0">
            <a:off x="381000" y="4448175"/>
            <a:ext cx="3619500" cy="1609725"/>
          </a:xfrm>
          <a:prstGeom prst="roundRect">
            <a:avLst>
              <a:gd name="adj" fmla="val 355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514350" y="4581525"/>
            <a:ext cx="3352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D9534F"/>
                </a:solidFill>
                <a:latin typeface="PingFang SC"/>
                <a:ea typeface="PingFang SC"/>
              </a:rPr>
              <a:t>为什么两道都要</a:t>
            </a:r>
            <a:endParaRPr/>
          </a:p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514350" y="4838700"/>
            <a:ext cx="3352800" cy="1057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只做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schema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层，模型仍可能「说出」被禁工具名并失败；只做执行层，模型会反复尝试、白耗轮数。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MCP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工具用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mcp_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前缀兜底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动态注册的名字没法枚举，只能按前缀拦。</a:t>
            </a:r>
            <a:endParaRPr/>
          </a:p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4191000" y="1524000"/>
            <a:ext cx="7620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九个工具：查</a:t>
            </a:r>
            <a:r>
              <a:rPr lang="en-US" sz="1800" b="1">
                <a:solidFill>
                  <a:srgbClr val="0E3F8C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存</a:t>
            </a:r>
            <a:r>
              <a:rPr lang="en-US" sz="1800" b="1">
                <a:solidFill>
                  <a:srgbClr val="0E3F8C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问外面</a:t>
            </a:r>
            <a:endParaRPr/>
          </a:p>
        </p:txBody>
      </p:sp>
      <p:sp>
        <p:nvSpPr>
          <p:cNvPr id="523" name=""/>
          <p:cNvSpPr/>
          <p:nvPr/>
        </p:nvSpPr>
        <p:spPr>
          <a:xfrm rot="0" flipH="0" flipV="0">
            <a:off x="4191000" y="1809750"/>
            <a:ext cx="1790700" cy="762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24" name=""/>
          <p:cNvSpPr/>
          <p:nvPr/>
        </p:nvSpPr>
        <p:spPr>
          <a:xfrm rot="0" flipH="0" flipV="0">
            <a:off x="4305300" y="2028825"/>
            <a:ext cx="38100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4419600" y="2000250"/>
            <a:ext cx="161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PingFang SC"/>
                <a:ea typeface="PingFang SC"/>
              </a:rPr>
              <a:t>查</a:t>
            </a:r>
            <a:endParaRPr/>
          </a:p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4305300" y="2228850"/>
            <a:ext cx="1562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A2230"/>
                </a:solidFill>
                <a:latin typeface="SF Mono"/>
                <a:ea typeface="SF Mono"/>
              </a:rPr>
              <a:t>knowledge_search</a:t>
            </a:r>
            <a:endParaRPr/>
          </a:p>
        </p:txBody>
      </p:sp>
      <p:sp>
        <p:nvSpPr>
          <p:cNvPr id="527" name=""/>
          <p:cNvSpPr/>
          <p:nvPr/>
        </p:nvSpPr>
        <p:spPr>
          <a:xfrm rot="0" flipH="0" flipV="0">
            <a:off x="6096000" y="1809750"/>
            <a:ext cx="1790700" cy="762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28" name=""/>
          <p:cNvSpPr/>
          <p:nvPr/>
        </p:nvSpPr>
        <p:spPr>
          <a:xfrm rot="0" flipH="0" flipV="0">
            <a:off x="6210300" y="2028825"/>
            <a:ext cx="38100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6324600" y="2000250"/>
            <a:ext cx="161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PingFang SC"/>
                <a:ea typeface="PingFang SC"/>
              </a:rPr>
              <a:t>查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6210300" y="2228850"/>
            <a:ext cx="1562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A2230"/>
                </a:solidFill>
                <a:latin typeface="SF Mono"/>
                <a:ea typeface="SF Mono"/>
              </a:rPr>
              <a:t>mistake_search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8001000" y="1809750"/>
            <a:ext cx="1790700" cy="762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32" name=""/>
          <p:cNvSpPr/>
          <p:nvPr/>
        </p:nvSpPr>
        <p:spPr>
          <a:xfrm rot="0" flipH="0" flipV="0">
            <a:off x="8115300" y="2028825"/>
            <a:ext cx="38100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8229600" y="2000250"/>
            <a:ext cx="161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PingFang SC"/>
                <a:ea typeface="PingFang SC"/>
              </a:rPr>
              <a:t>查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8115300" y="2228850"/>
            <a:ext cx="1562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A2230"/>
                </a:solidFill>
                <a:latin typeface="SF Mono"/>
                <a:ea typeface="SF Mono"/>
              </a:rPr>
              <a:t>read_file</a:t>
            </a:r>
            <a:endParaRPr/>
          </a:p>
        </p:txBody>
      </p:sp>
      <p:sp>
        <p:nvSpPr>
          <p:cNvPr id="535" name=""/>
          <p:cNvSpPr/>
          <p:nvPr/>
        </p:nvSpPr>
        <p:spPr>
          <a:xfrm rot="0" flipH="0" flipV="0">
            <a:off x="4191000" y="2686050"/>
            <a:ext cx="1790700" cy="762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36" name=""/>
          <p:cNvSpPr/>
          <p:nvPr/>
        </p:nvSpPr>
        <p:spPr>
          <a:xfrm rot="0" flipH="0" flipV="0">
            <a:off x="4305300" y="2905125"/>
            <a:ext cx="38100" cy="152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4419600" y="2876550"/>
            <a:ext cx="161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存</a:t>
            </a:r>
            <a:endParaRPr/>
          </a:p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4305300" y="3105150"/>
            <a:ext cx="1562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A2230"/>
                </a:solidFill>
                <a:latin typeface="SF Mono"/>
                <a:ea typeface="SF Mono"/>
              </a:rPr>
              <a:t>save_note</a:t>
            </a:r>
            <a:endParaRPr/>
          </a:p>
        </p:txBody>
      </p:sp>
      <p:sp>
        <p:nvSpPr>
          <p:cNvPr id="539" name=""/>
          <p:cNvSpPr/>
          <p:nvPr/>
        </p:nvSpPr>
        <p:spPr>
          <a:xfrm rot="0" flipH="0" flipV="0">
            <a:off x="6096000" y="2686050"/>
            <a:ext cx="1790700" cy="762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0" name=""/>
          <p:cNvSpPr/>
          <p:nvPr/>
        </p:nvSpPr>
        <p:spPr>
          <a:xfrm rot="0" flipH="0" flipV="0">
            <a:off x="6210300" y="2905125"/>
            <a:ext cx="38100" cy="152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6324600" y="2876550"/>
            <a:ext cx="161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存</a:t>
            </a:r>
            <a:endParaRPr/>
          </a:p>
        </p:txBody>
      </p:sp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6210300" y="3105150"/>
            <a:ext cx="1562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A2230"/>
                </a:solidFill>
                <a:latin typeface="SF Mono"/>
                <a:ea typeface="SF Mono"/>
              </a:rPr>
              <a:t>write_file</a:t>
            </a:r>
            <a:endParaRPr/>
          </a:p>
        </p:txBody>
      </p:sp>
      <p:sp>
        <p:nvSpPr>
          <p:cNvPr id="543" name=""/>
          <p:cNvSpPr/>
          <p:nvPr/>
        </p:nvSpPr>
        <p:spPr>
          <a:xfrm rot="0" flipH="0" flipV="0">
            <a:off x="8001000" y="2686050"/>
            <a:ext cx="1790700" cy="762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4" name=""/>
          <p:cNvSpPr/>
          <p:nvPr/>
        </p:nvSpPr>
        <p:spPr>
          <a:xfrm rot="0" flipH="0" flipV="0">
            <a:off x="8115300" y="2905125"/>
            <a:ext cx="38100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8229600" y="2876550"/>
            <a:ext cx="161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PingFang SC"/>
                <a:ea typeface="PingFang SC"/>
              </a:rPr>
              <a:t>查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8115300" y="3105150"/>
            <a:ext cx="1562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A2230"/>
                </a:solidFill>
                <a:latin typeface="SF Mono"/>
                <a:ea typeface="SF Mono"/>
              </a:rPr>
              <a:t>list_files</a:t>
            </a:r>
            <a:endParaRPr/>
          </a:p>
        </p:txBody>
      </p:sp>
      <p:sp>
        <p:nvSpPr>
          <p:cNvPr id="547" name=""/>
          <p:cNvSpPr/>
          <p:nvPr/>
        </p:nvSpPr>
        <p:spPr>
          <a:xfrm rot="0" flipH="0" flipV="0">
            <a:off x="4191000" y="3562350"/>
            <a:ext cx="1790700" cy="762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8" name=""/>
          <p:cNvSpPr/>
          <p:nvPr/>
        </p:nvSpPr>
        <p:spPr>
          <a:xfrm rot="0" flipH="0" flipV="0">
            <a:off x="4305300" y="3781425"/>
            <a:ext cx="38100" cy="15240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4419600" y="37528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3D7BD9"/>
                </a:solidFill>
                <a:latin typeface="PingFang SC"/>
                <a:ea typeface="PingFang SC"/>
              </a:rPr>
              <a:t>外面</a:t>
            </a:r>
            <a:endParaRPr/>
          </a:p>
        </p:txBody>
      </p:sp>
      <p:sp>
        <p:nvSpPr>
          <p:cNvPr id="550" name="" descr="{&quot;isTemplate&quot;:true,&quot;type&quot;:&quot;text&quot;}"/>
          <p:cNvSpPr txBox="1"/>
          <p:nvPr/>
        </p:nvSpPr>
        <p:spPr>
          <a:xfrm rot="0" flipH="0" flipV="0">
            <a:off x="4305300" y="3981450"/>
            <a:ext cx="1562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A2230"/>
                </a:solidFill>
                <a:latin typeface="SF Mono"/>
                <a:ea typeface="SF Mono"/>
              </a:rPr>
              <a:t>web_search</a:t>
            </a:r>
            <a:endParaRPr/>
          </a:p>
        </p:txBody>
      </p:sp>
      <p:sp>
        <p:nvSpPr>
          <p:cNvPr id="551" name=""/>
          <p:cNvSpPr/>
          <p:nvPr/>
        </p:nvSpPr>
        <p:spPr>
          <a:xfrm rot="0" flipH="0" flipV="0">
            <a:off x="6096000" y="3562350"/>
            <a:ext cx="1790700" cy="762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52" name=""/>
          <p:cNvSpPr/>
          <p:nvPr/>
        </p:nvSpPr>
        <p:spPr>
          <a:xfrm rot="0" flipH="0" flipV="0">
            <a:off x="6210300" y="3781425"/>
            <a:ext cx="38100" cy="15240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6324600" y="37528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3D7BD9"/>
                </a:solidFill>
                <a:latin typeface="PingFang SC"/>
                <a:ea typeface="PingFang SC"/>
              </a:rPr>
              <a:t>外面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6210300" y="3981450"/>
            <a:ext cx="1562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A2230"/>
                </a:solidFill>
                <a:latin typeface="SF Mono"/>
                <a:ea typeface="SF Mono"/>
              </a:rPr>
              <a:t>fetch_url</a:t>
            </a:r>
            <a:endParaRPr/>
          </a:p>
        </p:txBody>
      </p:sp>
      <p:sp>
        <p:nvSpPr>
          <p:cNvPr id="555" name=""/>
          <p:cNvSpPr/>
          <p:nvPr/>
        </p:nvSpPr>
        <p:spPr>
          <a:xfrm rot="0" flipH="0" flipV="0">
            <a:off x="8001000" y="3562350"/>
            <a:ext cx="1790700" cy="762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56" name=""/>
          <p:cNvSpPr/>
          <p:nvPr/>
        </p:nvSpPr>
        <p:spPr>
          <a:xfrm rot="0" flipH="0" flipV="0">
            <a:off x="8115300" y="3781425"/>
            <a:ext cx="38100" cy="15240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8229600" y="37528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3D7BD9"/>
                </a:solidFill>
                <a:latin typeface="PingFang SC"/>
                <a:ea typeface="PingFang SC"/>
              </a:rPr>
              <a:t>外面</a:t>
            </a:r>
            <a:endParaRPr/>
          </a:p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8115300" y="3981450"/>
            <a:ext cx="1562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A2230"/>
                </a:solidFill>
                <a:latin typeface="SF Mono"/>
                <a:ea typeface="SF Mono"/>
              </a:rPr>
              <a:t>calculator</a:t>
            </a:r>
            <a:endParaRPr/>
          </a:p>
        </p:txBody>
      </p:sp>
      <p:sp>
        <p:nvSpPr>
          <p:cNvPr id="559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60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61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39814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权限是执行层的硬判定，不是提示词里的一句请求</a:t>
            </a:r>
            <a:endParaRPr/>
          </a:p>
        </p:txBody>
      </p:sp>
      <p:sp>
        <p:nvSpPr>
          <p:cNvPr id="563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11353800" y="6610350"/>
            <a:ext cx="171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06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7.xml><?xml version="1.0" encoding="utf-8"?>
<p:sld xmlns:r="http://schemas.openxmlformats.org/officeDocument/2006/relationships" xmlns:p="http://schemas.openxmlformats.org/presentationml/2006/main" xmlns:a="http://schemas.openxmlformats.org/drawingml/2006/main">
  <p:cSld name="07 技术·可拦截｜写入之前，它会先问一句">
    <p:spTree>
      <p:nvGrpSpPr>
        <p:cNvPr id="566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解法 ② · 可拦截&lt;/Text&gt;&#10;    &lt;/Box&gt;&#10;    &lt;Box style={{ position: 'absolute', top: 56, left: 40, width: 1200, height: 92, flexDirection: 'column', justifyContent: 'center', gap: 8 }}&gt;&#10;        &lt;Text style={{ fontSize: 34, fontWeight: 'bold', color: '#0E3F8C' }}&gt;写入之前，它会先问一句&lt;/Text&gt;&#10;        &lt;Text style={{ fontSize: 19, color: '#4A5568' }}&gt;Human-in-the-Loop 是一道闸门，不是一句劝告&lt;/Text&gt;&#10;    &lt;/Box&gt;&#10;&#10;    &lt;Box style={{ position: 'absolute', top: 160, left: 40, width: 1200, height: 476, flexDirection: 'row', gap: 20 }}&gt;&#10;        &lt;Box style={{ width: 320, background: '#F7F9FC', border: '1px solid #D6DCE5', borderRadius: 8, padding: 20, gap: 12, justifyContent: 'center' }}&gt;&#10;            &lt;Text style={{ fontSize: 24, fontWeight: 'bold', color: '#0E3F8C' }}&gt;这道闸门在哪&lt;/Text&gt;&#10;            &lt;Text style={{ fontSize: 15, color: '#4A5568', lineHeight: 1.75 }}&gt;&#10;                LangGraph 的 interrupt() 在工具执行前暂停整张图，用户点确认后用 Command(resume=...) 从检查点继续。&#10;            &lt;/Text&gt;&#10;            &lt;Box style={{ background: '#E8EFF8', borderRadius: 5, padding: 12 }}&gt;&#10;                &lt;Text style={{ fontSize: 14, color: '#0E3F8C', lineHeight: 1.6 }}&gt;&#10;                    中断信息写进消息流，前端能看到「正在等待确认」；确认与取消都走同一条恢复路径。&#10;                &lt;/Text&gt;&#10;            &lt;/Box&gt;&#10;        &lt;/Box&gt;&#10;&#10;        &lt;Box style={{ flex: 1, background: '#FFFFFF', border: '1px solid #D6DCE5', borderRadius: 8, padding: 16, justifyContent: 'center', alignItems: 'center' }}&gt;&#10;            &lt;Image src=&quot;assets/p07-gate.png&quot; style={{ width: '100%', height: 396, objectFit: 'contain' }} /&gt;&#10;            &lt;Text style={{ fontSize: 13, color: '#8B97A8', marginTop: 6 }}&gt;&#10;                配图：半透明挡板拦住悬浮的笔，后方是待写入的卡片&#10;            &lt;/Text&gt;&#10;        &lt;/Box&gt;&#10;&#10;        &lt;Box style={{ width: 320, background: '#F7F9FC', border: '1px solid #D6DCE5', borderRadius: 8, padding: 20, gap: 12, justifyContent: 'center' }}&gt;&#10;            &lt;Text style={{ fontSize: 24, fontWeight: 'bold', color: '#0E3F8C' }}&gt;承诺 vs 请求&lt;/Text&gt;&#10;            &lt;Text style={{ fontSize: 15, color: '#4A5568', lineHeight: 1.75 }}&gt;&#10;                「AI 不改你的数据」如果只写在提示词里，那是请求；写在 interrupt() 里，才是承诺。&#10;            &lt;/Text&gt;&#10;            &lt;Box style={{ background: '#E8EFF8', borderRadius: 5, padding: 12 }}&gt;&#10;                &lt;Text style={{ fontSize: 14, color: '#0E3F8C', lineHeight: 1.6 }}&gt;&#10;                    练习角色对写入类工具只读；这类越权有回归测试断言「数据确实没被改」。&#10;                &lt;/Text&gt;&#10;            &lt;/Box&gt;&#10;        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点确认才落库，点取消就到此结束 —— 什么都不会变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07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68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572" name="" descr="{&quot;isTemplate&quot;:true,&quot;type&quot;:&quot;text&quot;}"/>
          <p:cNvSpPr txBox="1"/>
          <p:nvPr/>
        </p:nvSpPr>
        <p:spPr>
          <a:xfrm rot="0" flipH="0" flipV="0">
            <a:off x="10810875" y="190500"/>
            <a:ext cx="1000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解法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②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可拦截</a:t>
            </a:r>
            <a:endParaRPr/>
          </a:p>
        </p:txBody>
      </p:sp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写入之前，它会先问一句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Human-in-the-Loop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是一道闸门，不是一句劝告</a:t>
            </a:r>
            <a:endParaRPr/>
          </a:p>
        </p:txBody>
      </p:sp>
      <p:sp>
        <p:nvSpPr>
          <p:cNvPr id="575" name=""/>
          <p:cNvSpPr/>
          <p:nvPr/>
        </p:nvSpPr>
        <p:spPr>
          <a:xfrm rot="0" flipH="0" flipV="0">
            <a:off x="381000" y="1524000"/>
            <a:ext cx="3048000" cy="4533900"/>
          </a:xfrm>
          <a:prstGeom prst="roundRect">
            <a:avLst>
              <a:gd name="adj" fmla="val 25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571500" y="2590800"/>
            <a:ext cx="2667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这道闸门在哪</a:t>
            </a:r>
            <a:endParaRPr/>
          </a:p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571500" y="2981325"/>
            <a:ext cx="2667000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LangGraph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的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interrupt()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在工具执行前暂停整张图，用户点确认后用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Command(resume=...)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从检查点继续。</a:t>
            </a:r>
            <a:endParaRPr/>
          </a:p>
        </p:txBody>
      </p:sp>
      <p:sp>
        <p:nvSpPr>
          <p:cNvPr id="578" name=""/>
          <p:cNvSpPr/>
          <p:nvPr/>
        </p:nvSpPr>
        <p:spPr>
          <a:xfrm rot="0" flipH="0" flipV="0">
            <a:off x="571500" y="4000500"/>
            <a:ext cx="2667000" cy="1000125"/>
          </a:xfrm>
          <a:prstGeom prst="roundRect">
            <a:avLst>
              <a:gd name="adj" fmla="val 4762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685800" y="4114800"/>
            <a:ext cx="24384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中断信息写进消息流，前端能看到「正在等待确认」；确认与取消都走同一条恢复路径。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3619500" y="1524000"/>
            <a:ext cx="4953000" cy="4533900"/>
          </a:xfrm>
          <a:prstGeom prst="roundRect">
            <a:avLst>
              <a:gd name="adj" fmla="val 168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581" name=""/>
          <p:cNvPicPr>
            <a:picLocks noChangeAspect="1"/>
          </p:cNvPicPr>
          <p:nvPr/>
        </p:nvPicPr>
        <p:blipFill>
          <a:blip r:embed="rId1"/>
          <a:srcRect l="15340" t="0" r="15340" b="0"/>
          <a:stretch>
            <a:fillRect/>
          </a:stretch>
        </p:blipFill>
        <p:spPr>
          <a:xfrm rot="0" flipH="0" flipV="0">
            <a:off x="3771900" y="1800225"/>
            <a:ext cx="4648200" cy="3771900"/>
          </a:xfrm>
          <a:prstGeom prst="rect">
            <a:avLst/>
          </a:prstGeom>
          <a:ln/>
        </p:spPr>
      </p:pic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4610100" y="562927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配图：半透明挡板拦住悬浮的笔，后方是待写入的卡片</a:t>
            </a:r>
            <a:endParaRPr/>
          </a:p>
        </p:txBody>
      </p:sp>
      <p:sp>
        <p:nvSpPr>
          <p:cNvPr id="583" name=""/>
          <p:cNvSpPr/>
          <p:nvPr/>
        </p:nvSpPr>
        <p:spPr>
          <a:xfrm rot="0" flipH="0" flipV="0">
            <a:off x="8763000" y="1524000"/>
            <a:ext cx="3048000" cy="4533900"/>
          </a:xfrm>
          <a:prstGeom prst="roundRect">
            <a:avLst>
              <a:gd name="adj" fmla="val 25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8953500" y="2714625"/>
            <a:ext cx="2667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承诺</a:t>
            </a:r>
            <a:r>
              <a:rPr lang="en-US" sz="1800" b="1">
                <a:solidFill>
                  <a:srgbClr val="0E3F8C"/>
                </a:solidFill>
                <a:latin typeface="PingFang SC"/>
                <a:ea typeface="PingFang SC"/>
              </a:rPr>
              <a:t xml:space="preserve"> vs </a:t>
            </a: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请求</a:t>
            </a:r>
            <a:endParaRPr/>
          </a:p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8953500" y="3105150"/>
            <a:ext cx="2667000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「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AI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不改你的数据」如果只写在提示词里，那是请求；写在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interrupt()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里，才是承诺。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8953500" y="4124325"/>
            <a:ext cx="2667000" cy="742950"/>
          </a:xfrm>
          <a:prstGeom prst="roundRect">
            <a:avLst>
              <a:gd name="adj" fmla="val 641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9067800" y="4238625"/>
            <a:ext cx="24384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练习角色对写入类工具只读；这类越权有回归测试断言「数据确实没被改」。</a:t>
            </a:r>
            <a:endParaRPr/>
          </a:p>
        </p:txBody>
      </p:sp>
      <p:sp>
        <p:nvSpPr>
          <p:cNvPr id="588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89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0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4286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点确认才落库，点取消就到此结束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什么都不会变</a:t>
            </a:r>
            <a:endParaRPr/>
          </a:p>
        </p:txBody>
      </p:sp>
      <p:sp>
        <p:nvSpPr>
          <p:cNvPr id="592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11353800" y="6610350"/>
            <a:ext cx="171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07</a:t>
            </a:r>
            <a:endParaRPr/>
          </a:p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 name="08 技术·可度量｜中文资料难找，所以不只找一路">
    <p:spTree>
      <p:nvGrpSpPr>
        <p:cNvPr id="595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解法 ③ · 可度量&lt;/Text&gt;&#10;    &lt;/Box&gt;&#10;    &lt;Box style={{ position: 'absolute', top: 56, left: 40, width: 1200, height: 92, flexDirection: 'column', justifyContent: 'center', gap: 8 }}&gt;&#10;        &lt;Text style={{ fontSize: 34, fontWeight: 'bold', color: '#0E3F8C' }}&gt;中文资料难找，所以不只找一路&lt;/Text&gt;&#10;        &lt;Text style={{ fontSize: 19, color: '#4A5568' }}&gt;四路并行召回 → 加权融合 → 词面精排 —— 每一步都可消融验证&lt;/Text&gt;&#10;    &lt;/Box&gt;&#10;&#10;&lt;Box style={{ position: 'absolute', top: 168, left: 40, width: 330, height: 52, background: '#FFFFFF', border: '1px solid #D6DCE5', borderRadius: 6, padding: '0 14px', flexDirection: 'row', alignItems: 'center', gap: 10 }}&gt;&#10;                &lt;Box style={{ width: 5, height: 30, background: '#1E4FA8' }} /&gt;&#10;                &lt;Box style={{ flex: 1 }}&gt;&#10;                    &lt;Text style={{ fontSize: 18, fontWeight: 'bold', color: '#0E3F8C' }}&gt;原查询 FTS&lt;/Text&gt;&#10;                    &lt;Text style={{ fontSize: 13, color: '#8B97A8' }}&gt;字面 trigram&lt;/Text&gt;&#10;                &lt;/Box&gt;&#10;                &lt;Text style={{ fontSize: 20, fontWeight: 'bold', color: '#1E4FA8', fontFamily: 'SF Mono, Menlo, monospace' }}&gt;1.0&lt;/Text&gt;&#10;            &lt;/Box&gt;&#10;&lt;Box style={{ position: 'absolute', top: 230, left: 40, width: 330, height: 52, background: '#FFFFFF', border: '1px solid #D6DCE5', borderRadius: 6, padding: '0 14px', flexDirection: 'row', alignItems: 'center', gap: 10 }}&gt;&#10;                &lt;Box style={{ width: 5, height: 30, background: '#1E4FA8' }} /&gt;&#10;                &lt;Box style={{ flex: 1 }}&gt;&#10;                    &lt;Text style={{ fontSize: 18, fontWeight: 'bold', color: '#0E3F8C' }}&gt;同义 / 中英扩写&lt;/Text&gt;&#10;                    &lt;Text style={{ fontSize: 13, color: '#8B97A8' }}&gt;换个说法也能找到&lt;/Text&gt;&#10;                &lt;/Box&gt;&#10;                &lt;Text style={{ fontSize: 20, fontWeight: 'bold', color: '#1E4FA8', fontFamily: 'SF Mono, Menlo, monospace' }}&gt;0.5&lt;/Text&gt;&#10;            &lt;/Box&gt;&#10;&lt;Box style={{ position: 'absolute', top: 292, left: 40, width: 330, height: 52, background: '#FFFFFF', border: '1px solid #D6DCE5', borderRadius: 6, padding: '0 14px', flexDirection: 'row', alignItems: 'center', gap: 10 }}&gt;&#10;                &lt;Box style={{ width: 5, height: 30, background: '#1E4FA8' }} /&gt;&#10;                &lt;Box style={{ flex: 1 }}&gt;&#10;                    &lt;Text style={{ fontSize: 18, fontWeight: 'bold', color: '#0E3F8C' }}&gt;两字词 LIKE&lt;/Text&gt;&#10;                    &lt;Text style={{ fontSize: 13, color: '#8B97A8' }}&gt;短词专门兜底&lt;/Text&gt;&#10;                &lt;/Box&gt;&#10;                &lt;Text style={{ fontSize: 20, fontWeight: 'bold', color: '#1E4FA8', fontFamily: 'SF Mono, Menlo, monospace' }}&gt;0.8&lt;/Text&gt;&#10;            &lt;/Box&gt;&#10;&lt;Box style={{ position: 'absolute', top: 354, left: 40, width: 330, height: 52, background: '#FFFFFF', border: '1px solid #D6DCE5', borderRadius: 6, padding: '0 14px', flexDirection: 'row', alignItems: 'center', gap: 10 }}&gt;&#10;                &lt;Box style={{ width: 5, height: 30, background: '#1E4FA8' }} /&gt;&#10;                &lt;Box style={{ flex: 1 }}&gt;&#10;                    &lt;Text style={{ fontSize: 18, fontWeight: 'bold', color: '#0E3F8C' }}&gt;向量语义&lt;/Text&gt;&#10;                    &lt;Text style={{ fontSize: 13, color: '#8B97A8' }}&gt;零字面重叠&lt;/Text&gt;&#10;                &lt;/Box&gt;&#10;                &lt;Text style={{ fontSize: 20, fontWeight: 'bold', color: '#1E4FA8', fontFamily: 'SF Mono, Menlo, monospace' }}&gt;1.0&lt;/Text&gt;&#10;            &lt;/Box&gt;&#10;    &lt;Box style={{ position: 'absolute', top: 190, left: 400, width: 220, height: 216, background: '#E8EFF8', border: '2px solid #1E4FA8', borderRadius: 10, justifyContent: 'center', alignItems: 'center', gap: 8 }}&gt;&#10;        &lt;Text style={{ fontSize: 24, fontWeight: 'bold', color: '#0E3F8C' }}&gt;加权 RRF&lt;/Text&gt;&#10;        &lt;Text style={{ fontSize: 15, color: '#4A5568' }}&gt;k = 60&lt;/Text&gt;&#10;        &lt;Text style={{ fontSize: 13, color: '#8B97A8' }}&gt;扩写路降权 0.5&lt;/Text&gt;&#10;    &lt;/Box&gt;&#10;&#10;    &lt;Box style={{ position: 'absolute', top: 250, left: 654, width: 190, height: 96, background: '#FFFFFF', border: '2px solid #3D7BD9', borderRadius: 8, justifyContent: 'center', alignItems: 'center', gap: 5 }}&gt;&#10;        &lt;Text style={{ fontSize: 22, fontWeight: 'bold', color: '#0E3F8C' }}&gt;词面精排&lt;/Text&gt;&#10;        &lt;Text style={{ fontSize: 13, color: '#8B97A8' }}&gt;只调顺序 · 不增删候选&lt;/Text&gt;&#10;    &lt;/Box&gt;&#10;&#10;    &lt;Box style={{ position: 'absolute', top: 168, left: 876, width: 364, height: 240, background: '#F7F9FC', border: '1px solid #D6DCE5', borderRadius: 8, padding: 16, gap: 10 }}&gt;&#10;        &lt;Text style={{ fontSize: 20, fontWeight: 'bold', color: '#0E3F8C' }}&gt;top-k 片段，每条带出处&lt;/Text&gt;&#10;        &lt;Text style={{ fontSize: 14, color: '#4A5568', lineHeight: 1.6 }}&gt;精排权重&lt;/Text&gt;&#10;        &lt;Box style={{ gap: 6 }}&gt;&#10;            &lt;Text style={{ fontSize: 14, color: '#1A2230' }}&gt;原查询覆盖　0.50&lt;/Text&gt;&#10;            &lt;Text style={{ fontSize: 14, color: '#1A2230' }}&gt;扩写覆盖　　0.15&lt;/Text&gt;&#10;            &lt;Text style={{ fontSize: 14, color: '#1A2230' }}&gt;标题命中　　0.35&lt;/Text&gt;&#10;        &lt;/Box&gt;&#10;        &lt;Box style={{ flex: 1, background: '#E8EFF8', borderRadius: 5, padding: 10, justifyContent: 'center' }}&gt;&#10;            &lt;Text style={{ fontSize: 14, color: '#0E3F8C', lineHeight: 1.6 }}&gt;&#10;                35 题考卷 Hit@3 = MRR = 0.9714；关掉精排掉到 0.9571&#10;            &lt;/Text&gt;&#10;        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「本征值」能搜到写着「特征值」的资料 —— 靠的不是运气，是多路召回与可调的权重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08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7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600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601" name="" descr="{&quot;isTemplate&quot;:true,&quot;type&quot;:&quot;text&quot;}"/>
          <p:cNvSpPr txBox="1"/>
          <p:nvPr/>
        </p:nvSpPr>
        <p:spPr>
          <a:xfrm rot="0" flipH="0" flipV="0">
            <a:off x="10810875" y="190500"/>
            <a:ext cx="1000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解法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③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可度量</a:t>
            </a:r>
            <a:endParaRPr/>
          </a:p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中文资料难找，所以不只找一路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四路并行召回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加权融合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词面精排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每一步都可消融验证</a:t>
            </a:r>
            <a:endParaRPr/>
          </a:p>
        </p:txBody>
      </p:sp>
      <p:sp>
        <p:nvSpPr>
          <p:cNvPr id="604" name=""/>
          <p:cNvSpPr/>
          <p:nvPr/>
        </p:nvSpPr>
        <p:spPr>
          <a:xfrm rot="0" flipH="0" flipV="0">
            <a:off x="381000" y="1600200"/>
            <a:ext cx="3143250" cy="4953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05" name=""/>
          <p:cNvSpPr/>
          <p:nvPr/>
        </p:nvSpPr>
        <p:spPr>
          <a:xfrm rot="0" flipH="0" flipV="0">
            <a:off x="514350" y="1704975"/>
            <a:ext cx="47625" cy="2857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657225" y="1666875"/>
            <a:ext cx="2286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PingFang SC"/>
                <a:ea typeface="PingFang SC"/>
              </a:rPr>
              <a:t>原查询</a:t>
            </a:r>
            <a:r>
              <a:rPr lang="en-US" sz="1350" b="1">
                <a:solidFill>
                  <a:srgbClr val="0E3F8C"/>
                </a:solidFill>
                <a:latin typeface="PingFang SC"/>
                <a:ea typeface="PingFang SC"/>
              </a:rPr>
              <a:t xml:space="preserve"> FTS</a:t>
            </a:r>
            <a:endParaRPr/>
          </a:p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657225" y="1876425"/>
            <a:ext cx="2286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字面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trigram</a:t>
            </a:r>
            <a:endParaRPr/>
          </a:p>
        </p:txBody>
      </p:sp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3038475" y="1733550"/>
            <a:ext cx="352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SF Mono"/>
                <a:ea typeface="SF Mono"/>
              </a:rPr>
              <a:t>1.0</a:t>
            </a:r>
            <a:endParaRPr/>
          </a:p>
        </p:txBody>
      </p:sp>
      <p:sp>
        <p:nvSpPr>
          <p:cNvPr id="609" name=""/>
          <p:cNvSpPr/>
          <p:nvPr/>
        </p:nvSpPr>
        <p:spPr>
          <a:xfrm rot="0" flipH="0" flipV="0">
            <a:off x="381000" y="2190750"/>
            <a:ext cx="3143250" cy="4953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10" name=""/>
          <p:cNvSpPr/>
          <p:nvPr/>
        </p:nvSpPr>
        <p:spPr>
          <a:xfrm rot="0" flipH="0" flipV="0">
            <a:off x="514350" y="2295525"/>
            <a:ext cx="47625" cy="2857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1" name="" descr="{&quot;isTemplate&quot;:true,&quot;type&quot;:&quot;text&quot;}"/>
          <p:cNvSpPr txBox="1"/>
          <p:nvPr/>
        </p:nvSpPr>
        <p:spPr>
          <a:xfrm rot="0" flipH="0" flipV="0">
            <a:off x="657225" y="2257425"/>
            <a:ext cx="2286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PingFang SC"/>
                <a:ea typeface="PingFang SC"/>
              </a:rPr>
              <a:t>同义</a:t>
            </a:r>
            <a:r>
              <a:rPr lang="en-US" sz="1350" b="1">
                <a:solidFill>
                  <a:srgbClr val="0E3F8C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350" b="1">
                <a:solidFill>
                  <a:srgbClr val="0E3F8C"/>
                </a:solidFill>
                <a:latin typeface="PingFang SC"/>
                <a:ea typeface="PingFang SC"/>
              </a:rPr>
              <a:t>中英扩写</a:t>
            </a:r>
            <a:endParaRPr/>
          </a:p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657225" y="2466975"/>
            <a:ext cx="2286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换个说法也能找到</a:t>
            </a:r>
            <a:endParaRPr/>
          </a:p>
        </p:txBody>
      </p:sp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3038475" y="2324100"/>
            <a:ext cx="352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SF Mono"/>
                <a:ea typeface="SF Mono"/>
              </a:rPr>
              <a:t>0.5</a:t>
            </a:r>
            <a:endParaRPr/>
          </a:p>
        </p:txBody>
      </p:sp>
      <p:sp>
        <p:nvSpPr>
          <p:cNvPr id="614" name=""/>
          <p:cNvSpPr/>
          <p:nvPr/>
        </p:nvSpPr>
        <p:spPr>
          <a:xfrm rot="0" flipH="0" flipV="0">
            <a:off x="381000" y="2781300"/>
            <a:ext cx="3143250" cy="4953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15" name=""/>
          <p:cNvSpPr/>
          <p:nvPr/>
        </p:nvSpPr>
        <p:spPr>
          <a:xfrm rot="0" flipH="0" flipV="0">
            <a:off x="514350" y="2886075"/>
            <a:ext cx="47625" cy="2857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657225" y="2847975"/>
            <a:ext cx="2286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PingFang SC"/>
                <a:ea typeface="PingFang SC"/>
              </a:rPr>
              <a:t>两字词</a:t>
            </a:r>
            <a:r>
              <a:rPr lang="en-US" sz="1350" b="1">
                <a:solidFill>
                  <a:srgbClr val="0E3F8C"/>
                </a:solidFill>
                <a:latin typeface="PingFang SC"/>
                <a:ea typeface="PingFang SC"/>
              </a:rPr>
              <a:t xml:space="preserve"> LIKE</a:t>
            </a:r>
            <a:endParaRPr/>
          </a:p>
        </p:txBody>
      </p:sp>
      <p:sp>
        <p:nvSpPr>
          <p:cNvPr id="617" name="" descr="{&quot;isTemplate&quot;:true,&quot;type&quot;:&quot;text&quot;}"/>
          <p:cNvSpPr txBox="1"/>
          <p:nvPr/>
        </p:nvSpPr>
        <p:spPr>
          <a:xfrm rot="0" flipH="0" flipV="0">
            <a:off x="657225" y="3057525"/>
            <a:ext cx="2286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短词专门兜底</a:t>
            </a:r>
            <a:endParaRPr/>
          </a:p>
        </p:txBody>
      </p:sp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3038475" y="2914650"/>
            <a:ext cx="352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SF Mono"/>
                <a:ea typeface="SF Mono"/>
              </a:rPr>
              <a:t>0.8</a:t>
            </a:r>
            <a:endParaRPr/>
          </a:p>
        </p:txBody>
      </p:sp>
      <p:sp>
        <p:nvSpPr>
          <p:cNvPr id="619" name=""/>
          <p:cNvSpPr/>
          <p:nvPr/>
        </p:nvSpPr>
        <p:spPr>
          <a:xfrm rot="0" flipH="0" flipV="0">
            <a:off x="381000" y="3371850"/>
            <a:ext cx="3143250" cy="4953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20" name=""/>
          <p:cNvSpPr/>
          <p:nvPr/>
        </p:nvSpPr>
        <p:spPr>
          <a:xfrm rot="0" flipH="0" flipV="0">
            <a:off x="514350" y="3476625"/>
            <a:ext cx="47625" cy="2857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657225" y="3438525"/>
            <a:ext cx="2286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PingFang SC"/>
                <a:ea typeface="PingFang SC"/>
              </a:rPr>
              <a:t>向量语义</a:t>
            </a:r>
            <a:endParaRPr/>
          </a:p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657225" y="3648075"/>
            <a:ext cx="2286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零字面重叠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3038475" y="3505200"/>
            <a:ext cx="352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SF Mono"/>
                <a:ea typeface="SF Mono"/>
              </a:rPr>
              <a:t>1.0</a:t>
            </a:r>
            <a:endParaRPr/>
          </a:p>
        </p:txBody>
      </p:sp>
      <p:sp>
        <p:nvSpPr>
          <p:cNvPr id="624" name=""/>
          <p:cNvSpPr/>
          <p:nvPr/>
        </p:nvSpPr>
        <p:spPr>
          <a:xfrm rot="0" flipH="0" flipV="0">
            <a:off x="3810000" y="1809750"/>
            <a:ext cx="2095500" cy="2057400"/>
          </a:xfrm>
          <a:prstGeom prst="roundRect">
            <a:avLst>
              <a:gd name="adj" fmla="val 4630"/>
            </a:avLst>
          </a:prstGeom>
          <a:solidFill>
            <a:srgbClr val="E8EFF8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4362450" y="2466975"/>
            <a:ext cx="990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加权</a:t>
            </a:r>
            <a:r>
              <a:rPr lang="en-US" sz="1800" b="1">
                <a:solidFill>
                  <a:srgbClr val="0E3F8C"/>
                </a:solidFill>
                <a:latin typeface="PingFang SC"/>
                <a:ea typeface="PingFang SC"/>
              </a:rPr>
              <a:t xml:space="preserve"> RRF</a:t>
            </a:r>
            <a:endParaRPr/>
          </a:p>
        </p:txBody>
      </p:sp>
      <p:sp>
        <p:nvSpPr>
          <p:cNvPr id="626" name="" descr="{&quot;isTemplate&quot;:true,&quot;type&quot;:&quot;text&quot;}"/>
          <p:cNvSpPr txBox="1"/>
          <p:nvPr/>
        </p:nvSpPr>
        <p:spPr>
          <a:xfrm rot="0" flipH="0" flipV="0">
            <a:off x="4648200" y="2819400"/>
            <a:ext cx="42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>k = 60</a:t>
            </a:r>
            <a:endParaRPr/>
          </a:p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4438650" y="3067050"/>
            <a:ext cx="847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扩写路降权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0.5</a:t>
            </a:r>
            <a:endParaRPr/>
          </a:p>
        </p:txBody>
      </p:sp>
      <p:sp>
        <p:nvSpPr>
          <p:cNvPr id="628" name=""/>
          <p:cNvSpPr/>
          <p:nvPr/>
        </p:nvSpPr>
        <p:spPr>
          <a:xfrm rot="0" flipH="0" flipV="0">
            <a:off x="6229350" y="2381250"/>
            <a:ext cx="1809750" cy="9144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54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629" name="" descr="{&quot;isTemplate&quot;:true,&quot;type&quot;:&quot;text&quot;}"/>
          <p:cNvSpPr txBox="1"/>
          <p:nvPr/>
        </p:nvSpPr>
        <p:spPr>
          <a:xfrm rot="0" flipH="0" flipV="0">
            <a:off x="6715125" y="2609850"/>
            <a:ext cx="838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PingFang SC"/>
                <a:ea typeface="PingFang SC"/>
              </a:rPr>
              <a:t>词面精排</a:t>
            </a:r>
            <a:endParaRPr/>
          </a:p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6505575" y="2914650"/>
            <a:ext cx="1266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只调顺序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不增删候选</a:t>
            </a:r>
            <a:endParaRPr/>
          </a:p>
        </p:txBody>
      </p:sp>
      <p:sp>
        <p:nvSpPr>
          <p:cNvPr id="631" name=""/>
          <p:cNvSpPr/>
          <p:nvPr/>
        </p:nvSpPr>
        <p:spPr>
          <a:xfrm rot="0" flipH="0" flipV="0">
            <a:off x="8343900" y="1600200"/>
            <a:ext cx="3467100" cy="22860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32" name="" descr="{&quot;isTemplate&quot;:true,&quot;type&quot;:&quot;text&quot;}"/>
          <p:cNvSpPr txBox="1"/>
          <p:nvPr/>
        </p:nvSpPr>
        <p:spPr>
          <a:xfrm rot="0" flipH="0" flipV="0">
            <a:off x="8496300" y="1752600"/>
            <a:ext cx="3162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PingFang SC"/>
                <a:ea typeface="PingFang SC"/>
              </a:rPr>
              <a:t xml:space="preserve">top-k </a:t>
            </a:r>
            <a:r>
              <a:rPr lang="zh-CN" sz="1500" b="1">
                <a:solidFill>
                  <a:srgbClr val="0E3F8C"/>
                </a:solidFill>
                <a:latin typeface="PingFang SC"/>
                <a:ea typeface="PingFang SC"/>
              </a:rPr>
              <a:t>片段，每条带出处</a:t>
            </a:r>
            <a:endParaRPr/>
          </a:p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8496300" y="2076450"/>
            <a:ext cx="31623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精排权重</a:t>
            </a:r>
            <a:endParaRPr/>
          </a:p>
        </p:txBody>
      </p:sp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8496300" y="2428875"/>
            <a:ext cx="3162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1A2230"/>
                </a:solidFill>
                <a:latin typeface="PingFang SC"/>
                <a:ea typeface="PingFang SC"/>
              </a:rPr>
              <a:t>原查询覆盖　</a:t>
            </a:r>
            <a:r>
              <a:rPr lang="en-US" sz="1050">
                <a:solidFill>
                  <a:srgbClr val="1A2230"/>
                </a:solidFill>
                <a:latin typeface="PingFang SC"/>
                <a:ea typeface="PingFang SC"/>
              </a:rPr>
              <a:t>0.50</a:t>
            </a:r>
            <a:endParaRPr/>
          </a:p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8496300" y="2647950"/>
            <a:ext cx="3162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1A2230"/>
                </a:solidFill>
                <a:latin typeface="PingFang SC"/>
                <a:ea typeface="PingFang SC"/>
              </a:rPr>
              <a:t>扩写覆盖　　</a:t>
            </a:r>
            <a:r>
              <a:rPr lang="en-US" sz="1050">
                <a:solidFill>
                  <a:srgbClr val="1A2230"/>
                </a:solidFill>
                <a:latin typeface="PingFang SC"/>
                <a:ea typeface="PingFang SC"/>
              </a:rPr>
              <a:t>0.15</a:t>
            </a:r>
            <a:endParaRPr/>
          </a:p>
        </p:txBody>
      </p:sp>
      <p:sp>
        <p:nvSpPr>
          <p:cNvPr id="636" name="" descr="{&quot;isTemplate&quot;:true,&quot;type&quot;:&quot;text&quot;}"/>
          <p:cNvSpPr txBox="1"/>
          <p:nvPr/>
        </p:nvSpPr>
        <p:spPr>
          <a:xfrm rot="0" flipH="0" flipV="0">
            <a:off x="8496300" y="2867025"/>
            <a:ext cx="3162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1A2230"/>
                </a:solidFill>
                <a:latin typeface="PingFang SC"/>
                <a:ea typeface="PingFang SC"/>
              </a:rPr>
              <a:t>标题命中　　</a:t>
            </a:r>
            <a:r>
              <a:rPr lang="en-US" sz="1050">
                <a:solidFill>
                  <a:srgbClr val="1A2230"/>
                </a:solidFill>
                <a:latin typeface="PingFang SC"/>
                <a:ea typeface="PingFang SC"/>
              </a:rPr>
              <a:t>0.35</a:t>
            </a:r>
            <a:endParaRPr/>
          </a:p>
        </p:txBody>
      </p:sp>
      <p:sp>
        <p:nvSpPr>
          <p:cNvPr id="637" name=""/>
          <p:cNvSpPr/>
          <p:nvPr/>
        </p:nvSpPr>
        <p:spPr>
          <a:xfrm rot="0" flipH="0" flipV="0">
            <a:off x="8496300" y="3124200"/>
            <a:ext cx="3162300" cy="704850"/>
          </a:xfrm>
          <a:prstGeom prst="roundRect">
            <a:avLst>
              <a:gd name="adj" fmla="val 67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38" name="" descr="{&quot;isTemplate&quot;:true,&quot;type&quot;:&quot;text&quot;}"/>
          <p:cNvSpPr txBox="1"/>
          <p:nvPr/>
        </p:nvSpPr>
        <p:spPr>
          <a:xfrm rot="0" flipH="0" flipV="0">
            <a:off x="8591550" y="3219450"/>
            <a:ext cx="2971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35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题考卷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 Hit@3 = MRR = 0.9714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；关掉精排掉到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 0.9571</a:t>
            </a:r>
            <a:endParaRPr/>
          </a:p>
        </p:txBody>
      </p:sp>
      <p:sp>
        <p:nvSpPr>
          <p:cNvPr id="639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40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1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7000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「本征值」能搜到写着「特征值」的资料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靠的不是运气，是多路召回与可调的权重</a:t>
            </a:r>
            <a:endParaRPr/>
          </a:p>
        </p:txBody>
      </p:sp>
      <p:sp>
        <p:nvSpPr>
          <p:cNvPr id="643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644" name="" descr="{&quot;isTemplate&quot;:true,&quot;type&quot;:&quot;text&quot;}"/>
          <p:cNvSpPr txBox="1"/>
          <p:nvPr/>
        </p:nvSpPr>
        <p:spPr>
          <a:xfrm rot="0" flipH="0" flipV="0">
            <a:off x="11353800" y="6610350"/>
            <a:ext cx="171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08</a:t>
            </a:r>
            <a:endParaRPr/>
          </a:p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 name="09 技术·可度量｜每句结论，都能翻回原文那一页">
    <p:spTree>
      <p:nvGrpSpPr>
        <p:cNvPr id="646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解法 ③ · 可度量&lt;/Text&gt;&#10;    &lt;/Box&gt;&#10;    &lt;Box style={{ position: 'absolute', top: 56, left: 40, width: 1200, height: 92, flexDirection: 'column', justifyContent: 'center', gap: 8 }}&gt;&#10;        &lt;Text style={{ fontSize: 34, fontWeight: 'bold', color: '#0E3F8C' }}&gt;每句结论，都能翻回原文那一页&lt;/Text&gt;&#10;        &lt;Text style={{ fontSize: 19, color: '#4A5568' }}&gt;逐页切块是「引用可核验」的前提 —— 引用粒度决定了答案能不能被验证&lt;/Text&gt;&#10;    &lt;/Box&gt;&#10;&#10;    &lt;Box style={{ position: 'absolute', top: 160, left: 40, width: 470, height: 476, flexDirection: 'column', gap: 14 }}&gt;&#10;        &lt;Text style={{ fontSize: 24, fontWeight: 'bold', color: '#0E3F8C' }}&gt;三步入库&lt;/Text&gt;&#10;        &lt;Box style={{ flexDirection: 'row', gap: 12, alignItems: 'flex-start' }}&gt;&#10;            &lt;Box style={{ width: 34, height: 34, background: '#1E4FA8', borderRadius: 5, justifyContent: 'center', alignItems: 'center' }}&gt;&#10;                &lt;Text style={{ fontSize: 18, color: '#FFFFFF', fontWeight: 'bold' }}&gt;1&lt;/Text&gt;&#10;            &lt;/Box&gt;&#10;            &lt;Text style={{ fontSize: 17, color: '#1A2230', lineHeight: 1.6, flex: 1 }}&gt;原样秒传 —— 二进制文件先落盘，不解析、不调模型&lt;/Text&gt;&#10;        &lt;/Box&gt;&#10;        &lt;Box style={{ flexDirection: 'row', gap: 12, alignItems: 'flex-start' }}&gt;&#10;            &lt;Box style={{ width: 34, height: 34, background: '#1E4FA8', borderRadius: 5, justifyContent: 'center', alignItems: 'center' }}&gt;&#10;                &lt;Text style={{ fontSize: 18, color: '#FFFFFF', fontWeight: 'bold' }}&gt;2&lt;/Text&gt;&#10;            &lt;/Box&gt;&#10;            &lt;Text style={{ fontSize: 17, color: '#1A2230', lineHeight: 1.6, flex: 1 }}&gt;需要参与问答时再点「解析」—— 用时才建索引&lt;/Text&gt;&#10;        &lt;/Box&gt;&#10;        &lt;Box style={{ flexDirection: 'row', gap: 12, alignItems: 'flex-start' }}&gt;&#10;            &lt;Box style={{ width: 34, height: 34, background: '#1E4FA8', borderRadius: 5, justifyContent: 'center', alignItems: 'center' }}&gt;&#10;                &lt;Text style={{ fontSize: 18, color: '#FFFFFF', fontWeight: 'bold' }}&gt;3&lt;/Text&gt;&#10;            &lt;/Box&gt;&#10;            &lt;Text style={{ fontSize: 17, color: '#1A2230', lineHeight: 1.6, flex: 1 }}&gt;PDF / PPT 逐页切块，每一块记住自己来自第几页&lt;/Text&gt;&#10;        &lt;/Box&gt;&#10;        &lt;Box style={{ flex: 1, background: '#E8EFF8', borderRadius: 6, padding: 16, justifyContent: 'center', gap: 8 }}&gt;&#10;            &lt;Text style={{ fontSize: 18, fontWeight: 'bold', color: '#0E3F8C' }}&gt;为什么必须这么设计&lt;/Text&gt;&#10;            &lt;Text style={{ fontSize: 15, color: '#4A5568', lineHeight: 1.7 }}&gt;&#10;                切块粒度决定引用能不能落到页。如果整篇 PDF 切成一个片段，引用就只能指向「整篇文档」，&#10;                答案对不对就无从核验。逐页切块是让「引用到第几页」成立的前提。&#10;            &lt;/Text&gt;&#10;        &lt;/Box&gt;&#10;    &lt;/Box&gt;&#10;&#10;    &lt;Box style={{ position: 'absolute', top: 160, left: 530, width: 710, height: 476, background: '#F7F9FC', border: '1px solid #D6DCE5', borderRadius: 8, padding: 20, gap: 14 }}&gt;&#10;        &lt;Text style={{ fontSize: 24, fontWeight: 'bold', color: '#0E3F8C' }}&gt;切块与页码的对应关系&lt;/Text&gt;&#10;        &lt;Box style={{ gap: 10 }}&gt;&#10;            &lt;Box style={{ flexDirection: 'row', alignItems: 'center', gap: 10 }}&gt;&#10;                &lt;Box style={{ width: 86, height: 46, background: '#1E4FA8', borderRadius: 5, justifyContent: 'center', alignItems: 'center' }}&gt;&#10;                    &lt;Text style={{ fontSize: 19, color: '#FFFFFF', fontWeight: 'bold' }}&gt;P12&lt;/Text&gt;&#10;                &lt;/Box&gt;&#10;                &lt;Box style={{ flex: 1, height: 46, background: '#FFFFFF', border: '1px solid #D6DCE5', borderRadius: 5, padding: '0 14px', justifyContent: 'center' }}&gt;&#10;                    &lt;Text style={{ fontSize: 15, color: '#1A2230' }}&gt;片段 1 · 携带页码标记&lt;/Text&gt;&#10;                &lt;/Box&gt;&#10;            &lt;/Box&gt;&#10;            &lt;Box style={{ flexDirection: 'row', alignItems: 'center', gap: 10 }}&gt;&#10;                &lt;Box style={{ width: 86, height: 46, background: '#3D7BD9', borderRadius: 5, justifyContent: 'center', alignItems: 'center' }}&gt;&#10;                    &lt;Text style={{ fontSize: 19, color: '#FFFFFF', fontWeight: 'bold' }}&gt;P12&lt;/Text&gt;&#10;                &lt;/Box&gt;&#10;                &lt;Box style={{ flex: 1, height: 46, background: '#FFFFFF', border: '1px solid #D6DCE5', borderRadius: 5, padding: '0 14px', justifyContent: 'center' }}&gt;&#10;                    &lt;Text style={{ fontSize: 15, color: '#1A2230' }}&gt;片段 2 · 同页不同段&lt;/Text&gt;&#10;                &lt;/Box&gt;&#10;            &lt;/Box&gt;&#10;            &lt;Box style={{ flexDirection: 'row', alignItems: 'center', gap: 10 }}&gt;&#10;                &lt;Box style={{ width: 86, height: 46, background: '#0E3F8C', borderRadius: 5, justifyContent: 'center', alignItems: 'center' }}&gt;&#10;                    &lt;Text style={{ fontSize: 19, color: '#FFFFFF', fontWeight: 'bold' }}&gt;P07&lt;/Text&gt;&#10;                &lt;/Box&gt;&#10;                &lt;Box style={{ flex: 1, height: 46, background: '#FFFFFF', border: '1px solid #D6DCE5', borderRadius: 5, padding: '0 14px', justifyContent: 'center' }}&gt;&#10;                    &lt;Text style={{ fontSize: 15, color: '#1A2230' }}&gt;片段 3 · 切到下一份资料&lt;/Text&gt;&#10;                &lt;/Box&gt;&#10;            &lt;/Box&gt;&#10;        &lt;/Box&gt;&#10;        &lt;Box style={{ flex: 1, background: '#E8EFF8', borderRadius: 6, padding: 16, justifyContent: 'center' }}&gt;&#10;            &lt;Text style={{ fontSize: 15, color: '#0E3F8C', lineHeight: 1.7 }}&gt;&#10;                答案里点开任一条引用，能直接跳到那一页 —— 检索与引用的正确性因此变成&lt;b&gt;可核验&lt;/b&gt;的，&#10;                而不是「模型说的」。&#10;            &lt;/Text&gt;&#10;        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检索准确之外，还要引用可追溯 —— 否则「它答得对」只是无法证伪的说法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09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8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650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10810875" y="190500"/>
            <a:ext cx="1000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解法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③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可度量</a:t>
            </a:r>
            <a:endParaRPr/>
          </a:p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每句结论，都能翻回原文那一页</a:t>
            </a:r>
            <a:endParaRPr/>
          </a:p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逐页切块是「引用可核验」的前提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引用粒度决定了答案能不能被验证</a:t>
            </a:r>
            <a:endParaRPr/>
          </a:p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381000" y="1524000"/>
            <a:ext cx="4476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三步入库</a:t>
            </a:r>
            <a:endParaRPr/>
          </a:p>
        </p:txBody>
      </p:sp>
      <p:sp>
        <p:nvSpPr>
          <p:cNvPr id="656" name=""/>
          <p:cNvSpPr/>
          <p:nvPr/>
        </p:nvSpPr>
        <p:spPr>
          <a:xfrm rot="0" flipH="0" flipV="0">
            <a:off x="381000" y="1933575"/>
            <a:ext cx="323850" cy="323850"/>
          </a:xfrm>
          <a:prstGeom prst="roundRect">
            <a:avLst>
              <a:gd name="adj" fmla="val 1470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504825" y="1990725"/>
            <a:ext cx="76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  <a:endParaRPr/>
          </a:p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819150" y="1933575"/>
            <a:ext cx="403860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1A2230"/>
                </a:solidFill>
                <a:latin typeface="PingFang SC"/>
                <a:ea typeface="PingFang SC"/>
              </a:rPr>
              <a:t>原样秒传</a:t>
            </a:r>
            <a:r>
              <a:rPr lang="en-US" sz="1275">
                <a:solidFill>
                  <a:srgbClr val="1A2230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275">
                <a:solidFill>
                  <a:srgbClr val="1A2230"/>
                </a:solidFill>
                <a:latin typeface="PingFang SC"/>
                <a:ea typeface="PingFang SC"/>
              </a:rPr>
              <a:t>二进制文件先落盘，不解析、不调模型</a:t>
            </a:r>
            <a:endParaRPr/>
          </a:p>
        </p:txBody>
      </p:sp>
      <p:sp>
        <p:nvSpPr>
          <p:cNvPr id="659" name=""/>
          <p:cNvSpPr/>
          <p:nvPr/>
        </p:nvSpPr>
        <p:spPr>
          <a:xfrm rot="0" flipH="0" flipV="0">
            <a:off x="381000" y="2390775"/>
            <a:ext cx="323850" cy="323850"/>
          </a:xfrm>
          <a:prstGeom prst="roundRect">
            <a:avLst>
              <a:gd name="adj" fmla="val 1470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495300" y="244792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  <a:endParaRPr/>
          </a:p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819150" y="2390775"/>
            <a:ext cx="403860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1A2230"/>
                </a:solidFill>
                <a:latin typeface="PingFang SC"/>
                <a:ea typeface="PingFang SC"/>
              </a:rPr>
              <a:t>需要参与问答时再点「解析」——</a:t>
            </a:r>
            <a:r>
              <a:rPr lang="en-US" sz="1275">
                <a:solidFill>
                  <a:srgbClr val="1A2230"/>
                </a:solidFill>
                <a:latin typeface="PingFang SC"/>
                <a:ea typeface="PingFang SC"/>
              </a:rPr>
              <a:t xml:space="preserve"> </a:t>
            </a:r>
            <a:r>
              <a:rPr lang="zh-CN" sz="1275">
                <a:solidFill>
                  <a:srgbClr val="1A2230"/>
                </a:solidFill>
                <a:latin typeface="PingFang SC"/>
                <a:ea typeface="PingFang SC"/>
              </a:rPr>
              <a:t>用时才建索引</a:t>
            </a:r>
            <a:endParaRPr/>
          </a:p>
        </p:txBody>
      </p:sp>
      <p:sp>
        <p:nvSpPr>
          <p:cNvPr id="662" name=""/>
          <p:cNvSpPr/>
          <p:nvPr/>
        </p:nvSpPr>
        <p:spPr>
          <a:xfrm rot="0" flipH="0" flipV="0">
            <a:off x="381000" y="2847975"/>
            <a:ext cx="323850" cy="323850"/>
          </a:xfrm>
          <a:prstGeom prst="roundRect">
            <a:avLst>
              <a:gd name="adj" fmla="val 1470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3" name="" descr="{&quot;isTemplate&quot;:true,&quot;type&quot;:&quot;text&quot;}"/>
          <p:cNvSpPr txBox="1"/>
          <p:nvPr/>
        </p:nvSpPr>
        <p:spPr>
          <a:xfrm rot="0" flipH="0" flipV="0">
            <a:off x="495300" y="290512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  <a:endParaRPr/>
          </a:p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819150" y="2847975"/>
            <a:ext cx="403860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1A2230"/>
                </a:solidFill>
                <a:latin typeface="PingFang SC"/>
                <a:ea typeface="PingFang SC"/>
              </a:rPr>
              <a:t xml:space="preserve">PDF / PPT </a:t>
            </a:r>
            <a:r>
              <a:rPr lang="zh-CN" sz="1275">
                <a:solidFill>
                  <a:srgbClr val="1A2230"/>
                </a:solidFill>
                <a:latin typeface="PingFang SC"/>
                <a:ea typeface="PingFang SC"/>
              </a:rPr>
              <a:t>逐页切块，每一块记住自己来自第几页</a:t>
            </a:r>
            <a:endParaRPr/>
          </a:p>
        </p:txBody>
      </p:sp>
      <p:sp>
        <p:nvSpPr>
          <p:cNvPr id="665" name=""/>
          <p:cNvSpPr/>
          <p:nvPr/>
        </p:nvSpPr>
        <p:spPr>
          <a:xfrm rot="0" flipH="0" flipV="0">
            <a:off x="381000" y="3305175"/>
            <a:ext cx="4476750" cy="2752725"/>
          </a:xfrm>
          <a:prstGeom prst="roundRect">
            <a:avLst>
              <a:gd name="adj" fmla="val 207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66" name="" descr="{&quot;isTemplate&quot;:true,&quot;type&quot;:&quot;text&quot;}"/>
          <p:cNvSpPr txBox="1"/>
          <p:nvPr/>
        </p:nvSpPr>
        <p:spPr>
          <a:xfrm rot="0" flipH="0" flipV="0">
            <a:off x="533400" y="4105275"/>
            <a:ext cx="41719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PingFang SC"/>
                <a:ea typeface="PingFang SC"/>
              </a:rPr>
              <a:t>为什么必须这么设计</a:t>
            </a:r>
            <a:endParaRPr/>
          </a:p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533400" y="4391025"/>
            <a:ext cx="417195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切块粒度决定引用能不能落到页。如果整篇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PDF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切成一个片段，引用就只能指向「整篇文档」，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答案对不对就无从核验。逐页切块是让「引用到第几页」成立的前提。</a:t>
            </a:r>
            <a:endParaRPr/>
          </a:p>
        </p:txBody>
      </p:sp>
      <p:sp>
        <p:nvSpPr>
          <p:cNvPr id="668" name=""/>
          <p:cNvSpPr/>
          <p:nvPr/>
        </p:nvSpPr>
        <p:spPr>
          <a:xfrm rot="0" flipH="0" flipV="0">
            <a:off x="5048250" y="1524000"/>
            <a:ext cx="6762750" cy="4533900"/>
          </a:xfrm>
          <a:prstGeom prst="roundRect">
            <a:avLst>
              <a:gd name="adj" fmla="val 168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5238750" y="1714500"/>
            <a:ext cx="638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切块与页码的对应关系</a:t>
            </a:r>
            <a:endParaRPr/>
          </a:p>
        </p:txBody>
      </p:sp>
      <p:sp>
        <p:nvSpPr>
          <p:cNvPr id="670" name=""/>
          <p:cNvSpPr/>
          <p:nvPr/>
        </p:nvSpPr>
        <p:spPr>
          <a:xfrm rot="0" flipH="0" flipV="0">
            <a:off x="5238750" y="2124075"/>
            <a:ext cx="819150" cy="438150"/>
          </a:xfrm>
          <a:prstGeom prst="roundRect">
            <a:avLst>
              <a:gd name="adj" fmla="val 1087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5495925" y="2238375"/>
            <a:ext cx="304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P12</a:t>
            </a:r>
            <a:endParaRPr/>
          </a:p>
        </p:txBody>
      </p:sp>
      <p:sp>
        <p:nvSpPr>
          <p:cNvPr id="672" name=""/>
          <p:cNvSpPr/>
          <p:nvPr/>
        </p:nvSpPr>
        <p:spPr>
          <a:xfrm rot="0" flipH="0" flipV="0">
            <a:off x="6153150" y="2124075"/>
            <a:ext cx="5467350" cy="43815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6286500" y="2257425"/>
            <a:ext cx="5200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PingFang SC"/>
                <a:ea typeface="PingFang SC"/>
              </a:rPr>
              <a:t>片段</a:t>
            </a:r>
            <a:r>
              <a:rPr lang="en-US" sz="1125">
                <a:solidFill>
                  <a:srgbClr val="1A2230"/>
                </a:solidFill>
                <a:latin typeface="PingFang SC"/>
                <a:ea typeface="PingFang SC"/>
              </a:rPr>
              <a:t xml:space="preserve"> 1 · </a:t>
            </a:r>
            <a:r>
              <a:rPr lang="zh-CN" sz="1125">
                <a:solidFill>
                  <a:srgbClr val="1A2230"/>
                </a:solidFill>
                <a:latin typeface="PingFang SC"/>
                <a:ea typeface="PingFang SC"/>
              </a:rPr>
              <a:t>携带页码标记</a:t>
            </a:r>
            <a:endParaRPr/>
          </a:p>
        </p:txBody>
      </p:sp>
      <p:sp>
        <p:nvSpPr>
          <p:cNvPr id="674" name=""/>
          <p:cNvSpPr/>
          <p:nvPr/>
        </p:nvSpPr>
        <p:spPr>
          <a:xfrm rot="0" flipH="0" flipV="0">
            <a:off x="5238750" y="2657475"/>
            <a:ext cx="819150" cy="438150"/>
          </a:xfrm>
          <a:prstGeom prst="roundRect">
            <a:avLst>
              <a:gd name="adj" fmla="val 1087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5495925" y="2771775"/>
            <a:ext cx="304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P12</a:t>
            </a:r>
            <a:endParaRPr/>
          </a:p>
        </p:txBody>
      </p:sp>
      <p:sp>
        <p:nvSpPr>
          <p:cNvPr id="676" name=""/>
          <p:cNvSpPr/>
          <p:nvPr/>
        </p:nvSpPr>
        <p:spPr>
          <a:xfrm rot="0" flipH="0" flipV="0">
            <a:off x="6153150" y="2657475"/>
            <a:ext cx="5467350" cy="43815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6286500" y="2790825"/>
            <a:ext cx="5200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PingFang SC"/>
                <a:ea typeface="PingFang SC"/>
              </a:rPr>
              <a:t>片段</a:t>
            </a:r>
            <a:r>
              <a:rPr lang="en-US" sz="1125">
                <a:solidFill>
                  <a:srgbClr val="1A2230"/>
                </a:solidFill>
                <a:latin typeface="PingFang SC"/>
                <a:ea typeface="PingFang SC"/>
              </a:rPr>
              <a:t xml:space="preserve"> 2 · </a:t>
            </a:r>
            <a:r>
              <a:rPr lang="zh-CN" sz="1125">
                <a:solidFill>
                  <a:srgbClr val="1A2230"/>
                </a:solidFill>
                <a:latin typeface="PingFang SC"/>
                <a:ea typeface="PingFang SC"/>
              </a:rPr>
              <a:t>同页不同段</a:t>
            </a:r>
            <a:endParaRPr/>
          </a:p>
        </p:txBody>
      </p:sp>
      <p:sp>
        <p:nvSpPr>
          <p:cNvPr id="678" name=""/>
          <p:cNvSpPr/>
          <p:nvPr/>
        </p:nvSpPr>
        <p:spPr>
          <a:xfrm rot="0" flipH="0" flipV="0">
            <a:off x="5238750" y="3190875"/>
            <a:ext cx="819150" cy="438150"/>
          </a:xfrm>
          <a:prstGeom prst="roundRect">
            <a:avLst>
              <a:gd name="adj" fmla="val 1087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5486400" y="3305175"/>
            <a:ext cx="3333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P07</a:t>
            </a:r>
            <a:endParaRPr/>
          </a:p>
        </p:txBody>
      </p:sp>
      <p:sp>
        <p:nvSpPr>
          <p:cNvPr id="680" name=""/>
          <p:cNvSpPr/>
          <p:nvPr/>
        </p:nvSpPr>
        <p:spPr>
          <a:xfrm rot="0" flipH="0" flipV="0">
            <a:off x="6153150" y="3190875"/>
            <a:ext cx="5467350" cy="43815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6286500" y="3324225"/>
            <a:ext cx="5200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PingFang SC"/>
                <a:ea typeface="PingFang SC"/>
              </a:rPr>
              <a:t>片段</a:t>
            </a:r>
            <a:r>
              <a:rPr lang="en-US" sz="1125">
                <a:solidFill>
                  <a:srgbClr val="1A2230"/>
                </a:solidFill>
                <a:latin typeface="PingFang SC"/>
                <a:ea typeface="PingFang SC"/>
              </a:rPr>
              <a:t xml:space="preserve"> 3 · </a:t>
            </a:r>
            <a:r>
              <a:rPr lang="zh-CN" sz="1125">
                <a:solidFill>
                  <a:srgbClr val="1A2230"/>
                </a:solidFill>
                <a:latin typeface="PingFang SC"/>
                <a:ea typeface="PingFang SC"/>
              </a:rPr>
              <a:t>切到下一份资料</a:t>
            </a:r>
            <a:endParaRPr/>
          </a:p>
        </p:txBody>
      </p:sp>
      <p:sp>
        <p:nvSpPr>
          <p:cNvPr id="682" name=""/>
          <p:cNvSpPr/>
          <p:nvPr/>
        </p:nvSpPr>
        <p:spPr>
          <a:xfrm rot="0" flipH="0" flipV="0">
            <a:off x="5238750" y="3762375"/>
            <a:ext cx="6381750" cy="2105025"/>
          </a:xfrm>
          <a:prstGeom prst="roundRect">
            <a:avLst>
              <a:gd name="adj" fmla="val 271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5391150" y="4524375"/>
            <a:ext cx="60769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答案里点开任一条引用，能直接跳到那一页</a:t>
            </a:r>
            <a:r>
              <a:rPr lang="en-US" sz="1125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检索与引用的正确性因此变成</a:t>
            </a: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可核验</a:t>
            </a: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的，</a:t>
            </a:r>
            <a:r>
              <a:rPr lang="en-US" sz="1125">
                <a:solidFill>
                  <a:srgbClr val="0E3F8C"/>
                </a:solidFill>
                <a:latin typeface="PingFang SC"/>
                <a:ea typeface="PingFang SC"/>
              </a:rPr>
              <a:t xml:space="preserve"> </a:t>
            </a: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而不是「模型说的」。</a:t>
            </a:r>
            <a:endParaRPr/>
          </a:p>
        </p:txBody>
      </p:sp>
      <p:sp>
        <p:nvSpPr>
          <p:cNvPr id="684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85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6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6096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检索准确之外，还要引用可追溯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否则「它答得对」只是无法证伪的说法</a:t>
            </a:r>
            <a:endParaRPr/>
          </a:p>
        </p:txBody>
      </p:sp>
      <p:sp>
        <p:nvSpPr>
          <p:cNvPr id="68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11353800" y="6610350"/>
            <a:ext cx="171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09</a:t>
            </a:r>
            <a:endParaRPr/>
          </a:p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 name="10 技术·工程完备｜模型写不出来的时候，题也不会停">
    <p:spTree>
      <p:nvGrpSpPr>
        <p:cNvPr id="18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解法 ④ · 工程完备性&lt;/Text&gt;&#10;    &lt;/Box&gt;&#10;    &lt;Box style={{ position: 'absolute', top: 56, left: 40, width: 1200, height: 92, flexDirection: 'column', justifyContent: 'center', gap: 8 }}&gt;&#10;        &lt;Text style={{ fontSize: 34, fontWeight: 'bold', color: '#0E3F8C' }}&gt;模型写不出来的时候，题也不会停&lt;/Text&gt;&#10;        &lt;Text style={{ fontSize: 19, color: '#4A5568' }}&gt;退路是提前设计好的，不是临时打补丁&lt;/Text&gt;&#10;    &lt;/Box&gt;&#10;&#10;    &lt;Box style={{ position: 'absolute', top: 166, left: 40, width: 1200, height: 220, background: '#F7F9FC', border: '1px solid #D6DCE5', borderRadius: 8, padding: 18, gap: 12 }}&gt;&#10;        &lt;Text style={{ fontSize: 22, fontWeight: 'bold', color: '#0E3F8C' }}&gt;出题：模型写题 → 校验 → 成题&lt;/Text&gt;&#10;        &lt;Box style={{ flexDirection: 'row', alignItems: 'center', gap: 12 }}&gt;&#10;            &lt;Box style={{ width: 200, height: 66, background: '#1E4FA8', borderRadius: 7, justifyContent: 'center', alignItems: 'center' }}&gt;&#10;                &lt;Text style={{ fontSize: 20, color: '#FFFFFF', fontWeight: 'bold' }}&gt;模型出题&lt;/Text&gt;&#10;            &lt;/Box&gt;&#10;            &lt;Box style={{ width: 24, height: 3, background: '#1E4FA8' }} /&gt;&#10;            &lt;Box style={{ width: 11, height: 11, background: '#1E4FA8', borderRadius: 2, transform: 'rotate(45deg)' }} /&gt;&#10;            &lt;Box style={{ width: 200, height: 66, background: '#1E4FA8', borderRadius: 7, justifyContent: 'center', alignItems: 'center' }}&gt;&#10;                &lt;Text style={{ fontSize: 20, color: '#FFFFFF', fontWeight: 'bold' }}&gt;解析校验&lt;/Text&gt;&#10;            &lt;/Box&gt;&#10;            &lt;Box style={{ width: 24, height: 3, background: '#1E4FA8' }} /&gt;&#10;            &lt;Box style={{ width: 11, height: 11, background: '#1E4FA8', borderRadius: 2, transform: 'rotate(45deg)' }} /&gt;&#10;            &lt;Box style={{ width: 200, height: 66, background: '#0E3F8C', borderRadius: 7, justifyContent: 'center', alignItems: 'center' }}&gt;&#10;                &lt;Text style={{ fontSize: 20, color: '#FFFFFF', fontWeight: 'bold' }}&gt;成题入库&lt;/Text&gt;&#10;            &lt;/Box&gt;&#10;            &lt;Box style={{ flex: 1, height: 66, background: '#E8EFF8', borderRadius: 7, padding: '0 16px', justifyContent: 'center' }}&gt;&#10;                &lt;Text style={{ fontSize: 15, color: '#0E3F8C', lineHeight: 1.6 }}&gt;解析失败或写坏 → 退回模板题，&lt;b&gt;绝不抛异常&lt;/b&gt;。一条误区只出一道题，不重复刷&lt;/Text&gt;&#10;            &lt;/Box&gt;&#10;        &lt;/Box&gt;&#10;    &lt;/Box&gt;&#10;&#10;    &lt;Box style={{ position: 'absolute', top: 404, left: 40, width: 1200, height: 232, background: '#F7F9FC', border: '1px solid #D6DCE5', borderRadius: 8, padding: 18, gap: 12 }}&gt;&#10;        &lt;Text style={{ fontSize: 22, fontWeight: 'bold', color: '#0E3F8C' }}&gt;详解：按需生成 + 落库缓存&lt;/Text&gt;&#10;        &lt;Box style={{ flexDirection: 'row', alignItems: 'center', gap: 12 }}&gt;&#10;            &lt;Box style={{ width: 220, height: 66, background: '#3D7BD9', borderRadius: 7, justifyContent: 'center', alignItems: 'center' }}&gt;&#10;                &lt;Text style={{ fontSize: 19, color: '#FFFFFF', fontWeight: 'bold' }}&gt;首次生成&lt;/Text&gt;&#10;            &lt;/Box&gt;&#10;            &lt;Box style={{ width: 24, height: 3, background: '#3D7BD9' }} /&gt;&#10;            &lt;Box style={{ width: 11, height: 11, background: '#3D7BD9', borderRadius: 2, transform: 'rotate(45deg)' }} /&gt;&#10;            &lt;Box style={{ width: 220, height: 66, background: '#3D7BD9', borderRadius: 7, justifyContent: 'center', alignItems: 'center' }}&gt;&#10;                &lt;Text style={{ fontSize: 19, color: '#FFFFFF', fontWeight: 'bold' }}&gt;写入缓存&lt;/Text&gt;&#10;            &lt;/Box&gt;&#10;            &lt;Box style={{ width: 24, height: 3, background: '#3D7BD9' }} /&gt;&#10;            &lt;Box style={{ width: 11, height: 11, background: '#3D7BD9', borderRadius: 2, transform: 'rotate(45deg)' }} /&gt;&#10;            &lt;Box style={{ flex: 1, height: 66, background: '#FFFFFF', border: '1px solid #D6DCE5', borderRadius: 7, padding: '0 16px', justifyContent: 'center' }}&gt;&#10;                &lt;Text style={{ fontSize: 15, color: '#4A5568', lineHeight: 1.6 }}&gt;再次查看：直接命中缓存&lt;/Text&gt;&#10;            &lt;/Box&gt;&#10;        &lt;/Box&gt;&#10;        &lt;Box style={{ flex: 1, background: '#E8EFF8', borderRadius: 6, padding: 14, justifyContent: 'center' }}&gt;&#10;            &lt;Text style={{ fontSize: 15, color: '#0E3F8C', lineHeight: 1.7 }}&gt;&#10;                &lt;b&gt;详解没有退路&lt;/b&gt; —— 答案对错由学科事实决定，编一个参考答案比不给更糟。&#10;                所以这一环宁可不给，也不乱给；出题那一步有模板兜底，是因为题错了可以再出一张。&#10;            &lt;/Text&gt;&#10;        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有退路的地方要退得干脆，没退路的地方宁可停下来 —— 两种情况都是设计，不是意外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10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10544175" y="190500"/>
            <a:ext cx="1266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解法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④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工程完备性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模型写不出来的时候，题也不会停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退路是提前设计好的，不是临时打补丁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381000" y="1581150"/>
            <a:ext cx="11430000" cy="2095500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552450" y="1752600"/>
            <a:ext cx="1108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PingFang SC"/>
                <a:ea typeface="PingFang SC"/>
              </a:rPr>
              <a:t>出题：模型写题</a:t>
            </a:r>
            <a:r>
              <a:rPr lang="en-US" sz="1650" b="1">
                <a:solidFill>
                  <a:srgbClr val="0E3F8C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650" b="1">
                <a:solidFill>
                  <a:srgbClr val="0E3F8C"/>
                </a:solidFill>
                <a:latin typeface="PingFang SC"/>
                <a:ea typeface="PingFang SC"/>
              </a:rPr>
              <a:t>校验</a:t>
            </a:r>
            <a:r>
              <a:rPr lang="en-US" sz="1650" b="1">
                <a:solidFill>
                  <a:srgbClr val="0E3F8C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650" b="1">
                <a:solidFill>
                  <a:srgbClr val="0E3F8C"/>
                </a:solidFill>
                <a:latin typeface="PingFang SC"/>
                <a:ea typeface="PingFang SC"/>
              </a:rPr>
              <a:t>成题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552450" y="2124075"/>
            <a:ext cx="1905000" cy="628650"/>
          </a:xfrm>
          <a:prstGeom prst="roundRect">
            <a:avLst>
              <a:gd name="adj" fmla="val 1060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123950" y="2324100"/>
            <a:ext cx="762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PingFang SC"/>
                <a:ea typeface="PingFang SC"/>
              </a:rPr>
              <a:t>模型出题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2571750" y="2428875"/>
            <a:ext cx="2286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" name=""/>
          <p:cNvSpPr/>
          <p:nvPr/>
        </p:nvSpPr>
        <p:spPr>
          <a:xfrm rot="0" flipH="0" flipV="0">
            <a:off x="3133725" y="2124075"/>
            <a:ext cx="1905000" cy="628650"/>
          </a:xfrm>
          <a:prstGeom prst="roundRect">
            <a:avLst>
              <a:gd name="adj" fmla="val 1060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3705225" y="2324100"/>
            <a:ext cx="762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PingFang SC"/>
                <a:ea typeface="PingFang SC"/>
              </a:rPr>
              <a:t>解析校验</a:t>
            </a:r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5153025" y="2428875"/>
            <a:ext cx="2286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" name=""/>
          <p:cNvSpPr/>
          <p:nvPr/>
        </p:nvSpPr>
        <p:spPr>
          <a:xfrm rot="0" flipH="0" flipV="0">
            <a:off x="5715000" y="2124075"/>
            <a:ext cx="1905000" cy="628650"/>
          </a:xfrm>
          <a:prstGeom prst="roundRect">
            <a:avLst>
              <a:gd name="adj" fmla="val 1060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286500" y="2324100"/>
            <a:ext cx="762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PingFang SC"/>
                <a:ea typeface="PingFang SC"/>
              </a:rPr>
              <a:t>成题入库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7734300" y="2124075"/>
            <a:ext cx="3905250" cy="628650"/>
          </a:xfrm>
          <a:prstGeom prst="roundRect">
            <a:avLst>
              <a:gd name="adj" fmla="val 1060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886700" y="2162175"/>
            <a:ext cx="36004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解析失败或写坏</a:t>
            </a:r>
            <a:r>
              <a:rPr lang="en-US" sz="1125">
                <a:solidFill>
                  <a:srgbClr val="0E3F8C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退回模板题，</a:t>
            </a: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绝不抛异常</a:t>
            </a: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。一条误区只出一道题，不重复刷</a:t>
            </a:r>
            <a:endParaRPr/>
          </a:p>
        </p:txBody>
      </p:sp>
      <p:grpSp>
        <p:nvGrpSpPr>
          <p:cNvPr id="39" name=""/>
          <p:cNvGrpSpPr/>
          <p:nvPr/>
        </p:nvGrpSpPr>
        <p:grpSpPr>
          <a:xfrm rot="2700000" flipH="0" flipV="0">
            <a:off x="2914650" y="2390775"/>
            <a:ext cx="104775" cy="104775"/>
            <a:chOff x="2914650" y="2390775"/>
            <a:chExt cx="104775" cy="104775"/>
          </a:xfrm>
        </p:grpSpPr>
        <p:sp>
          <p:nvSpPr>
            <p:cNvPr id="40" name=""/>
            <p:cNvSpPr/>
            <p:nvPr/>
          </p:nvSpPr>
          <p:spPr>
            <a:xfrm rot="0" flipH="0" flipV="0">
              <a:off x="2914650" y="2390775"/>
              <a:ext cx="104775" cy="104775"/>
            </a:xfrm>
            <a:prstGeom prst="roundRect">
              <a:avLst>
                <a:gd name="adj" fmla="val 18182"/>
              </a:avLst>
            </a:prstGeom>
            <a:solidFill>
              <a:srgbClr val="1E4FA8"/>
            </a:solidFill>
            <a:ln/>
          </p:spPr>
          <p:txBody>
            <a:bodyPr/>
            <a:p/>
          </p:txBody>
        </p:sp>
      </p:grpSp>
      <p:grpSp>
        <p:nvGrpSpPr>
          <p:cNvPr id="41" name=""/>
          <p:cNvGrpSpPr/>
          <p:nvPr/>
        </p:nvGrpSpPr>
        <p:grpSpPr>
          <a:xfrm rot="2700000" flipH="0" flipV="0">
            <a:off x="5495925" y="2390775"/>
            <a:ext cx="104775" cy="104775"/>
            <a:chOff x="5495925" y="2390775"/>
            <a:chExt cx="104775" cy="104775"/>
          </a:xfrm>
        </p:grpSpPr>
        <p:sp>
          <p:nvSpPr>
            <p:cNvPr id="42" name=""/>
            <p:cNvSpPr/>
            <p:nvPr/>
          </p:nvSpPr>
          <p:spPr>
            <a:xfrm rot="0" flipH="0" flipV="0">
              <a:off x="5495925" y="2390775"/>
              <a:ext cx="104775" cy="104775"/>
            </a:xfrm>
            <a:prstGeom prst="roundRect">
              <a:avLst>
                <a:gd name="adj" fmla="val 18182"/>
              </a:avLst>
            </a:prstGeom>
            <a:solidFill>
              <a:srgbClr val="1E4FA8"/>
            </a:solidFill>
            <a:ln/>
          </p:spPr>
          <p:txBody>
            <a:bodyPr/>
            <a:p/>
          </p:txBody>
        </p:sp>
      </p:grpSp>
      <p:sp>
        <p:nvSpPr>
          <p:cNvPr id="43" name=""/>
          <p:cNvSpPr/>
          <p:nvPr/>
        </p:nvSpPr>
        <p:spPr>
          <a:xfrm rot="0" flipH="0" flipV="0">
            <a:off x="381000" y="3848100"/>
            <a:ext cx="11430000" cy="2209800"/>
          </a:xfrm>
          <a:prstGeom prst="roundRect">
            <a:avLst>
              <a:gd name="adj" fmla="val 34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552450" y="4019550"/>
            <a:ext cx="1108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PingFang SC"/>
                <a:ea typeface="PingFang SC"/>
              </a:rPr>
              <a:t>详解：按需生成</a:t>
            </a:r>
            <a:r>
              <a:rPr lang="en-US" sz="1650" b="1">
                <a:solidFill>
                  <a:srgbClr val="0E3F8C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650" b="1">
                <a:solidFill>
                  <a:srgbClr val="0E3F8C"/>
                </a:solidFill>
                <a:latin typeface="PingFang SC"/>
                <a:ea typeface="PingFang SC"/>
              </a:rPr>
              <a:t>落库缓存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552450" y="4391025"/>
            <a:ext cx="2095500" cy="628650"/>
          </a:xfrm>
          <a:prstGeom prst="roundRect">
            <a:avLst>
              <a:gd name="adj" fmla="val 1060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238250" y="4600575"/>
            <a:ext cx="723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首次生成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2762250" y="4695825"/>
            <a:ext cx="228600" cy="2857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8" name=""/>
          <p:cNvSpPr/>
          <p:nvPr/>
        </p:nvSpPr>
        <p:spPr>
          <a:xfrm rot="0" flipH="0" flipV="0">
            <a:off x="3324225" y="4391025"/>
            <a:ext cx="2095500" cy="628650"/>
          </a:xfrm>
          <a:prstGeom prst="roundRect">
            <a:avLst>
              <a:gd name="adj" fmla="val 1060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4010025" y="4600575"/>
            <a:ext cx="723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写入缓存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5534025" y="4695825"/>
            <a:ext cx="228600" cy="2857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0" y="4391025"/>
            <a:ext cx="5543550" cy="628650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248400" y="4572000"/>
            <a:ext cx="523875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再次查看：直接命中缓存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552450" y="5133975"/>
            <a:ext cx="11087100" cy="752475"/>
          </a:xfrm>
          <a:prstGeom prst="roundRect">
            <a:avLst>
              <a:gd name="adj" fmla="val 759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85800" y="5362575"/>
            <a:ext cx="10820400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详解没有退路</a:t>
            </a:r>
            <a:r>
              <a:rPr lang="en-US" sz="1125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答案对错由学科事实决定，编一个参考答案比不给更糟。</a:t>
            </a:r>
            <a:r>
              <a:rPr lang="en-US" sz="1125">
                <a:solidFill>
                  <a:srgbClr val="0E3F8C"/>
                </a:solidFill>
                <a:latin typeface="PingFang SC"/>
                <a:ea typeface="PingFang SC"/>
              </a:rPr>
              <a:t xml:space="preserve"> </a:t>
            </a: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所以这一环宁可不给，也不乱给；出题那一步有模板兜底，是因为题错了可以再出一张。</a:t>
            </a:r>
            <a:endParaRPr/>
          </a:p>
        </p:txBody>
      </p:sp>
      <p:grpSp>
        <p:nvGrpSpPr>
          <p:cNvPr id="55" name=""/>
          <p:cNvGrpSpPr/>
          <p:nvPr/>
        </p:nvGrpSpPr>
        <p:grpSpPr>
          <a:xfrm rot="2700000" flipH="0" flipV="0">
            <a:off x="3105150" y="4657725"/>
            <a:ext cx="104775" cy="104775"/>
            <a:chOff x="3105150" y="4657725"/>
            <a:chExt cx="104775" cy="104775"/>
          </a:xfrm>
        </p:grpSpPr>
        <p:sp>
          <p:nvSpPr>
            <p:cNvPr id="56" name=""/>
            <p:cNvSpPr/>
            <p:nvPr/>
          </p:nvSpPr>
          <p:spPr>
            <a:xfrm rot="0" flipH="0" flipV="0">
              <a:off x="3105150" y="4657725"/>
              <a:ext cx="104775" cy="104775"/>
            </a:xfrm>
            <a:prstGeom prst="roundRect">
              <a:avLst>
                <a:gd name="adj" fmla="val 18182"/>
              </a:avLst>
            </a:prstGeom>
            <a:solidFill>
              <a:srgbClr val="3D7BD9"/>
            </a:solidFill>
            <a:ln/>
          </p:spPr>
          <p:txBody>
            <a:bodyPr/>
            <a:p/>
          </p:txBody>
        </p:sp>
      </p:grpSp>
      <p:grpSp>
        <p:nvGrpSpPr>
          <p:cNvPr id="57" name=""/>
          <p:cNvGrpSpPr/>
          <p:nvPr/>
        </p:nvGrpSpPr>
        <p:grpSpPr>
          <a:xfrm rot="2700000" flipH="0" flipV="0">
            <a:off x="5876925" y="4657725"/>
            <a:ext cx="104775" cy="104775"/>
            <a:chOff x="5876925" y="4657725"/>
            <a:chExt cx="104775" cy="104775"/>
          </a:xfrm>
        </p:grpSpPr>
        <p:sp>
          <p:nvSpPr>
            <p:cNvPr id="58" name=""/>
            <p:cNvSpPr/>
            <p:nvPr/>
          </p:nvSpPr>
          <p:spPr>
            <a:xfrm rot="0" flipH="0" flipV="0">
              <a:off x="5876925" y="4657725"/>
              <a:ext cx="104775" cy="104775"/>
            </a:xfrm>
            <a:prstGeom prst="roundRect">
              <a:avLst>
                <a:gd name="adj" fmla="val 18182"/>
              </a:avLst>
            </a:prstGeom>
            <a:solidFill>
              <a:srgbClr val="3D7BD9"/>
            </a:solidFill>
            <a:ln/>
          </p:spPr>
          <p:txBody>
            <a:bodyPr/>
            <a:p/>
          </p:txBody>
        </p:sp>
      </p:grpSp>
      <p:sp>
        <p:nvSpPr>
          <p:cNvPr id="59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7000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有退路的地方要退得干脆，没退路的地方宁可停下来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两种情况都是设计，不是意外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11372850" y="6610350"/>
            <a:ext cx="152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10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 name="11 技术·学习闭环｜答完这一题，决定下次什么时候再见到它">
    <p:spTree>
      <p:nvGrpSpPr>
        <p:cNvPr id="66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解法 ⑤ · 学习闭环&lt;/Text&gt;&#10;    &lt;/Box&gt;&#10;    &lt;Box style={{ position: 'absolute', top: 56, left: 40, width: 1200, height: 92, flexDirection: 'column', justifyContent: 'center', gap: 8 }}&gt;&#10;        &lt;Text style={{ fontSize: 34, fontWeight: 'bold', color: '#0E3F8C' }}&gt;答完这一题，决定下次什么时候再见到它&lt;/Text&gt;&#10;        &lt;Text style={{ fontSize: 19, color: '#4A5568' }}&gt;四档自评 → 掌握度增减 → 到期重排 —— 全部可复算&lt;/Text&gt;&#10;    &lt;/Box&gt;&#10;&#10;&lt;Box style={{ position: 'absolute', top: 190, left: 700, width: 540, height: 66, background: '#F7F9FC', border: '1px solid #D6DCE5', borderRadius: 6, flexDirection: 'row', alignItems: 'center', padding: '0 18px', gap: 14 }}&gt;&#10;                &lt;Box style={{ width: 6, height: 34, background: '#D9534F' }} /&gt;&#10;                &lt;Text style={{ fontSize: 20, fontWeight: 'bold', color: '#0E3F8C', fontFamily: 'SF Mono, Menlo, monospace', width: 80 }}&gt;again&lt;/Text&gt;&#10;                &lt;Text style={{ fontSize: 16, color: '#4A5568', width: 84 }}&gt;忘了&lt;/Text&gt;&#10;                &lt;Text style={{ fontSize: 22, fontWeight: 'bold', color: '#D9534F', width: 70, fontFamily: 'SF Mono, Menlo, monospace' }}&gt;−10&lt;/Text&gt;&#10;                &lt;Text style={{ fontSize: 16, color: '#1A2230' }}&gt;掌握度&lt;/Text&gt;&#10;                &lt;Box style={{ flex: 1 }} /&gt;&#10;                &lt;Text style={{ fontSize: 20, fontWeight: 'bold', color: '#0E3F8C', fontFamily: 'SF Mono, Menlo, monospace' }}&gt;立即&lt;/Text&gt;&#10;                &lt;Text style={{ fontSize: 14, color: '#8B97A8' }}&gt;后再见&lt;/Text&gt;&#10;            &lt;/Box&gt;&#10;&lt;Box style={{ position: 'absolute', top: 268, left: 700, width: 540, height: 66, background: '#F7F9FC', border: '1px solid #D6DCE5', borderRadius: 6, flexDirection: 'row', alignItems: 'center', padding: '0 18px', gap: 14 }}&gt;&#10;                &lt;Box style={{ width: 6, height: 34, background: '#E5B54B' }} /&gt;&#10;                &lt;Text style={{ fontSize: 20, fontWeight: 'bold', color: '#0E3F8C', fontFamily: 'SF Mono, Menlo, monospace', width: 80 }}&gt;hard&lt;/Text&gt;&#10;                &lt;Text style={{ fontSize: 16, color: '#4A5568', width: 84 }}&gt;有点难&lt;/Text&gt;&#10;                &lt;Text style={{ fontSize: 22, fontWeight: 'bold', color: '#E5B54B', width: 70, fontFamily: 'SF Mono, Menlo, monospace' }}&gt;−3&lt;/Text&gt;&#10;                &lt;Text style={{ fontSize: 16, color: '#1A2230' }}&gt;掌握度&lt;/Text&gt;&#10;                &lt;Box style={{ flex: 1 }} /&gt;&#10;                &lt;Text style={{ fontSize: 20, fontWeight: 'bold', color: '#0E3F8C', fontFamily: 'SF Mono, Menlo, monospace' }}&gt;1 天&lt;/Text&gt;&#10;                &lt;Text style={{ fontSize: 14, color: '#8B97A8' }}&gt;后再见&lt;/Text&gt;&#10;            &lt;/Box&gt;&#10;&lt;Box style={{ position: 'absolute', top: 346, left: 700, width: 540, height: 66, background: '#F7F9FC', border: '1px solid #D6DCE5', borderRadius: 6, flexDirection: 'row', alignItems: 'center', padding: '0 18px', gap: 14 }}&gt;&#10;                &lt;Box style={{ width: 6, height: 34, background: '#3D7BD9' }} /&gt;&#10;                &lt;Text style={{ fontSize: 20, fontWeight: 'bold', color: '#0E3F8C', fontFamily: 'SF Mono, Menlo, monospace', width: 80 }}&gt;good&lt;/Text&gt;&#10;                &lt;Text style={{ fontSize: 16, color: '#4A5568', width: 84 }}&gt;掌握了&lt;/Text&gt;&#10;                &lt;Text style={{ fontSize: 22, fontWeight: 'bold', color: '#3D7BD9', width: 70, fontFamily: 'SF Mono, Menlo, monospace' }}&gt;+5&lt;/Text&gt;&#10;                &lt;Text style={{ fontSize: 16, color: '#1A2230' }}&gt;掌握度&lt;/Text&gt;&#10;                &lt;Box style={{ flex: 1 }} /&gt;&#10;                &lt;Text style={{ fontSize: 20, fontWeight: 'bold', color: '#0E3F8C', fontFamily: 'SF Mono, Menlo, monospace' }}&gt;3 天&lt;/Text&gt;&#10;                &lt;Text style={{ fontSize: 14, color: '#8B97A8' }}&gt;后再见&lt;/Text&gt;&#10;            &lt;/Box&gt;&#10;&lt;Box style={{ position: 'absolute', top: 424, left: 700, width: 540, height: 66, background: '#F7F9FC', border: '1px solid #D6DCE5', borderRadius: 6, flexDirection: 'row', alignItems: 'center', padding: '0 18px', gap: 14 }}&gt;&#10;                &lt;Box style={{ width: 6, height: 34, background: '#1E4FA8' }} /&gt;&#10;                &lt;Text style={{ fontSize: 20, fontWeight: 'bold', color: '#0E3F8C', fontFamily: 'SF Mono, Menlo, monospace', width: 80 }}&gt;easy&lt;/Text&gt;&#10;                &lt;Text style={{ fontSize: 16, color: '#4A5568', width: 84 }}&gt;太简单&lt;/Text&gt;&#10;                &lt;Text style={{ fontSize: 22, fontWeight: 'bold', color: '#1E4FA8', width: 70, fontFamily: 'SF Mono, Menlo, monospace' }}&gt;+10&lt;/Text&gt;&#10;                &lt;Text style={{ fontSize: 16, color: '#1A2230' }}&gt;掌握度&lt;/Text&gt;&#10;                &lt;Box style={{ flex: 1 }} /&gt;&#10;                &lt;Text style={{ fontSize: 20, fontWeight: 'bold', color: '#0E3F8C', fontFamily: 'SF Mono, Menlo, monospace' }}&gt;7 天&lt;/Text&gt;&#10;                &lt;Text style={{ fontSize: 14, color: '#8B97A8' }}&gt;后再见&lt;/Text&gt;&#10;            &lt;/Box&gt;&#10;    &lt;Box style={{ position: 'absolute', top: 160, left: 40, width: 620, height: 476, background: '#F7F9FC', border: '1px solid #D6DCE5', borderRadius: 8, padding: 20, gap: 14 }}&gt;&#10;        &lt;Text style={{ fontSize: 24, fontWeight: 'bold', color: '#0E3F8C' }}&gt;自评 → 掌握度增减 → 到期重排&lt;/Text&gt;&#10;        &lt;Box style={{ flex: 1, background: '#FFFFFF', border: '2px solid #1E4FA8', borderRadius: 10, margin: '14px 70px', justifyContent: 'center', alignItems: 'center', gap: 6 }}&gt;&#10;            &lt;Text style={{ fontSize: 46, fontWeight: 'bold', color: '#0E3F8C' }}&gt;0 – 100&lt;/Text&gt;&#10;            &lt;Text style={{ fontSize: 16, color: '#4A5568' }}&gt;掌握度区间，夹紧不外溢&lt;/Text&gt;&#10;        &lt;/Box&gt;&#10;        &lt;Box style={{ background: '#E8EFF8', borderRadius: 6, padding: 14, gap: 6 }}&gt;&#10;            &lt;Text style={{ fontSize: 15, color: '#0E3F8C', lineHeight: 1.7 }}&gt;&#10;                整个排期是&lt;b&gt;纯函数&lt;/b&gt;：给定当前掌握度与自评档位，算出下次到期时间。&#10;                不调模型、不随机 —— 所以它能被单测覆盖，也能被复算。&#10;            &lt;/Text&gt;&#10;        &lt;/Box&gt;&#10;    &lt;/Box&gt;&#10;&#10;    &lt;Box style={{ position: 'absolute', top: 160, left: 690, width: 550, height: 476 }}&gt;&#10;        &lt;Text style={{ fontSize: 24, fontWeight: 'bold', color: '#0E3F8C', marginBottom: 8 }}&gt;四档自评 → 间隔&lt;/Text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复习计划不是模型「建议」的，是按规则算出来的 —— 同样的输入永远得到同样的排期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11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70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0677525" y="190500"/>
            <a:ext cx="1133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解法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⑤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学习闭环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答完这一题，决定下次什么时候再见到它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四档自评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掌握度增减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到期重排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全部可复算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6667500" y="1809750"/>
            <a:ext cx="5143500" cy="62865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6" name=""/>
          <p:cNvSpPr/>
          <p:nvPr/>
        </p:nvSpPr>
        <p:spPr>
          <a:xfrm rot="0" flipH="0" flipV="0">
            <a:off x="6838950" y="1962150"/>
            <a:ext cx="57150" cy="32385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7029450" y="2009775"/>
            <a:ext cx="762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SF Mono"/>
                <a:ea typeface="SF Mono"/>
              </a:rPr>
              <a:t>again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924800" y="2028825"/>
            <a:ext cx="800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忘了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8858250" y="2000250"/>
            <a:ext cx="666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D9534F"/>
                </a:solidFill>
                <a:latin typeface="SF Mono"/>
                <a:ea typeface="SF Mono"/>
              </a:rPr>
              <a:t>−10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9658350" y="2028825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掌握度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10725150" y="2009775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SF Mono"/>
                <a:ea typeface="SF Mono"/>
              </a:rPr>
              <a:t>立即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11239500" y="204787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后再见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6667500" y="2552700"/>
            <a:ext cx="5143500" cy="62865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4" name=""/>
          <p:cNvSpPr/>
          <p:nvPr/>
        </p:nvSpPr>
        <p:spPr>
          <a:xfrm rot="0" flipH="0" flipV="0">
            <a:off x="6838950" y="2705100"/>
            <a:ext cx="57150" cy="323850"/>
          </a:xfrm>
          <a:prstGeom prst="rect">
            <a:avLst/>
          </a:prstGeom>
          <a:solidFill>
            <a:srgbClr val="E5B54B"/>
          </a:solidFill>
          <a:ln/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7029450" y="2752725"/>
            <a:ext cx="762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SF Mono"/>
                <a:ea typeface="SF Mono"/>
              </a:rPr>
              <a:t>hard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7924800" y="2771775"/>
            <a:ext cx="800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有点难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8858250" y="2743200"/>
            <a:ext cx="666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E5B54B"/>
                </a:solidFill>
                <a:latin typeface="SF Mono"/>
                <a:ea typeface="SF Mono"/>
              </a:rPr>
              <a:t>−3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9658350" y="2771775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掌握度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0677525" y="2752725"/>
            <a:ext cx="428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SF Mono"/>
                <a:ea typeface="SF Mono"/>
              </a:rPr>
              <a:t xml:space="preserve">1 </a:t>
            </a:r>
            <a:r>
              <a:rPr lang="zh-CN" sz="1500" b="1">
                <a:solidFill>
                  <a:srgbClr val="0E3F8C"/>
                </a:solidFill>
                <a:latin typeface="SF Mono"/>
                <a:ea typeface="SF Mono"/>
              </a:rPr>
              <a:t>天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11239500" y="279082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后再见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6667500" y="3295650"/>
            <a:ext cx="5143500" cy="62865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2" name=""/>
          <p:cNvSpPr/>
          <p:nvPr/>
        </p:nvSpPr>
        <p:spPr>
          <a:xfrm rot="0" flipH="0" flipV="0">
            <a:off x="6838950" y="3448050"/>
            <a:ext cx="57150" cy="3238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7029450" y="3495675"/>
            <a:ext cx="762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SF Mono"/>
                <a:ea typeface="SF Mono"/>
              </a:rPr>
              <a:t>good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7924800" y="3514725"/>
            <a:ext cx="800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掌握了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8858250" y="3486150"/>
            <a:ext cx="666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3D7BD9"/>
                </a:solidFill>
                <a:latin typeface="SF Mono"/>
                <a:ea typeface="SF Mono"/>
              </a:rPr>
              <a:t>+5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9658350" y="3514725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掌握度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0677525" y="3495675"/>
            <a:ext cx="428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SF Mono"/>
                <a:ea typeface="SF Mono"/>
              </a:rPr>
              <a:t xml:space="preserve">3 </a:t>
            </a:r>
            <a:r>
              <a:rPr lang="zh-CN" sz="1500" b="1">
                <a:solidFill>
                  <a:srgbClr val="0E3F8C"/>
                </a:solidFill>
                <a:latin typeface="SF Mono"/>
                <a:ea typeface="SF Mono"/>
              </a:rPr>
              <a:t>天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1239500" y="353377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后再见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6667500" y="4038600"/>
            <a:ext cx="5143500" cy="62865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0" name=""/>
          <p:cNvSpPr/>
          <p:nvPr/>
        </p:nvSpPr>
        <p:spPr>
          <a:xfrm rot="0" flipH="0" flipV="0">
            <a:off x="6838950" y="4191000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7029450" y="4238625"/>
            <a:ext cx="762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SF Mono"/>
                <a:ea typeface="SF Mono"/>
              </a:rPr>
              <a:t>easy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924800" y="4257675"/>
            <a:ext cx="800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太简单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8858250" y="4229100"/>
            <a:ext cx="666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E4FA8"/>
                </a:solidFill>
                <a:latin typeface="SF Mono"/>
                <a:ea typeface="SF Mono"/>
              </a:rPr>
              <a:t>+10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9658350" y="4257675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掌握度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0677525" y="4238625"/>
            <a:ext cx="428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SF Mono"/>
                <a:ea typeface="SF Mono"/>
              </a:rPr>
              <a:t xml:space="preserve">7 </a:t>
            </a:r>
            <a:r>
              <a:rPr lang="zh-CN" sz="1500" b="1">
                <a:solidFill>
                  <a:srgbClr val="0E3F8C"/>
                </a:solidFill>
                <a:latin typeface="SF Mono"/>
                <a:ea typeface="SF Mono"/>
              </a:rPr>
              <a:t>天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11239500" y="427672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后再见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381000" y="1524000"/>
            <a:ext cx="5905500" cy="4533900"/>
          </a:xfrm>
          <a:prstGeom prst="roundRect">
            <a:avLst>
              <a:gd name="adj" fmla="val 168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571500" y="1714500"/>
            <a:ext cx="5524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自评</a:t>
            </a:r>
            <a:r>
              <a:rPr lang="en-US" sz="1800" b="1">
                <a:solidFill>
                  <a:srgbClr val="0E3F8C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掌握度增减</a:t>
            </a:r>
            <a:r>
              <a:rPr lang="en-US" sz="1800" b="1">
                <a:solidFill>
                  <a:srgbClr val="0E3F8C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到期重排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1238250" y="2257425"/>
            <a:ext cx="4191000" cy="2486025"/>
          </a:xfrm>
          <a:prstGeom prst="roundRect">
            <a:avLst>
              <a:gd name="adj" fmla="val 3831"/>
            </a:avLst>
          </a:prstGeom>
          <a:solidFill>
            <a:srgbClr val="FFFFFF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2524125" y="3114675"/>
            <a:ext cx="16287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0E3F8C"/>
                </a:solidFill>
                <a:latin typeface="PingFang SC"/>
                <a:ea typeface="PingFang SC"/>
              </a:rPr>
              <a:t>0 – 100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2495550" y="3705225"/>
            <a:ext cx="167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掌握度区间，夹紧不外溢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571500" y="5010150"/>
            <a:ext cx="5524500" cy="857250"/>
          </a:xfrm>
          <a:prstGeom prst="roundRect">
            <a:avLst>
              <a:gd name="adj" fmla="val 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704850" y="5143500"/>
            <a:ext cx="52578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整个排期是</a:t>
            </a: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纯函数</a:t>
            </a: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：给定当前掌握度与自评档位，算出下次到期时间。</a:t>
            </a:r>
            <a:r>
              <a:rPr lang="en-US" sz="1125">
                <a:solidFill>
                  <a:srgbClr val="0E3F8C"/>
                </a:solidFill>
                <a:latin typeface="PingFang SC"/>
                <a:ea typeface="PingFang SC"/>
              </a:rPr>
              <a:t xml:space="preserve"> </a:t>
            </a: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不调模型、不随机</a:t>
            </a:r>
            <a:r>
              <a:rPr lang="en-US" sz="1125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125">
                <a:solidFill>
                  <a:srgbClr val="0E3F8C"/>
                </a:solidFill>
                <a:latin typeface="PingFang SC"/>
                <a:ea typeface="PingFang SC"/>
              </a:rPr>
              <a:t>所以它能被单测覆盖，也能被复算。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6572250" y="1524000"/>
            <a:ext cx="5238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四档自评</a:t>
            </a:r>
            <a:r>
              <a:rPr lang="en-US" sz="1800" b="1">
                <a:solidFill>
                  <a:srgbClr val="0E3F8C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间隔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6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7000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复习计划不是模型「建议」的，是按规则算出来的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同样的输入永远得到同样的排期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1401425" y="6610350"/>
            <a:ext cx="123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11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 name="12 技术·成本约束｜看不见的三件事，撑住上面所有能力">
    <p:spTree>
      <p:nvGrpSpPr>
        <p:cNvPr id="122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解法 ⑥ · 成本与约束&lt;/Text&gt;&#10;    &lt;/Box&gt;&#10;    &lt;Box style={{ position: 'absolute', top: 56, left: 40, width: 1200, height: 92, flexDirection: 'column', justifyContent: 'center', gap: 8 }}&gt;&#10;        &lt;Text style={{ fontSize: 34, fontWeight: 'bold', color: '#0E3F8C' }}&gt;看不见的三件事，撑住上面所有能力&lt;/Text&gt;&#10;        &lt;Text style={{ fontSize: 19, color: '#4A5568' }}&gt;上下文、预算、护栏 —— 用户看不到，但少了任何一样系统都会垮&lt;/Text&gt;&#10;    &lt;/Box&gt;&#10;&#10;&lt;Box style={{ position: 'absolute', top: 160, left: 40, width: 384, height: 480, background: '#F7F9FC', border: '1px solid #D6DCE5', borderRadius: 8, padding: 22, flexDirection: 'column', gap: 12 }}&gt;&#10;            &lt;Box style={{ width: 46, height: 46, background: '#1E4FA8', borderRadius: 6, justifyContent: 'center', alignItems: 'center' }}&gt;&#10;                &lt;Text style={{ fontSize: 24, color: '#FFFFFF', fontWeight: 'bold' }}&gt;1&lt;/Text&gt;&#10;            &lt;/Box&gt;&#10;            &lt;Text style={{ fontSize: 25, fontWeight: 'bold', color: '#0E3F8C' }}&gt;上下文压缩&lt;/Text&gt;&#10;            &lt;Text style={{ fontSize: 16, color: '#3D7BD9', fontWeight: 'bold' }}&gt;24 条上限 · 保留最近 14 条&lt;/Text&gt;&#10;            &lt;Text style={{ fontSize: 15, color: '#4A5568', lineHeight: 1.75 }}&gt;只从整轮边界裁剪，不拆散「工具调用—结果」配对；摘要用抽取式，240 字以内，不额外调模型。&lt;/Text&gt;&#10;            &lt;Box style={{ flex: 1, background: '#E8EFF8', borderRadius: 5, padding: 12, justifyContent: 'center' }}&gt;&#10;                &lt;Text style={{ fontSize: 14, color: '#0E3F8C', lineHeight: 1.65 }}&gt;拆散了模型会看到孤立的结果并报错 —— 这是踩过的坑&lt;/Text&gt;&#10;            &lt;/Box&gt;&#10;        &lt;/Box&gt;&#10;&lt;Box style={{ position: 'absolute', top: 160, left: 448, width: 384, height: 480, background: '#F7F9FC', border: '1px solid #D6DCE5', borderRadius: 8, padding: 22, flexDirection: 'column', gap: 12 }}&gt;&#10;            &lt;Box style={{ width: 46, height: 46, background: '#1E4FA8', borderRadius: 6, justifyContent: 'center', alignItems: 'center' }}&gt;&#10;                &lt;Text style={{ fontSize: 24, color: '#FFFFFF', fontWeight: 'bold' }}&gt;2&lt;/Text&gt;&#10;            &lt;/Box&gt;&#10;            &lt;Text style={{ fontSize: 25, fontWeight: 'bold', color: '#0E3F8C' }}&gt;模型路由与预算&lt;/Text&gt;&#10;            &lt;Text style={{ fontSize: 16, color: '#3D7BD9', fontWeight: 'bold' }}&gt;按意图与复杂度选档位&lt;/Text&gt;&#10;            &lt;Text style={{ fontSize: 15, color: '#4A5568', lineHeight: 1.75 }}&gt;每次调用记 token，当日超预算直接阻止真实调用；简单意图走小模型，复杂请求走大模型。&lt;/Text&gt;&#10;            &lt;Box style={{ flex: 1, background: '#E8EFF8', borderRadius: 5, padding: 12, justifyContent: 'center' }}&gt;&#10;                &lt;Text style={{ fontSize: 14, color: '#0E3F8C', lineHeight: 1.65 }}&gt;省的是不该省的地方，不是在关键处省&lt;/Text&gt;&#10;            &lt;/Box&gt;&#10;        &lt;/Box&gt;&#10;&lt;Box style={{ position: 'absolute', top: 160, left: 856, width: 384, height: 480, background: '#F7F9FC', border: '1px solid #D6DCE5', borderRadius: 8, padding: 22, flexDirection: 'column', gap: 12 }}&gt;&#10;            &lt;Box style={{ width: 46, height: 46, background: '#1E4FA8', borderRadius: 6, justifyContent: 'center', alignItems: 'center' }}&gt;&#10;                &lt;Text style={{ fontSize: 24, color: '#FFFFFF', fontWeight: 'bold' }}&gt;3&lt;/Text&gt;&#10;            &lt;/Box&gt;&#10;            &lt;Text style={{ fontSize: 25, fontWeight: 'bold', color: '#0E3F8C' }}&gt;护栏&lt;/Text&gt;&#10;            &lt;Text style={{ fontSize: 16, color: '#3D7BD9', fontWeight: 'bold' }}&gt;输入拦越界与注入 · 输出拦泄漏&lt;/Text&gt;&#10;            &lt;Text style={{ fontSize: 15, color: '#4A5568', lineHeight: 1.75 }}&gt;规则写成纯函数，可单测。系统提示词与内部工具标识符出现在正文里会被拦下。&lt;/Text&gt;&#10;            &lt;Box style={{ flex: 1, background: '#E8EFF8', borderRadius: 5, padding: 12, justifyContent: 'center' }}&gt;&#10;                &lt;Text style={{ fontSize: 14, color: '#0E3F8C', lineHeight: 1.65 }}&gt;不靠模型自觉 —— 自觉不是工程手段&lt;/Text&gt;&#10;            &lt;/Box&gt;&#10;    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这三件事决定系统能撑多久 —— 而它们全都不在界面上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12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4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10544175" y="190500"/>
            <a:ext cx="1266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解法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⑥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成本与约束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看不见的三件事，撑住上面所有能力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上下文、预算、护栏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用户看不到，但少了任何一样系统都会垮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381000" y="1524000"/>
            <a:ext cx="3657600" cy="4572000"/>
          </a:xfrm>
          <a:prstGeom prst="roundRect">
            <a:avLst>
              <a:gd name="adj" fmla="val 208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32" name=""/>
          <p:cNvSpPr/>
          <p:nvPr/>
        </p:nvSpPr>
        <p:spPr>
          <a:xfrm rot="0" flipH="0" flipV="0">
            <a:off x="590550" y="1733550"/>
            <a:ext cx="438150" cy="438150"/>
          </a:xfrm>
          <a:prstGeom prst="roundRect">
            <a:avLst>
              <a:gd name="adj" fmla="val 1304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762000" y="1819275"/>
            <a:ext cx="952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590550" y="2286000"/>
            <a:ext cx="32385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0E3F8C"/>
                </a:solidFill>
                <a:latin typeface="PingFang SC"/>
                <a:ea typeface="PingFang SC"/>
              </a:rPr>
              <a:t>上下文压缩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590550" y="2686050"/>
            <a:ext cx="3238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3D7BD9"/>
                </a:solidFill>
                <a:latin typeface="PingFang SC"/>
                <a:ea typeface="PingFang SC"/>
              </a:rPr>
              <a:t xml:space="preserve">24 </a:t>
            </a:r>
            <a:r>
              <a:rPr lang="zh-CN" sz="1200" b="1">
                <a:solidFill>
                  <a:srgbClr val="3D7BD9"/>
                </a:solidFill>
                <a:latin typeface="PingFang SC"/>
                <a:ea typeface="PingFang SC"/>
              </a:rPr>
              <a:t>条上限</a:t>
            </a:r>
            <a:r>
              <a:rPr lang="en-US" sz="1200" b="1">
                <a:solidFill>
                  <a:srgbClr val="3D7BD9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200" b="1">
                <a:solidFill>
                  <a:srgbClr val="3D7BD9"/>
                </a:solidFill>
                <a:latin typeface="PingFang SC"/>
                <a:ea typeface="PingFang SC"/>
              </a:rPr>
              <a:t>保留最近</a:t>
            </a:r>
            <a:r>
              <a:rPr lang="en-US" sz="1200" b="1">
                <a:solidFill>
                  <a:srgbClr val="3D7BD9"/>
                </a:solidFill>
                <a:latin typeface="PingFang SC"/>
                <a:ea typeface="PingFang SC"/>
              </a:rPr>
              <a:t xml:space="preserve"> 14 </a:t>
            </a:r>
            <a:r>
              <a:rPr lang="zh-CN" sz="1200" b="1">
                <a:solidFill>
                  <a:srgbClr val="3D7BD9"/>
                </a:solidFill>
                <a:latin typeface="PingFang SC"/>
                <a:ea typeface="PingFang SC"/>
              </a:rPr>
              <a:t>条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590550" y="2990850"/>
            <a:ext cx="32385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只从整轮边界裁剪，不拆散「工具调用—结果」配对；摘要用抽取式，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240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字以内，不额外调模型。</a:t>
            </a:r>
            <a:endParaRPr/>
          </a:p>
        </p:txBody>
      </p:sp>
      <p:sp>
        <p:nvSpPr>
          <p:cNvPr id="137" name=""/>
          <p:cNvSpPr/>
          <p:nvPr/>
        </p:nvSpPr>
        <p:spPr>
          <a:xfrm rot="0" flipH="0" flipV="0">
            <a:off x="590550" y="3705225"/>
            <a:ext cx="3238500" cy="2181225"/>
          </a:xfrm>
          <a:prstGeom prst="roundRect">
            <a:avLst>
              <a:gd name="adj" fmla="val 218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704850" y="4533900"/>
            <a:ext cx="30099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拆散了模型会看到孤立的结果并报错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这是踩过的坑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4267200" y="1524000"/>
            <a:ext cx="3657600" cy="4572000"/>
          </a:xfrm>
          <a:prstGeom prst="roundRect">
            <a:avLst>
              <a:gd name="adj" fmla="val 208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4476750" y="1733550"/>
            <a:ext cx="438150" cy="438150"/>
          </a:xfrm>
          <a:prstGeom prst="roundRect">
            <a:avLst>
              <a:gd name="adj" fmla="val 1304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4629150" y="1819275"/>
            <a:ext cx="1428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476750" y="2286000"/>
            <a:ext cx="32385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0E3F8C"/>
                </a:solidFill>
                <a:latin typeface="PingFang SC"/>
                <a:ea typeface="PingFang SC"/>
              </a:rPr>
              <a:t>模型路由与预算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4476750" y="2686050"/>
            <a:ext cx="3238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3D7BD9"/>
                </a:solidFill>
                <a:latin typeface="PingFang SC"/>
                <a:ea typeface="PingFang SC"/>
              </a:rPr>
              <a:t>按意图与复杂度选档位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4476750" y="2990850"/>
            <a:ext cx="32385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每次调用记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token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，当日超预算直接阻止真实调用；简单意图走小模型，复杂请求走大模型。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4476750" y="3705225"/>
            <a:ext cx="3238500" cy="2181225"/>
          </a:xfrm>
          <a:prstGeom prst="roundRect">
            <a:avLst>
              <a:gd name="adj" fmla="val 218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4591050" y="4667250"/>
            <a:ext cx="3009900" cy="2667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省的是不该省的地方，不是在关键处省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8153400" y="1524000"/>
            <a:ext cx="3657600" cy="4572000"/>
          </a:xfrm>
          <a:prstGeom prst="roundRect">
            <a:avLst>
              <a:gd name="adj" fmla="val 208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8" name=""/>
          <p:cNvSpPr/>
          <p:nvPr/>
        </p:nvSpPr>
        <p:spPr>
          <a:xfrm rot="0" flipH="0" flipV="0">
            <a:off x="8362950" y="1733550"/>
            <a:ext cx="438150" cy="438150"/>
          </a:xfrm>
          <a:prstGeom prst="roundRect">
            <a:avLst>
              <a:gd name="adj" fmla="val 1304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8515350" y="1819275"/>
            <a:ext cx="1428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8362950" y="2286000"/>
            <a:ext cx="32385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0E3F8C"/>
                </a:solidFill>
                <a:latin typeface="PingFang SC"/>
                <a:ea typeface="PingFang SC"/>
              </a:rPr>
              <a:t>护栏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8362950" y="2686050"/>
            <a:ext cx="3238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3D7BD9"/>
                </a:solidFill>
                <a:latin typeface="PingFang SC"/>
                <a:ea typeface="PingFang SC"/>
              </a:rPr>
              <a:t>输入拦越界与注入</a:t>
            </a:r>
            <a:r>
              <a:rPr lang="en-US" sz="1200" b="1">
                <a:solidFill>
                  <a:srgbClr val="3D7BD9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200" b="1">
                <a:solidFill>
                  <a:srgbClr val="3D7BD9"/>
                </a:solidFill>
                <a:latin typeface="PingFang SC"/>
                <a:ea typeface="PingFang SC"/>
              </a:rPr>
              <a:t>输出拦泄漏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8362950" y="2990850"/>
            <a:ext cx="32385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规则写成纯函数，可单测。系统提示词与内部工具标识符出现在正文里会被拦下。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8362950" y="3705225"/>
            <a:ext cx="3238500" cy="2181225"/>
          </a:xfrm>
          <a:prstGeom prst="roundRect">
            <a:avLst>
              <a:gd name="adj" fmla="val 218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8477250" y="4667250"/>
            <a:ext cx="3009900" cy="2667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不靠模型自觉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自觉不是工程手段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6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7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44672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这三件事决定系统能撑多久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而它们全都不在界面上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11372850" y="6610350"/>
            <a:ext cx="152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12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 name="13 证据｜怎么证明它今天没比昨天变笨">
    <p:spTree>
      <p:nvGrpSpPr>
        <p:cNvPr id="162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证据 · 怎么判断今天没比昨天变笨&lt;/Text&gt;&#10;    &lt;/Box&gt;&#10;    &lt;Box style={{ position: 'absolute', top: 56, left: 40, width: 1200, height: 92, flexDirection: 'column', justifyContent: 'center', gap: 8 }}&gt;&#10;        &lt;Text style={{ fontSize: 34, fontWeight: 'bold', color: '#0E3F8C' }}&gt;怎么证明它没坏&lt;/Text&gt;&#10;        &lt;Text style={{ fontSize: 19, color: '#4A5568' }}&gt;不是「我觉得挺准」，是每次改动都能复跑同一份考卷&lt;/Text&gt;&#10;    &lt;/Box&gt;&#10;&#10;    &lt;Box style={{ position: 'absolute', top: 162, left: 40, width: 1200, height: 236, flexDirection: 'row', gap: 16 }}&gt;&#10;        &lt;Box style={{ flex: 1, background: '#F7F9FC', border: '1px solid #D6DCE5', borderRadius: 8, padding: 20, gap: 12, justifyContent: 'center' }}&gt;&#10;            &lt;Text style={{ fontSize: 22, fontWeight: 'bold', color: '#0E3F8C' }}&gt;固定考卷&lt;/Text&gt;&#10;            &lt;Box style={{ flexDirection: 'row', alignItems: 'flex-end', gap: 8 }}&gt;&#10;                &lt;Text style={{ fontSize: 56, fontWeight: 'bold', color: '#1E4FA8', lineHeight: 1.05 }}&gt;35&lt;/Text&gt;&#10;                &lt;Text style={{ fontSize: 20, color: '#4A5568', marginBottom: 8 }}&gt;题检索 + 15 句意图&lt;/Text&gt;&#10;            &lt;/Box&gt;&#10;            &lt;Text style={{ fontSize: 15, color: '#4A5568', lineHeight: 1.7 }}&gt;每题标注正确片段（gold），覆盖同义换词与短词考点&lt;/Text&gt;&#10;        &lt;/Box&gt;&#10;        &lt;Box style={{ flex: 1, background: '#F7F9FC', border: '1px solid #D6DCE5', borderRadius: 8, padding: 20, gap: 12, justifyContent: 'center' }}&gt;&#10;            &lt;Text style={{ fontSize: 22, fontWeight: 'bold', color: '#0E3F8C' }}&gt;基线门禁&lt;/Text&gt;&#10;            &lt;Box style={{ flexDirection: 'row', alignItems: 'flex-end', gap: 8 }}&gt;&#10;                &lt;Text style={{ fontSize: 56, fontWeight: 'bold', color: '#1E4FA8', lineHeight: 1.05 }}&gt;0.05&lt;/Text&gt;&#10;                &lt;Text style={{ fontSize: 20, color: '#4A5568', marginBottom: 8 }}&gt;容差&lt;/Text&gt;&#10;            &lt;/Box&gt;&#10;            &lt;Text style={{ fontSize: 15, color: '#4A5568', lineHeight: 1.7 }}&gt;掉出容差，命令返回非零 —— 能直接进提交前检查&lt;/Text&gt;&#10;        &lt;/Box&gt;&#10;        &lt;Box style={{ flex: 1, background: '#F7F9FC', border: '1px solid #D6DCE5', borderRadius: 8, padding: 20, gap: 12, justifyContent: 'center' }}&gt;&#10;            &lt;Text style={{ fontSize: 22, fontWeight: 'bold', color: '#0E3F8C' }}&gt;当前水平&lt;/Text&gt;&#10;            &lt;Box style={{ flexDirection: 'row', alignItems: 'flex-end', gap: 8 }}&gt;&#10;                &lt;Text style={{ fontSize: 56, fontWeight: 'bold', color: '#0E3F8C', lineHeight: 1.05 }}&gt;0.9714&lt;/Text&gt;&#10;                &lt;Text style={{ fontSize: 20, color: '#4A5568', marginBottom: 8 }}&gt;Hit@3 = MRR&lt;/Text&gt;&#10;            &lt;/Box&gt;&#10;            &lt;Text style={{ fontSize: 15, color: '#4A5568', lineHeight: 1.7 }}&gt;意图准确率 1.0；接真实向量 35 题全中&lt;/Text&gt;&#10;        &lt;/Box&gt;&#10;    &lt;/Box&gt;&#10;&#10;    &lt;Box style={{ position: 'absolute', top: 412, left: 40, width: 1200, height: 224, flexDirection: 'row', gap: 16 }}&gt;&#10;        &lt;Box style={{ flex: 1, background: '#F7F9FC', border: '1px solid #D6DCE5', borderRadius: 8, padding: 20, gap: 10 }}&gt;&#10;            &lt;Text style={{ fontSize: 24, fontWeight: 'bold', color: '#0E3F8C' }}&gt;消融：机制有用，当场可见&lt;/Text&gt;&#10;            &lt;Box style={{ flexDirection: 'row', alignItems: 'center', gap: 16, marginTop: 6 }}&gt;&#10;                &lt;Box style={{ background: '#1E4FA8', borderRadius: 6, padding: '10px 18px' }}&gt;&#10;                    &lt;Text style={{ fontSize: 26, fontWeight: 'bold', color: '#FFFFFF', fontFamily: 'SF Mono, Menlo, monospace' }}&gt;0.9714&lt;/Text&gt;&#10;                &lt;/Box&gt;&#10;                &lt;Text style={{ fontSize: 20, color: '#8B97A8' }}&gt;→&lt;/Text&gt;&#10;                &lt;Box style={{ background: '#D9534F', borderRadius: 6, padding: '10px 18px' }}&gt;&#10;                    &lt;Text style={{ fontSize: 26, fontWeight: 'bold', color: '#FFFFFF', fontFamily: 'SF Mono, Menlo, monospace' }}&gt;0.9571&lt;/Text&gt;&#10;                &lt;/Box&gt;&#10;                &lt;Text style={{ fontSize: 16, color: '#4A5568', flex: 1 }}&gt;关掉词面精排，MRR 立刻掉下来 —— 不需要「我觉得更好」&lt;/Text&gt;&#10;            &lt;/Box&gt;&#10;            &lt;Text style={{ fontSize: 15, color: '#4A5568', lineHeight: 1.7 }}&gt;&#10;                评测用确定性向量（同版本任何人跑出同样分数），有基线 JSON 与容差门禁；接真实向量复验 35 题全中。&#10;            &lt;/Text&gt;&#10;        &lt;/Box&gt;&#10;        &lt;Box style={{ flex: 1, background: '#F7F9FC', border: '1px solid #D6DCE5', borderRadius: 8, padding: 20, gap: 10 }}&gt;&#10;            &lt;Text style={{ fontSize: 24, fontWeight: 'bold', color: '#0E3F8C' }}&gt;还能测出「变差」吗&lt;/Text&gt;&#10;            &lt;Text style={{ fontSize: 15, color: '#4A5568', lineHeight: 1.75 }}&gt;&#10;                目前只能测「找到没」和「分类对不对」，&lt;b&gt;测不了「这次复习到底有没有用」&lt;/b&gt;。&#10;            &lt;/Text&gt;&#10;            &lt;Box style={{ flex: 1, background: '#E8EFF8', borderRadius: 5, padding: 12, justifyContent: 'center' }}&gt;&#10;                &lt;Text style={{ fontSize: 14, color: '#0E3F8C', lineHeight: 1.65 }}&gt;&#10;                    下一步要补任务级成功率，并用 pass^k 看稳定性 —— 报 pass@1 会把「偶尔能成」包装成「稳定可用」。&#10;                &lt;/Text&gt;&#10;            &lt;/Box&gt;&#10;        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评测的价值不在分数高，在&lt;b&gt;分数掉了能立刻知道&lt;/b&gt; —— 这是它能进 CI 的前提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13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4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9782175" y="190500"/>
            <a:ext cx="2028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证据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怎么判断今天没比昨天变笨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怎么证明它没坏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不是「我觉得挺准」，是每次改动都能复跑同一份考卷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381000" y="1543050"/>
            <a:ext cx="3705225" cy="2247900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571500" y="1790700"/>
            <a:ext cx="33242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PingFang SC"/>
                <a:ea typeface="PingFang SC"/>
              </a:rPr>
              <a:t>固定考卷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571500" y="2162175"/>
            <a:ext cx="647700" cy="6762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200" b="1">
                <a:solidFill>
                  <a:srgbClr val="1E4FA8"/>
                </a:solidFill>
                <a:latin typeface="PingFang SC"/>
                <a:ea typeface="PingFang SC"/>
              </a:rPr>
              <a:t>35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1295400" y="2533650"/>
            <a:ext cx="1647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PingFang SC"/>
                <a:ea typeface="PingFang SC"/>
              </a:rPr>
              <a:t>题检索</a:t>
            </a:r>
            <a:r>
              <a:rPr lang="en-US" sz="1500">
                <a:solidFill>
                  <a:srgbClr val="4A5568"/>
                </a:solidFill>
                <a:latin typeface="PingFang SC"/>
                <a:ea typeface="PingFang SC"/>
              </a:rPr>
              <a:t xml:space="preserve"> + 15 </a:t>
            </a:r>
            <a:r>
              <a:rPr lang="zh-CN" sz="1500">
                <a:solidFill>
                  <a:srgbClr val="4A5568"/>
                </a:solidFill>
                <a:latin typeface="PingFang SC"/>
                <a:ea typeface="PingFang SC"/>
              </a:rPr>
              <a:t>句意图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571500" y="2952750"/>
            <a:ext cx="33242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每题标注正确片段（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>gold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），覆盖同义换词与短词考点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4238625" y="1543050"/>
            <a:ext cx="3714750" cy="2247900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4429125" y="1943100"/>
            <a:ext cx="3333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PingFang SC"/>
                <a:ea typeface="PingFang SC"/>
              </a:rPr>
              <a:t>基线门禁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4429125" y="2314575"/>
            <a:ext cx="1114425" cy="6762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200" b="1">
                <a:solidFill>
                  <a:srgbClr val="1E4FA8"/>
                </a:solidFill>
                <a:latin typeface="PingFang SC"/>
                <a:ea typeface="PingFang SC"/>
              </a:rPr>
              <a:t>0.05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5619750" y="268605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PingFang SC"/>
                <a:ea typeface="PingFang SC"/>
              </a:rPr>
              <a:t>容差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4429125" y="3105150"/>
            <a:ext cx="3333750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掉出容差，命令返回非零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能直接进提交前检查</a:t>
            </a:r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8105775" y="1543050"/>
            <a:ext cx="3705225" cy="2247900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8296275" y="1943100"/>
            <a:ext cx="33242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PingFang SC"/>
                <a:ea typeface="PingFang SC"/>
              </a:rPr>
              <a:t>当前水平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8296275" y="2314575"/>
            <a:ext cx="1628775" cy="6762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200" b="1">
                <a:solidFill>
                  <a:srgbClr val="0E3F8C"/>
                </a:solidFill>
                <a:latin typeface="PingFang SC"/>
                <a:ea typeface="PingFang SC"/>
              </a:rPr>
              <a:t>0.9714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10001250" y="2686050"/>
            <a:ext cx="1200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4A5568"/>
                </a:solidFill>
                <a:latin typeface="PingFang SC"/>
                <a:ea typeface="PingFang SC"/>
              </a:rPr>
              <a:t>Hit@3 = MRR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8296275" y="3105150"/>
            <a:ext cx="332422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意图准确率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1.0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；接真实向量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35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题全中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381000" y="3924300"/>
            <a:ext cx="5638800" cy="2133600"/>
          </a:xfrm>
          <a:prstGeom prst="roundRect">
            <a:avLst>
              <a:gd name="adj" fmla="val 357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71500" y="4114800"/>
            <a:ext cx="5257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消融：机制有用，当场可见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571500" y="4543425"/>
            <a:ext cx="1238250" cy="495300"/>
          </a:xfrm>
          <a:prstGeom prst="roundRect">
            <a:avLst>
              <a:gd name="adj" fmla="val 11538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742950" y="4638675"/>
            <a:ext cx="8953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SF Mono"/>
                <a:ea typeface="SF Mono"/>
              </a:rPr>
              <a:t>0.9714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1962150" y="467677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8B97A8"/>
                </a:solidFill>
                <a:latin typeface="PingFang SC"/>
                <a:ea typeface="PingFang SC"/>
              </a:rPr>
              <a:t>→</a:t>
            </a:r>
            <a:endParaRPr/>
          </a:p>
        </p:txBody>
      </p:sp>
      <p:sp>
        <p:nvSpPr>
          <p:cNvPr id="191" name=""/>
          <p:cNvSpPr/>
          <p:nvPr/>
        </p:nvSpPr>
        <p:spPr>
          <a:xfrm rot="0" flipH="0" flipV="0">
            <a:off x="2305050" y="4543425"/>
            <a:ext cx="1238250" cy="495300"/>
          </a:xfrm>
          <a:prstGeom prst="roundRect">
            <a:avLst>
              <a:gd name="adj" fmla="val 11538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2476500" y="4638675"/>
            <a:ext cx="8953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SF Mono"/>
                <a:ea typeface="SF Mono"/>
              </a:rPr>
              <a:t>0.9571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3695700" y="4695825"/>
            <a:ext cx="2133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关掉词面精排，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 xml:space="preserve">MRR 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立刻掉下来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不需要「我觉得更好」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571500" y="5133975"/>
            <a:ext cx="52578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评测用确定性向量（同版本任何人跑出同样分数），有基线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JSON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与容差门禁；接真实向量复验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35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题全中。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6172200" y="3924300"/>
            <a:ext cx="5638800" cy="2133600"/>
          </a:xfrm>
          <a:prstGeom prst="roundRect">
            <a:avLst>
              <a:gd name="adj" fmla="val 357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6362700" y="4114800"/>
            <a:ext cx="5257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还能测出「变差」吗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362700" y="4486275"/>
            <a:ext cx="5257800" cy="3048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目前只能测「找到没」和「分类对不对」，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测不了「这次复习到底有没有用」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6362700" y="4886325"/>
            <a:ext cx="5257800" cy="981075"/>
          </a:xfrm>
          <a:prstGeom prst="roundRect">
            <a:avLst>
              <a:gd name="adj" fmla="val 485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6477000" y="5114925"/>
            <a:ext cx="50292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下一步要补任务级成功率，并用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 pass^k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看稳定性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报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 pass@1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会把「偶尔能成」包装成「稳定可用」。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01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2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603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评测的价值不在分数高，在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分数掉了能立刻知道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这是它能进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CI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的前提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1372850" y="6610350"/>
            <a:ext cx="152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13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 name="14 边界｜六项能力：两项达标，三项一半，一项没做">
    <p:spTree>
      <p:nvGrpSpPr>
        <p:cNvPr id="207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边界 · 诚实清单&lt;/Text&gt;&#10;    &lt;/Box&gt;&#10;    &lt;Box style={{ position: 'absolute', top: 56, left: 40, width: 1200, height: 92, flexDirection: 'column', justifyContent: 'center', gap: 8 }}&gt;&#10;        &lt;Text style={{ fontSize: 34, fontWeight: 'bold', color: '#0E3F8C' }}&gt;六项能力：两项达标，三项一半，一项没做&lt;/Text&gt;&#10;        &lt;Text style={{ fontSize: 19, color: '#4A5568' }}&gt;把没做的说出来，比多做一点更有用 —— 这是下一步的排序依据&lt;/Text&gt;&#10;    &lt;/Box&gt;&#10;&#10;&lt;Box style={{ position: 'absolute', top: 186, left: 40, width: 1200, height: 54, background: '#F7F9FC', border: '1px solid #D6DCE5', borderRadius: 5, flexDirection: 'row', alignItems: 'center', padding: '0 20px', gap: 18 }}&gt;&#10;                &lt;Text style={{ fontSize: 21, fontWeight: 'bold', color: '#0E3F8C', width: 244 }}&gt;中断可恢复&lt;/Text&gt;&#10;                &lt;Box style={{ width: 72, height: 30, background: '#1E4FA8', borderRadius: 4, justifyContent: 'center', alignItems: 'center' }}&gt;&#10;                    &lt;Text style={{ fontSize: 16, color: '#FFFFFF', fontWeight: 'bold' }}&gt;达标&lt;/Text&gt;&#10;                &lt;/Box&gt;&#10;                &lt;Text style={{ fontSize: 16, color: '#4A5568', flex: 1 }}&gt;状态图 + 检查点 + 中断恢复，孤儿线程级联清理&lt;/Text&gt;&#10;            &lt;/Box&gt;&#10;&lt;Box style={{ position: 'absolute', top: 250, left: 40, width: 1200, height: 54, background: '#FFFFFF', border: '1px solid #D6DCE5', borderRadius: 5, flexDirection: 'row', alignItems: 'center', padding: '0 20px', gap: 18 }}&gt;&#10;                &lt;Text style={{ fontSize: 21, fontWeight: 'bold', color: '#0E3F8C', width: 244 }}&gt;检索准确可追溯&lt;/Text&gt;&#10;                &lt;Box style={{ width: 72, height: 30, background: '#1E4FA8', borderRadius: 4, justifyContent: 'center', alignItems: 'center' }}&gt;&#10;                    &lt;Text style={{ fontSize: 16, color: '#FFFFFF', fontWeight: 'bold' }}&gt;达标&lt;/Text&gt;&#10;                &lt;/Box&gt;&#10;                &lt;Text style={{ fontSize: 16, color: '#4A5568', flex: 1 }}&gt;35 题考卷，真实向量 35/35，引用精确到页&lt;/Text&gt;&#10;            &lt;/Box&gt;&#10;&lt;Box style={{ position: 'absolute', top: 314, left: 40, width: 1200, height: 54, background: '#F7F9FC', border: '1px solid #D6DCE5', borderRadius: 5, flexDirection: 'row', alignItems: 'center', padding: '0 20px', gap: 18 }}&gt;&#10;                &lt;Text style={{ fontSize: 21, fontWeight: 'bold', color: '#0E3F8C', width: 244 }}&gt;工具执行治理&lt;/Text&gt;&#10;                &lt;Box style={{ width: 72, height: 30, background: '#E5B54B', borderRadius: 4, justifyContent: 'center', alignItems: 'center' }}&gt;&#10;                    &lt;Text style={{ fontSize: 16, color: '#FFFFFF', fontWeight: 'bold' }}&gt;一半&lt;/Text&gt;&#10;                &lt;/Box&gt;&#10;                &lt;Text style={{ fontSize: 16, color: '#4A5568', flex: 1 }}&gt;有双层权限、超时退避、并发与失败转消息；缺参数级约束&lt;/Text&gt;&#10;            &lt;/Box&gt;&#10;&lt;Box style={{ position: 'absolute', top: 378, left: 40, width: 1200, height: 54, background: '#FFFFFF', border: '1px solid #D6DCE5', borderRadius: 5, flexDirection: 'row', alignItems: 'center', padding: '0 20px', gap: 18 }}&gt;&#10;                &lt;Text style={{ fontSize: 21, fontWeight: 'bold', color: '#0E3F8C', width: 244 }}&gt;长上下文管理&lt;/Text&gt;&#10;                &lt;Box style={{ width: 72, height: 30, background: '#E5B54B', borderRadius: 4, justifyContent: 'center', alignItems: 'center' }}&gt;&#10;                    &lt;Text style={{ fontSize: 16, color: '#FFFFFF', fontWeight: 'bold' }}&gt;一半&lt;/Text&gt;&#10;                &lt;/Box&gt;&#10;                &lt;Text style={{ fontSize: 16, color: '#4A5568', flex: 1 }}&gt;有抽取式摘要与预算控制；缺关键事实外置成结构化笔记&lt;/Text&gt;&#10;            &lt;/Box&gt;&#10;&lt;Box style={{ position: 'absolute', top: 442, left: 40, width: 1200, height: 54, background: '#F7F9FC', border: '1px solid #D6DCE5', borderRadius: 5, flexDirection: 'row', alignItems: 'center', padding: '0 20px', gap: 18 }}&gt;&#10;                &lt;Text style={{ fontSize: 21, fontWeight: 'bold', color: '#0E3F8C', width: 244 }}&gt;长期记忆&lt;/Text&gt;&#10;                &lt;Box style={{ width: 72, height: 30, background: '#E5B54B', borderRadius: 4, justifyContent: 'center', alignItems: 'center' }}&gt;&#10;                    &lt;Text style={{ fontSize: 16, color: '#FFFFFF', fontWeight: 'bold' }}&gt;一半&lt;/Text&gt;&#10;                &lt;/Box&gt;&#10;                &lt;Text style={{ fontSize: 16, color: '#4A5568', flex: 1 }}&gt;按课程隔离、写入前确认；缺过期、替换与删除机制&lt;/Text&gt;&#10;            &lt;/Box&gt;&#10;&lt;Box style={{ position: 'absolute', top: 506, left: 40, width: 1200, height: 54, background: '#FFFFFF', border: '1px solid #D6DCE5', borderRadius: 5, flexDirection: 'row', alignItems: 'center', padding: '0 20px', gap: 18 }}&gt;&#10;                &lt;Text style={{ fontSize: 21, fontWeight: 'bold', color: '#0E3F8C', width: 244 }}&gt;任务级成功率评测&lt;/Text&gt;&#10;                &lt;Box style={{ width: 72, height: 30, background: '#D9534F', borderRadius: 4, justifyContent: 'center', alignItems: 'center' }}&gt;&#10;                    &lt;Text style={{ fontSize: 16, color: '#FFFFFF', fontWeight: 'bold' }}&gt;没做&lt;/Text&gt;&#10;                &lt;/Box&gt;&#10;                &lt;Text style={{ fontSize: 16, color: '#4A5568', flex: 1 }}&gt;考卷只测「找到没」「分类对不对」，不测「复习有没有用」&lt;/Text&gt;&#10;            &lt;/Box&gt;&#10;    &lt;Box style={{ position: 'absolute', top: 162, left: 40, width: 1200, flexDirection: 'row', gap: 18, paddingBottom: 6 }}&gt;&#10;        &lt;Text style={{ fontSize: 16, color: '#8B97A8', width: 244, paddingLeft: 20 }}&gt;能力项&lt;/Text&gt;&#10;        &lt;Text style={{ fontSize: 16, color: '#8B97A8', width: 72, textAlign: 'center' }}&gt;状态&lt;/Text&gt;&#10;        &lt;Text style={{ fontSize: 16, color: '#8B97A8', flex: 1 }}&gt;依据 / 还缺什么&lt;/Text&gt;&#10;    &lt;/Box&gt;&#10;&#10;    &lt;Box style={{ position: 'absolute', top: 578, left: 40, width: 1200, height: 58, background: '#E8EFF8', borderRadius: 6, flexDirection: 'row', alignItems: 'center', padding: '0 20px', gap: 12 }}&gt;&#10;        &lt;Text style={{ fontSize: 18, color: '#0E3F8C', fontWeight: 'bold' }}&gt;下一步排序：&lt;/Text&gt;&#10;        &lt;Text style={{ fontSize: 18, color: '#0E3F8C' }}&gt;① 任务级成功率评测　② 记忆的过期与删除　③ 更难的检索考卷&lt;/Text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另外四项也标为「计划中」：多用户与数据隔离、在线监控聚合面板、Reranker 重排、反思式自我批判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14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9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211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0848975" y="190500"/>
            <a:ext cx="96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边界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诚实清单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六项能力：两项达标，三项一半，一项没做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把没做的说出来，比多做一点更有用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这是下一步的排序依据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381000" y="1771650"/>
            <a:ext cx="11430000" cy="514350"/>
          </a:xfrm>
          <a:prstGeom prst="roundRect">
            <a:avLst>
              <a:gd name="adj" fmla="val 925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571500" y="1905000"/>
            <a:ext cx="23241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中断可恢复</a:t>
            </a:r>
            <a:endParaRPr/>
          </a:p>
        </p:txBody>
      </p:sp>
      <p:sp>
        <p:nvSpPr>
          <p:cNvPr id="218" name=""/>
          <p:cNvSpPr/>
          <p:nvPr/>
        </p:nvSpPr>
        <p:spPr>
          <a:xfrm rot="0" flipH="0" flipV="0">
            <a:off x="3067050" y="1885950"/>
            <a:ext cx="685800" cy="28575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3257550" y="1933575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达标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3924300" y="1933575"/>
            <a:ext cx="769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状态图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检查点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中断恢复，孤儿线程级联清理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381000" y="2381250"/>
            <a:ext cx="11430000" cy="51435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571500" y="2514600"/>
            <a:ext cx="23241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检索准确可追溯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3067050" y="2495550"/>
            <a:ext cx="685800" cy="28575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3257550" y="2543175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达标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3924300" y="2543175"/>
            <a:ext cx="769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 xml:space="preserve">35 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题考卷，真实向量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 xml:space="preserve"> 35/35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，引用精确到页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381000" y="2990850"/>
            <a:ext cx="11430000" cy="514350"/>
          </a:xfrm>
          <a:prstGeom prst="roundRect">
            <a:avLst>
              <a:gd name="adj" fmla="val 925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571500" y="3124200"/>
            <a:ext cx="23241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工具执行治理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3067050" y="3105150"/>
            <a:ext cx="685800" cy="285750"/>
          </a:xfrm>
          <a:prstGeom prst="roundRect">
            <a:avLst>
              <a:gd name="adj" fmla="val 13333"/>
            </a:avLst>
          </a:prstGeom>
          <a:solidFill>
            <a:srgbClr val="E5B54B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3257550" y="3152775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一半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3924300" y="3152775"/>
            <a:ext cx="769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有双层权限、超时退避、并发与失败转消息；缺参数级约束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381000" y="3600450"/>
            <a:ext cx="11430000" cy="51435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571500" y="3733800"/>
            <a:ext cx="23241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长上下文管理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3067050" y="3714750"/>
            <a:ext cx="685800" cy="285750"/>
          </a:xfrm>
          <a:prstGeom prst="roundRect">
            <a:avLst>
              <a:gd name="adj" fmla="val 13333"/>
            </a:avLst>
          </a:prstGeom>
          <a:solidFill>
            <a:srgbClr val="E5B54B"/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3257550" y="3762375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一半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3924300" y="3762375"/>
            <a:ext cx="769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有抽取式摘要与预算控制；缺关键事实外置成结构化笔记</a:t>
            </a:r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381000" y="4210050"/>
            <a:ext cx="11430000" cy="514350"/>
          </a:xfrm>
          <a:prstGeom prst="roundRect">
            <a:avLst>
              <a:gd name="adj" fmla="val 925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571500" y="4343400"/>
            <a:ext cx="23241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长期记忆</a:t>
            </a:r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3067050" y="4324350"/>
            <a:ext cx="685800" cy="285750"/>
          </a:xfrm>
          <a:prstGeom prst="roundRect">
            <a:avLst>
              <a:gd name="adj" fmla="val 13333"/>
            </a:avLst>
          </a:prstGeom>
          <a:solidFill>
            <a:srgbClr val="E5B54B"/>
          </a:solidFill>
          <a:ln/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3257550" y="4371975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一半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3924300" y="4371975"/>
            <a:ext cx="769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按课程隔离、写入前确认；缺过期、替换与删除机制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381000" y="4819650"/>
            <a:ext cx="11430000" cy="51435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571500" y="4953000"/>
            <a:ext cx="23241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任务级成功率评测</a:t>
            </a:r>
            <a:endParaRPr/>
          </a:p>
        </p:txBody>
      </p:sp>
      <p:sp>
        <p:nvSpPr>
          <p:cNvPr id="243" name=""/>
          <p:cNvSpPr/>
          <p:nvPr/>
        </p:nvSpPr>
        <p:spPr>
          <a:xfrm rot="0" flipH="0" flipV="0">
            <a:off x="3067050" y="4933950"/>
            <a:ext cx="685800" cy="285750"/>
          </a:xfrm>
          <a:prstGeom prst="roundRect">
            <a:avLst>
              <a:gd name="adj" fmla="val 13333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3257550" y="4981575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没做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3924300" y="4981575"/>
            <a:ext cx="769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考卷只测「找到没」「分类对不对」，不测「复习有没有用」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381000" y="1543050"/>
            <a:ext cx="2324100" cy="190500"/>
          </a:xfrm>
          <a:prstGeom prst="rect"/>
        </p:spPr>
        <p:txBody>
          <a:bodyPr wrap="none" lIns="142875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PingFang SC"/>
                <a:ea typeface="PingFang SC"/>
              </a:rPr>
              <a:t>能力项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2876550" y="1543050"/>
            <a:ext cx="685800" cy="1905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PingFang SC"/>
                <a:ea typeface="PingFang SC"/>
              </a:rPr>
              <a:t>状态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3733800" y="1543050"/>
            <a:ext cx="807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PingFang SC"/>
                <a:ea typeface="PingFang SC"/>
              </a:rPr>
              <a:t>依据</a:t>
            </a:r>
            <a:r>
              <a:rPr lang="en-US" sz="1200">
                <a:solidFill>
                  <a:srgbClr val="8B97A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200">
                <a:solidFill>
                  <a:srgbClr val="8B97A8"/>
                </a:solidFill>
                <a:latin typeface="PingFang SC"/>
                <a:ea typeface="PingFang SC"/>
              </a:rPr>
              <a:t>还缺什么</a:t>
            </a:r>
            <a:endParaRPr/>
          </a:p>
        </p:txBody>
      </p:sp>
      <p:sp>
        <p:nvSpPr>
          <p:cNvPr id="249" name=""/>
          <p:cNvSpPr/>
          <p:nvPr/>
        </p:nvSpPr>
        <p:spPr>
          <a:xfrm rot="0" flipH="0" flipV="0">
            <a:off x="381000" y="5505450"/>
            <a:ext cx="11430000" cy="552450"/>
          </a:xfrm>
          <a:prstGeom prst="roundRect">
            <a:avLst>
              <a:gd name="adj" fmla="val 1034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571500" y="5676900"/>
            <a:ext cx="102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PingFang SC"/>
                <a:ea typeface="PingFang SC"/>
              </a:rPr>
              <a:t>下一步排序：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1714500" y="5676900"/>
            <a:ext cx="4972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0E3F8C"/>
                </a:solidFill>
                <a:latin typeface="PingFang SC"/>
                <a:ea typeface="PingFang SC"/>
              </a:rPr>
              <a:t xml:space="preserve">① </a:t>
            </a:r>
            <a:r>
              <a:rPr lang="zh-CN" sz="1350">
                <a:solidFill>
                  <a:srgbClr val="0E3F8C"/>
                </a:solidFill>
                <a:latin typeface="PingFang SC"/>
                <a:ea typeface="PingFang SC"/>
              </a:rPr>
              <a:t>任务级成功率评测　②</a:t>
            </a:r>
            <a:r>
              <a:rPr lang="en-US" sz="1350">
                <a:solidFill>
                  <a:srgbClr val="0E3F8C"/>
                </a:solidFill>
                <a:latin typeface="PingFang SC"/>
                <a:ea typeface="PingFang SC"/>
              </a:rPr>
              <a:t xml:space="preserve"> </a:t>
            </a:r>
            <a:r>
              <a:rPr lang="zh-CN" sz="1350">
                <a:solidFill>
                  <a:srgbClr val="0E3F8C"/>
                </a:solidFill>
                <a:latin typeface="PingFang SC"/>
                <a:ea typeface="PingFang SC"/>
              </a:rPr>
              <a:t>记忆的过期与删除　③</a:t>
            </a:r>
            <a:r>
              <a:rPr lang="en-US" sz="1350">
                <a:solidFill>
                  <a:srgbClr val="0E3F8C"/>
                </a:solidFill>
                <a:latin typeface="PingFang SC"/>
                <a:ea typeface="PingFang SC"/>
              </a:rPr>
              <a:t xml:space="preserve"> </a:t>
            </a:r>
            <a:r>
              <a:rPr lang="zh-CN" sz="1350">
                <a:solidFill>
                  <a:srgbClr val="0E3F8C"/>
                </a:solidFill>
                <a:latin typeface="PingFang SC"/>
                <a:ea typeface="PingFang SC"/>
              </a:rPr>
              <a:t>更难的检索考卷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53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4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8258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另外四项也标为「计划中」：多用户与数据隔离、在线监控聚合面板、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Reranker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重排、反思式自我批判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1372850" y="6610350"/>
            <a:ext cx="152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14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 name="15 边界·下一步｜记忆是最弱的一环，也是最该先补的">
    <p:spTree>
      <p:nvGrpSpPr>
        <p:cNvPr id="259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边界 · 最该先补的&lt;/Text&gt;&#10;    &lt;/Box&gt;&#10;    &lt;Box style={{ position: 'absolute', top: 56, left: 40, width: 1200, height: 92, flexDirection: 'column', justifyContent: 'center', gap: 8 }}&gt;&#10;        &lt;Text style={{ fontSize: 34, fontWeight: 'bold', color: '#0E3F8C' }}&gt;记忆是最弱的一环，也是最该先补的&lt;/Text&gt;&#10;        &lt;Text style={{ fontSize: 19, color: '#4A5568' }}&gt;六项能力里唯一的「一半」里，问题最集中的地方&lt;/Text&gt;&#10;    &lt;/Box&gt;&#10;&#10;    &lt;Box style={{ position: 'absolute', top: 160, left: 40, width: 560, height: 476, flexDirection: 'column', gap: 14 }}&gt;&#10;        &lt;Text style={{ fontSize: 24, fontWeight: 'bold', color: '#0E3F8C' }}&gt;记忆为什么是最弱的一环&lt;/Text&gt;&#10;        &lt;Box style={{ background: '#F7F9FC', border: '1px solid #D6DCE5', borderRadius: 8, padding: 18, gap: 10 }}&gt;&#10;            &lt;Text style={{ fontSize: 16, color: '#4A5568', lineHeight: 1.75 }}&gt;&#10;                事实抽取用的是&lt;b&gt;正则规则&lt;/b&gt;（只认「记住：X」「我在准备 X」这类明确句式），抽取后&lt;b&gt;全量注入&lt;/b&gt;提示词。&#10;            &lt;/Text&gt;&#10;            &lt;Box style={{ background: '#FFF4F3', borderRadius: 5, padding: 12 }}&gt;&#10;                &lt;Text style={{ fontSize: 15, color: '#D9534F', lineHeight: 1.7 }}&gt;&#10;                    表里只有 created_at，没有有效状态。&lt;br /&gt;&#10;                    大二说「我在准备四级」、大三说「我在准备考研」——&lt;br /&gt;&#10;                    两条会同时注入，模型两件都当真。&#10;                &lt;/Text&gt;&#10;            &lt;/Box&gt;&#10;        &lt;/Box&gt;&#10;        &lt;Box style={{ flex: 1, background: '#E8EFF8', borderRadius: 8, padding: 18, gap: 8, justifyContent: 'center' }}&gt;&#10;            &lt;Text style={{ fontSize: 19, fontWeight: 'bold', color: '#0E3F8C' }}&gt;用得越久越脏&lt;/Text&gt;&#10;            &lt;Text style={{ fontSize: 15, color: '#4A5568', lineHeight: 1.75 }}&gt;&#10;                记忆是无条件注入的，过期记忆会污染每一次对话。LongMemEval（ICLR 2025）的结论也是&#10;                「简单记忆设计在时间推理上表现差」—— 这正是要补的短板。&#10;            &lt;/Text&gt;&#10;        &lt;/Box&gt;&#10;    &lt;/Box&gt;&#10;&#10;    &lt;Box style={{ position: 'absolute', top: 160, left: 620, width: 620, height: 476, background: '#F7F9FC', border: '1px solid #D6DCE5', borderRadius: 8, padding: 20, gap: 14 }}&gt;&#10;        &lt;Text style={{ fontSize: 24, fontWeight: 'bold', color: '#0E3F8C' }}&gt;记忆生命周期：三个状态&lt;/Text&gt;&#10;        &lt;Box style={{ gap: 10 }}&gt;&#10;            &lt;Box style={{ flexDirection: 'row', alignItems: 'center', gap: 12, background: '#FFFFFF', border: '1px solid #D6DCE5', borderRadius: 6, padding: 14 }}&gt;&#10;                &lt;Box style={{ width: 88, height: 40, background: '#1E4FA8', borderRadius: 5, justifyContent: 'center', alignItems: 'center' }}&gt;&#10;                    &lt;Text style={{ fontSize: 16, color: '#FFFFFF', fontWeight: 'bold' }}&gt;有效&lt;/Text&gt;&#10;                &lt;/Box&gt;&#10;                &lt;Text style={{ fontSize: 15, color: '#4A5568', flex: 1 }}&gt;当前成立、参与注入&lt;/Text&gt;&#10;            &lt;/Box&gt;&#10;            &lt;Box style={{ flexDirection: 'row', alignItems: 'center', gap: 12, background: '#FFFFFF', border: '1px solid #D6DCE5', borderRadius: 6, padding: 14 }}&gt;&#10;                &lt;Box style={{ width: 88, height: 40, background: '#E5B54B', borderRadius: 5, justifyContent: 'center', alignItems: 'center' }}&gt;&#10;                    &lt;Text style={{ fontSize: 16, color: '#FFFFFF', fontWeight: 'bold' }}&gt;被替代&lt;/Text&gt;&#10;                &lt;/Box&gt;&#10;                &lt;Text style={{ fontSize: 15, color: '#4A5568', flex: 1 }}&gt;同类新事实写入时，旧的自动让位&lt;/Text&gt;&#10;            &lt;/Box&gt;&#10;            &lt;Box style={{ flexDirection: 'row', alignItems: 'center', gap: 12, background: '#FFFFFF', border: '1px solid #D6DCE5', borderRadius: 6, padding: 14 }}&gt;&#10;                &lt;Box style={{ width: 88, height: 40, background: '#8B97A8', borderRadius: 5, justifyContent: 'center', alignItems: 'center' }}&gt;&#10;                    &lt;Text style={{ fontSize: 16, color: '#FFFFFF', fontWeight: 'bold' }}&gt;失效&lt;/Text&gt;&#10;                &lt;/Box&gt;&#10;                &lt;Text style={{ fontSize: 15, color: '#4A5568', flex: 1 }}&gt;到期或长期未被引用，不再注入&lt;/Text&gt;&#10;            &lt;/Box&gt;&#10;        &lt;/Box&gt;&#10;        &lt;Box style={{ flex: 1, background: '#E8EFF8', borderRadius: 6, padding: 16, justifyContent: 'center', gap: 6 }}&gt;&#10;            &lt;Text style={{ fontSize: 16, fontWeight: 'bold', color: '#0E3F8C' }}&gt;注入也要按需&lt;/Text&gt;&#10;            &lt;Text style={{ fontSize: 15, color: '#4A5568', lineHeight: 1.7 }}&gt;&#10;                不全量拼进提示词，而是复用项目里已有的四路召回，只取与当前问题相关的几条。&#10;            &lt;/Text&gt;&#10;        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下一步① 任务级评测　② 记忆的过期与删除　③ 更难的检索考卷 —— 都能在现有门禁里验证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15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1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0715625" y="190500"/>
            <a:ext cx="1095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边界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最该先补的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记忆是最弱的一环，也是最该先补的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六项能力里唯一的「一半」里，问题最集中的地方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381000" y="1524000"/>
            <a:ext cx="5334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记忆为什么是最弱的一环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381000" y="1933575"/>
            <a:ext cx="5334000" cy="2190750"/>
          </a:xfrm>
          <a:prstGeom prst="roundRect">
            <a:avLst>
              <a:gd name="adj" fmla="val 347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552450" y="2105025"/>
            <a:ext cx="4991100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事实抽取用的是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正则规则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（只认「记住：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X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」「我在准备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 xml:space="preserve"> X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」这类明确句式），抽取后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全量注入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提示词。</a:t>
            </a:r>
            <a:endParaRPr/>
          </a:p>
        </p:txBody>
      </p:sp>
      <p:sp>
        <p:nvSpPr>
          <p:cNvPr id="271" name=""/>
          <p:cNvSpPr/>
          <p:nvPr/>
        </p:nvSpPr>
        <p:spPr>
          <a:xfrm rot="0" flipH="0" flipV="0">
            <a:off x="552450" y="2847975"/>
            <a:ext cx="4991100" cy="1104900"/>
          </a:xfrm>
          <a:prstGeom prst="roundRect">
            <a:avLst>
              <a:gd name="adj" fmla="val 4310"/>
            </a:avLst>
          </a:prstGeom>
          <a:solidFill>
            <a:srgbClr val="FFF4F3"/>
          </a:solidFill>
          <a:ln/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666750" y="2962275"/>
            <a:ext cx="4762500" cy="87630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D9534F"/>
                </a:solidFill>
                <a:latin typeface="PingFang SC"/>
                <a:ea typeface="PingFang SC"/>
              </a:rPr>
              <a:t>表里只有</a:t>
            </a:r>
            <a:r>
              <a:rPr lang="en-US" sz="1125">
                <a:solidFill>
                  <a:srgbClr val="D9534F"/>
                </a:solidFill>
                <a:latin typeface="PingFang SC"/>
                <a:ea typeface="PingFang SC"/>
              </a:rPr>
              <a:t xml:space="preserve"> created_at</a:t>
            </a:r>
            <a:r>
              <a:rPr lang="zh-CN" sz="1125">
                <a:solidFill>
                  <a:srgbClr val="D9534F"/>
                </a:solidFill>
                <a:latin typeface="PingFang SC"/>
                <a:ea typeface="PingFang SC"/>
              </a:rPr>
              <a:t>，没有有效状态。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D9534F"/>
                </a:solidFill>
                <a:latin typeface="PingFang SC"/>
                <a:ea typeface="PingFang SC"/>
              </a:rPr>
              <a:t>大二说「我在准备四级」、大三说「我在准备考研」——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D9534F"/>
                </a:solidFill>
                <a:latin typeface="PingFang SC"/>
                <a:ea typeface="PingFang SC"/>
              </a:rPr>
              <a:t>两条会同时注入，模型两件都当真。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381000" y="4257675"/>
            <a:ext cx="5334000" cy="1800225"/>
          </a:xfrm>
          <a:prstGeom prst="roundRect">
            <a:avLst>
              <a:gd name="adj" fmla="val 42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552450" y="4562475"/>
            <a:ext cx="4991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用得越久越脏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552450" y="4857750"/>
            <a:ext cx="4991100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记忆是无条件注入的，过期记忆会污染每一次对话。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>LongMemEval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（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>ICLR 2025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）的结论也是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「简单记忆设计在时间推理上表现差」——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这正是要补的短板。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5905500" y="1524000"/>
            <a:ext cx="5905500" cy="4533900"/>
          </a:xfrm>
          <a:prstGeom prst="roundRect">
            <a:avLst>
              <a:gd name="adj" fmla="val 168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6096000" y="1714500"/>
            <a:ext cx="5524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记忆生命周期：三个状态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6096000" y="2124075"/>
            <a:ext cx="5524500" cy="6477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9" name=""/>
          <p:cNvSpPr/>
          <p:nvPr/>
        </p:nvSpPr>
        <p:spPr>
          <a:xfrm rot="0" flipH="0" flipV="0">
            <a:off x="6229350" y="2257425"/>
            <a:ext cx="838200" cy="381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6496050" y="2352675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有效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7181850" y="2362200"/>
            <a:ext cx="430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当前成立、参与注入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6096000" y="2867025"/>
            <a:ext cx="5524500" cy="6477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3" name=""/>
          <p:cNvSpPr/>
          <p:nvPr/>
        </p:nvSpPr>
        <p:spPr>
          <a:xfrm rot="0" flipH="0" flipV="0">
            <a:off x="6229350" y="3000375"/>
            <a:ext cx="838200" cy="381000"/>
          </a:xfrm>
          <a:prstGeom prst="roundRect">
            <a:avLst>
              <a:gd name="adj" fmla="val 12500"/>
            </a:avLst>
          </a:prstGeom>
          <a:solidFill>
            <a:srgbClr val="E5B54B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6419850" y="3095625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被替代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7181850" y="3105150"/>
            <a:ext cx="430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同类新事实写入时，旧的自动让位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6096000" y="3609975"/>
            <a:ext cx="5524500" cy="6477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7" name=""/>
          <p:cNvSpPr/>
          <p:nvPr/>
        </p:nvSpPr>
        <p:spPr>
          <a:xfrm rot="0" flipH="0" flipV="0">
            <a:off x="6229350" y="3743325"/>
            <a:ext cx="838200" cy="381000"/>
          </a:xfrm>
          <a:prstGeom prst="roundRect">
            <a:avLst>
              <a:gd name="adj" fmla="val 12500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6496050" y="3838575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失效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7181850" y="3848100"/>
            <a:ext cx="430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到期或长期未被引用，不再注入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6096000" y="4391025"/>
            <a:ext cx="5524500" cy="1476375"/>
          </a:xfrm>
          <a:prstGeom prst="roundRect">
            <a:avLst>
              <a:gd name="adj" fmla="val 3871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248400" y="4714875"/>
            <a:ext cx="5219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PingFang SC"/>
                <a:ea typeface="PingFang SC"/>
              </a:rPr>
              <a:t>注入也要按需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6248400" y="4962525"/>
            <a:ext cx="52197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不全量拼进提示词，而是复用项目里已有的四路召回，只取与当前问题相关的几条。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5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7543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下一步①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任务级评测　②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记忆的过期与删除　③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更难的检索考卷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都能在现有门禁里验证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11372850" y="6610350"/>
            <a:ext cx="152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15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16.xml><?xml version="1.0" encoding="utf-8"?>
<p:sld xmlns:r="http://schemas.openxmlformats.org/officeDocument/2006/relationships" xmlns:p="http://schemas.openxmlformats.org/presentationml/2006/main" xmlns:a="http://schemas.openxmlformats.org/drawingml/2006/main">
  <p:cSld name="16 收束｜资料进去，题出来，复习排好">
    <p:spTree>
      <p:nvGrpSpPr>
        <p:cNvPr id="300" name="" descr="&lt;Slide style={{ width: 1280, height: 720, position: 'relative', background: '#0E3F8C', fontFamily: 'PingFang SC, Hiragino Sans GB, sans-serif' }}&gt;&#10;    &lt;Image src=&quot;assets/p16-closing-desk.png&quot; style={{ position: 'absolute', top: 0, right: 0, width: 520, height: 720, objectFit: 'cover' }} /&gt;&#10;    &lt;Box style={{ position: 'absolute', top: 0, right: 0, width: 520, height: 720, background: '#0E3F8C', opacity: 0.42 }} /&gt;&#10;&#10;    &lt;Box style={{ position: 'absolute', top: 96, left: 80, width: 700, flexDirection: 'column', gap: 22 }}&gt;&#10;        &lt;Text style={{ fontSize: 16, color: '#A9C6EF', letterSpacing: 3 }}&gt;收束&lt;/Text&gt;&#10;        &lt;Text style={{ fontSize: 52, fontWeight: 'bold', color: '#FFFFFF', lineHeight: 1.3 }}&gt;&#10;            资料进去，题出来，复习排好&#10;        &lt;/Text&gt;&#10;        &lt;Box style={{ width: 72, height: 3, background: '#3D7BD9' }} /&gt;&#10;        &lt;Text style={{ fontSize: 21, color: '#C9DDF5', lineHeight: 1.7 }}&gt;&#10;            支撑这三件事的：每一步能恢复、每次写入先问、改动有没有变差算得出来。&#10;        &lt;/Text&gt;&#10;    &lt;/Box&gt;&#10;&#10;    &lt;Box style={{ position: 'absolute', top: 430, left: 80, width: 1120, flexDirection: 'row', gap: 16 }}&gt;&#10;        &lt;Box style={{ flex: 1, background: '#1E4FA8', borderRadius: 8, padding: 18, gap: 8 }}&gt;&#10;            &lt;Text style={{ fontSize: 23, fontWeight: 'bold', color: '#FFFFFF' }}&gt;整理资料&lt;/Text&gt;&#10;            &lt;Text style={{ fontSize: 15, color: '#C9DDF5', lineHeight: 1.65 }}&gt;传进来，按学科分好，能翻到第几页&lt;/Text&gt;&#10;        &lt;/Box&gt;&#10;        &lt;Box style={{ flex: 1, background: '#1E4FA8', borderRadius: 8, padding: 18, gap: 8 }}&gt;&#10;            &lt;Text style={{ fontSize: 23, fontWeight: 'bold', color: '#FFFFFF' }}&gt;出题&lt;/Text&gt;&#10;            &lt;Text style={{ fontSize: 15, color: '#C9DDF5', lineHeight: 1.65 }}&gt;按你的资料出，做错的方向多出几道&lt;/Text&gt;&#10;        &lt;/Box&gt;&#10;        &lt;Box style={{ flex: 1, background: '#1E4FA8', borderRadius: 8, padding: 18, gap: 8 }}&gt;&#10;            &lt;Text style={{ fontSize: 23, fontWeight: 'bold', color: '#FFFFFF' }}&gt;复习&lt;/Text&gt;&#10;            &lt;Text style={{ fontSize: 15, color: '#C9DDF5', lineHeight: 1.65 }}&gt;今天练哪几题排好，翻得回原文那一页&lt;/Text&gt;&#10;        &lt;/Box&gt;&#10;    &lt;/Box&gt;&#10;&#10;    &lt;Box style={{ position: 'absolute', bottom: 48, left: 80, flexDirection: 'row', alignItems: 'center', gap: 28 }}&gt;&#10;        &lt;Box style={{ width: 4, height: 40, background: '#3D7BD9' }} /&gt;&#10;        &lt;Box style={{ flexDirection: 'column', gap: 3 }}&gt;&#10;            &lt;Text style={{ fontSize: 16, color: '#FFFFFF' }}&gt;知迹 ZhiJi · AI 学习私教与智能复习系统&lt;/Text&gt;&#10;            &lt;Text style={{ fontSize: 14, color: '#8FB4E8' }}&gt;284 项测试 · 检索 35 题考卷 Hit@3 = MRR = 0.9714 · 意图 15 句准确率 1.0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02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7239000" y="0"/>
            <a:ext cx="4953000" cy="6858000"/>
          </a:xfrm>
          <a:prstGeom prst="rect">
            <a:avLst/>
          </a:prstGeom>
          <a:ln/>
        </p:spPr>
      </p:pic>
      <p:sp>
        <p:nvSpPr>
          <p:cNvPr id="303" name=""/>
          <p:cNvSpPr/>
          <p:nvPr/>
        </p:nvSpPr>
        <p:spPr>
          <a:xfrm rot="0" flipH="0" flipV="0">
            <a:off x="7239000" y="0"/>
            <a:ext cx="4953000" cy="6858000"/>
          </a:xfrm>
          <a:prstGeom prst="rect">
            <a:avLst/>
          </a:prstGeom>
          <a:solidFill>
            <a:srgbClr val="0E3F8C">
              <a:alpha val="42000"/>
            </a:srgbClr>
          </a:solidFill>
          <a:ln/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762000" y="914400"/>
            <a:ext cx="6667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225">
                <a:solidFill>
                  <a:srgbClr val="A9C6EF"/>
                </a:solidFill>
                <a:latin typeface="PingFang SC"/>
                <a:ea typeface="PingFang SC"/>
              </a:rPr>
              <a:t>收束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762000" y="1314450"/>
            <a:ext cx="6667500" cy="7810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900" b="1">
                <a:solidFill>
                  <a:srgbClr val="FFFFFF"/>
                </a:solidFill>
                <a:latin typeface="PingFang SC"/>
                <a:ea typeface="PingFang SC"/>
              </a:rPr>
              <a:t>资料进去，题出来，复习排好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762000" y="2305050"/>
            <a:ext cx="685800" cy="2857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762000" y="2543175"/>
            <a:ext cx="6667500" cy="819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575">
                <a:solidFill>
                  <a:srgbClr val="C9DDF5"/>
                </a:solidFill>
                <a:latin typeface="PingFang SC"/>
                <a:ea typeface="PingFang SC"/>
              </a:rPr>
              <a:t>支撑这三件事的：每一步能恢复、每次写入先问、改动有没有变差算得出来。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762000" y="4095750"/>
            <a:ext cx="3457575" cy="971550"/>
          </a:xfrm>
          <a:prstGeom prst="roundRect">
            <a:avLst>
              <a:gd name="adj" fmla="val 784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933450" y="4267200"/>
            <a:ext cx="31146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FFFFFF"/>
                </a:solidFill>
                <a:latin typeface="PingFang SC"/>
                <a:ea typeface="PingFang SC"/>
              </a:rPr>
              <a:t>整理资料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933450" y="4610100"/>
            <a:ext cx="311467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传进来，按学科分好，能翻到第几页</a:t>
            </a:r>
            <a:endParaRPr/>
          </a:p>
        </p:txBody>
      </p:sp>
      <p:sp>
        <p:nvSpPr>
          <p:cNvPr id="311" name=""/>
          <p:cNvSpPr/>
          <p:nvPr/>
        </p:nvSpPr>
        <p:spPr>
          <a:xfrm rot="0" flipH="0" flipV="0">
            <a:off x="4371975" y="4095750"/>
            <a:ext cx="3448050" cy="971550"/>
          </a:xfrm>
          <a:prstGeom prst="roundRect">
            <a:avLst>
              <a:gd name="adj" fmla="val 784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4543425" y="4267200"/>
            <a:ext cx="31051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FFFFFF"/>
                </a:solidFill>
                <a:latin typeface="PingFang SC"/>
                <a:ea typeface="PingFang SC"/>
              </a:rPr>
              <a:t>出题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4543425" y="4610100"/>
            <a:ext cx="31051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按你的资料出，做错的方向多出几道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7972425" y="4095750"/>
            <a:ext cx="3457575" cy="971550"/>
          </a:xfrm>
          <a:prstGeom prst="roundRect">
            <a:avLst>
              <a:gd name="adj" fmla="val 784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8143875" y="4267200"/>
            <a:ext cx="31146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FFFFFF"/>
                </a:solidFill>
                <a:latin typeface="PingFang SC"/>
                <a:ea typeface="PingFang SC"/>
              </a:rPr>
              <a:t>复习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8143875" y="4610100"/>
            <a:ext cx="311467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今天练哪几题排好，翻得回原文那一页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762000" y="6019800"/>
            <a:ext cx="38100" cy="38100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1066800" y="6019800"/>
            <a:ext cx="4610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r>
              <a:rPr lang="en-US" sz="1200">
                <a:solidFill>
                  <a:srgbClr val="FFFFFF"/>
                </a:solidFill>
                <a:latin typeface="PingFang SC"/>
                <a:ea typeface="PingFang SC"/>
              </a:rPr>
              <a:t xml:space="preserve"> ZhiJi · AI </a:t>
            </a:r>
            <a:r>
              <a:rPr lang="zh-CN" sz="1200">
                <a:solidFill>
                  <a:srgbClr val="FFFFFF"/>
                </a:solidFill>
                <a:latin typeface="PingFang SC"/>
                <a:ea typeface="PingFang SC"/>
              </a:rPr>
              <a:t>学习私教与智能复习系统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1066800" y="6238875"/>
            <a:ext cx="461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FB4E8"/>
                </a:solidFill>
                <a:latin typeface="PingFang SC"/>
                <a:ea typeface="PingFang SC"/>
              </a:rPr>
              <a:t xml:space="preserve">284 </a:t>
            </a:r>
            <a:r>
              <a:rPr lang="zh-CN" sz="1050">
                <a:solidFill>
                  <a:srgbClr val="8FB4E8"/>
                </a:solidFill>
                <a:latin typeface="PingFang SC"/>
                <a:ea typeface="PingFang SC"/>
              </a:rPr>
              <a:t>项测试</a:t>
            </a:r>
            <a:r>
              <a:rPr lang="en-US" sz="1050">
                <a:solidFill>
                  <a:srgbClr val="8FB4E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FB4E8"/>
                </a:solidFill>
                <a:latin typeface="PingFang SC"/>
                <a:ea typeface="PingFang SC"/>
              </a:rPr>
              <a:t>检索</a:t>
            </a:r>
            <a:r>
              <a:rPr lang="en-US" sz="1050">
                <a:solidFill>
                  <a:srgbClr val="8FB4E8"/>
                </a:solidFill>
                <a:latin typeface="PingFang SC"/>
                <a:ea typeface="PingFang SC"/>
              </a:rPr>
              <a:t xml:space="preserve"> 35 </a:t>
            </a:r>
            <a:r>
              <a:rPr lang="zh-CN" sz="1050">
                <a:solidFill>
                  <a:srgbClr val="8FB4E8"/>
                </a:solidFill>
                <a:latin typeface="PingFang SC"/>
                <a:ea typeface="PingFang SC"/>
              </a:rPr>
              <a:t>题考卷</a:t>
            </a:r>
            <a:r>
              <a:rPr lang="en-US" sz="1050">
                <a:solidFill>
                  <a:srgbClr val="8FB4E8"/>
                </a:solidFill>
                <a:latin typeface="PingFang SC"/>
                <a:ea typeface="PingFang SC"/>
              </a:rPr>
              <a:t xml:space="preserve"> Hit@3 = MRR = 0.9714 · </a:t>
            </a:r>
            <a:r>
              <a:rPr lang="zh-CN" sz="1050">
                <a:solidFill>
                  <a:srgbClr val="8FB4E8"/>
                </a:solidFill>
                <a:latin typeface="PingFang SC"/>
                <a:ea typeface="PingFang SC"/>
              </a:rPr>
              <a:t>意图</a:t>
            </a:r>
            <a:r>
              <a:rPr lang="en-US" sz="1050">
                <a:solidFill>
                  <a:srgbClr val="8FB4E8"/>
                </a:solidFill>
                <a:latin typeface="PingFang SC"/>
                <a:ea typeface="PingFang SC"/>
              </a:rPr>
              <a:t xml:space="preserve"> 15 </a:t>
            </a:r>
            <a:r>
              <a:rPr lang="zh-CN" sz="1050">
                <a:solidFill>
                  <a:srgbClr val="8FB4E8"/>
                </a:solidFill>
                <a:latin typeface="PingFang SC"/>
                <a:ea typeface="PingFang SC"/>
              </a:rPr>
              <a:t>句准确率</a:t>
            </a:r>
            <a:r>
              <a:rPr lang="en-US" sz="1050">
                <a:solidFill>
                  <a:srgbClr val="8FB4E8"/>
                </a:solidFill>
                <a:latin typeface="PingFang SC"/>
                <a:ea typeface="PingFang SC"/>
              </a:rPr>
              <a:t xml:space="preserve"> 1.0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2026-10-21T21:09:40Z</dcterms:created>
  <dcterms:modified xsi:type="dcterms:W3CDTF">2026-10-21T21:09:40Z</dcterms:modified>
</cp:coreProperties>
</file>

<file path=docProps/custom.xml><?xml version="1.0" encoding="utf-8"?>
<op:Properties xmlns:vt="http://schemas.openxmlformats.org/officeDocument/2006/docPropsVTypes" xmlns:op="http://schemas.openxmlformats.org/officeDocument/2006/custom-properties">
  <op:property fmtid="{D5CDD505-2E9C-101B-9397-08002B2CF9AE}" pid="2" name="AIGC">
    <vt:lpwstr>{"AIGC":{"Label":"1","ContentProducer":"00119111010856365494821B355","ProduceID":"01a15e81dd8e7089af385d89d12c2e01","ReservedCode1":"","ContentPropagator":"00119111010856365494821B355","PropagateID":"01a15e81dd8e7089af385d89d12c2e01","ReservedCode2":""}}</vt:lpwstr>
  </op:property>
  <op:property fmtid="{D5CDD505-2E9C-101B-9397-08002B2CF9AE}" pid="3" name="OfficeCLI.Version">
    <vt:lpwstr>1.0.158</vt:lpwstr>
  </op:property>
  <op:property fmtid="{D5CDD505-2E9C-101B-9397-08002B2CF9AE}" pid="4" name="OfficeCLI.LastModified">
    <vt:lpwstr>2026-10-21T13:09:56Z</vt:lpwstr>
  </op:property>
</op:Properties>
</file>