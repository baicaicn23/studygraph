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1" Type="http://schemas.openxmlformats.org/officeDocument/2006/relationships/slide" Target="slides/slide1.xml" /><Relationship Id="rId13" Type="http://schemas.openxmlformats.org/officeDocument/2006/relationships/tableStyles" Target="tableStyles.xml" /><Relationship Id="rId3" Type="http://schemas.openxmlformats.org/officeDocument/2006/relationships/slide" Target="slides/slide3.xml" /><Relationship Id="rId8" Type="http://schemas.openxmlformats.org/officeDocument/2006/relationships/slide" Target="slides/slide8.xml" /><Relationship Id="rId2" Type="http://schemas.openxmlformats.org/officeDocument/2006/relationships/slide" Target="slides/slide2.xml" /><Relationship Id="rId12" Type="http://schemas.openxmlformats.org/officeDocument/2006/relationships/presProps" Target="presProps.xml" /><Relationship Id="rId10" Type="http://schemas.openxmlformats.org/officeDocument/2006/relationships/slide" Target="slides/slide10.xml" /><Relationship Id="rId11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6" Type="http://schemas.openxmlformats.org/officeDocument/2006/relationships/slide" Target="slides/slide6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E3F8C', padding: 0, position: 'relative', overflow: 'hidden', fontFamily: 'PingFang SC' }}&gt;&#10;&#10;  &lt;Box style={{ position: 'absolute', top: 0, left: 0, width: 1280, height: 6, background: '#3D7BD9' }} /&gt;&#10;&#10;  &lt;Box style={{ position: 'absolute', left: 76, top: 92, width: 1128, flexDirection: 'column' }}&gt;&#10;&#10;    &lt;Text style={{ fontSize: 15, color: '#8FB2E0', letterSpacing: 1.2 }}&gt;&#10;      全国大学生数字媒体科技作品及创意竞赛 · 赛道十三 · 智慧教育与智能软件类&#10;    &lt;/Text&gt;&#10;&#10;    &lt;Text style={{ fontSize: 100, fontWeight: 'bold', color: '#FFFFFF', letterSpacing: 10, marginTop: 14 }}&gt;&#10;      知迹&#10;    &lt;/Text&gt;&#10;&#10;    &lt;Text style={{ fontSize: 26, color: '#FFFFFF', letterSpacing: 1, marginTop: 10 }}&gt;&#10;      把一学期的学习，留成能用的东西&#10;    &lt;/Text&gt;&#10;&#10;    &lt;Box style={{ width: 96, height: 2, background: '#3D7BD9', marginTop: 18 }} /&gt;&#10;&#10;  &lt;/Box&gt;&#10;&#10;  &lt;Box style={{ position: 'absolute', left: 76, top: 352, width: 1128, height: 176, flexDirection: 'row', alignItems: 'center' }}&gt;&#10;&#10;    &lt;Box style={{ width: 330, flexDirection: 'column' }}&gt;&#10;      &lt;Text style={{ fontSize: 14, color: '#8FB2E0' }}&gt;能查&lt;/Text&gt;&#10;      &lt;Text style={{ fontSize: 19, color: '#FFFFFF', fontWeight: 'bold', marginTop: 8 }}&gt;自己的讲义&lt;/Text&gt;&#10;      &lt;Text style={{ fontSize: 14, color: '#B9CCE8', marginTop: 6, lineHeight: 1.6 }}&gt;问到哪一页，就答哪一页&lt;/Text&gt;&#10;    &lt;/Box&gt;&#10;&#10;    &lt;Box style={{ width: 1, height: 92, background: '#3D7BD9', marginLeft: 24, marginRight: 24 }} /&gt;&#10;&#10;    &lt;Box style={{ width: 330, flexDirection: 'column' }}&gt;&#10;      &lt;Text style={{ fontSize: 14, color: '#8FB2E0' }}&gt;能练&lt;/Text&gt;&#10;      &lt;Text style={{ fontSize: 19, color: '#FFFFFF', fontWeight: 'bold', marginTop: 8 }}&gt;按错因出题&lt;/Text&gt;&#10;      &lt;Text style={{ fontSize: 14, color: '#B9CCE8', marginTop: 6, lineHeight: 1.6 }}&gt;做完给详解，知道错在哪&lt;/Text&gt;&#10;    &lt;/Box&gt;&#10;&#10;    &lt;Box style={{ width: 1, height: 92, background: '#3D7BD9', marginLeft: 24, marginRight: 24 }} /&gt;&#10;&#10;    &lt;Box style={{ width: 330, flexDirection: 'column' }}&gt;&#10;      &lt;Text style={{ fontSize: 14, color: '#8FB2E0' }}&gt;能管&lt;/Text&gt;&#10;      &lt;Text style={{ fontSize: 19, color: '#FFFFFF', fontWeight: 'bold', marginTop: 8 }}&gt;到期提醒&lt;/Text&gt;&#10;      &lt;Text style={{ fontSize: 14, color: '#B9CCE8', marginTop: 6, lineHeight: 1.6 }}&gt;今天练什么、这周怎么样&lt;/Text&gt;&#10;    &lt;/Box&gt;&#10;&#10;  &lt;/Box&gt;&#10;&#10;  &lt;Box style={{ position: 'absolute', left: 76, top: 572, width: 1128, flexDirection: 'column' }}&gt;&#10;    &lt;Text style={{ fontSize: 14, color: '#8FB2E0', letterSpacing: 0.6 }}&gt;&#10;      技术栈：Python 3.12 · LangGraph · FastAPI · SQLite · Next.js 16&#10;    &lt;/Text&gt;&#10;    &lt;Box style={{ flexDirection: 'row', alignItems: 'center', gap: 18, marginTop: 14 }}&gt;&#10;      &lt;Text style={{ fontSize: 13, color: '#7C9DCB' }}&gt;284 项自动自测&lt;/Text&gt;&#10;      &lt;Box style={{ width: 1, height: 12, background: '#3D7BD9' }} /&gt;&#10;      &lt;Text style={{ fontSize: 13, color: '#7C9DCB' }}&gt;35 道检索题&lt;/Text&gt;&#10;      &lt;Box style={{ width: 1, height: 12, background: '#3D7BD9' }} /&gt;&#10;      &lt;Text style={{ fontSize: 13, color: '#7C9DCB' }}&gt;7 个功能页面&lt;/Text&gt;&#10;    &lt;/Box&gt;&#10;  &lt;/Box&gt;&#10;&#10;  &lt;Box style={{ position: 'absolute', bottom: 0, left: 0, width: 1280, height: 56, background: 'rgba(255, 255, 255, 0.07)', flexDirection: 'row', alignItems: 'center', justifyContent: 'space-between', paddingLeft: 76, paddingRight: 76 }}&gt;&#10;    &lt;Text style={{ fontSize: 14, color: '#C9D8EF' }}&gt;汇报人：项目团队&lt;/Text&gt;&#10;    &lt;Text style={{ fontSize: 14, color: '#C9D8EF' }}&gt;2026 年 10 月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全国大学生数字媒体科技作品及创意竞赛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赛道十三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智慧教育与智能软件类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23900" y="1181100"/>
            <a:ext cx="10744200" cy="1143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0" b="1" spc="750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23900" y="2419350"/>
            <a:ext cx="10744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spc="75">
                <a:solidFill>
                  <a:srgbClr val="FFFFFF"/>
                </a:solidFill>
                <a:latin typeface="PingFang SC"/>
                <a:ea typeface="PingFang SC"/>
              </a:rPr>
              <a:t>把一学期的学习，留成能用的东西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23900" y="2895600"/>
            <a:ext cx="9144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23900" y="3810000"/>
            <a:ext cx="3143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2E0"/>
                </a:solidFill>
                <a:latin typeface="PingFang SC"/>
                <a:ea typeface="PingFang SC"/>
              </a:rPr>
              <a:t>能查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23900" y="4048125"/>
            <a:ext cx="3143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自己的讲义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23900" y="4324350"/>
            <a:ext cx="3143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B9CCE8"/>
                </a:solidFill>
                <a:latin typeface="PingFang SC"/>
                <a:ea typeface="PingFang SC"/>
              </a:rPr>
              <a:t>问到哪一页，就答哪一页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4095750" y="3752850"/>
            <a:ext cx="9525" cy="876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4333875" y="3810000"/>
            <a:ext cx="3143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2E0"/>
                </a:solidFill>
                <a:latin typeface="PingFang SC"/>
                <a:ea typeface="PingFang SC"/>
              </a:rPr>
              <a:t>能练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4333875" y="4048125"/>
            <a:ext cx="3143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按错因出题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333875" y="4324350"/>
            <a:ext cx="3143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B9CCE8"/>
                </a:solidFill>
                <a:latin typeface="PingFang SC"/>
                <a:ea typeface="PingFang SC"/>
              </a:rPr>
              <a:t>做完给详解，知道错在哪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705725" y="3752850"/>
            <a:ext cx="9525" cy="876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7943850" y="3810000"/>
            <a:ext cx="3143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2E0"/>
                </a:solidFill>
                <a:latin typeface="PingFang SC"/>
                <a:ea typeface="PingFang SC"/>
              </a:rPr>
              <a:t>能管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7943850" y="4048125"/>
            <a:ext cx="3143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到期提醒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943850" y="4324350"/>
            <a:ext cx="3143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B9CCE8"/>
                </a:solidFill>
                <a:latin typeface="PingFang SC"/>
                <a:ea typeface="PingFang SC"/>
              </a:rPr>
              <a:t>今天练什么、这周怎么样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723900" y="5448300"/>
            <a:ext cx="1074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45">
                <a:solidFill>
                  <a:srgbClr val="8FB2E0"/>
                </a:solidFill>
                <a:latin typeface="PingFang SC"/>
                <a:ea typeface="PingFang SC"/>
              </a:rPr>
              <a:t>技术栈：</a:t>
            </a:r>
            <a:r>
              <a:rPr lang="en-US" sz="1050" spc="45">
                <a:solidFill>
                  <a:srgbClr val="8FB2E0"/>
                </a:solidFill>
                <a:latin typeface="PingFang SC"/>
                <a:ea typeface="PingFang SC"/>
              </a:rPr>
              <a:t>Python 3.12 · LangGraph · FastAPI · SQLite · Next.js 16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723900" y="5743575"/>
            <a:ext cx="885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C9DCB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975">
                <a:solidFill>
                  <a:srgbClr val="7C9DCB"/>
                </a:solidFill>
                <a:latin typeface="PingFang SC"/>
                <a:ea typeface="PingFang SC"/>
              </a:rPr>
              <a:t>项自动自测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1781175" y="5762625"/>
            <a:ext cx="9525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962150" y="5743575"/>
            <a:ext cx="68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C9DCB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975">
                <a:solidFill>
                  <a:srgbClr val="7C9DCB"/>
                </a:solidFill>
                <a:latin typeface="PingFang SC"/>
                <a:ea typeface="PingFang SC"/>
              </a:rPr>
              <a:t>道检索题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2819400" y="5762625"/>
            <a:ext cx="9525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3000375" y="5743575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C9DCB"/>
                </a:solidFill>
                <a:latin typeface="PingFang SC"/>
                <a:ea typeface="PingFang SC"/>
              </a:rPr>
              <a:t xml:space="preserve">7 </a:t>
            </a:r>
            <a:r>
              <a:rPr lang="zh-CN" sz="975">
                <a:solidFill>
                  <a:srgbClr val="7C9DCB"/>
                </a:solidFill>
                <a:latin typeface="PingFang SC"/>
                <a:ea typeface="PingFang SC"/>
              </a:rPr>
              <a:t>个功能页面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1066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汇报人：项目团队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0610850" y="6515100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2026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年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10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60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2, width: 1128 }}&gt;&#10;    &lt;Text style={{ fontSize: 33, fontWeight: 'bold', color: '#0E3F8C' }}&gt;它不是「会不会答」，而是「每次靠不靠得住」&lt;/Text&gt;&#10;    &lt;Text style={{ fontSize: 16, color: '#4A5568', marginTop: 10 }}&gt;一个学习工具背后，其实是一次又一次会出岔子的过程&lt;/Text&gt;&#10;  &lt;/Box&gt;&#10;&#10;  &lt;Box style={{ position: 'absolute', left: 76, top: 190, width: 616, height: 402, flexDirection: 'column' }}&gt;&#10;&#10;    &lt;Text style={{ fontSize: 14, color: '#3D7BD9', letterSpacing: 1.5 }}&gt;先说场景 · 一学期里三个时刻&lt;/Text&gt;&#10;&#10;    &lt;Box style={{ flexDirection: 'column', marginTop: 14, gap: 14 }}&gt;&#10;&#10;      &lt;Box style={{ flexDirection: 'column', height: 112, borderLeft: '3px solid #1E4FA8', paddingLeft: 14 }}&gt;&#10;        &lt;Text style={{ fontSize: 19, fontWeight: 'bold', color: '#1A2230' }}&gt;上课时，讲义散在三处&lt;/Text&gt;&#10;        &lt;Text style={{ fontSize: 14.5, color: '#4A5568', lineHeight: 1.6, marginTop: 6 }}&gt;&#10;          课程平台、聊天记录、手机相册各存一半，谁也不全。&#10;        &lt;/Text&gt;&#10;        &lt;Text style={{ fontSize: 13, color: '#8B97A8', marginTop: 6 }}&gt;结果：找某一页，要翻三个地方&lt;/Text&gt;&#10;      &lt;/Box&gt;&#10;&#10;      &lt;Box style={{ flexDirection: 'column', height: 112, borderLeft: '3px solid #1E4FA8', paddingLeft: 14 }}&gt;&#10;        &lt;Text style={{ fontSize: 19, fontWeight: 'bold', color: '#1A2230' }}&gt;写作业时，问一句就走&lt;/Text&gt;&#10;        &lt;Text style={{ fontSize: 14.5, color: '#4A5568', lineHeight: 1.6, marginTop: 6 }}&gt;&#10;          答案留在对话框里，没有变成任何能复用的东西。&#10;        &lt;/Text&gt;&#10;        &lt;Text style={{ fontSize: 13, color: '#8B97A8', marginTop: 6 }}&gt;结果：同类问题，每次都从零再问&lt;/Text&gt;&#10;      &lt;/Box&gt;&#10;&#10;      &lt;Box style={{ flexDirection: 'column', height: 112, borderLeft: '3px solid #D9534F', paddingLeft: 14 }}&gt;&#10;        &lt;Text style={{ fontSize: 19, fontWeight: 'bold', color: '#D9534F' }}&gt;期末时，想练却没有题&lt;/Text&gt;&#10;        &lt;Text style={{ fontSize: 14.5, color: '#4A5568', lineHeight: 1.6, marginTop: 6 }}&gt;&#10;          资料还在，但没有成套的题，只能重新翻记录。&#10;        &lt;/Text&gt;&#10;        &lt;Text style={{ fontSize: 13, color: '#8B97A8', marginTop: 6 }}&gt;结果：时间全花在找东西上&lt;/Text&gt;&#10;      &lt;/Box&gt;&#10;&#10;    &lt;/Box&gt;&#10;&#10;  &lt;/Box&gt;&#10;&#10;  &lt;Box style={{ position: 'absolute', left: 740, top: 190, width: 464, height: 402, flexDirection: 'column' }}&gt;&#10;&#10;    &lt;Text style={{ fontSize: 14, color: '#3D7BD9', letterSpacing: 1.5 }}&gt;再问一层 · 四个会出岔子的时刻&lt;/Text&gt;&#10;&#10;    &lt;Box style={{ flexDirection: 'column', marginTop: 8 }}&gt;&#10;&#10;      &lt;Box style={{ flexDirection: 'column', height: 92, borderBottom: '1px solid #E5E7EB' }}&gt;&#10;        &lt;Box style={{ flexDirection: 'row', gap: 8, marginTop: 12 }}&gt;&#10;          &lt;Text style={{ fontSize: 15, fontWeight: 'bold', color: '#1E4FA8' }}&gt;1&lt;/Text&gt;&#10;          &lt;Text style={{ fontSize: 15, color: '#1A2230', lineHeight: 1.55, width: 420 }}&gt;聊到一半关掉网页，回来还接得上吗？&lt;/Text&gt;&#10;        &lt;/Box&gt;&#10;        &lt;Text style={{ fontSize: 12.5, color: '#8B97A8', marginTop: 8, paddingLeft: 22 }}&gt;靠「存档」——下一页&lt;/Text&gt;&#10;      &lt;/Box&gt;&#10;&#10;      &lt;Box style={{ flexDirection: 'column', height: 92 }}&gt;&#10;        &lt;Box style={{ flexDirection: 'row', gap: 8, marginTop: 12 }}&gt;&#10;          &lt;Text style={{ fontSize: 15, fontWeight: 'bold', color: '#1E4FA8' }}&gt;2&lt;/Text&gt;&#10;          &lt;Text style={{ fontSize: 15, color: '#1A2230', lineHeight: 1.55, width: 420 }}&gt;查资料的接口挂了，整个回答会崩吗？&lt;/Text&gt;&#10;        &lt;/Box&gt;&#10;        &lt;Text style={{ fontSize: 12.5, color: '#8B97A8', marginTop: 8, paddingLeft: 22 }}&gt;靠「兜底」——再下一页&lt;/Text&gt;&#10;      &lt;/Box&gt;&#10;&#10;      &lt;Box style={{ flexDirection: 'column', height: 92, borderBottom: '1px solid #E5E7EB' }}&gt;&#10;        &lt;Box style={{ flexDirection: 'row', gap: 8, marginTop: 12 }}&gt;&#10;          &lt;Text style={{ fontSize: 15, fontWeight: 'bold', color: '#1E4FA8' }}&gt;3&lt;/Text&gt;&#10;          &lt;Text style={{ fontSize: 15, color: '#1A2230', lineHeight: 1.55, width: 420 }}&gt;聊了两小时，还记不记得前面说过什么？&lt;/Text&gt;&#10;        &lt;/Box&gt;&#10;        &lt;Text style={{ fontSize: 12.5, color: '#8B97A8', marginTop: 8, paddingLeft: 22 }}&gt;靠「纪要」——后面讲&lt;/Text&gt;&#10;      &lt;/Box&gt;&#10;&#10;      &lt;Box style={{ flexDirection: 'column', height: 92 }}&gt;&#10;        &lt;Box style={{ flexDirection: 'row', gap: 8, marginTop: 12 }}&gt;&#10;          &lt;Text style={{ fontSize: 15, fontWeight: 'bold', color: '#1E4FA8' }}&gt;4&lt;/Text&gt;&#10;          &lt;Text style={{ fontSize: 15, color: '#1A2230', lineHeight: 1.55, width: 420 }}&gt;它说「帮你存好了」，真的存了？&lt;/Text&gt;&#10;        &lt;/Box&gt;&#10;        &lt;Text style={{ fontSize: 12.5, color: '#8B97A8', marginTop: 8, paddingLeft: 22 }}&gt;靠「先问你」——后面讲&lt;/Text&gt;&#10;      &lt;/Box&gt;&#10;&#10;    &lt;/Box&gt;&#10;&#10;  &lt;/Box&gt;&#10;&#10;  &lt;Box style={{ position: 'absolute', left: 76, top: 606, width: 1128, height: 48, background: '#0E3F8C', borderRadius: 8, justifyContent: 'center', alignItems: 'center' }}&gt;&#10;    &lt;Text style={{ fontSize: 14.5, color: '#FFFFFF' }}&gt;&#10;      这四个时刻，工程上分别叫：中断可恢复 · 工具故障兜底 · 上下文管理 · 写操作前确认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2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0E3F8C"/>
                </a:solidFill>
                <a:latin typeface="PingFang SC"/>
                <a:ea typeface="PingFang SC"/>
              </a:rPr>
              <a:t>它不是「会不会答」，而是「每次靠不靠得住」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723900" y="1352550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一个学习工具背后，其实是一次又一次会出岔子的过程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5867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先说场景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一学期里三个时刻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723900" y="2105025"/>
            <a:ext cx="5895975" cy="1066800"/>
          </a:xfrm>
          <a:custGeom>
            <a:pathLst>
              <a:path w="619" h="112">
                <a:moveTo>
                  <a:pt x="0" y="0"/>
                </a:moveTo>
                <a:lnTo>
                  <a:pt x="3" y="0"/>
                </a:lnTo>
                <a:lnTo>
                  <a:pt x="3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885825" y="2105025"/>
            <a:ext cx="5705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上课时，讲义散在三处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85825" y="2381250"/>
            <a:ext cx="5705475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课程平台、聊天记录、手机相册各存一半，谁也不全。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85825" y="2705100"/>
            <a:ext cx="570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结果：找某一页，要翻三个地方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723900" y="3305175"/>
            <a:ext cx="5895975" cy="1066800"/>
          </a:xfrm>
          <a:custGeom>
            <a:pathLst>
              <a:path w="619" h="112">
                <a:moveTo>
                  <a:pt x="0" y="0"/>
                </a:moveTo>
                <a:lnTo>
                  <a:pt x="3" y="0"/>
                </a:lnTo>
                <a:lnTo>
                  <a:pt x="3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85825" y="3305175"/>
            <a:ext cx="5705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写作业时，问一句就走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85825" y="3581400"/>
            <a:ext cx="5705475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答案留在对话框里，没有变成任何能复用的东西。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885825" y="3905250"/>
            <a:ext cx="570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结果：同类问题，每次都从零再问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723900" y="4505325"/>
            <a:ext cx="5895975" cy="1066800"/>
          </a:xfrm>
          <a:custGeom>
            <a:pathLst>
              <a:path w="619" h="112">
                <a:moveTo>
                  <a:pt x="0" y="0"/>
                </a:moveTo>
                <a:lnTo>
                  <a:pt x="3" y="0"/>
                </a:lnTo>
                <a:lnTo>
                  <a:pt x="3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85825" y="4505325"/>
            <a:ext cx="5705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PingFang SC"/>
                <a:ea typeface="PingFang SC"/>
              </a:rPr>
              <a:t>期末时，想练却没有题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885825" y="4781550"/>
            <a:ext cx="5705475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资料还在，但没有成套的题，只能重新翻记录。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85825" y="5105400"/>
            <a:ext cx="570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结果：时间全花在找东西上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048500" y="1809750"/>
            <a:ext cx="4419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再问一层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四个会出岔子的时刻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7048500" y="2047875"/>
            <a:ext cx="4419600" cy="876300"/>
          </a:xfrm>
          <a:custGeom>
            <a:pathLst>
              <a:path w="464" h="92">
                <a:moveTo>
                  <a:pt x="0" y="91"/>
                </a:moveTo>
                <a:lnTo>
                  <a:pt x="464" y="91"/>
                </a:lnTo>
                <a:lnTo>
                  <a:pt x="464" y="92"/>
                </a:lnTo>
                <a:lnTo>
                  <a:pt x="0" y="9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7048500" y="2162175"/>
            <a:ext cx="66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7191375" y="2162175"/>
            <a:ext cx="40005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聊到一半关掉网页，回来还接得上吗？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048500" y="2505075"/>
            <a:ext cx="4419600" cy="142875"/>
          </a:xfrm>
          <a:prstGeom prst="rect"/>
        </p:spPr>
        <p:txBody>
          <a:bodyPr wrap="none" lIns="157163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靠「存档」——下一页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7048500" y="3038475"/>
            <a:ext cx="8572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7210425" y="3038475"/>
            <a:ext cx="40005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查资料的接口挂了，整个回答会崩吗？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7048500" y="3381375"/>
            <a:ext cx="4419600" cy="142875"/>
          </a:xfrm>
          <a:prstGeom prst="rect"/>
        </p:spPr>
        <p:txBody>
          <a:bodyPr wrap="none" lIns="157163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靠「兜底」——再下一页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7048500" y="3800475"/>
            <a:ext cx="4419600" cy="876300"/>
          </a:xfrm>
          <a:custGeom>
            <a:pathLst>
              <a:path w="464" h="92">
                <a:moveTo>
                  <a:pt x="0" y="91"/>
                </a:moveTo>
                <a:lnTo>
                  <a:pt x="464" y="91"/>
                </a:lnTo>
                <a:lnTo>
                  <a:pt x="464" y="92"/>
                </a:lnTo>
                <a:lnTo>
                  <a:pt x="0" y="9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048500" y="3914775"/>
            <a:ext cx="8572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7210425" y="3914775"/>
            <a:ext cx="40005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聊了两小时，还记不记得前面说过什么？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048500" y="4257675"/>
            <a:ext cx="4419600" cy="142875"/>
          </a:xfrm>
          <a:prstGeom prst="rect"/>
        </p:spPr>
        <p:txBody>
          <a:bodyPr wrap="none" lIns="157163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靠「纪要」——后面讲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48500" y="4791075"/>
            <a:ext cx="8572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4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210425" y="4791075"/>
            <a:ext cx="40005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它说「帮你存好了」，真的存了？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7048500" y="5133975"/>
            <a:ext cx="4419600" cy="142875"/>
          </a:xfrm>
          <a:prstGeom prst="rect"/>
        </p:spPr>
        <p:txBody>
          <a:bodyPr wrap="none" lIns="157163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靠「先问你」——后面讲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723900" y="5772150"/>
            <a:ext cx="10744200" cy="4572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3438525" y="5915025"/>
            <a:ext cx="532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这四个时刻，工程上分别叫：中断可恢复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工具故障兜底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上下文管理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写操作前确认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02 / 10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99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2, width: 1128 }}&gt;&#10;    &lt;Text style={{ fontSize: 33, fontWeight: 'bold', color: '#0E3F8C' }}&gt;断了能接着聊，不用从头再问一遍&lt;/Text&gt;&#10;    &lt;Text style={{ fontSize: 16, color: '#4A5568', marginTop: 10 }}&gt;这是第一个「会出岔子的时刻」：中途关掉、网络断了，回来还在不在&lt;/Text&gt;&#10;  &lt;/Box&gt;&#10;&#10;  &lt;Box style={{ position: 'absolute', left: 76, top: 190, width: 560, height: 360, flexDirection: 'column' }}&gt;&#10;&#10;    &lt;Text style={{ fontSize: 14, color: '#3D7BD9', letterSpacing: 1.5 }}&gt;打个比方&lt;/Text&gt;&#10;    &lt;Text style={{ fontSize: 22, fontWeight: 'bold', color: '#1A2230', marginTop: 10 }}&gt;打游戏都懂：存档、读档&lt;/Text&gt;&#10;&#10;    &lt;Box style={{ position: 'relative', width: 520, height: 120, marginTop: 22 }}&gt;&#10;      &lt;Box style={{ position: 'absolute', left: 0, top: 52, width: 520, height: 10, background: '#E8EFF8', borderRadius: 5 }} /&gt;&#10;      &lt;Box style={{ position: 'absolute', left: 150, top: 45, width: 24, height: 24, borderRadius: 12, background: '#1E4FA8' }} /&gt;&#10;      &lt;Box style={{ position: 'absolute', left: 340, top: 45, width: 24, height: 24, borderRadius: 12, background: '#1E4FA8' }} /&gt;&#10;      &lt;Text style={{ position: 'absolute', left: 108, top: 16, fontSize: 13, color: '#1E4FA8' }}&gt;存档点一&lt;/Text&gt;&#10;      &lt;Text style={{ position: 'absolute', left: 298, top: 16, fontSize: 13, color: '#1E4FA8' }}&gt;存档点二&lt;/Text&gt;&#10;      &lt;Text style={{ position: 'absolute', left: 0, top: 80, fontSize: 13, color: '#8B97A8' }}&gt;开始&lt;/Text&gt;&#10;      &lt;Text style={{ position: 'absolute', left: 470, top: 80, fontSize: 13, color: '#8B97A8' }}&gt;继续&lt;/Text&gt;&#10;    &lt;/Box&gt;&#10;&#10;    &lt;Text style={{ fontSize: 14.5, color: '#4A5568', lineHeight: 1.8, marginTop: 6 }}&gt;&#10;      每走完一步，它把「走到哪了」记一笔。你关掉页面、网断了，下次打开从这个点接着走，不用把前面重讲一遍。&#10;    &lt;/Text&gt;&#10;&#10;  &lt;/Box&gt;&#10;&#10;  &lt;Box style={{ position: 'absolute', left: 700, top: 190, width: 504, height: 360, flexDirection: 'column' }}&gt;&#10;&#10;    &lt;Text style={{ fontSize: 14, color: '#3D7BD9', letterSpacing: 1.5 }}&gt;它是怎么做的&lt;/Text&gt;&#10;&#10;    &lt;Box style={{ flexDirection: 'column', marginTop: 8 }}&gt;&#10;      &lt;Box style={{ flexDirection: 'column', height: 108, borderLeft: '3px solid #1E4FA8', paddingLeft: 14 }}&gt;&#10;        &lt;Text style={{ fontSize: 17, fontWeight: 'bold', color: '#1A2230', marginTop: 12 }}&gt;一、你说一句&lt;/Text&gt;&#10;        &lt;Text style={{ fontSize: 14, color: '#4A5568', lineHeight: 1.65, marginTop: 8 }}&gt;&#10;          它先判断这句话要干什么——是问知识点、要出题，还是让你查资料。&#10;        &lt;/Text&gt;&#10;      &lt;/Box&gt;&#10;      &lt;Box style={{ flexDirection: 'column', height: 108, borderLeft: '3px solid #1E4FA8', paddingLeft: 14 }}&gt;&#10;        &lt;Text style={{ fontSize: 17, fontWeight: 'bold', color: '#1A2230', marginTop: 12 }}&gt;二、它自己决定下一步&lt;/Text&gt;&#10;        &lt;Text style={{ fontSize: 14, color: '#4A5568', lineHeight: 1.65, marginTop: 8 }}&gt;&#10;          查什么、调哪个工具，是它自己选的；每选一次，就把进展存一次档。&#10;        &lt;/Text&gt;&#10;      &lt;/Box&gt;&#10;      &lt;Box style={{ flexDirection: 'column', height: 108, borderLeft: '3px solid #D9534F', paddingLeft: 14 }}&gt;&#10;        &lt;Text style={{ fontSize: 17, fontWeight: 'bold', color: '#1A2230', marginTop: 12 }}&gt;三、要动你的数据，先停下&lt;/Text&gt;&#10;        &lt;Text style={{ fontSize: 14, color: '#4A5568', lineHeight: 1.65, marginTop: 8 }}&gt;&#10;          存笔记、记错题这类操作，会停在那里等你点确认——这也是「存档」带来的能力。&#10;        &lt;/Text&gt;&#10;      &lt;/Box&gt;&#10;    &lt;/Box&gt;&#10;&#10;  &lt;/Box&gt;&#10;&#10;  &lt;Box style={{ position: 'absolute', left: 76, top: 586, width: 1128, height: 50, background: '#0E3F8C', borderRadius: 8, justifyContent: 'center', alignItems: 'center' }}&gt;&#10;    &lt;Text style={{ fontSize: 14.5, color: '#FFFFFF' }}&gt;&#10;      工程上叫：回合状态图 · 检查点（断点）· 中断后恢复（interrupt / resume）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3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0E3F8C"/>
                </a:solidFill>
                <a:latin typeface="PingFang SC"/>
                <a:ea typeface="PingFang SC"/>
              </a:rPr>
              <a:t>断了能接着聊，不用从头再问一遍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23900" y="1352550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这是第一个「会出岔子的时刻」：中途关掉、网络断了，回来还在不在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打个比方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23900" y="206692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PingFang SC"/>
                <a:ea typeface="PingFang SC"/>
              </a:rPr>
              <a:t>打游戏都懂：存档、读档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23900" y="3733800"/>
            <a:ext cx="53340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每走完一步，它把「走到哪了」记一笔。你关掉页面、网断了，下次打开从这个点接着走，不用把前面重讲一遍。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23900" y="3028950"/>
            <a:ext cx="4953000" cy="95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2152650" y="29622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3962400" y="29622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752600" y="2686050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PingFang SC"/>
                <a:ea typeface="PingFang SC"/>
              </a:rPr>
              <a:t>存档点一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3562350" y="2686050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PingFang SC"/>
                <a:ea typeface="PingFang SC"/>
              </a:rPr>
              <a:t>存档点二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23900" y="3295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开始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5200650" y="3295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继续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667500" y="1809750"/>
            <a:ext cx="480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它是怎么做的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6667500" y="2047875"/>
            <a:ext cx="4829175" cy="1028700"/>
          </a:xfrm>
          <a:custGeom>
            <a:pathLst>
              <a:path w="507" h="108">
                <a:moveTo>
                  <a:pt x="0" y="0"/>
                </a:moveTo>
                <a:lnTo>
                  <a:pt x="3" y="0"/>
                </a:lnTo>
                <a:lnTo>
                  <a:pt x="3" y="108"/>
                </a:lnTo>
                <a:lnTo>
                  <a:pt x="0" y="10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6829425" y="2162175"/>
            <a:ext cx="4638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一、你说一句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6829425" y="2438400"/>
            <a:ext cx="4638675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它先判断这句话要干什么——是问知识点、要出题，还是让你查资料。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667500" y="3076575"/>
            <a:ext cx="4829175" cy="1028700"/>
          </a:xfrm>
          <a:custGeom>
            <a:pathLst>
              <a:path w="507" h="108">
                <a:moveTo>
                  <a:pt x="0" y="0"/>
                </a:moveTo>
                <a:lnTo>
                  <a:pt x="3" y="0"/>
                </a:lnTo>
                <a:lnTo>
                  <a:pt x="3" y="108"/>
                </a:lnTo>
                <a:lnTo>
                  <a:pt x="0" y="10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6829425" y="3190875"/>
            <a:ext cx="4638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二、它自己决定下一步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829425" y="3467100"/>
            <a:ext cx="4638675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查什么、调哪个工具，是它自己选的；每选一次，就把进展存一次档。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667500" y="4105275"/>
            <a:ext cx="4829175" cy="1028700"/>
          </a:xfrm>
          <a:custGeom>
            <a:pathLst>
              <a:path w="507" h="108">
                <a:moveTo>
                  <a:pt x="0" y="0"/>
                </a:moveTo>
                <a:lnTo>
                  <a:pt x="3" y="0"/>
                </a:lnTo>
                <a:lnTo>
                  <a:pt x="3" y="108"/>
                </a:lnTo>
                <a:lnTo>
                  <a:pt x="0" y="108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829425" y="4219575"/>
            <a:ext cx="4638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三、要动你的数据，先停下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829425" y="4495800"/>
            <a:ext cx="463867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存笔记、记错题这类操作，会停在那里等你点确认——这也是「存档」带来的能力。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723900" y="5581650"/>
            <a:ext cx="10744200" cy="476250"/>
          </a:xfrm>
          <a:prstGeom prst="roundRect">
            <a:avLst>
              <a:gd name="adj" fmla="val 16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3714750" y="5734050"/>
            <a:ext cx="4772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工程上叫：回合状态图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检查点（断点）·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中断后恢复（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interrupt / resume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03 / 10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30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2, width: 1128 }}&gt;&#10;    &lt;Text style={{ fontSize: 33, fontWeight: 'bold', color: '#0E3F8C' }}&gt;能看什么、能改什么，事先就划好了&lt;/Text&gt;&#10;    &lt;Text style={{ fontSize: 16, color: '#4A5568', marginTop: 10 }}&gt;第二个时刻：它想动手的时候，靠什么拦住——不是靠嘱咐它「别乱改」&lt;/Text&gt;&#10;  &lt;/Box&gt;&#10;&#10;  &lt;Box style={{ position: 'absolute', left: 76, top: 190, width: 560, height: 372, flexDirection: 'column' }}&gt;&#10;&#10;    &lt;Text style={{ fontSize: 14, color: '#3D7BD9', letterSpacing: 1.5 }}&gt;打个比方 · 公司门禁有两道&lt;/Text&gt;&#10;&#10;    &lt;Box style={{ flexDirection: 'column', marginTop: 12 }}&gt;&#10;      &lt;Box style={{ flexDirection: 'column', height: 108, borderLeft: '3px solid #1E4FA8', paddingLeft: 14 }}&gt;&#10;        &lt;Text style={{ fontSize: 18, fontWeight: 'bold', color: '#1A2230', marginTop: 10 }}&gt;第一道：名单&lt;/Text&gt;&#10;        &lt;Text style={{ fontSize: 14.5, color: '#4A5568', lineHeight: 1.7, marginTop: 8 }}&gt;&#10;          不在名单上的门，它连「有这扇门」都不知道——工具列表按角色裁过，被禁的根本不出现。&#10;        &lt;/Text&gt;&#10;      &lt;/Box&gt;&#10;      &lt;Box style={{ flexDirection: 'column', height: 108, borderLeft: '3px solid #1E4FA8', paddingLeft: 14 }}&gt;&#10;        &lt;Text style={{ fontSize: 18, fontWeight: 'bold', color: '#1A2230', marginTop: 10 }}&gt;第二道：钥匙&lt;/Text&gt;&#10;        &lt;Text style={{ fontSize: 14.5, color: '#4A5568', lineHeight: 1.7, marginTop: 8 }}&gt;&#10;          就算它硬要开一扇没权限的门，真到执行那一步也会被拒——这一层它绕不过去。&#10;        &lt;/Text&gt;&#10;      &lt;/Box&gt;&#10;      &lt;Box style={{ flexDirection: 'column', height: 108, borderLeft: '3px solid #3D7BD9', paddingLeft: 14 }}&gt;&#10;        &lt;Text style={{ fontSize: 18, fontWeight: 'bold', color: '#1A2230', marginTop: 10 }}&gt;所以那句话成立&lt;/Text&gt;&#10;        &lt;Text style={{ fontSize: 14.5, color: '#4A5568', lineHeight: 1.7, marginTop: 8 }}&gt;&#10;          「AI 不会擅自改你的数据」不是写在提示词里的请求，是流程上过不去。&#10;        &lt;/Text&gt;&#10;      &lt;/Box&gt;&#10;    &lt;/Box&gt;&#10;&#10;  &lt;/Box&gt;&#10;&#10;  &lt;Box style={{ position: 'absolute', left: 700, top: 190, width: 504, height: 372, flexDirection: 'column' }}&gt;&#10;&#10;    &lt;Text style={{ fontSize: 14, color: '#3D7BD9', letterSpacing: 1.5 }}&gt;具体分三种处置&lt;/Text&gt;&#10;&#10;    &lt;Box style={{ flexDirection: 'column', marginTop: 12, gap: 12 }}&gt;&#10;&#10;      &lt;Box style={{ flexDirection: 'column', height: 96, background: '#F7F9FC', borderRadius: 8, padding: 14 }}&gt;&#10;        &lt;Text style={{ fontSize: 17, fontWeight: 'bold', color: '#1E4FA8' }}&gt;能读能算&lt;/Text&gt;&#10;        &lt;Text style={{ fontSize: 14, color: '#4A5568', lineHeight: 1.65, marginTop: 6 }}&gt;&#10;          查你的资料、看你的错题、做一次计算——这些随时可以。&#10;        &lt;/Text&gt;&#10;      &lt;/Box&gt;&#10;&#10;      &lt;Box style={{ flexDirection: 'column', height: 96, background: '#F7F9FC', borderRadius: 8, padding: 14 }}&gt;&#10;        &lt;Text style={{ fontSize: 17, fontWeight: 'bold', color: '#1E4FA8' }}&gt;只能读&lt;/Text&gt;&#10;        &lt;Text style={{ fontSize: 14, color: '#4A5568', lineHeight: 1.65, marginTop: 6 }}&gt;&#10;          练习模式下不许往你的库里写东西；它连写的能力都没有。&#10;        &lt;/Text&gt;&#10;      &lt;/Box&gt;&#10;&#10;      &lt;Box style={{ flexDirection: 'column', height: 96, background: '#F0F5FC', borderRadius: 8, padding: 14 }}&gt;&#10;        &lt;Text style={{ fontSize: 17, fontWeight: 'bold', color: '#D9534F' }}&gt;要你签字&lt;/Text&gt;&#10;        &lt;Text style={{ fontSize: 14, color: '#4A5568', lineHeight: 1.65, marginTop: 6 }}&gt;&#10;          存笔记、记错题之前，会停下来弹一句「要存吗」，你点了才写。&#10;        &lt;/Text&gt;&#10;      &lt;/Box&gt;&#10;&#10;    &lt;/Box&gt;&#10;&#10;  &lt;/Box&gt;&#10;&#10;  &lt;Box style={{ position: 'absolute', left: 76, top: 590, width: 1128, height: 50, background: '#0E3F8C', borderRadius: 8, justifyContent: 'center', alignItems: 'center' }}&gt;&#10;    &lt;Text style={{ fontSize: 14.5, color: '#FFFFFF' }}&gt;&#10;      工程上叫：工具权限双层——「模型看得见哪些」与「真正能不能跑」分开管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4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0E3F8C"/>
                </a:solidFill>
                <a:latin typeface="PingFang SC"/>
                <a:ea typeface="PingFang SC"/>
              </a:rPr>
              <a:t>能看什么、能改什么，事先就划好了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723900" y="1352550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第二个时刻：它想动手的时候，靠什么拦住——不是靠嘱咐它「别乱改」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打个比方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公司门禁有两道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723900" y="2085975"/>
            <a:ext cx="5362575" cy="1028700"/>
          </a:xfrm>
          <a:custGeom>
            <a:pathLst>
              <a:path w="563" h="108">
                <a:moveTo>
                  <a:pt x="0" y="0"/>
                </a:moveTo>
                <a:lnTo>
                  <a:pt x="3" y="0"/>
                </a:lnTo>
                <a:lnTo>
                  <a:pt x="3" y="108"/>
                </a:lnTo>
                <a:lnTo>
                  <a:pt x="0" y="10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885825" y="2181225"/>
            <a:ext cx="5172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PingFang SC"/>
                <a:ea typeface="PingFang SC"/>
              </a:rPr>
              <a:t>第一道：名单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885825" y="2466975"/>
            <a:ext cx="51720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不在名单上的门，它连「有这扇门」都不知道——工具列表按角色裁过，被禁的根本不出现。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723900" y="3114675"/>
            <a:ext cx="5362575" cy="1028700"/>
          </a:xfrm>
          <a:custGeom>
            <a:pathLst>
              <a:path w="563" h="108">
                <a:moveTo>
                  <a:pt x="0" y="0"/>
                </a:moveTo>
                <a:lnTo>
                  <a:pt x="3" y="0"/>
                </a:lnTo>
                <a:lnTo>
                  <a:pt x="3" y="108"/>
                </a:lnTo>
                <a:lnTo>
                  <a:pt x="0" y="10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885825" y="3209925"/>
            <a:ext cx="5172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PingFang SC"/>
                <a:ea typeface="PingFang SC"/>
              </a:rPr>
              <a:t>第二道：钥匙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885825" y="3495675"/>
            <a:ext cx="5172075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就算它硬要开一扇没权限的门，真到执行那一步也会被拒——这一层它绕不过去。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723900" y="4143375"/>
            <a:ext cx="5362575" cy="1028700"/>
          </a:xfrm>
          <a:custGeom>
            <a:pathLst>
              <a:path w="563" h="108">
                <a:moveTo>
                  <a:pt x="0" y="0"/>
                </a:moveTo>
                <a:lnTo>
                  <a:pt x="3" y="0"/>
                </a:lnTo>
                <a:lnTo>
                  <a:pt x="3" y="108"/>
                </a:lnTo>
                <a:lnTo>
                  <a:pt x="0" y="108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85825" y="4238625"/>
            <a:ext cx="5172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PingFang SC"/>
                <a:ea typeface="PingFang SC"/>
              </a:rPr>
              <a:t>所以那句话成立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85825" y="4524375"/>
            <a:ext cx="5172075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「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AI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不会擅自改你的数据」不是写在提示词里的请求，是流程上过不去。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667500" y="1809750"/>
            <a:ext cx="480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具体分三种处置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6667500" y="2085975"/>
            <a:ext cx="4800600" cy="9144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800850" y="2219325"/>
            <a:ext cx="4533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PingFang SC"/>
                <a:ea typeface="PingFang SC"/>
              </a:rPr>
              <a:t>能读能算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800850" y="2476500"/>
            <a:ext cx="4533900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查你的资料、看你的错题、做一次计算——这些随时可以。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6667500" y="3114675"/>
            <a:ext cx="4800600" cy="9144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800850" y="3248025"/>
            <a:ext cx="4533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PingFang SC"/>
                <a:ea typeface="PingFang SC"/>
              </a:rPr>
              <a:t>只能读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800850" y="3505200"/>
            <a:ext cx="4533900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练习模式下不许往你的库里写东西；它连写的能力都没有。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6667500" y="4143375"/>
            <a:ext cx="4800600" cy="914400"/>
          </a:xfrm>
          <a:prstGeom prst="roundRect">
            <a:avLst>
              <a:gd name="adj" fmla="val 8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800850" y="4276725"/>
            <a:ext cx="4533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D9534F"/>
                </a:solidFill>
                <a:latin typeface="PingFang SC"/>
                <a:ea typeface="PingFang SC"/>
              </a:rPr>
              <a:t>要你签字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00850" y="4533900"/>
            <a:ext cx="4533900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存笔记、记错题之前，会停下来弹一句「要存吗」，你点了才写。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723900" y="5619750"/>
            <a:ext cx="10744200" cy="476250"/>
          </a:xfrm>
          <a:prstGeom prst="roundRect">
            <a:avLst>
              <a:gd name="adj" fmla="val 16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3752850" y="5772150"/>
            <a:ext cx="4695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工程上叫：工具权限双层——「模型看得见哪些」与「真正能不能跑」分开管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04 / 10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6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2, width: 1128 }}&gt;&#10;    &lt;Text style={{ fontSize: 33, fontWeight: 'bold', color: '#0E3F8C' }}&gt;聊再久也不忘事，也不把整段记录都塞进去&lt;/Text&gt;&#10;    &lt;Text style={{ fontSize: 16, color: '#4A5568', marginTop: 10 }}&gt;第三个时刻：聊到第二十轮，它还记不记得最开始说过什么&lt;/Text&gt;&#10;  &lt;/Box&gt;&#10;&#10;  &lt;Box style={{ position: 'absolute', left: 76, top: 190, width: 560, height: 360, flexDirection: 'column' }}&gt;&#10;&#10;    &lt;Text style={{ fontSize: 14, color: '#3D7BD9', letterSpacing: 1.5 }}&gt;打个比方 · 新人接手一个项目&lt;/Text&gt;&#10;&#10;    &lt;Box style={{ flexDirection: 'column', marginTop: 12 }}&gt;&#10;      &lt;Box style={{ flexDirection: 'column', height: 116, borderLeft: '3px solid #D9534F', paddingLeft: 14 }}&gt;&#10;        &lt;Text style={{ fontSize: 18, fontWeight: 'bold', color: '#D9534F', marginTop: 10 }}&gt;把三小时录音丢给他&lt;/Text&gt;&#10;        &lt;Text style={{ fontSize: 14.5, color: '#4A5568', lineHeight: 1.7, marginTop: 8 }}&gt;&#10;          他得从头听到尾，重点埋在中间，还特别慢。这就是把全部聊天记录塞给模型的后果。&#10;        &lt;/Text&gt;&#10;      &lt;/Box&gt;&#10;      &lt;Box style={{ flexDirection: 'column', height: 116, borderLeft: '3px solid #1E4FA8', paddingLeft: 14 }}&gt;&#10;        &lt;Text style={{ fontSize: 18, fontWeight: 'bold', color: '#1E4FA8', marginTop: 10 }}&gt;给一页纪要&lt;/Text&gt;&#10;        &lt;Text style={{ fontSize: 14.5, color: '#4A5568', lineHeight: 1.7, marginTop: 8 }}&gt;&#10;          谁、做了什么、卡在哪、下一步——三十秒就能接上。知迹留下的就是这一页。&#10;        &lt;/Text&gt;&#10;      &lt;/Box&gt;&#10;      &lt;Box style={{ flexDirection: 'column', height: 96, borderLeft: '3px solid #3D7BD9', paddingLeft: 14 }}&gt;&#10;        &lt;Text style={{ fontSize: 18, fontWeight: 'bold', color: '#1A2230', marginTop: 10 }}&gt;所以它不会「越聊越糊涂」&lt;/Text&gt;&#10;        &lt;Text style={{ fontSize: 14.5, color: '#4A5568', lineHeight: 1.7, marginTop: 8 }}&gt;&#10;          前面聊过什么、结论是什么，都留在纪要里，后面接着用。&#10;        &lt;/Text&gt;&#10;      &lt;/Box&gt;&#10;    &lt;/Box&gt;&#10;&#10;  &lt;/Box&gt;&#10;&#10;  &lt;Box style={{ position: 'absolute', left: 700, top: 190, width: 504, height: 360, flexDirection: 'column' }}&gt;&#10;&#10;    &lt;Text style={{ fontSize: 14, color: '#3D7BD9', letterSpacing: 1.5 }}&gt;这一页纪要长什么样&lt;/Text&gt;&#10;&#10;    &lt;Box style={{ flexDirection: 'row', alignItems: 'flex-end', marginTop: 16 }}&gt;&#10;      &lt;Text style={{ fontSize: 64, fontWeight: 'bold', color: '#1E4FA8', lineHeight: 1 }}&gt;240&lt;/Text&gt;&#10;      &lt;Text style={{ fontSize: 15, color: '#4A5568', paddingBottom: 8, paddingLeft: 8 }}&gt;字以内&lt;/Text&gt;&#10;    &lt;/Box&gt;&#10;    &lt;Text style={{ fontSize: 14, color: '#4A5568', lineHeight: 1.7, marginTop: 8 }}&gt;&#10;      超过就不叫纪要了，反而占地方。所以有硬上限。&#10;    &lt;/Text&gt;&#10;&#10;    &lt;Box style={{ flexDirection: 'column', marginTop: 22, gap: 12 }}&gt;&#10;      &lt;Box style={{ flexDirection: 'row', gap: 10 }}&gt;&#10;        &lt;Text style={{ fontSize: 14, fontWeight: 'bold', color: '#1E4FA8', width: 18 }}&gt;·&lt;/Text&gt;&#10;        &lt;Text style={{ fontSize: 14.5, color: '#1A2230', lineHeight: 1.6, width: 460 }}&gt;最近问过的 3 个问题（知道你在关心什么）&lt;/Text&gt;&#10;      &lt;/Box&gt;&#10;      &lt;Box style={{ flexDirection: 'row', gap: 10 }}&gt;&#10;        &lt;Text style={{ fontSize: 14, fontWeight: 'bold', color: '#1E4FA8', width: 18 }}&gt;·&lt;/Text&gt;&#10;        &lt;Text style={{ fontSize: 14.5, color: '#1A2230', lineHeight: 1.6, width: 460 }}&gt;上一轮得出的结论（避免自相矛盾）&lt;/Text&gt;&#10;      &lt;/Box&gt;&#10;      &lt;Box style={{ flexDirection: 'row', gap: 10 }}&gt;&#10;        &lt;Text style={{ fontSize: 14, fontWeight: 'bold', color: '#1E4FA8', width: 18 }}&gt;·&lt;/Text&gt;&#10;        &lt;Text style={{ fontSize: 14.5, color: '#1A2230', lineHeight: 1.6, width: 460 }}&gt;一条预算线：当天用量超了就停，不乱花钱&lt;/Text&gt;&#10;      &lt;/Box&gt;&#10;    &lt;/Box&gt;&#10;&#10;  &lt;/Box&gt;&#10;&#10;  &lt;Box style={{ position: 'absolute', left: 700, top: 446, width: 504, height: 114, borderTop: '1px solid #D6DCE5', flexDirection: 'column', paddingTop: 12 }}&gt;&#10;    &lt;Text style={{ fontSize: 14.5, fontWeight: 'bold', color: '#1A2230' }}&gt;为什么不用模型来写这份纪要&lt;/Text&gt;&#10;    &lt;Text style={{ fontSize: 13.5, color: '#4A5568', lineHeight: 1.7, marginTop: 8 }}&gt;&#10;      模型的摘要每次都不一样，测试就没法比对。用「抽取」的办法，同一段对话永远得到同一份纪要，&#10;      才能判断「这次改动有没有让它变差」。&#10;    &lt;/Text&gt;&#10;  &lt;/Box&gt;&#10;&#10;  &lt;Box style={{ position: 'absolute', left: 76, top: 580, width: 1128, height: 50, background: '#0E3F8C', borderRadius: 8, justifyContent: 'center', alignItems: 'center' }}&gt;&#10;    &lt;Text style={{ fontSize: 14.5, color: '#FFFFFF' }}&gt;&#10;      工程上叫：抽取式摘要（不额外调模型、结果可复现）+ 用量预算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5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0E3F8C"/>
                </a:solidFill>
                <a:latin typeface="PingFang SC"/>
                <a:ea typeface="PingFang SC"/>
              </a:rPr>
              <a:t>聊再久也不忘事，也不把整段记录都塞进去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723900" y="1352550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第三个时刻：聊到第二十轮，它还记不记得最开始说过什么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打个比方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新人接手一个项目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723900" y="2085975"/>
            <a:ext cx="5362575" cy="1104900"/>
          </a:xfrm>
          <a:custGeom>
            <a:pathLst>
              <a:path w="563" h="116">
                <a:moveTo>
                  <a:pt x="0" y="0"/>
                </a:moveTo>
                <a:lnTo>
                  <a:pt x="3" y="0"/>
                </a:lnTo>
                <a:lnTo>
                  <a:pt x="3" y="116"/>
                </a:lnTo>
                <a:lnTo>
                  <a:pt x="0" y="116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85825" y="2181225"/>
            <a:ext cx="5172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D9534F"/>
                </a:solidFill>
                <a:latin typeface="PingFang SC"/>
                <a:ea typeface="PingFang SC"/>
              </a:rPr>
              <a:t>把三小时录音丢给他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85825" y="2466975"/>
            <a:ext cx="51720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他得从头听到尾，重点埋在中间，还特别慢。这就是把全部聊天记录塞给模型的后果。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723900" y="3190875"/>
            <a:ext cx="5362575" cy="1104900"/>
          </a:xfrm>
          <a:custGeom>
            <a:pathLst>
              <a:path w="563" h="116">
                <a:moveTo>
                  <a:pt x="0" y="0"/>
                </a:moveTo>
                <a:lnTo>
                  <a:pt x="3" y="0"/>
                </a:lnTo>
                <a:lnTo>
                  <a:pt x="3" y="116"/>
                </a:lnTo>
                <a:lnTo>
                  <a:pt x="0" y="11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85825" y="3286125"/>
            <a:ext cx="5172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PingFang SC"/>
                <a:ea typeface="PingFang SC"/>
              </a:rPr>
              <a:t>给一页纪要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85825" y="3571875"/>
            <a:ext cx="5172075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谁、做了什么、卡在哪、下一步——三十秒就能接上。知迹留下的就是这一页。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723900" y="4295775"/>
            <a:ext cx="5362575" cy="914400"/>
          </a:xfrm>
          <a:custGeom>
            <a:pathLst>
              <a:path w="563" h="96">
                <a:moveTo>
                  <a:pt x="0" y="0"/>
                </a:moveTo>
                <a:lnTo>
                  <a:pt x="3" y="0"/>
                </a:lnTo>
                <a:lnTo>
                  <a:pt x="3" y="96"/>
                </a:lnTo>
                <a:lnTo>
                  <a:pt x="0" y="96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885825" y="4391025"/>
            <a:ext cx="5172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PingFang SC"/>
                <a:ea typeface="PingFang SC"/>
              </a:rPr>
              <a:t>所以它不会「越聊越糊涂」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85825" y="4676775"/>
            <a:ext cx="5172075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前面聊过什么、结论是什么，都留在纪要里，后面接着用。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667500" y="1809750"/>
            <a:ext cx="480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这一页纪要长什么样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667500" y="2124075"/>
            <a:ext cx="11049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1E4FA8"/>
                </a:solidFill>
                <a:latin typeface="PingFang SC"/>
                <a:ea typeface="PingFang SC"/>
              </a:rPr>
              <a:t>240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7772400" y="2609850"/>
            <a:ext cx="504825" cy="247650"/>
          </a:xfrm>
          <a:prstGeom prst="rect"/>
        </p:spPr>
        <p:txBody>
          <a:bodyPr wrap="none" lIns="57150" tIns="0" rIns="0" bIns="5715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字以内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667500" y="2933700"/>
            <a:ext cx="48006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超过就不叫纪要了，反而占地方。所以有硬上限。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667500" y="3419475"/>
            <a:ext cx="1714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PingFang SC"/>
                <a:ea typeface="PingFang SC"/>
              </a:rPr>
              <a:t>·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934200" y="3419475"/>
            <a:ext cx="43815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最近问过的</a:t>
            </a:r>
            <a:r>
              <a:rPr lang="en-US" sz="1088">
                <a:solidFill>
                  <a:srgbClr val="1A2230"/>
                </a:solidFill>
                <a:latin typeface="PingFang SC"/>
                <a:ea typeface="PingFang SC"/>
              </a:rPr>
              <a:t xml:space="preserve"> 3 </a:t>
            </a: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个问题（知道你在关心什么）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667500" y="3800475"/>
            <a:ext cx="1714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PingFang SC"/>
                <a:ea typeface="PingFang SC"/>
              </a:rPr>
              <a:t>·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6934200" y="3800475"/>
            <a:ext cx="43815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上一轮得出的结论（避免自相矛盾）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667500" y="4181475"/>
            <a:ext cx="1714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PingFang SC"/>
                <a:ea typeface="PingFang SC"/>
              </a:rPr>
              <a:t>·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934200" y="4181475"/>
            <a:ext cx="43815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一条预算线：当天用量超了就停，不乱花钱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667500" y="4248150"/>
            <a:ext cx="4800600" cy="1085850"/>
          </a:xfrm>
          <a:custGeom>
            <a:pathLst>
              <a:path w="504" h="114">
                <a:moveTo>
                  <a:pt x="0" y="0"/>
                </a:moveTo>
                <a:lnTo>
                  <a:pt x="504" y="0"/>
                </a:lnTo>
                <a:lnTo>
                  <a:pt x="504" y="1"/>
                </a:lnTo>
                <a:lnTo>
                  <a:pt x="0" y="1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667500" y="4371975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为什么不用模型来写这份纪要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667500" y="4619625"/>
            <a:ext cx="4800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模型的摘要每次都不一样，测试就没法比对。用「抽取」的办法，同一段对话永远得到同一份纪要，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才能判断「这次改动有没有让它变差」。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723900" y="5524500"/>
            <a:ext cx="10744200" cy="476250"/>
          </a:xfrm>
          <a:prstGeom prst="roundRect">
            <a:avLst>
              <a:gd name="adj" fmla="val 16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095750" y="5676900"/>
            <a:ext cx="4000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工程上叫：抽取式摘要（不额外调模型、结果可复现）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+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用量预算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05 / 10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95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2, width: 1128 }}&gt;&#10;    &lt;Text style={{ fontSize: 33, fontWeight: 'bold', color: '#0E3F8C' }}&gt;用自己的资料回答，还告诉你「第几页」&lt;/Text&gt;&#10;    &lt;Text style={{ fontSize: 16, color: '#4A5568', marginTop: 10 }}&gt;第四个时刻：它凭什么觉得就是这一段——凭四条不同的找法，而不是一条&lt;/Text&gt;&#10;  &lt;/Box&gt;&#10;&#10;  &lt;Box style={{ position: 'absolute', left: 76, top: 190, width: 1128, height: 132, flexDirection: 'row' }}&gt;&#10;&#10;    &lt;Box style={{ width: 256, flexDirection: 'column' }}&gt;&#10;      &lt;Text style={{ fontSize: 13, color: '#8B97A8' }}&gt;找法一&lt;/Text&gt;&#10;      &lt;Text style={{ fontSize: 17, fontWeight: 'bold', color: '#1A2230', marginTop: 6 }}&gt;按字面找&lt;/Text&gt;&#10;      &lt;Text style={{ fontSize: 13.5, color: '#4A5568', lineHeight: 1.6, marginTop: 8 }}&gt;你写「导数」，就直接搜这两个字。&lt;/Text&gt;&#10;      &lt;Text style={{ fontSize: 12.5, color: '#8B97A8', marginTop: 6 }}&gt;命中准，但怕错一个字&lt;/Text&gt;&#10;    &lt;/Box&gt;&#10;&#10;    &lt;Box style={{ width: 1, height: 110, background: '#E5E7EB', marginLeft: 16, marginRight: 16 }} /&gt;&#10;&#10;    &lt;Box style={{ width: 256, flexDirection: 'column' }}&gt;&#10;      &lt;Text style={{ fontSize: 13, color: '#8B97A8' }}&gt;找法二&lt;/Text&gt;&#10;      &lt;Text style={{ fontSize: 17, fontWeight: 'bold', color: '#1A2230', marginTop: 6 }}&gt;换个说法找&lt;/Text&gt;&#10;      &lt;Text style={{ fontSize: 13.5, color: '#4A5568', lineHeight: 1.6, marginTop: 8 }}&gt;你问「本征值」，它知道资料里写的是「特征值」。&lt;/Text&gt;&#10;      &lt;Text style={{ fontSize: 12.5, color: '#8B97A8', marginTop: 6 }}&gt;救「同义不同词」&lt;/Text&gt;&#10;    &lt;/Box&gt;&#10;&#10;    &lt;Box style={{ width: 1, height: 110, background: '#E5E7EB', marginLeft: 16, marginRight: 16 }} /&gt;&#10;&#10;    &lt;Box style={{ width: 256, flexDirection: 'column' }}&gt;&#10;      &lt;Text style={{ fontSize: 13, color: '#8B97A8' }}&gt;找法三&lt;/Text&gt;&#10;      &lt;Text style={{ fontSize: 17, fontWeight: 'bold', color: '#1A2230', marginTop: 6 }}&gt;短词兜底&lt;/Text&gt;&#10;      &lt;Text style={{ fontSize: 13.5, color: '#4A5568', lineHeight: 1.6, marginTop: 8 }}&gt;「秩」「队列」这种两个字，别的找法会漏。&lt;/Text&gt;&#10;      &lt;Text style={{ fontSize: 12.5, color: '#8B97A8', marginTop: 6 }}&gt;救「太短搜不到」&lt;/Text&gt;&#10;    &lt;/Box&gt;&#10;&#10;    &lt;Box style={{ width: 1, height: 110, background: '#E5E7EB', marginLeft: 16, marginRight: 16 }} /&gt;&#10;&#10;    &lt;Box style={{ width: 256, flexDirection: 'column' }}&gt;&#10;      &lt;Text style={{ fontSize: 13, color: '#8B97A8' }}&gt;找法四&lt;/Text&gt;&#10;      &lt;Text style={{ fontSize: 17, fontWeight: 'bold', color: '#1A2230', marginTop: 6 }}&gt;按意思找&lt;/Text&gt;&#10;      &lt;Text style={{ fontSize: 13.5, color: '#4A5568', lineHeight: 1.6, marginTop: 8 }}&gt;一个字都不一样，但讲的是同一件事。&lt;/Text&gt;&#10;      &lt;Text style={{ fontSize: 12.5, color: '#8B97A8', marginTop: 6 }}&gt;救「换句话问」&lt;/Text&gt;&#10;    &lt;/Box&gt;&#10;&#10;  &lt;/Box&gt;&#10;&#10;  &lt;Box style={{ position: 'absolute', left: 76, top: 340, width: 1128, height: 100, flexDirection: 'row', gap: 20 }}&gt;&#10;&#10;    &lt;Box style={{ width: 554, flexDirection: 'column', borderLeft: '3px solid #1E4FA8', paddingLeft: 14 }}&gt;&#10;      &lt;Text style={{ fontSize: 16, fontWeight: 'bold', color: '#1A2230' }}&gt;然后把四份结果「按名次」合并&lt;/Text&gt;&#10;      &lt;Text style={{ fontSize: 14, color: '#4A5568', lineHeight: 1.7, marginTop: 6 }}&gt;&#10;        不能把四种分数直接相加——它们的单位根本不一样。只看各自排第几，再加权。&#10;      &lt;/Text&gt;&#10;    &lt;/Box&gt;&#10;&#10;    &lt;Box style={{ width: 554, flexDirection: 'column', borderLeft: '3px solid #3D7BD9', paddingLeft: 14 }}&gt;&#10;      &lt;Text style={{ fontSize: 16, fontWeight: 'bold', color: '#1A2230' }}&gt;合并完再排一次序&lt;/Text&gt;&#10;      &lt;Text style={{ fontSize: 14, color: '#4A5568', lineHeight: 1.7, marginTop: 6 }}&gt;&#10;        看谁的原文里真的出现了你问的字、且出现在标题上——把「看着像」的往下压。&#10;      &lt;/Text&gt;&#10;    &lt;/Box&gt;&#10;&#10;  &lt;/Box&gt;&#10;&#10;  &lt;Box style={{ position: 'absolute', left: 76, top: 458, width: 1128, height: 108, flexDirection: 'row', alignItems: 'center' }}&gt;&#10;&#10;    &lt;Box style={{ width: 250, flexDirection: 'column' }}&gt;&#10;      &lt;Text style={{ fontSize: 40, fontWeight: 'bold', color: '#1E4FA8', lineHeight: 1 }}&gt;35&lt;/Text&gt;&#10;      &lt;Text style={{ fontSize: 13.5, color: '#4A5568', marginTop: 6 }}&gt;道检索题（配 21 篇资料）&lt;/Text&gt;&#10;    &lt;/Box&gt;&#10;&#10;    &lt;Box style={{ width: 250, flexDirection: 'column' }}&gt;&#10;      &lt;Text style={{ fontSize: 40, fontWeight: 'bold', color: '#1E4FA8', lineHeight: 1 }}&gt;34&lt;/Text&gt;&#10;      &lt;Text style={{ fontSize: 13.5, color: '#4A5568', marginTop: 6 }}&gt;道第一次就找对&lt;/Text&gt;&#10;    &lt;/Box&gt;&#10;&#10;    &lt;Box style={{ width: 250, flexDirection: 'column' }}&gt;&#10;      &lt;Text style={{ fontSize: 40, fontWeight: 'bold', color: '#1E4FA8', lineHeight: 1 }}&gt;35&lt;/Text&gt;&#10;      &lt;Text style={{ fontSize: 13.5, color: '#4A5568', marginTop: 6 }}&gt;道（接真实模型时全对）&lt;/Text&gt;&#10;    &lt;/Box&gt;&#10;&#10;    &lt;Box style={{ width: 300, flexDirection: 'column', borderLeft: '1px solid #E5E7EB', paddingLeft: 18 }}&gt;&#10;      &lt;Text style={{ fontSize: 14, color: '#1A2230', lineHeight: 1.65 }}&gt;&#10;        把最后一层排序关掉，成绩从 0.9714 掉到 0.9571 —— 这一层不是装饰。&#10;      &lt;/Text&gt;&#10;    &lt;/Box&gt;&#10;&#10;  &lt;/Box&gt;&#10;&#10;  &lt;Box style={{ position: 'absolute', left: 76, top: 588, width: 1128, height: 50, background: '#0E3F8C', borderRadius: 8, justifyContent: 'center', alignItems: 'center' }}&gt;&#10;    &lt;Text style={{ fontSize: 14.5, color: '#FFFFFF' }}&gt;&#10;      工程上叫：四路召回 + 加权名次融合（RRF）+ 词面精排；每一路都有它的「为什么」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6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0E3F8C"/>
                </a:solidFill>
                <a:latin typeface="PingFang SC"/>
                <a:ea typeface="PingFang SC"/>
              </a:rPr>
              <a:t>用自己的资料回答，还告诉你「第几页」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23900" y="1352550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第四个时刻：它凭什么觉得就是这一段——凭四条不同的找法，而不是一条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2438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找法一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723900" y="2019300"/>
            <a:ext cx="2438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按字面找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23900" y="229552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你写「导数」，就直接搜这两个字。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723900" y="26003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命中准，但怕错一个字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3314700" y="1809750"/>
            <a:ext cx="9525" cy="10477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3476625" y="1809750"/>
            <a:ext cx="2438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找法二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476625" y="2019300"/>
            <a:ext cx="2438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换个说法找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476625" y="2295525"/>
            <a:ext cx="24384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你问「本征值」，它知道资料里写的是「特征值」。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3476625" y="284797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救「同义不同词」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6067425" y="1809750"/>
            <a:ext cx="9525" cy="10477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229350" y="1809750"/>
            <a:ext cx="2438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找法三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229350" y="2019300"/>
            <a:ext cx="2438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短词兜底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229350" y="2295525"/>
            <a:ext cx="24384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「秩」「队列」这种两个字，别的找法会漏。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229350" y="284797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救「太短搜不到」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8820150" y="1809750"/>
            <a:ext cx="9525" cy="10477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8982075" y="1809750"/>
            <a:ext cx="2438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找法四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8982075" y="2019300"/>
            <a:ext cx="2438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按意思找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8982075" y="229552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一个字都不一样，但讲的是同一件事。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982075" y="26003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救「换句话问」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723900" y="3238500"/>
            <a:ext cx="5276850" cy="952500"/>
          </a:xfrm>
          <a:custGeom>
            <a:pathLst>
              <a:path w="554" h="100">
                <a:moveTo>
                  <a:pt x="0" y="0"/>
                </a:moveTo>
                <a:lnTo>
                  <a:pt x="3" y="0"/>
                </a:lnTo>
                <a:lnTo>
                  <a:pt x="3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885825" y="3238500"/>
            <a:ext cx="5114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然后把四份结果「按名次」合并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885825" y="3486150"/>
            <a:ext cx="5114925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不能把四种分数直接相加——它们的单位根本不一样。只看各自排第几，再加权。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6191250" y="3238500"/>
            <a:ext cx="5276850" cy="952500"/>
          </a:xfrm>
          <a:custGeom>
            <a:pathLst>
              <a:path w="554" h="100">
                <a:moveTo>
                  <a:pt x="0" y="0"/>
                </a:moveTo>
                <a:lnTo>
                  <a:pt x="3" y="0"/>
                </a:lnTo>
                <a:lnTo>
                  <a:pt x="3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353175" y="3238500"/>
            <a:ext cx="5114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合并完再排一次序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353175" y="3486150"/>
            <a:ext cx="5114925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看谁的原文里真的出现了你问的字、且出现在标题上——把「看着像」的往下压。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723900" y="4543425"/>
            <a:ext cx="23812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PingFang SC"/>
                <a:ea typeface="PingFang SC"/>
              </a:rPr>
              <a:t>35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723900" y="5057775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道检索题（配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21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篇资料）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105150" y="4543425"/>
            <a:ext cx="23812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PingFang SC"/>
                <a:ea typeface="PingFang SC"/>
              </a:rPr>
              <a:t>34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105150" y="5057775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道第一次就找对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5486400" y="4543425"/>
            <a:ext cx="23812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PingFang SC"/>
                <a:ea typeface="PingFang SC"/>
              </a:rPr>
              <a:t>35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5486400" y="5057775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道（接真实模型时全对）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7867650" y="4610100"/>
            <a:ext cx="2857500" cy="533400"/>
          </a:xfrm>
          <a:custGeom>
            <a:pathLst>
              <a:path w="300" h="56">
                <a:moveTo>
                  <a:pt x="0" y="0"/>
                </a:moveTo>
                <a:lnTo>
                  <a:pt x="1" y="0"/>
                </a:lnTo>
                <a:lnTo>
                  <a:pt x="1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8048625" y="4610100"/>
            <a:ext cx="26765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1A2230"/>
                </a:solidFill>
                <a:latin typeface="PingFang SC"/>
                <a:ea typeface="PingFang SC"/>
              </a:rPr>
              <a:t>把最后一层排序关掉，成绩从</a:t>
            </a:r>
            <a:r>
              <a:rPr lang="en-US" sz="1050">
                <a:solidFill>
                  <a:srgbClr val="1A2230"/>
                </a:solidFill>
                <a:latin typeface="PingFang SC"/>
                <a:ea typeface="PingFang SC"/>
              </a:rPr>
              <a:t xml:space="preserve"> 0.9714 </a:t>
            </a:r>
            <a:r>
              <a:rPr lang="zh-CN" sz="1050">
                <a:solidFill>
                  <a:srgbClr val="1A2230"/>
                </a:solidFill>
                <a:latin typeface="PingFang SC"/>
                <a:ea typeface="PingFang SC"/>
              </a:rPr>
              <a:t>掉到</a:t>
            </a:r>
            <a:r>
              <a:rPr lang="en-US" sz="1050">
                <a:solidFill>
                  <a:srgbClr val="1A2230"/>
                </a:solidFill>
                <a:latin typeface="PingFang SC"/>
                <a:ea typeface="PingFang SC"/>
              </a:rPr>
              <a:t xml:space="preserve"> 0.9571 —— </a:t>
            </a:r>
            <a:r>
              <a:rPr lang="zh-CN" sz="1050">
                <a:solidFill>
                  <a:srgbClr val="1A2230"/>
                </a:solidFill>
                <a:latin typeface="PingFang SC"/>
                <a:ea typeface="PingFang SC"/>
              </a:rPr>
              <a:t>这一层不是装饰。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723900" y="5600700"/>
            <a:ext cx="10744200" cy="476250"/>
          </a:xfrm>
          <a:prstGeom prst="roundRect">
            <a:avLst>
              <a:gd name="adj" fmla="val 16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467100" y="5753100"/>
            <a:ext cx="5267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工程上叫：四路召回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加权名次融合（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RRF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）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+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词面精排；每一路都有它的「为什么」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06 / 10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39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2, width: 1128 }}&gt;&#10;    &lt;Text style={{ fontSize: 33, fontWeight: 'bold', color: '#0E3F8C' }}&gt;改完有没有变笨，看指标，不看感觉&lt;/Text&gt;&#10;    &lt;Text style={{ fontSize: 16, color: '#4A5568', marginTop: 10 }}&gt;第五个时刻：改了一行代码，怎么知道没把原来好的地方弄坏&lt;/Text&gt;&#10;  &lt;/Box&gt;&#10;&#10;  &lt;Box style={{ position: 'absolute', left: 76, top: 190, width: 600, height: 378, flexDirection: 'column' }}&gt;&#10;&#10;    &lt;Text style={{ fontSize: 14, color: '#3D7BD9', letterSpacing: 1.5 }}&gt;打个比方 · 体检&lt;/Text&gt;&#10;&#10;    &lt;Box style={{ flexDirection: 'column', marginTop: 12 }}&gt;&#10;      &lt;Box style={{ flexDirection: 'column', height: 112, borderLeft: '3px solid #D9534F', paddingLeft: 14 }}&gt;&#10;        &lt;Text style={{ fontSize: 18, fontWeight: 'bold', color: '#D9534F', marginTop: 10 }}&gt;靠感觉&lt;/Text&gt;&#10;        &lt;Text style={{ fontSize: 14.5, color: '#4A5568', lineHeight: 1.7, marginTop: 8 }}&gt;&#10;          「我觉得好像差不多」——改一个词、换个模型，就悄悄变差了，没人发现。&#10;        &lt;/Text&gt;&#10;      &lt;/Box&gt;&#10;      &lt;Box style={{ flexDirection: 'column', height: 112, borderLeft: '3px solid #1E4FA8', paddingLeft: 14 }}&gt;&#10;        &lt;Text style={{ fontSize: 18, fontWeight: 'bold', color: '#1E4FA8', marginTop: 10 }}&gt;靠一套固定指标 + 红线&lt;/Text&gt;&#10;        &lt;Text style={{ fontSize: 14.5, color: '#4A5568', lineHeight: 1.7, marginTop: 8 }}&gt;&#10;          每次改完都跑同一套题，和上次的成绩比；掉出允许范围就报错，不让你提交。&#10;        &lt;/Text&gt;&#10;      &lt;/Box&gt;&#10;      &lt;Box style={{ flexDirection: 'column', height: 112, borderLeft: '3px solid #3D7BD9', paddingLeft: 14 }}&gt;&#10;        &lt;Text style={{ fontSize: 18, fontWeight: 'bold', color: '#1A2230', marginTop: 10 }}&gt;所以我们有两套题&lt;/Text&gt;&#10;        &lt;Text style={{ fontSize: 14.5, color: '#4A5568', lineHeight: 1.7, marginTop: 8 }}&gt;&#10;          一套看「代码有没有坏」，一套看「找资料准不准」，各自有各自的红线。&#10;        &lt;/Text&gt;&#10;      &lt;/Box&gt;&#10;    &lt;/Box&gt;&#10;&#10;  &lt;/Box&gt;&#10;&#10;  &lt;Box style={{ position: 'absolute', left: 740, top: 190, width: 464, height: 378, flexDirection: 'column' }}&gt;&#10;&#10;    &lt;Text style={{ fontSize: 14, color: '#3D7BD9', letterSpacing: 1.5 }}&gt;我们现在跑的三件事&lt;/Text&gt;&#10;&#10;    &lt;Box style={{ flexDirection: 'row', alignItems: 'flex-end', marginTop: 14 }}&gt;&#10;      &lt;Text style={{ fontSize: 56, fontWeight: 'bold', color: '#1E4FA8', lineHeight: 1 }}&gt;284&lt;/Text&gt;&#10;      &lt;Text style={{ fontSize: 14.5, color: '#4A5568', paddingBottom: 6, paddingLeft: 8 }}&gt;项自动自测&lt;/Text&gt;&#10;    &lt;/Box&gt;&#10;    &lt;Text style={{ fontSize: 13.5, color: '#4A5568', lineHeight: 1.7, marginTop: 6 }}&gt;&#10;      不联网、不花钱，改完就跑一遍——这是「代码没坏」的底线。&#10;    &lt;/Text&gt;&#10;&#10;    &lt;Box style={{ flexDirection: 'row', alignItems: 'flex-end', marginTop: 18 }}&gt;&#10;      &lt;Text style={{ fontSize: 56, fontWeight: 'bold', color: '#1E4FA8', lineHeight: 1 }}&gt;35&lt;/Text&gt;&#10;      &lt;Text style={{ fontSize: 14.5, color: '#4A5568', paddingBottom: 6, paddingLeft: 8 }}&gt;道检索题&lt;/Text&gt;&#10;    &lt;/Box&gt;&#10;    &lt;Text style={{ fontSize: 13.5, color: '#4A5568', lineHeight: 1.7, marginTop: 6 }}&gt;&#10;      配 21 篇资料，覆盖同义词、中英混问、两个字短词这些真实情况。&#10;    &lt;/Text&gt;&#10;&#10;    &lt;Box style={{ flexDirection: 'row', alignItems: 'flex-end', marginTop: 18 }}&gt;&#10;      &lt;Text style={{ fontSize: 56, fontWeight: 'bold', color: '#D9534F', lineHeight: 1 }}&gt;0.05&lt;/Text&gt;&#10;      &lt;Text style={{ fontSize: 14.5, color: '#4A5568', paddingBottom: 6, paddingLeft: 8 }}&gt;分的红线&lt;/Text&gt;&#10;    &lt;/Box&gt;&#10;    &lt;Text style={{ fontSize: 13.5, color: '#4A5568', lineHeight: 1.7, marginTop: 6 }}&gt;&#10;      成绩掉超过 0.05 就报错——不是提醒，是直接拦下来。&#10;    &lt;/Text&gt;&#10;&#10;  &lt;/Box&gt;&#10;&#10;  &lt;Box style={{ position: 'absolute', left: 76, top: 580, width: 1128, height: 50, background: '#0E3F8C', borderRadius: 8, justifyContent: 'center', alignItems: 'center' }}&gt;&#10;    &lt;Text style={{ fontSize: 14.5, color: '#FFFFFF' }}&gt;&#10;      工程上叫：固定考卷 + 基线 + 容差 + 消融开关（关掉某一层，看成绩掉多少）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7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0E3F8C"/>
                </a:solidFill>
                <a:latin typeface="PingFang SC"/>
                <a:ea typeface="PingFang SC"/>
              </a:rPr>
              <a:t>改完有没有变笨，看指标，不看感觉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23900" y="1352550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第五个时刻：改了一行代码，怎么知道没把原来好的地方弄坏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5715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打个比方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体检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723900" y="2085975"/>
            <a:ext cx="5743575" cy="1066800"/>
          </a:xfrm>
          <a:custGeom>
            <a:pathLst>
              <a:path w="603" h="112">
                <a:moveTo>
                  <a:pt x="0" y="0"/>
                </a:moveTo>
                <a:lnTo>
                  <a:pt x="3" y="0"/>
                </a:lnTo>
                <a:lnTo>
                  <a:pt x="3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885825" y="2181225"/>
            <a:ext cx="555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D9534F"/>
                </a:solidFill>
                <a:latin typeface="PingFang SC"/>
                <a:ea typeface="PingFang SC"/>
              </a:rPr>
              <a:t>靠感觉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885825" y="2466975"/>
            <a:ext cx="5553075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「我觉得好像差不多」——改一个词、换个模型，就悄悄变差了，没人发现。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723900" y="3152775"/>
            <a:ext cx="5743575" cy="1066800"/>
          </a:xfrm>
          <a:custGeom>
            <a:pathLst>
              <a:path w="603" h="112">
                <a:moveTo>
                  <a:pt x="0" y="0"/>
                </a:moveTo>
                <a:lnTo>
                  <a:pt x="3" y="0"/>
                </a:lnTo>
                <a:lnTo>
                  <a:pt x="3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85825" y="3248025"/>
            <a:ext cx="555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PingFang SC"/>
                <a:ea typeface="PingFang SC"/>
              </a:rPr>
              <a:t>靠一套固定指标</a:t>
            </a:r>
            <a:r>
              <a:rPr lang="en-US" sz="1350" b="1">
                <a:solidFill>
                  <a:srgbClr val="1E4FA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350" b="1">
                <a:solidFill>
                  <a:srgbClr val="1E4FA8"/>
                </a:solidFill>
                <a:latin typeface="PingFang SC"/>
                <a:ea typeface="PingFang SC"/>
              </a:rPr>
              <a:t>红线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85825" y="3533775"/>
            <a:ext cx="5553075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每次改完都跑同一套题，和上次的成绩比；掉出允许范围就报错，不让你提交。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723900" y="4219575"/>
            <a:ext cx="5743575" cy="1066800"/>
          </a:xfrm>
          <a:custGeom>
            <a:pathLst>
              <a:path w="603" h="112">
                <a:moveTo>
                  <a:pt x="0" y="0"/>
                </a:moveTo>
                <a:lnTo>
                  <a:pt x="3" y="0"/>
                </a:lnTo>
                <a:lnTo>
                  <a:pt x="3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885825" y="4314825"/>
            <a:ext cx="555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PingFang SC"/>
                <a:ea typeface="PingFang SC"/>
              </a:rPr>
              <a:t>所以我们有两套题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85825" y="4600575"/>
            <a:ext cx="5553075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一套看「代码有没有坏」，一套看「找资料准不准」，各自有各自的红线。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7048500" y="1809750"/>
            <a:ext cx="4419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我们现在跑的三件事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7048500" y="2105025"/>
            <a:ext cx="9620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E4FA8"/>
                </a:solidFill>
                <a:latin typeface="PingFang SC"/>
                <a:ea typeface="PingFang SC"/>
              </a:rPr>
              <a:t>284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8010525" y="2524125"/>
            <a:ext cx="771525" cy="228600"/>
          </a:xfrm>
          <a:prstGeom prst="rect"/>
        </p:spPr>
        <p:txBody>
          <a:bodyPr wrap="none" lIns="57150" tIns="0" rIns="0" bIns="42863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项自动自测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7048500" y="2809875"/>
            <a:ext cx="44196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不联网、不花钱，改完就跑一遍——这是「代码没坏」的底线。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048500" y="3248025"/>
            <a:ext cx="6477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E4FA8"/>
                </a:solidFill>
                <a:latin typeface="PingFang SC"/>
                <a:ea typeface="PingFang SC"/>
              </a:rPr>
              <a:t>35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696200" y="3667125"/>
            <a:ext cx="628650" cy="228600"/>
          </a:xfrm>
          <a:prstGeom prst="rect"/>
        </p:spPr>
        <p:txBody>
          <a:bodyPr wrap="none" lIns="57150" tIns="0" rIns="0" bIns="42863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道检索题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7048500" y="3952875"/>
            <a:ext cx="44196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配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21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篇资料，覆盖同义词、中英混问、两个字短词这些真实情况。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048500" y="4391025"/>
            <a:ext cx="11144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D9534F"/>
                </a:solidFill>
                <a:latin typeface="PingFang SC"/>
                <a:ea typeface="PingFang SC"/>
              </a:rPr>
              <a:t>0.05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8162925" y="4810125"/>
            <a:ext cx="628650" cy="228600"/>
          </a:xfrm>
          <a:prstGeom prst="rect"/>
        </p:spPr>
        <p:txBody>
          <a:bodyPr wrap="none" lIns="57150" tIns="0" rIns="0" bIns="42863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分的红线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7048500" y="5095875"/>
            <a:ext cx="44196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成绩掉超过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0.05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就报错——不是提醒，是直接拦下来。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723900" y="5524500"/>
            <a:ext cx="10744200" cy="476250"/>
          </a:xfrm>
          <a:prstGeom prst="roundRect">
            <a:avLst>
              <a:gd name="adj" fmla="val 16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695700" y="5676900"/>
            <a:ext cx="481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工程上叫：固定考卷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基线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容差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消融开关（关掉某一层，看成绩掉多少）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1020425" y="6448425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07 / 10</a:t>
            </a:r>
            <a:endParaRPr/>
          </a:p>
        </p:txBody>
      </p:sp>
    </p:spTree>
  </p:cSld>
</p:sld>
</file>

<file path=ppt/slides/slide8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270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2, width: 1128 }}&gt;&#10;    &lt;Text style={{ fontSize: 33, fontWeight: 'bold', color: '#0E3F8C' }}&gt;走一遍真实使用：从上传讲义到期末复习&lt;/Text&gt;&#10;    &lt;Text style={{ fontSize: 16, color: '#4A5568', marginTop: 10 }}&gt;下面这张不是画的，是系统真实界面截的图&lt;/Text&gt;&#10;  &lt;/Box&gt;&#10;&#10;  &lt;Box style={{ position: 'absolute', left: 76, top: 194, width: 660 }}&gt;&#10;    &lt;Box style={{ width: 660, height: 297, border: '1px solid #D6DCE5', borderRadius: 6, overflow: 'hidden' }}&gt;&#10;      &lt;Image src=&quot;assets/ui-knowledge.png&quot; style={{ width: 658, height: 295, objectFit: 'cover' }} /&gt;&#10;    &lt;/Box&gt;&#10;    &lt;Text style={{ fontSize: 13, color: '#8B97A8', marginTop: 10 }}&gt;&#10;      知识库页：左边是学科目录（7 个库），中间是资料列表（PDF 与 Word 混放），右边可以直接就着这些资料提问&#10;    &lt;/Text&gt;&#10;  &lt;/Box&gt;&#10;&#10;  &lt;Box style={{ position: 'absolute', left: 772, top: 190, width: 432, height: 378, flexDirection: 'column' }}&gt;&#10;&#10;    &lt;Text style={{ fontSize: 14, color: '#3D7BD9', letterSpacing: 1.5 }}&gt;四步走完一遍&lt;/Text&gt;&#10;&#10;    &lt;Box style={{ flexDirection: 'column', marginTop: 10 }}&gt;&#10;      &lt;Box style={{ flexDirection: 'column', height: 86, borderLeft: '3px solid #1E4FA8', paddingLeft: 12 }}&gt;&#10;        &lt;Text style={{ fontSize: 16, fontWeight: 'bold', color: '#1A2230' }}&gt;一、把讲义丢进去&lt;/Text&gt;&#10;        &lt;Text style={{ fontSize: 13.5, color: '#4A5568', lineHeight: 1.6, marginTop: 6 }}&gt;&#10;          支持 PDF / Word / PPT / Excel，拍照的板书也能转成文字。&#10;        &lt;/Text&gt;&#10;      &lt;/Box&gt;&#10;      &lt;Box style={{ flexDirection: 'column', height: 86, borderLeft: '3px solid #1E4FA8', paddingLeft: 12 }}&gt;&#10;        &lt;Text style={{ fontSize: 16, fontWeight: 'bold', color: '#1A2230' }}&gt;二、就着自己的资料问&lt;/Text&gt;&#10;        &lt;Text style={{ fontSize: 13.5, color: '#4A5568', lineHeight: 1.6, marginTop: 6 }}&gt;&#10;          回答下面标着出自哪份资料、第几页，能点开看原文。&#10;        &lt;/Text&gt;&#10;      &lt;/Box&gt;&#10;      &lt;Box style={{ flexDirection: 'column', height: 86, borderLeft: '3px solid #1E4FA8', paddingLeft: 12 }}&gt;&#10;        &lt;Text style={{ fontSize: 16, fontWeight: 'bold', color: '#1A2230' }}&gt;三、错题记下来&lt;/Text&gt;&#10;        &lt;Text style={{ fontSize: 13.5, color: '#4A5568', lineHeight: 1.6, marginTop: 6 }}&gt;&#10;          顺手标个错因，之后能按错因出新题，不是随便出一道。&#10;        &lt;/Text&gt;&#10;      &lt;/Box&gt;&#10;      &lt;Box style={{ flexDirection: 'column', height: 86, borderLeft: '3px solid #3D7BD9', paddingLeft: 12 }}&gt;&#10;        &lt;Text style={{ fontSize: 16, fontWeight: 'bold', color: '#1A2230' }}&gt;四、到期它会提醒&lt;/Text&gt;&#10;        &lt;Text style={{ fontSize: 13.5, color: '#4A5568', lineHeight: 1.6, marginTop: 6 }}&gt;&#10;          「今天练什么」只看该练的；学得怎么样，周报里有一页。&#10;        &lt;/Text&gt;&#10;      &lt;/Box&gt;&#10;    &lt;/Box&gt;&#10;&#10;  &lt;/Box&gt;&#10;&#10;  &lt;Box style={{ position: 'absolute', left: 76, top: 584, width: 1128, height: 50, background: '#0E3F8C', borderRadius: 8, justifyContent: 'center', alignItems: 'center' }}&gt;&#10;    &lt;Text style={{ fontSize: 14.5, color: '#FFFFFF' }}&gt;&#10;      关键一点：出处能落到「第 N 页」——这才叫有据可查，不然只是「看着像」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8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2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0E3F8C"/>
                </a:solidFill>
                <a:latin typeface="PingFang SC"/>
                <a:ea typeface="PingFang SC"/>
              </a:rPr>
              <a:t>走一遍真实使用：从上传讲义到期末复习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723900" y="1352550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下面这张不是画的，是系统真实界面截的图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23900" y="1847850"/>
            <a:ext cx="6286500" cy="2828925"/>
          </a:xfrm>
          <a:prstGeom prst="roundRect">
            <a:avLst>
              <a:gd name="adj" fmla="val 2020"/>
            </a:avLst>
          </a:prstGeom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8" name=""/>
          <p:cNvPicPr>
            <a:picLocks noChangeAspect="1"/>
          </p:cNvPicPr>
          <p:nvPr/>
        </p:nvPicPr>
        <p:blipFill>
          <a:blip r:embed="rId1"/>
          <a:srcRect l="0" t="272" r="0" b="272"/>
          <a:stretch>
            <a:fillRect/>
          </a:stretch>
        </p:blipFill>
        <p:spPr>
          <a:xfrm rot="0" flipH="0" flipV="0">
            <a:off x="723900" y="1847850"/>
            <a:ext cx="6267450" cy="2809875"/>
          </a:xfrm>
          <a:custGeom>
            <a:pathLst>
              <a:path w="658" h="295">
                <a:moveTo>
                  <a:pt x="654" y="0"/>
                </a:moveTo>
                <a:cubicBezTo>
                  <a:pt x="656" y="0"/>
                  <a:pt x="657" y="1"/>
                  <a:pt x="658" y="2"/>
                </a:cubicBezTo>
                <a:lnTo>
                  <a:pt x="658" y="295"/>
                </a:lnTo>
                <a:lnTo>
                  <a:pt x="2" y="295"/>
                </a:lnTo>
                <a:cubicBezTo>
                  <a:pt x="1" y="294"/>
                  <a:pt x="0" y="292"/>
                  <a:pt x="0" y="291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654" y="0"/>
                </a:lnTo>
                <a:close/>
              </a:path>
            </a:pathLst>
          </a:custGeom>
          <a:ln/>
        </p:spPr>
      </p:pic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23900" y="4772025"/>
            <a:ext cx="6286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知识库页：左边是学科目录（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7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个库），中间是资料列表（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PDF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与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Word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混放），右边可以直接就着这些资料提问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353300" y="1809750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四步走完一遍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7353300" y="2066925"/>
            <a:ext cx="4143375" cy="819150"/>
          </a:xfrm>
          <a:custGeom>
            <a:pathLst>
              <a:path w="435" h="86">
                <a:moveTo>
                  <a:pt x="0" y="0"/>
                </a:moveTo>
                <a:lnTo>
                  <a:pt x="3" y="0"/>
                </a:lnTo>
                <a:lnTo>
                  <a:pt x="3" y="86"/>
                </a:lnTo>
                <a:lnTo>
                  <a:pt x="0" y="8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496175" y="2066925"/>
            <a:ext cx="3971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一、把讲义丢进去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496175" y="2314575"/>
            <a:ext cx="3971925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支持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PDF / Word / PPT / Excel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，拍照的板书也能转成文字。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7353300" y="2886075"/>
            <a:ext cx="4143375" cy="819150"/>
          </a:xfrm>
          <a:custGeom>
            <a:pathLst>
              <a:path w="435" h="86">
                <a:moveTo>
                  <a:pt x="0" y="0"/>
                </a:moveTo>
                <a:lnTo>
                  <a:pt x="3" y="0"/>
                </a:lnTo>
                <a:lnTo>
                  <a:pt x="3" y="86"/>
                </a:lnTo>
                <a:lnTo>
                  <a:pt x="0" y="8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496175" y="2886075"/>
            <a:ext cx="3971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二、就着自己的资料问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496175" y="3133725"/>
            <a:ext cx="3971925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回答下面标着出自哪份资料、第几页，能点开看原文。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7353300" y="3705225"/>
            <a:ext cx="4143375" cy="819150"/>
          </a:xfrm>
          <a:custGeom>
            <a:pathLst>
              <a:path w="435" h="86">
                <a:moveTo>
                  <a:pt x="0" y="0"/>
                </a:moveTo>
                <a:lnTo>
                  <a:pt x="3" y="0"/>
                </a:lnTo>
                <a:lnTo>
                  <a:pt x="3" y="86"/>
                </a:lnTo>
                <a:lnTo>
                  <a:pt x="0" y="8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496175" y="3705225"/>
            <a:ext cx="3971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三、错题记下来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496175" y="3952875"/>
            <a:ext cx="3971925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顺手标个错因，之后能按错因出新题，不是随便出一道。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7353300" y="4524375"/>
            <a:ext cx="4143375" cy="819150"/>
          </a:xfrm>
          <a:custGeom>
            <a:pathLst>
              <a:path w="435" h="86">
                <a:moveTo>
                  <a:pt x="0" y="0"/>
                </a:moveTo>
                <a:lnTo>
                  <a:pt x="3" y="0"/>
                </a:lnTo>
                <a:lnTo>
                  <a:pt x="3" y="86"/>
                </a:lnTo>
                <a:lnTo>
                  <a:pt x="0" y="86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496175" y="4524375"/>
            <a:ext cx="3971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四、到期它会提醒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496175" y="4772025"/>
            <a:ext cx="3971925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「今天练什么」只看该练的；学得怎么样，周报里有一页。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723900" y="5562600"/>
            <a:ext cx="10744200" cy="476250"/>
          </a:xfrm>
          <a:prstGeom prst="roundRect">
            <a:avLst>
              <a:gd name="adj" fmla="val 16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3724275" y="5715000"/>
            <a:ext cx="4752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关键一点：出处能落到「第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页」——这才叫有据可查，不然只是「看着像」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08 / 10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97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2, width: 1128 }}&gt;&#10;    &lt;Text style={{ fontSize: 33, fontWeight: 'bold', color: '#0E3F8C' }}&gt;六件事：两件做好、三件半成、一件没做&lt;/Text&gt;&#10;    &lt;Text style={{ fontSize: 16, color: '#4A5568', marginTop: 10 }}&gt;这一页是给自己挑毛病——说清哪里还没做好，比说自己很强更可信&lt;/Text&gt;&#10;  &lt;/Box&gt;&#10;&#10;  &lt;Box style={{ position: 'absolute', left: 76, top: 192, width: 1128, height: 36, flexDirection: 'row', alignItems: 'center', background: '#F0F5FC', borderRadius: 6, paddingLeft: 14 }}&gt;&#10;    &lt;Text style={{ fontSize: 13.5, fontWeight: 'bold', color: '#0E3F8C', width: 430 }}&gt;事项&lt;/Text&gt;&#10;    &lt;Text style={{ fontSize: 13.5, fontWeight: 'bold', color: '#0E3F8C', width: 110 }}&gt;状态&lt;/Text&gt;&#10;    &lt;Text style={{ fontSize: 13.5, fontWeight: 'bold', color: '#0E3F8C', width: 545 }}&gt;依据 / 还差什么&lt;/Text&gt;&#10;  &lt;/Box&gt;&#10;&#10;  &lt;Box style={{ position: 'absolute', left: 76, top: 232, width: 1128, height: 348, flexDirection: 'column' }}&gt;&#10;&#10;    &lt;Box style={{ flexDirection: 'row', alignItems: 'center', height: 58, borderBottom: '1px solid #E5E7EB', paddingLeft: 14 }}&gt;&#10;      &lt;Text style={{ fontSize: 14.5, color: '#1A2230', width: 430 }}&gt;断了能接上（可恢复执行）&lt;/Text&gt;&#10;      &lt;Text style={{ fontSize: 14, fontWeight: 'bold', color: '#1E4FA8', width: 110 }}&gt;做好&lt;/Text&gt;&#10;      &lt;Text style={{ fontSize: 13.5, color: '#4A5568', width: 545 }}&gt;状态图 + 断点存档；中断恢复有专门的测试&lt;/Text&gt;&#10;    &lt;/Box&gt;&#10;&#10;    &lt;Box style={{ flexDirection: 'row', alignItems: 'center', height: 58, borderBottom: '1px solid #E5E7EB', paddingLeft: 14 }}&gt;&#10;      &lt;Text style={{ fontSize: 14.5, color: '#1A2230', width: 430 }}&gt;找资料准（混合检索）&lt;/Text&gt;&#10;      &lt;Text style={{ fontSize: 14, fontWeight: 'bold', color: '#1E4FA8', width: 110 }}&gt;做好&lt;/Text&gt;&#10;      &lt;Text style={{ fontSize: 13.5, color: '#4A5568', width: 545 }}&gt;35 道题考卷；接真实模型时 35 道全对&lt;/Text&gt;&#10;    &lt;/Box&gt;&#10;&#10;    &lt;Box style={{ flexDirection: 'row', alignItems: 'center', height: 58, borderBottom: '1px solid #E5E7EB', paddingLeft: 14 }}&gt;&#10;      &lt;Text style={{ fontSize: 14.5, color: '#1A2230', width: 430 }}&gt;动作可控（工具治理）&lt;/Text&gt;&#10;      &lt;Text style={{ fontSize: 14, fontWeight: 'bold', color: '#BA7517', width: 110 }}&gt;半成&lt;/Text&gt;&#10;      &lt;Text style={{ fontSize: 13.5, color: '#4A5568', width: 545 }}&gt;权限两道 + 超时兜底；还缺「按具体参数」的细权限&lt;/Text&gt;&#10;    &lt;/Box&gt;&#10;&#10;    &lt;Box style={{ flexDirection: 'row', alignItems: 'center', height: 58, borderBottom: '1px solid #E5E7EB', paddingLeft: 14 }}&gt;&#10;      &lt;Text style={{ fontSize: 14.5, color: '#1A2230', width: 430 }}&gt;长对话记得住（上下文压缩）&lt;/Text&gt;&#10;      &lt;Text style={{ fontSize: 14, fontWeight: 'bold', color: '#BA7517', width: 110 }}&gt;半成&lt;/Text&gt;&#10;      &lt;Text style={{ fontSize: 13.5, color: '#4A5568', width: 545 }}&gt;有 240 字纪要；还没做「关键事实外置成笔记」&lt;/Text&gt;&#10;    &lt;/Box&gt;&#10;&#10;    &lt;Box style={{ flexDirection: 'row', alignItems: 'center', height: 58, borderBottom: '1px solid #E5E7EB', paddingLeft: 14 }}&gt;&#10;      &lt;Text style={{ fontSize: 14.5, color: '#1A2230', width: 430 }}&gt;记得住人（长期记忆）&lt;/Text&gt;&#10;      &lt;Text style={{ fontSize: 14, fontWeight: 'bold', color: '#BA7517', width: 110 }}&gt;半成&lt;/Text&gt;&#10;      &lt;Text style={{ fontSize: 13.5, color: '#4A5568', width: 545 }}&gt;按课程分开存 + 写入前确认；缺「过期与删除」&lt;/Text&gt;&#10;    &lt;/Box&gt;&#10;&#10;    &lt;Box style={{ flexDirection: 'row', alignItems: 'center', height: 58, paddingLeft: 14 }}&gt;&#10;      &lt;Text style={{ fontSize: 14.5, color: '#1A2230', width: 430 }}&gt;整次会话算不算成功（任务级评测）&lt;/Text&gt;&#10;      &lt;Text style={{ fontSize: 14, fontWeight: 'bold', color: '#D9534F', width: 110 }}&gt;没做&lt;/Text&gt;&#10;      &lt;Text style={{ fontSize: 13.5, color: '#4A5568', width: 545 }}&gt;现在只测「找到没」「分类对不对」，不测「这轮有用没」&lt;/Text&gt;&#10;    &lt;/Box&gt;&#10;&#10;  &lt;/Box&gt;&#10;&#10;  &lt;Box style={{ position: 'absolute', left: 76, top: 596, width: 1128, height: 50, background: '#0E3F8C', borderRadius: 8, justifyContent: 'center', alignItems: 'center' }}&gt;&#10;    &lt;Text style={{ fontSize: 14.5, color: '#FFFFFF' }}&gt;&#10;      所以下一步不是继续加功能，而是把第 5、6 件补上——一个决定「记得对」，一个决定「测得出」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9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0E3F8C"/>
                </a:solidFill>
                <a:latin typeface="PingFang SC"/>
                <a:ea typeface="PingFang SC"/>
              </a:rPr>
              <a:t>六件事：两件做好、三件半成、一件没做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723900" y="1352550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这一页是给自己挑毛病——说清哪里还没做好，比说自己很强更可信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723900" y="1828800"/>
            <a:ext cx="10744200" cy="34290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857250" y="1924050"/>
            <a:ext cx="409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PingFang SC"/>
                <a:ea typeface="PingFang SC"/>
              </a:rPr>
              <a:t>事项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953000" y="192405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PingFang SC"/>
                <a:ea typeface="PingFang SC"/>
              </a:rPr>
              <a:t>状态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00750" y="1924050"/>
            <a:ext cx="5191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PingFang SC"/>
                <a:ea typeface="PingFang SC"/>
              </a:rPr>
              <a:t>依据</a:t>
            </a:r>
            <a:r>
              <a:rPr lang="en-US" sz="1013" b="1">
                <a:solidFill>
                  <a:srgbClr val="0E3F8C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13" b="1">
                <a:solidFill>
                  <a:srgbClr val="0E3F8C"/>
                </a:solidFill>
                <a:latin typeface="PingFang SC"/>
                <a:ea typeface="PingFang SC"/>
              </a:rPr>
              <a:t>还差什么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723900" y="220980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57250" y="240030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断了能接上（可恢复执行）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953000" y="240030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PingFang SC"/>
                <a:ea typeface="PingFang SC"/>
              </a:rPr>
              <a:t>做好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6000750" y="2400300"/>
            <a:ext cx="5191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状态图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断点存档；中断恢复有专门的测试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723900" y="276225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857250" y="295275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找资料准（混合检索）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953000" y="295275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PingFang SC"/>
                <a:ea typeface="PingFang SC"/>
              </a:rPr>
              <a:t>做好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6000750" y="2952750"/>
            <a:ext cx="5191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道题考卷；接真实模型时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道全对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723900" y="331470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57250" y="350520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动作可控（工具治理）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4953000" y="350520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BA7517"/>
                </a:solidFill>
                <a:latin typeface="PingFang SC"/>
                <a:ea typeface="PingFang SC"/>
              </a:rPr>
              <a:t>半成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00750" y="3505200"/>
            <a:ext cx="5191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权限两道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超时兜底；还缺「按具体参数」的细权限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723900" y="386715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857250" y="405765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长对话记得住（上下文压缩）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4953000" y="405765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BA7517"/>
                </a:solidFill>
                <a:latin typeface="PingFang SC"/>
                <a:ea typeface="PingFang SC"/>
              </a:rPr>
              <a:t>半成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000750" y="4057650"/>
            <a:ext cx="5191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有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240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字纪要；还没做「关键事实外置成笔记」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723900" y="441960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857250" y="461010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记得住人（长期记忆）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4953000" y="461010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BA7517"/>
                </a:solidFill>
                <a:latin typeface="PingFang SC"/>
                <a:ea typeface="PingFang SC"/>
              </a:rPr>
              <a:t>半成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6000750" y="4610100"/>
            <a:ext cx="5191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按课程分开存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写入前确认；缺「过期与删除」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857250" y="516255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PingFang SC"/>
                <a:ea typeface="PingFang SC"/>
              </a:rPr>
              <a:t>整次会话算不算成功（任务级评测）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4953000" y="51720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D9534F"/>
                </a:solidFill>
                <a:latin typeface="PingFang SC"/>
                <a:ea typeface="PingFang SC"/>
              </a:rPr>
              <a:t>没做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6000750" y="5172075"/>
            <a:ext cx="5191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现在只测「找到没」「分类对不对」，不测「这轮有用没」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723900" y="5676900"/>
            <a:ext cx="10744200" cy="476250"/>
          </a:xfrm>
          <a:prstGeom prst="roundRect">
            <a:avLst>
              <a:gd name="adj" fmla="val 16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3067050" y="5829300"/>
            <a:ext cx="6067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所以下一步不是继续加功能，而是把第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5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、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6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件补上——一个决定「记得对」，一个决定「测得出」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09 / 10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8" name="" descr="&lt;Slide style={{ width: 1280, height: 720, background: '#0E3F8C', padding: 0, position: 'relative', overflow: 'hidden', fontFamily: 'PingFang SC' }}&gt;&#10;&#10;  &lt;Box style={{ position: 'absolute', top: 0, left: 0, width: 1280, height: 6, background: '#3D7BD9' }} /&gt;&#10;&#10;  &lt;Box style={{ position: 'absolute', left: 76, top: 88, width: 1060, flexDirection: 'column' }}&gt;&#10;    &lt;Text style={{ fontSize: 15, color: '#8FB2E0', letterSpacing: 1.2 }}&gt;最后一句&lt;/Text&gt;&#10;    &lt;Text style={{ fontSize: 32, fontWeight: 'bold', color: '#FFFFFF', lineHeight: 1.6, marginTop: 14 }}&gt;&#10;      让 AI 真正帮上忙，靠的不是它多聪明，而是它每一步都留痕、能被拦住、也能被复算。&#10;    &lt;/Text&gt;&#10;    &lt;Box style={{ width: 96, height: 2, background: '#3D7BD9', marginTop: 20 }} /&gt;&#10;  &lt;/Box&gt;&#10;&#10;  &lt;Box style={{ position: 'absolute', left: 76, top: 288, width: 1128, height: 186, flexDirection: 'row' }}&gt;&#10;&#10;    &lt;Box style={{ width: 336, height: 186, flexDirection: 'column', borderTop: '2px solid #3D7BD9', paddingTop: 14 }}&gt;&#10;      &lt;Text style={{ fontSize: 13, color: '#8FB2E0' }}&gt;下一步 · 一&lt;/Text&gt;&#10;      &lt;Text style={{ fontSize: 19, fontWeight: 'bold', color: '#FFFFFF', marginTop: 8 }}&gt;把题出得更难&lt;/Text&gt;&#10;      &lt;Text style={{ fontSize: 13.5, color: '#B9CCE8', lineHeight: 1.7, marginTop: 10 }}&gt;&#10;        现在的自测题太容易，考不出差别；题不难，后面改什么都看不出好坏。&#10;      &lt;/Text&gt;&#10;    &lt;/Box&gt;&#10;&#10;    &lt;Box style={{ width: 60 }} /&gt;&#10;&#10;    &lt;Box style={{ width: 336, height: 186, flexDirection: 'column', borderTop: '2px solid #3D7BD9', paddingTop: 14 }}&gt;&#10;      &lt;Text style={{ fontSize: 13, color: '#8FB2E0' }}&gt;下一步 · 二&lt;/Text&gt;&#10;      &lt;Text style={{ fontSize: 19, fontWeight: 'bold', color: '#FFFFFF', marginTop: 8 }}&gt;让记忆能忘掉&lt;/Text&gt;&#10;      &lt;Text style={{ fontSize: 13.5, color: '#B9CCE8', lineHeight: 1.7, marginTop: 10 }}&gt;&#10;        记住的东西要能改、能删、过期会失效——不然会一直用错的旧偏好回答你。&#10;      &lt;/Text&gt;&#10;    &lt;/Box&gt;&#10;&#10;    &lt;Box style={{ width: 60 }} /&gt;&#10;&#10;    &lt;Box style={{ width: 336, height: 186, flexDirection: 'column', borderTop: '2px solid #3D7BD9', paddingTop: 14 }}&gt;&#10;      &lt;Text style={{ fontSize: 13, color: '#8FB2E0' }}&gt;下一步 · 三&lt;/Text&gt;&#10;      &lt;Text style={{ fontSize: 19, fontWeight: 'bold', color: '#FFFFFF', marginTop: 8 }}&gt;测「这轮有没有用」&lt;/Text&gt;&#10;      &lt;Text style={{ fontSize: 13.5, color: '#B9CCE8', lineHeight: 1.7, marginTop: 10 }}&gt;&#10;        从「找到没」升级到「一次完整使用有没有达成目标」，这才是用户真正关心的。&#10;      &lt;/Text&gt;&#10;    &lt;/Box&gt;&#10;&#10;  &lt;/Box&gt;&#10;&#10;  &lt;Box style={{ position: 'absolute', left: 76, top: 502, width: 1128, height: 44, flexDirection: 'row', alignItems: 'center' }}&gt;&#10;    &lt;Text style={{ fontSize: 17, color: '#FFFFFF' }}&gt;谢谢，欢迎提问&lt;/Text&gt;&#10;    &lt;Text style={{ fontSize: 13.5, color: '#8FB2E0', paddingLeft: 24 }}&gt;下面是可复跑的证据&lt;/Text&gt;&#10;  &lt;/Box&gt;&#10;&#10;  &lt;Box style={{ position: 'absolute', left: 76, top: 556, width: 1128, height: 88, background: 'rgba(255, 255, 255, 0.07)', borderRadius: 8, flexDirection: 'row', alignItems: 'center', paddingLeft: 24 }}&gt;&#10;&#10;    &lt;Box style={{ width: 300, flexDirection: 'column' }}&gt;&#10;      &lt;Text style={{ fontSize: 22, fontWeight: 'bold', color: '#FFFFFF' }}&gt;284 项&lt;/Text&gt;&#10;      &lt;Text style={{ fontSize: 12.5, color: '#B9CCE8', marginTop: 4 }}&gt;自动自测，离线可跑&lt;/Text&gt;&#10;    &lt;/Box&gt;&#10;&#10;    &lt;Box style={{ width: 1, height: 46, background: '#3D7BD9', marginLeft: 12, marginRight: 22 }} /&gt;&#10;&#10;    &lt;Box style={{ width: 300, flexDirection: 'column' }}&gt;&#10;      &lt;Text style={{ fontSize: 22, fontWeight: 'bold', color: '#FFFFFF' }}&gt;35 道&lt;/Text&gt;&#10;      &lt;Text style={{ fontSize: 12.5, color: '#B9CCE8', marginTop: 4 }}&gt;检索题，接真模型全对&lt;/Text&gt;&#10;    &lt;/Box&gt;&#10;&#10;    &lt;Box style={{ width: 1, height: 46, background: '#3D7BD9', marginLeft: 12, marginRight: 22 }} /&gt;&#10;&#10;    &lt;Box style={{ width: 300, flexDirection: 'column' }}&gt;&#10;      &lt;Text style={{ fontSize: 22, fontWeight: 'bold', color: '#FFFFFF' }}&gt;7 个&lt;/Text&gt;&#10;      &lt;Text style={{ fontSize: 12.5, color: '#B9CCE8', marginTop: 4 }}&gt;功能页面，全部可用&lt;/Text&gt;&#10;    &lt;/Box&gt;&#10;&#10;  &lt;/Box&gt;&#10;&#10;  &lt;Box style={{ position: 'absolute', bottom: 0, left: 0, width: 1280, height: 56, background: 'rgba(255, 255, 255, 0.07)', flexDirection: 'row', alignItems: 'center', justifyContent: 'space-between', paddingLeft: 76, paddingRight: 76 }}&gt;&#10;    &lt;Text style={{ fontSize: 14, color: '#C9D8EF' }}&gt;知迹 · 基于大模型智能体的 AI 教育学习系统&lt;/Text&gt;&#10;    &lt;Text style={{ fontSize: 14, color: '#C9D8EF' }}&gt;10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23900" y="838200"/>
            <a:ext cx="10096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最后一句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23900" y="1143000"/>
            <a:ext cx="100965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2400" b="1">
                <a:solidFill>
                  <a:srgbClr val="FFFFFF"/>
                </a:solidFill>
                <a:latin typeface="PingFang SC"/>
                <a:ea typeface="PingFang SC"/>
              </a:rPr>
              <a:t>让</a:t>
            </a:r>
            <a:r>
              <a:rPr lang="en-US" sz="2400" b="1">
                <a:solidFill>
                  <a:srgbClr val="FFFFF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2400" b="1">
                <a:solidFill>
                  <a:srgbClr val="FFFFFF"/>
                </a:solidFill>
                <a:latin typeface="PingFang SC"/>
                <a:ea typeface="PingFang SC"/>
              </a:rPr>
              <a:t>真正帮上忙，靠的不是它多聪明，而是它每一步都留痕、能被拦住、也能被复算。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723900" y="2505075"/>
            <a:ext cx="9144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723900" y="2743200"/>
            <a:ext cx="3200400" cy="1771650"/>
          </a:xfrm>
          <a:custGeom>
            <a:pathLst>
              <a:path w="336" h="186">
                <a:moveTo>
                  <a:pt x="0" y="0"/>
                </a:moveTo>
                <a:lnTo>
                  <a:pt x="336" y="0"/>
                </a:lnTo>
                <a:lnTo>
                  <a:pt x="336" y="2"/>
                </a:lnTo>
                <a:lnTo>
                  <a:pt x="0" y="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723900" y="2895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下一步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一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把题出得更难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23900" y="3438525"/>
            <a:ext cx="3200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现在的自测题太容易，考不出差别；题不难，后面改什么都看不出好坏。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4495800" y="2743200"/>
            <a:ext cx="3200400" cy="1771650"/>
          </a:xfrm>
          <a:custGeom>
            <a:pathLst>
              <a:path w="336" h="186">
                <a:moveTo>
                  <a:pt x="0" y="0"/>
                </a:moveTo>
                <a:lnTo>
                  <a:pt x="336" y="0"/>
                </a:lnTo>
                <a:lnTo>
                  <a:pt x="336" y="2"/>
                </a:lnTo>
                <a:lnTo>
                  <a:pt x="0" y="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495800" y="2895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下一步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二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495800" y="3124200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让记忆能忘掉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495800" y="3438525"/>
            <a:ext cx="3200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记住的东西要能改、能删、过期会失效——不然会一直用错的旧偏好回答你。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267700" y="2743200"/>
            <a:ext cx="3200400" cy="1771650"/>
          </a:xfrm>
          <a:custGeom>
            <a:pathLst>
              <a:path w="336" h="186">
                <a:moveTo>
                  <a:pt x="0" y="0"/>
                </a:moveTo>
                <a:lnTo>
                  <a:pt x="336" y="0"/>
                </a:lnTo>
                <a:lnTo>
                  <a:pt x="336" y="2"/>
                </a:lnTo>
                <a:lnTo>
                  <a:pt x="0" y="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267700" y="2895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下一步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三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67700" y="3124200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测「这轮有没有用」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67700" y="3438525"/>
            <a:ext cx="3200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从「找到没」升级到「一次完整使用有没有达成目标」，这才是用户真正关心的。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23900" y="4895850"/>
            <a:ext cx="113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谢谢，欢迎提问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1857375" y="4914900"/>
            <a:ext cx="1390650" cy="161925"/>
          </a:xfrm>
          <a:prstGeom prst="rect"/>
        </p:spPr>
        <p:txBody>
          <a:bodyPr wrap="none" lIns="17145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下面是可复跑的证据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723900" y="5295900"/>
            <a:ext cx="10744200" cy="838200"/>
          </a:xfrm>
          <a:prstGeom prst="roundRect">
            <a:avLst>
              <a:gd name="adj" fmla="val 9091"/>
            </a:avLst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952500" y="5495925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项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952500" y="5791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B9CCE8"/>
                </a:solidFill>
                <a:latin typeface="PingFang SC"/>
                <a:ea typeface="PingFang SC"/>
              </a:rPr>
              <a:t>自动自测，离线可跑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924300" y="5495925"/>
            <a:ext cx="9525" cy="438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4143375" y="5495925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道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4143375" y="5791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B9CCE8"/>
                </a:solidFill>
                <a:latin typeface="PingFang SC"/>
                <a:ea typeface="PingFang SC"/>
              </a:rPr>
              <a:t>检索题，接真模型全对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7115175" y="5495925"/>
            <a:ext cx="9525" cy="438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334250" y="5495925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 xml:space="preserve">7 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个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7334250" y="5791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B9CCE8"/>
                </a:solidFill>
                <a:latin typeface="PingFang SC"/>
                <a:ea typeface="PingFang SC"/>
              </a:rPr>
              <a:t>功能页面，全部可用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2638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039475" y="65151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>10 / 10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2026-10-21T10:03:04Z</dcterms:created>
  <dcterms:modified xsi:type="dcterms:W3CDTF">2026-10-21T10:03:04Z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{"AIGC":{"Label":"1","ContentProducer":"00119111010856365494821B355","ProduceID":"01a1596f50277a54a2a2a419ea96b08e","ReservedCode1":"","ContentPropagator":"00119111010856365494821B355","PropagateID":"01a1596f50277a54a2a2a419ea96b08e","ReservedCode2":""}}</vt:lpwstr>
  </property>
</Properties>
</file>