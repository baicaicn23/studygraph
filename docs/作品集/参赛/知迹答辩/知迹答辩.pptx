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0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903720" y="146304"/>
            <a:ext cx="5287975" cy="6711696"/>
          </a:xfrm>
          <a:prstGeom prst="roundRect">
            <a:avLst>
              <a:gd name="adj" fmla="val 1106"/>
            </a:avLst>
          </a:prstGeom>
          <a:solidFill>
            <a:srgbClr val="FAFBFC"/>
          </a:solidFill>
          <a:ln w="12700">
            <a:solidFill>
              <a:srgbClr val="8C98A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03720" y="3227832"/>
            <a:ext cx="528797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88494"/>
                </a:solidFill>
                <a:latin typeface="Hiragino Sans GB"/>
                <a:ea typeface="Hiragino Sans GB"/>
              </a:rPr>
              <a:t>p01-cover-desk.png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78040" y="3520440"/>
            <a:ext cx="4739335" cy="42062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88494"/>
                </a:solidFill>
                <a:latin typeface="Hiragino Sans GB"/>
                <a:ea typeface="Hiragino Sans GB"/>
              </a:rPr>
              <a:t>封面氛围图 · 浅色调书桌场景（待生成，见 assets/配图提示词.md）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188720"/>
            <a:ext cx="54864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A0C3E6"/>
                </a:solidFill>
                <a:latin typeface="Hiragino Sans GB"/>
                <a:ea typeface="Hiragino Sans GB"/>
              </a:rPr>
              <a:t>全国大学生数字媒体科技作品及创意竞赛 · 赛道十三 · 智慧教育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645920"/>
            <a:ext cx="5669280" cy="1005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6200" b="1" i="0">
                <a:solidFill>
                  <a:srgbClr val="FFFFFF"/>
                </a:solidFill>
                <a:latin typeface="Hiragino Sans GB"/>
                <a:ea typeface="Hiragino Sans GB"/>
              </a:rPr>
              <a:t>知迹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" y="2743200"/>
            <a:ext cx="1371600" cy="32918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48256" y="2743200"/>
            <a:ext cx="822960" cy="32918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2999232"/>
            <a:ext cx="548640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Hiragino Sans GB"/>
                <a:ea typeface="Hiragino Sans GB"/>
              </a:rPr>
              <a:t>一个不乱编的个人学习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3785615"/>
            <a:ext cx="54864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CDDCF0"/>
                </a:solidFill>
                <a:latin typeface="Hiragino Sans GB"/>
                <a:ea typeface="Hiragino Sans GB"/>
              </a:rPr>
              <a:t>资料进去，题出来，复习排好。</a:t>
            </a:r>
            <a:r>
              <a:rPr sz="1500" b="1" i="0">
                <a:solidFill>
                  <a:srgbClr val="96CDB6"/>
                </a:solidFill>
                <a:latin typeface="Hiragino Sans GB"/>
                <a:ea typeface="Hiragino Sans GB"/>
              </a:rPr>
              <a:t>每句结论都能点回你上传的那一页。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" y="4956048"/>
            <a:ext cx="41148" cy="603504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4974336"/>
            <a:ext cx="54864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DDCF0"/>
                </a:solidFill>
                <a:latin typeface="Hiragino Sans GB"/>
                <a:ea typeface="Hiragino Sans GB"/>
              </a:rPr>
              <a:t>LangGraph 状态图 · 四路混合检索 · 人在环写入确认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5248656"/>
            <a:ext cx="54864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A5B9D4"/>
                </a:solidFill>
                <a:latin typeface="Hiragino Sans GB"/>
                <a:ea typeface="Hiragino Sans GB"/>
              </a:rPr>
              <a:t>284 项自动测试全绿 · 检索 35 题 Hit@3 = MRR = 0.9714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痛点 · 期末周的一次翻车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它答得很顺，我一翻书，它连定理条件都记错了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02333"/>
            <a:ext cx="45720" cy="969264"/>
          </a:xfrm>
          <a:prstGeom prst="rect">
            <a:avLst/>
          </a:prstGeom>
          <a:solidFill>
            <a:srgbClr val="C049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602333"/>
            <a:ext cx="60350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2B45"/>
                </a:solidFill>
                <a:latin typeface="Hiragino Sans GB"/>
                <a:ea typeface="Hiragino Sans GB"/>
              </a:rPr>
              <a:t>周一晚上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31517"/>
            <a:ext cx="6035040" cy="586435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4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8667C"/>
                </a:solidFill>
                <a:latin typeface="Hiragino Sans GB"/>
                <a:ea typeface="Hiragino Sans GB"/>
              </a:rPr>
              <a:t>期末周，网盘里堆着一百多份讲义和历年卷。我把三门课的资料拖进知迹，它没急着读，只把文件存好，等我点「解析入库」才动手切页。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72765"/>
            <a:ext cx="45720" cy="969264"/>
          </a:xfrm>
          <a:prstGeom prst="rect">
            <a:avLst/>
          </a:prstGeom>
          <a:solidFill>
            <a:srgbClr val="C049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772765"/>
            <a:ext cx="60350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2B45"/>
                </a:solidFill>
                <a:latin typeface="Hiragino Sans GB"/>
                <a:ea typeface="Hiragino Sans GB"/>
              </a:rPr>
              <a:t>周三下午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101949"/>
            <a:ext cx="6035040" cy="586435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4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8667C"/>
                </a:solidFill>
                <a:latin typeface="Hiragino Sans GB"/>
                <a:ea typeface="Hiragino Sans GB"/>
              </a:rPr>
              <a:t>我在对话框问「拉格朗日中值定理的条件是什么」。它答得挺顺，句末还贴了个小小的 [P12]。我点了一下，界面直接跳回讲义第 12 页那张原图。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943197"/>
            <a:ext cx="45720" cy="969264"/>
          </a:xfrm>
          <a:prstGeom prst="rect">
            <a:avLst/>
          </a:prstGeom>
          <a:solidFill>
            <a:srgbClr val="C049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943197"/>
            <a:ext cx="60350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2B45"/>
                </a:solidFill>
                <a:latin typeface="Hiragino Sans GB"/>
                <a:ea typeface="Hiragino Sans GB"/>
              </a:rPr>
              <a:t>周五晚上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272381"/>
            <a:ext cx="6035040" cy="586435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4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8667C"/>
                </a:solidFill>
                <a:latin typeface="Hiragino Sans GB"/>
                <a:ea typeface="Hiragino Sans GB"/>
              </a:rPr>
              <a:t>我让它按讲义的难度出几道题。答错一道，我顺手记下「概念混淆」这个错因，掌握度就悄悄降了一档。可第二天我打开题库，那道题的变式还在那儿等我。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9168" y="1602333"/>
            <a:ext cx="4565599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2B45"/>
                </a:solidFill>
                <a:latin typeface="Hiragino Sans GB"/>
                <a:ea typeface="Hiragino Sans GB"/>
              </a:rPr>
              <a:t>那几次翻车，坏在三处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59168" y="1986381"/>
            <a:ext cx="4565599" cy="859536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059168" y="1986381"/>
            <a:ext cx="45720" cy="859536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96912" y="2150973"/>
            <a:ext cx="4108399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A67C0C"/>
                </a:solidFill>
                <a:latin typeface="Hiragino Sans GB"/>
                <a:ea typeface="Hiragino Sans GB"/>
              </a:rPr>
              <a:t>资料多，找不到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96912" y="2461869"/>
            <a:ext cx="4108399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一百多份讲义堆着，没有索引就等于没存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59168" y="2955645"/>
            <a:ext cx="4565599" cy="859536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59168" y="2955645"/>
            <a:ext cx="45720" cy="859536"/>
          </a:xfrm>
          <a:prstGeom prst="rect">
            <a:avLst/>
          </a:prstGeom>
          <a:solidFill>
            <a:srgbClr val="C049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96912" y="3120237"/>
            <a:ext cx="4108399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0492E"/>
                </a:solidFill>
                <a:latin typeface="Hiragino Sans GB"/>
                <a:ea typeface="Hiragino Sans GB"/>
              </a:rPr>
              <a:t>AI 答得流畅，却会错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96912" y="3431133"/>
            <a:ext cx="4108399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它说得越顺，越难看出哪句是编的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59168" y="3924909"/>
            <a:ext cx="4565599" cy="859536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059168" y="3924909"/>
            <a:ext cx="45720" cy="859536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96912" y="4089501"/>
            <a:ext cx="4108399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8A70"/>
                </a:solidFill>
                <a:latin typeface="Hiragino Sans GB"/>
                <a:ea typeface="Hiragino Sans GB"/>
              </a:rPr>
              <a:t>错题记了也白记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96912" y="4400397"/>
            <a:ext cx="4108399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下次出题不看你错在哪，等于没改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6035040"/>
            <a:ext cx="11057839" cy="365760"/>
          </a:xfrm>
          <a:prstGeom prst="roundRect">
            <a:avLst>
              <a:gd name="adj" fmla="val 10000"/>
            </a:avLst>
          </a:prstGeom>
          <a:solidFill>
            <a:srgbClr val="F3F7F5"/>
          </a:solidFill>
          <a:ln w="10160">
            <a:solidFill>
              <a:srgbClr val="CEDE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035040"/>
            <a:ext cx="41148" cy="3657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6131052"/>
            <a:ext cx="91440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E6E5C"/>
                </a:solidFill>
                <a:latin typeface="Hiragino Sans GB"/>
                <a:ea typeface="Hiragino Sans GB"/>
              </a:rPr>
              <a:t>破局点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55648" y="6126479"/>
            <a:ext cx="457200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82621"/>
                </a:solidFill>
                <a:latin typeface="Hiragino Sans GB"/>
                <a:ea typeface="Hiragino Sans GB"/>
              </a:rPr>
              <a:t>把三件事接起来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9088" y="6135624"/>
            <a:ext cx="5022799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3A4842"/>
                </a:solidFill>
                <a:latin typeface="Hiragino Sans GB"/>
                <a:ea typeface="Hiragino Sans GB"/>
              </a:rPr>
              <a:t>不是造一个更大的工具，是让「资料 → 题 → 复习」这条线自己转起来。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73007" y="6135624"/>
            <a:ext cx="237744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1E6E5C"/>
                </a:solidFill>
                <a:latin typeface="Hiragino Sans GB"/>
                <a:ea typeface="Hiragino Sans GB"/>
              </a:rPr>
              <a:t>知迹只做这些，做到能核验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6437376"/>
            <a:ext cx="11057839" cy="10972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6510528"/>
            <a:ext cx="6634703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知迹 · 赛道十三 · 智慧教育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27487" y="6510528"/>
            <a:ext cx="10972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8A70"/>
                </a:solidFill>
                <a:latin typeface="Hiragino Sans GB"/>
                <a:ea typeface="Hiragino Sans GB"/>
              </a:rPr>
              <a:t>02</a:t>
            </a: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定位 · 一个克制的单品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知迹只死磕这三件：接上了，答案才谈得上可靠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584045"/>
            <a:ext cx="3551834" cy="233172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5216" y="1602333"/>
            <a:ext cx="3515258" cy="4572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8096" y="1785213"/>
            <a:ext cx="310896" cy="310896"/>
          </a:xfrm>
          <a:prstGeom prst="roundRect">
            <a:avLst>
              <a:gd name="adj" fmla="val 11764"/>
            </a:avLst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835505"/>
            <a:ext cx="310896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Hiragino Sans GB"/>
                <a:ea typeface="Hiragino Sans GB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1826361"/>
            <a:ext cx="2728874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整理你的资料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333853"/>
            <a:ext cx="3149498" cy="78866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8667C"/>
                </a:solidFill>
                <a:latin typeface="Hiragino Sans GB"/>
                <a:ea typeface="Hiragino Sans GB"/>
              </a:rPr>
              <a:t>讲义、课件、笔记、拍照的板书传进来，按学科分好；PDF 能翻到第几页，图片由多模态模型转成文字。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9930" y="1584045"/>
            <a:ext cx="3551834" cy="233172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8218" y="1602333"/>
            <a:ext cx="3515258" cy="4572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21098" y="1785213"/>
            <a:ext cx="310896" cy="310896"/>
          </a:xfrm>
          <a:prstGeom prst="roundRect">
            <a:avLst>
              <a:gd name="adj" fmla="val 11764"/>
            </a:avLst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1098" y="1835505"/>
            <a:ext cx="310896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Hiragino Sans GB"/>
                <a:ea typeface="Hiragino Sans GB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23434" y="1826361"/>
            <a:ext cx="2728874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盯着你的错题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1098" y="2333853"/>
            <a:ext cx="3149498" cy="78866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8667C"/>
                </a:solidFill>
                <a:latin typeface="Hiragino Sans GB"/>
                <a:ea typeface="Hiragino Sans GB"/>
              </a:rPr>
              <a:t>错题记上「概念混淆 / 步骤遗漏 / 条件误读」这样的错因，下次出题时它真的按错因加重。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584045"/>
            <a:ext cx="3551834" cy="233172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1220" y="1602333"/>
            <a:ext cx="3515258" cy="45720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74100" y="1785213"/>
            <a:ext cx="310896" cy="310896"/>
          </a:xfrm>
          <a:prstGeom prst="roundRect">
            <a:avLst>
              <a:gd name="adj" fmla="val 11764"/>
            </a:avLst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4100" y="1835505"/>
            <a:ext cx="310896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Hiragino Sans GB"/>
                <a:ea typeface="Hiragino Sans GB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76436" y="1826361"/>
            <a:ext cx="2728874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结合你的库出题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2333853"/>
            <a:ext cx="3149498" cy="5257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8667C"/>
                </a:solidFill>
                <a:latin typeface="Hiragino Sans GB"/>
                <a:ea typeface="Hiragino Sans GB"/>
              </a:rPr>
              <a:t>题只从你自己的资料里出，答完自评，掌握度变了，后面的复习安排跟着变。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4107789"/>
            <a:ext cx="11057839" cy="11704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272381"/>
            <a:ext cx="292608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为什么不做成「什么都有」的平台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583277"/>
            <a:ext cx="10545775" cy="5257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8667C"/>
                </a:solidFill>
                <a:latin typeface="Hiragino Sans GB"/>
                <a:ea typeface="Hiragino Sans GB"/>
              </a:rPr>
              <a:t>每一多一个功能，就多一条可能出错的路径。而这个项目要证明的恰恰是「输出可信」。所以它只做单机、单用户、三个动作，做到底。技术上也不是拼装：权限、恢复、评测这三件事，都是围着「让答案可被核验」设计的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6035040"/>
            <a:ext cx="11057839" cy="365760"/>
          </a:xfrm>
          <a:prstGeom prst="roundRect">
            <a:avLst>
              <a:gd name="adj" fmla="val 10000"/>
            </a:avLst>
          </a:prstGeom>
          <a:solidFill>
            <a:srgbClr val="F3F7F5"/>
          </a:solidFill>
          <a:ln w="10160">
            <a:solidFill>
              <a:srgbClr val="CEDE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6035040"/>
            <a:ext cx="41148" cy="3657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" y="6131052"/>
            <a:ext cx="155448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E6E5C"/>
                </a:solidFill>
                <a:latin typeface="Hiragino Sans GB"/>
                <a:ea typeface="Hiragino Sans GB"/>
              </a:rPr>
              <a:t>破局点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67712" y="6126479"/>
            <a:ext cx="9137599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6342E"/>
                </a:solidFill>
                <a:latin typeface="Hiragino Sans GB"/>
                <a:ea typeface="Hiragino Sans GB"/>
              </a:rPr>
              <a:t>不是造一个更大的工具，是让「资料 → 题 → 复习」这条线自己转起来。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437376"/>
            <a:ext cx="11057839" cy="10972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510528"/>
            <a:ext cx="6634703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知迹 · 赛道十三 · 智慧教育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7487" y="6510528"/>
            <a:ext cx="10972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8A70"/>
                </a:solidFill>
                <a:latin typeface="Hiragino Sans GB"/>
                <a:ea typeface="Hiragino Sans GB"/>
              </a:rPr>
              <a:t>03</a:t>
            </a: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流程 · 传资料 → 问问题 → 记错因 → 出变式题 → 排复习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换成知迹之后，这四周是这样过的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38909"/>
            <a:ext cx="2613583" cy="2157984"/>
          </a:xfrm>
          <a:prstGeom prst="roundRect">
            <a:avLst>
              <a:gd name="adj" fmla="val 2372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638909"/>
            <a:ext cx="2613583" cy="4572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21789"/>
            <a:ext cx="224782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8A70"/>
                </a:solidFill>
                <a:latin typeface="Hiragino Sans GB"/>
                <a:ea typeface="Hiragino Sans GB"/>
              </a:rPr>
              <a:t>周一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059533"/>
            <a:ext cx="2247823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2B45"/>
                </a:solidFill>
                <a:latin typeface="Hiragino Sans GB"/>
                <a:ea typeface="Hiragino Sans GB"/>
              </a:rPr>
              <a:t>传讲义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425293"/>
            <a:ext cx="2247823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三份 PDF 和课件照片拖进去。</a:t>
            </a:r>
          </a:p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系统不急着读，先落盘，等你点「解析入库」才按页切块建索引。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198799" y="2022957"/>
            <a:ext cx="128016" cy="12801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96A2B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81679" y="1638909"/>
            <a:ext cx="2613583" cy="2157984"/>
          </a:xfrm>
          <a:prstGeom prst="roundRect">
            <a:avLst>
              <a:gd name="adj" fmla="val 2372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81679" y="1638909"/>
            <a:ext cx="2613583" cy="4572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4559" y="1821789"/>
            <a:ext cx="224782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E856C"/>
                </a:solidFill>
                <a:latin typeface="Hiragino Sans GB"/>
                <a:ea typeface="Hiragino Sans GB"/>
              </a:rPr>
              <a:t>周三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4559" y="2059533"/>
            <a:ext cx="2247823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2B45"/>
                </a:solidFill>
                <a:latin typeface="Hiragino Sans GB"/>
                <a:ea typeface="Hiragino Sans GB"/>
              </a:rPr>
              <a:t>提个问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4559" y="2425293"/>
            <a:ext cx="2247823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「拉格朗日中值定理的条件是什么？」</a:t>
            </a:r>
          </a:p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句末贴一个 [P12]，点一下跳回第 12 页原图；</a:t>
            </a:r>
          </a:p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资料里没有的，走联网并标明是外部资料。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013551" y="2022957"/>
            <a:ext cx="128016" cy="12801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96A2B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96431" y="1638909"/>
            <a:ext cx="2613583" cy="2157984"/>
          </a:xfrm>
          <a:prstGeom prst="roundRect">
            <a:avLst>
              <a:gd name="adj" fmla="val 2372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6431" y="1638909"/>
            <a:ext cx="2613583" cy="45720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9311" y="1821789"/>
            <a:ext cx="224782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A67C0C"/>
                </a:solidFill>
                <a:latin typeface="Hiragino Sans GB"/>
                <a:ea typeface="Hiragino Sans GB"/>
              </a:rPr>
              <a:t>周五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9311" y="2059533"/>
            <a:ext cx="2247823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2B45"/>
                </a:solidFill>
                <a:latin typeface="Hiragino Sans GB"/>
                <a:ea typeface="Hiragino Sans GB"/>
              </a:rPr>
              <a:t>记错因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9311" y="2425293"/>
            <a:ext cx="2247823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答错一道。不只是看答案，</a:t>
            </a:r>
          </a:p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顺手记下「概念混淆」这个错因 ——</a:t>
            </a:r>
          </a:p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下次出题就按它加重。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828303" y="2022957"/>
            <a:ext cx="128016" cy="12801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96A2B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1183" y="1638909"/>
            <a:ext cx="2613583" cy="2157984"/>
          </a:xfrm>
          <a:prstGeom prst="roundRect">
            <a:avLst>
              <a:gd name="adj" fmla="val 2372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11183" y="1638909"/>
            <a:ext cx="2613583" cy="45720"/>
          </a:xfrm>
          <a:prstGeom prst="rect">
            <a:avLst/>
          </a:prstGeom>
          <a:solidFill>
            <a:srgbClr val="C049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94063" y="1821789"/>
            <a:ext cx="224782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0492E"/>
                </a:solidFill>
                <a:latin typeface="Hiragino Sans GB"/>
                <a:ea typeface="Hiragino Sans GB"/>
              </a:rPr>
              <a:t>周日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4063" y="2059533"/>
            <a:ext cx="2247823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2B45"/>
                </a:solidFill>
                <a:latin typeface="Hiragino Sans GB"/>
                <a:ea typeface="Hiragino Sans GB"/>
              </a:rPr>
              <a:t>排复习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4063" y="2425293"/>
            <a:ext cx="2247823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今日复习自动推那道错题的变式，</a:t>
            </a:r>
          </a:p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明天的日程也一并排好。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3851757"/>
            <a:ext cx="36576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2B45"/>
                </a:solidFill>
                <a:latin typeface="Hiragino Sans GB"/>
                <a:ea typeface="Hiragino Sans GB"/>
              </a:rPr>
              <a:t>真实运行界面</a:t>
            </a:r>
          </a:p>
        </p:txBody>
      </p:sp>
      <p:pic>
        <p:nvPicPr>
          <p:cNvPr id="33" name="Picture 32" descr="ui-knowl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123" y="4126077"/>
            <a:ext cx="3772969" cy="1700784"/>
          </a:xfrm>
          <a:prstGeom prst="rect">
            <a:avLst/>
          </a:prstGeom>
        </p:spPr>
      </p:pic>
      <p:pic>
        <p:nvPicPr>
          <p:cNvPr id="34" name="Picture 33" descr="ui-pract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1787" y="4126077"/>
            <a:ext cx="3772969" cy="170078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979407" y="4162653"/>
            <a:ext cx="2645359" cy="16093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A2B45"/>
                </a:solidFill>
                <a:latin typeface="Hiragino Sans GB"/>
                <a:ea typeface="Hiragino Sans GB"/>
              </a:rPr>
              <a:t>没有华丽的图表，只有确定的一条线：每一步都知道自己依据什么、结果存在哪、下次还练不练。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035040"/>
            <a:ext cx="11057839" cy="365760"/>
          </a:xfrm>
          <a:prstGeom prst="roundRect">
            <a:avLst>
              <a:gd name="adj" fmla="val 10000"/>
            </a:avLst>
          </a:prstGeom>
          <a:solidFill>
            <a:srgbClr val="F3F7F5"/>
          </a:solidFill>
          <a:ln w="10160">
            <a:solidFill>
              <a:srgbClr val="CEDE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6035040"/>
            <a:ext cx="41148" cy="3657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6131052"/>
            <a:ext cx="155448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E6E5C"/>
                </a:solidFill>
                <a:latin typeface="Hiragino Sans GB"/>
                <a:ea typeface="Hiragino Sans GB"/>
              </a:rPr>
              <a:t>定位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67712" y="6126479"/>
            <a:ext cx="9137599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6342E"/>
                </a:solidFill>
                <a:latin typeface="Hiragino Sans GB"/>
                <a:ea typeface="Hiragino Sans GB"/>
              </a:rPr>
              <a:t>每一个功能都要回答同一个问题：它让答案更可信了吗？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6437376"/>
            <a:ext cx="11057839" cy="10972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6510528"/>
            <a:ext cx="6634703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知迹 · 赛道十三 · 智慧教育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27487" y="6510528"/>
            <a:ext cx="10972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8A70"/>
                </a:solidFill>
                <a:latin typeface="Hiragino Sans GB"/>
                <a:ea typeface="Hiragino Sans GB"/>
              </a:rPr>
              <a:t>04</a:t>
            </a: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硬核亮点 ① · 答得准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它不乱编的底气：四路同时去找，答案里的每一句都能点回原页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584045"/>
            <a:ext cx="493776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四路并行召回：中文资料没有单一找法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931517"/>
            <a:ext cx="4846320" cy="566928"/>
          </a:xfrm>
          <a:prstGeom prst="roundRect">
            <a:avLst>
              <a:gd name="adj" fmla="val 7741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931517"/>
            <a:ext cx="45720" cy="566928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022957"/>
            <a:ext cx="228600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原查询 FTS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242413"/>
            <a:ext cx="24688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96270"/>
                </a:solidFill>
                <a:latin typeface="Hiragino Sans GB"/>
                <a:ea typeface="Hiragino Sans GB"/>
              </a:rPr>
              <a:t>字面 trigram 匹配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47288" y="2169261"/>
            <a:ext cx="1188720" cy="100584"/>
          </a:xfrm>
          <a:prstGeom prst="roundRect">
            <a:avLst>
              <a:gd name="adj" fmla="val 21818"/>
            </a:avLst>
          </a:prstGeom>
          <a:solidFill>
            <a:srgbClr val="EEF2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47288" y="2169261"/>
            <a:ext cx="1188720" cy="100584"/>
          </a:xfrm>
          <a:prstGeom prst="roundRect">
            <a:avLst>
              <a:gd name="adj" fmla="val 21818"/>
            </a:avLst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0016" y="2114397"/>
            <a:ext cx="64008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F8A70"/>
                </a:solidFill>
                <a:latin typeface="Hiragino Sans GB"/>
                <a:ea typeface="Hiragino Sans GB"/>
              </a:rPr>
              <a:t>1.0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589885"/>
            <a:ext cx="4846320" cy="566928"/>
          </a:xfrm>
          <a:prstGeom prst="roundRect">
            <a:avLst>
              <a:gd name="adj" fmla="val 7741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2589885"/>
            <a:ext cx="45720" cy="566928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2681325"/>
            <a:ext cx="228600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同义 / 中英扩写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2900781"/>
            <a:ext cx="24688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96270"/>
                </a:solidFill>
                <a:latin typeface="Hiragino Sans GB"/>
                <a:ea typeface="Hiragino Sans GB"/>
              </a:rPr>
              <a:t>换个说法也能找到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47288" y="2827629"/>
            <a:ext cx="1188720" cy="100584"/>
          </a:xfrm>
          <a:prstGeom prst="roundRect">
            <a:avLst>
              <a:gd name="adj" fmla="val 21818"/>
            </a:avLst>
          </a:prstGeom>
          <a:solidFill>
            <a:srgbClr val="EEF2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447288" y="2827629"/>
            <a:ext cx="594360" cy="100584"/>
          </a:xfrm>
          <a:prstGeom prst="roundRect">
            <a:avLst>
              <a:gd name="adj" fmla="val 21818"/>
            </a:avLst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00016" y="2772765"/>
            <a:ext cx="64008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E856C"/>
                </a:solidFill>
                <a:latin typeface="Hiragino Sans GB"/>
                <a:ea typeface="Hiragino Sans GB"/>
              </a:rPr>
              <a:t>0.5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248253"/>
            <a:ext cx="4846320" cy="566928"/>
          </a:xfrm>
          <a:prstGeom prst="roundRect">
            <a:avLst>
              <a:gd name="adj" fmla="val 7741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248253"/>
            <a:ext cx="45720" cy="566928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3339693"/>
            <a:ext cx="228600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两字词 LIKE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559149"/>
            <a:ext cx="24688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96270"/>
                </a:solidFill>
                <a:latin typeface="Hiragino Sans GB"/>
                <a:ea typeface="Hiragino Sans GB"/>
              </a:rPr>
              <a:t>短词专门兜底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47288" y="3485997"/>
            <a:ext cx="1188720" cy="100584"/>
          </a:xfrm>
          <a:prstGeom prst="roundRect">
            <a:avLst>
              <a:gd name="adj" fmla="val 21818"/>
            </a:avLst>
          </a:prstGeom>
          <a:solidFill>
            <a:srgbClr val="EEF2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447288" y="3485997"/>
            <a:ext cx="950976" cy="100584"/>
          </a:xfrm>
          <a:prstGeom prst="roundRect">
            <a:avLst>
              <a:gd name="adj" fmla="val 21818"/>
            </a:avLst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00016" y="3431133"/>
            <a:ext cx="64008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A67C0C"/>
                </a:solidFill>
                <a:latin typeface="Hiragino Sans GB"/>
                <a:ea typeface="Hiragino Sans GB"/>
              </a:rPr>
              <a:t>0.8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906621"/>
            <a:ext cx="4846320" cy="566928"/>
          </a:xfrm>
          <a:prstGeom prst="roundRect">
            <a:avLst>
              <a:gd name="adj" fmla="val 7741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906621"/>
            <a:ext cx="45720" cy="566928"/>
          </a:xfrm>
          <a:prstGeom prst="rect">
            <a:avLst/>
          </a:prstGeom>
          <a:solidFill>
            <a:srgbClr val="5866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3998061"/>
            <a:ext cx="228600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向量语义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4217517"/>
            <a:ext cx="24688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96270"/>
                </a:solidFill>
                <a:latin typeface="Hiragino Sans GB"/>
                <a:ea typeface="Hiragino Sans GB"/>
              </a:rPr>
              <a:t>零字面重叠也能召回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7288" y="4144365"/>
            <a:ext cx="1188720" cy="100584"/>
          </a:xfrm>
          <a:prstGeom prst="roundRect">
            <a:avLst>
              <a:gd name="adj" fmla="val 21818"/>
            </a:avLst>
          </a:prstGeom>
          <a:solidFill>
            <a:srgbClr val="EEF2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447288" y="4144365"/>
            <a:ext cx="1188720" cy="100584"/>
          </a:xfrm>
          <a:prstGeom prst="roundRect">
            <a:avLst>
              <a:gd name="adj" fmla="val 21818"/>
            </a:avLst>
          </a:prstGeom>
          <a:solidFill>
            <a:srgbClr val="5866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00016" y="4089501"/>
            <a:ext cx="64008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8667C"/>
                </a:solidFill>
                <a:latin typeface="Hiragino Sans GB"/>
                <a:ea typeface="Hiragino Sans GB"/>
              </a:rPr>
              <a:t>1.0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4601565"/>
            <a:ext cx="4846320" cy="658368"/>
          </a:xfrm>
          <a:prstGeom prst="roundRect">
            <a:avLst>
              <a:gd name="adj" fmla="val 6666"/>
            </a:avLst>
          </a:prstGeom>
          <a:solidFill>
            <a:srgbClr val="EEF5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8096" y="4711293"/>
            <a:ext cx="448056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E856C"/>
                </a:solidFill>
                <a:latin typeface="Hiragino Sans GB"/>
                <a:ea typeface="Hiragino Sans GB"/>
              </a:rPr>
              <a:t>加权 RRF 融合（k=60）→ 词面精排 → top-k 片段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" y="4967325"/>
            <a:ext cx="448056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8667C"/>
                </a:solidFill>
                <a:latin typeface="Hiragino Sans GB"/>
                <a:ea typeface="Hiragino Sans GB"/>
              </a:rPr>
              <a:t>扩写路是推断出来的，权重就该低于字面命中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97296" y="1584045"/>
            <a:ext cx="5827471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每条片段都带着自己的页码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797296" y="1931517"/>
            <a:ext cx="5827471" cy="1572768"/>
          </a:xfrm>
          <a:prstGeom prst="roundRect">
            <a:avLst>
              <a:gd name="adj" fmla="val 3720"/>
            </a:avLst>
          </a:prstGeom>
          <a:solidFill>
            <a:srgbClr val="FAFBFC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16752" y="2114397"/>
            <a:ext cx="566928" cy="274320"/>
          </a:xfrm>
          <a:prstGeom prst="roundRect">
            <a:avLst>
              <a:gd name="adj" fmla="val 10666"/>
            </a:avLst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16752" y="2155545"/>
            <a:ext cx="56692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Hiragino Sans GB"/>
                <a:ea typeface="Hiragino Sans GB"/>
              </a:rPr>
              <a:t>P12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16752" y="2443581"/>
            <a:ext cx="1188720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16752" y="2571597"/>
            <a:ext cx="118872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A2B45"/>
                </a:solidFill>
                <a:latin typeface="Hiragino Sans GB"/>
                <a:ea typeface="Hiragino Sans GB"/>
              </a:rPr>
              <a:t>片段 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16752" y="2809341"/>
            <a:ext cx="118872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96270"/>
                </a:solidFill>
                <a:latin typeface="Hiragino Sans GB"/>
                <a:ea typeface="Hiragino Sans GB"/>
              </a:rPr>
              <a:t>可跳回原页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333488" y="2114397"/>
            <a:ext cx="566928" cy="274320"/>
          </a:xfrm>
          <a:prstGeom prst="roundRect">
            <a:avLst>
              <a:gd name="adj" fmla="val 10666"/>
            </a:avLst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33488" y="2155545"/>
            <a:ext cx="56692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Hiragino Sans GB"/>
                <a:ea typeface="Hiragino Sans GB"/>
              </a:rPr>
              <a:t>P12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333488" y="2443581"/>
            <a:ext cx="1188720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33488" y="2571597"/>
            <a:ext cx="118872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A2B45"/>
                </a:solidFill>
                <a:latin typeface="Hiragino Sans GB"/>
                <a:ea typeface="Hiragino Sans GB"/>
              </a:rPr>
              <a:t>片段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33488" y="2809341"/>
            <a:ext cx="118872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96270"/>
                </a:solidFill>
                <a:latin typeface="Hiragino Sans GB"/>
                <a:ea typeface="Hiragino Sans GB"/>
              </a:rPr>
              <a:t>可跳回原页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650224" y="2114397"/>
            <a:ext cx="566928" cy="274320"/>
          </a:xfrm>
          <a:prstGeom prst="roundRect">
            <a:avLst>
              <a:gd name="adj" fmla="val 10666"/>
            </a:avLst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50224" y="2155545"/>
            <a:ext cx="56692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Hiragino Sans GB"/>
                <a:ea typeface="Hiragino Sans GB"/>
              </a:rPr>
              <a:t>P07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650224" y="2443581"/>
            <a:ext cx="1188720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50224" y="2571597"/>
            <a:ext cx="118872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A2B45"/>
                </a:solidFill>
                <a:latin typeface="Hiragino Sans GB"/>
                <a:ea typeface="Hiragino Sans GB"/>
              </a:rPr>
              <a:t>片段 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50224" y="2809341"/>
            <a:ext cx="118872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96270"/>
                </a:solidFill>
                <a:latin typeface="Hiragino Sans GB"/>
                <a:ea typeface="Hiragino Sans GB"/>
              </a:rPr>
              <a:t>可跳回原页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16752" y="3614013"/>
            <a:ext cx="5388559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96270"/>
                </a:solidFill>
                <a:latin typeface="Hiragino Sans GB"/>
                <a:ea typeface="Hiragino Sans GB"/>
              </a:rPr>
              <a:t>整篇 PDF 切成一个片段，引用就只能指向「整篇」，答案对不对就无从核验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797296" y="3851757"/>
            <a:ext cx="5827471" cy="1188720"/>
          </a:xfrm>
          <a:prstGeom prst="roundRect">
            <a:avLst>
              <a:gd name="adj" fmla="val 5538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998464" y="4034637"/>
            <a:ext cx="4730191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B45"/>
                </a:solidFill>
                <a:latin typeface="Hiragino Sans GB"/>
                <a:ea typeface="Hiragino Sans GB"/>
              </a:rPr>
              <a:t>检索考卷（35 题 / 21 篇语料）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80176" y="4308957"/>
            <a:ext cx="5461711" cy="589279"/>
          </a:xfrm>
          <a:prstGeom prst="rect">
            <a:avLst/>
          </a:prstGeom>
          <a:noFill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E856C"/>
                </a:solidFill>
                <a:latin typeface="Hiragino Sans GB"/>
                <a:ea typeface="Hiragino Sans GB"/>
              </a:rPr>
              <a:t>0.9714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80176" y="4953101"/>
            <a:ext cx="5461711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Hit@3 = MRR　·　接真实向量 35 题全中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66928" y="6035040"/>
            <a:ext cx="11057839" cy="365760"/>
          </a:xfrm>
          <a:prstGeom prst="roundRect">
            <a:avLst>
              <a:gd name="adj" fmla="val 10000"/>
            </a:avLst>
          </a:prstGeom>
          <a:solidFill>
            <a:srgbClr val="F3F7F5"/>
          </a:solidFill>
          <a:ln w="10160">
            <a:solidFill>
              <a:srgbClr val="CEDE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6928" y="6035040"/>
            <a:ext cx="41148" cy="3657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68096" y="6131052"/>
            <a:ext cx="155448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E6E5C"/>
                </a:solidFill>
                <a:latin typeface="Hiragino Sans GB"/>
                <a:ea typeface="Hiragino Sans GB"/>
              </a:rPr>
              <a:t>亮点 ① · 答得准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267712" y="6126479"/>
            <a:ext cx="9137599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6342E"/>
                </a:solidFill>
                <a:latin typeface="Hiragino Sans GB"/>
                <a:ea typeface="Hiragino Sans GB"/>
              </a:rPr>
              <a:t>找得到、说得清出处。可模型接下来要动手，这还只是回答问题。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6437376"/>
            <a:ext cx="11057839" cy="10972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6928" y="6510528"/>
            <a:ext cx="6634703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知迹 · 赛道十三 · 智慧教育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27487" y="6510528"/>
            <a:ext cx="10972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8A70"/>
                </a:solidFill>
                <a:latin typeface="Hiragino Sans GB"/>
                <a:ea typeface="Hiragino Sans GB"/>
              </a:rPr>
              <a:t>05</a:t>
            </a: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硬核亮点 ② · 管得住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答得准只是第一步：它要动手时，权限和写库都得由系统说了算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821789"/>
            <a:ext cx="1298448" cy="658368"/>
          </a:xfrm>
          <a:prstGeom prst="roundRect">
            <a:avLst>
              <a:gd name="adj" fmla="val 7777"/>
            </a:avLst>
          </a:prstGeom>
          <a:solidFill>
            <a:srgbClr val="F6F8FA"/>
          </a:solidFill>
          <a:ln w="12700">
            <a:solidFill>
              <a:srgbClr val="1F8A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004669"/>
            <a:ext cx="129844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2B45"/>
                </a:solidFill>
                <a:latin typeface="Hiragino Sans GB"/>
                <a:ea typeface="Hiragino Sans GB"/>
              </a:rPr>
              <a:t>START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911095" y="2096109"/>
            <a:ext cx="292607" cy="12801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291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49424" y="1821789"/>
            <a:ext cx="1298448" cy="658368"/>
          </a:xfrm>
          <a:prstGeom prst="roundRect">
            <a:avLst>
              <a:gd name="adj" fmla="val 7777"/>
            </a:avLst>
          </a:prstGeom>
          <a:solidFill>
            <a:srgbClr val="1F8A70"/>
          </a:solidFill>
          <a:ln w="12700">
            <a:solidFill>
              <a:srgbClr val="1F8A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9424" y="2004669"/>
            <a:ext cx="129844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Hiragino Sans GB"/>
                <a:ea typeface="Hiragino Sans GB"/>
              </a:rPr>
              <a:t>route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593591" y="2096109"/>
            <a:ext cx="292607" cy="12801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291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931920" y="1821789"/>
            <a:ext cx="1298448" cy="658368"/>
          </a:xfrm>
          <a:prstGeom prst="roundRect">
            <a:avLst>
              <a:gd name="adj" fmla="val 7777"/>
            </a:avLst>
          </a:prstGeom>
          <a:solidFill>
            <a:srgbClr val="1F8A70"/>
          </a:solidFill>
          <a:ln w="12700">
            <a:solidFill>
              <a:srgbClr val="1F8A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31920" y="2004669"/>
            <a:ext cx="129844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Hiragino Sans GB"/>
                <a:ea typeface="Hiragino Sans GB"/>
              </a:rPr>
              <a:t>plan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276088" y="2096109"/>
            <a:ext cx="292607" cy="12801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291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14416" y="1821789"/>
            <a:ext cx="1298448" cy="658368"/>
          </a:xfrm>
          <a:prstGeom prst="roundRect">
            <a:avLst>
              <a:gd name="adj" fmla="val 7777"/>
            </a:avLst>
          </a:prstGeom>
          <a:solidFill>
            <a:srgbClr val="0E203D"/>
          </a:solidFill>
          <a:ln w="12700">
            <a:solidFill>
              <a:srgbClr val="1F8A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14416" y="2004669"/>
            <a:ext cx="129844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Hiragino Sans GB"/>
                <a:ea typeface="Hiragino Sans GB"/>
              </a:rPr>
              <a:t>agent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958583" y="2096109"/>
            <a:ext cx="292607" cy="12801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291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296912" y="1821789"/>
            <a:ext cx="1298448" cy="658368"/>
          </a:xfrm>
          <a:prstGeom prst="roundRect">
            <a:avLst>
              <a:gd name="adj" fmla="val 7777"/>
            </a:avLst>
          </a:prstGeom>
          <a:solidFill>
            <a:srgbClr val="0E203D"/>
          </a:solidFill>
          <a:ln w="12700">
            <a:solidFill>
              <a:srgbClr val="1F8A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96912" y="2004669"/>
            <a:ext cx="129844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Hiragino Sans GB"/>
                <a:ea typeface="Hiragino Sans GB"/>
              </a:rPr>
              <a:t>tools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641080" y="2096109"/>
            <a:ext cx="292607" cy="12801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291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979408" y="1821789"/>
            <a:ext cx="1298448" cy="658368"/>
          </a:xfrm>
          <a:prstGeom prst="roundRect">
            <a:avLst>
              <a:gd name="adj" fmla="val 7777"/>
            </a:avLst>
          </a:prstGeom>
          <a:solidFill>
            <a:srgbClr val="F6F8FA"/>
          </a:solidFill>
          <a:ln w="12700">
            <a:solidFill>
              <a:srgbClr val="1F8A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79408" y="2004669"/>
            <a:ext cx="129844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2B45"/>
                </a:solidFill>
                <a:latin typeface="Hiragino Sans GB"/>
                <a:ea typeface="Hiragino Sans GB"/>
              </a:rPr>
              <a:t>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589885"/>
            <a:ext cx="457200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96270"/>
                </a:solidFill>
                <a:latin typeface="Hiragino Sans GB"/>
                <a:ea typeface="Hiragino Sans GB"/>
              </a:rPr>
              <a:t>application/graph.py · build_graph　·　上面这一行就是真的代码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1247" y="2864205"/>
            <a:ext cx="3200400" cy="310896"/>
          </a:xfrm>
          <a:prstGeom prst="roundRect">
            <a:avLst>
              <a:gd name="adj" fmla="val 11764"/>
            </a:avLst>
          </a:prstGeom>
          <a:solidFill>
            <a:srgbClr val="F0F6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7" y="2928213"/>
            <a:ext cx="320040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1F8A70"/>
                </a:solidFill>
                <a:latin typeface="Hiragino Sans GB"/>
                <a:ea typeface="Hiragino Sans GB"/>
              </a:rPr>
              <a:t>tools → agent　结果回填（最多 6 轮）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3321405"/>
            <a:ext cx="3576218" cy="1060704"/>
          </a:xfrm>
          <a:prstGeom prst="roundRect">
            <a:avLst>
              <a:gd name="adj" fmla="val 4827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3321405"/>
            <a:ext cx="3576218" cy="4572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504285"/>
            <a:ext cx="3173882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8A70"/>
                </a:solidFill>
                <a:latin typeface="Hiragino Sans GB"/>
                <a:ea typeface="Hiragino Sans GB"/>
              </a:rPr>
              <a:t>schema 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" y="3796893"/>
            <a:ext cx="3173882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按角色裁剪工具表，禁用的工具不出现在提示词里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07738" y="3321405"/>
            <a:ext cx="3576218" cy="1060704"/>
          </a:xfrm>
          <a:prstGeom prst="roundRect">
            <a:avLst>
              <a:gd name="adj" fmla="val 4827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07738" y="3321405"/>
            <a:ext cx="3576218" cy="4572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08906" y="3504285"/>
            <a:ext cx="3173882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856C"/>
                </a:solidFill>
                <a:latin typeface="Hiragino Sans GB"/>
                <a:ea typeface="Hiragino Sans GB"/>
              </a:rPr>
              <a:t>执行层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08906" y="3796893"/>
            <a:ext cx="3173882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is_tool_allowed 逐次判定，模型硬发被禁工具也执行不了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48548" y="3321405"/>
            <a:ext cx="3576218" cy="1060704"/>
          </a:xfrm>
          <a:prstGeom prst="roundRect">
            <a:avLst>
              <a:gd name="adj" fmla="val 4827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48548" y="3321405"/>
            <a:ext cx="3576218" cy="45720"/>
          </a:xfrm>
          <a:prstGeom prst="rect">
            <a:avLst/>
          </a:prstGeom>
          <a:solidFill>
            <a:srgbClr val="C049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49716" y="3504285"/>
            <a:ext cx="3173882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C0492E"/>
                </a:solidFill>
                <a:latin typeface="Hiragino Sans GB"/>
                <a:ea typeface="Hiragino Sans GB"/>
              </a:rPr>
              <a:t>人在环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9716" y="3796893"/>
            <a:ext cx="3173882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写操作 interrupt() 等确认，点取消就到此结束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4546701"/>
            <a:ext cx="11057839" cy="658368"/>
          </a:xfrm>
          <a:prstGeom prst="roundRect">
            <a:avLst>
              <a:gd name="adj" fmla="val 6666"/>
            </a:avLst>
          </a:prstGeom>
          <a:solidFill>
            <a:srgbClr val="F2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6928" y="4546701"/>
            <a:ext cx="50292" cy="658368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4638141"/>
            <a:ext cx="10646359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E856C"/>
                </a:solidFill>
                <a:latin typeface="Hiragino Sans GB"/>
                <a:ea typeface="Hiragino Sans GB"/>
              </a:rPr>
              <a:t>所以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" y="4848453"/>
            <a:ext cx="10646359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2B45"/>
                </a:solidFill>
                <a:latin typeface="Hiragino Sans GB"/>
                <a:ea typeface="Hiragino Sans GB"/>
              </a:rPr>
              <a:t>「AI 不改你的数据」是承诺，不是请求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6928" y="6035040"/>
            <a:ext cx="11057839" cy="365760"/>
          </a:xfrm>
          <a:prstGeom prst="roundRect">
            <a:avLst>
              <a:gd name="adj" fmla="val 10000"/>
            </a:avLst>
          </a:prstGeom>
          <a:solidFill>
            <a:srgbClr val="F3F7F5"/>
          </a:solidFill>
          <a:ln w="10160">
            <a:solidFill>
              <a:srgbClr val="CEDE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66928" y="6035040"/>
            <a:ext cx="41148" cy="3657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8096" y="6131052"/>
            <a:ext cx="155448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E6E5C"/>
                </a:solidFill>
                <a:latin typeface="Hiragino Sans GB"/>
                <a:ea typeface="Hiragino Sans GB"/>
              </a:rPr>
              <a:t>亮点 ② · 管得住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67712" y="6126479"/>
            <a:ext cx="9137599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6342E"/>
                </a:solidFill>
                <a:latin typeface="Hiragino Sans GB"/>
                <a:ea typeface="Hiragino Sans GB"/>
              </a:rPr>
              <a:t>答得准 + 管得住 = 敢信。接下来要证明的是：它今天没比昨天变笨。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6437376"/>
            <a:ext cx="11057839" cy="10972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6510528"/>
            <a:ext cx="6634703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知迹 · 赛道十三 · 智慧教育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27487" y="6510528"/>
            <a:ext cx="10972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8A70"/>
                </a:solidFill>
                <a:latin typeface="Hiragino Sans GB"/>
                <a:ea typeface="Hiragino Sans GB"/>
              </a:rPr>
              <a:t>06</a:t>
            </a: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工程稳健性 · 数据说话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284 项测试全绿不是因为功能简单，是因为架构让每一层都能单独测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02333"/>
            <a:ext cx="2641015" cy="1517904"/>
          </a:xfrm>
          <a:prstGeom prst="roundRect">
            <a:avLst>
              <a:gd name="adj" fmla="val 4337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785213"/>
            <a:ext cx="1543735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B45"/>
                </a:solidFill>
                <a:latin typeface="Hiragino Sans GB"/>
                <a:ea typeface="Hiragino Sans GB"/>
              </a:rPr>
              <a:t>自动测试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059533"/>
            <a:ext cx="2275255" cy="665480"/>
          </a:xfrm>
          <a:prstGeom prst="rect">
            <a:avLst/>
          </a:prstGeom>
          <a:noFill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1F8A70"/>
                </a:solidFill>
                <a:latin typeface="Hiragino Sans GB"/>
                <a:ea typeface="Hiragino Sans GB"/>
              </a:rPr>
              <a:t>284</a:t>
            </a:r>
            <a:r>
              <a:rPr sz="1900" b="1" i="0">
                <a:solidFill>
                  <a:srgbClr val="1F8A70"/>
                </a:solidFill>
                <a:latin typeface="Hiragino Sans GB"/>
                <a:ea typeface="Hiragino Sans GB"/>
              </a:rPr>
              <a:t> 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779877"/>
            <a:ext cx="2275255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全 Mock，零 API 消耗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72535" y="1602333"/>
            <a:ext cx="2641015" cy="1517904"/>
          </a:xfrm>
          <a:prstGeom prst="roundRect">
            <a:avLst>
              <a:gd name="adj" fmla="val 4337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3703" y="1785213"/>
            <a:ext cx="1543735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B45"/>
                </a:solidFill>
                <a:latin typeface="Hiragino Sans GB"/>
                <a:ea typeface="Hiragino Sans GB"/>
              </a:rPr>
              <a:t>检索 Hit@3 = MRR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5415" y="2059533"/>
            <a:ext cx="2275255" cy="665480"/>
          </a:xfrm>
          <a:prstGeom prst="rect">
            <a:avLst/>
          </a:prstGeom>
          <a:noFill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1E856C"/>
                </a:solidFill>
                <a:latin typeface="Hiragino Sans GB"/>
                <a:ea typeface="Hiragino Sans GB"/>
              </a:rPr>
              <a:t>0.9714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5415" y="2779877"/>
            <a:ext cx="2275255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35 题考卷 · 真实向量 35/35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8143" y="1602333"/>
            <a:ext cx="2641015" cy="1517904"/>
          </a:xfrm>
          <a:prstGeom prst="roundRect">
            <a:avLst>
              <a:gd name="adj" fmla="val 4337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9311" y="1785213"/>
            <a:ext cx="1543735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B45"/>
                </a:solidFill>
                <a:latin typeface="Hiragino Sans GB"/>
                <a:ea typeface="Hiragino Sans GB"/>
              </a:rPr>
              <a:t>意图识别准确率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1023" y="2059533"/>
            <a:ext cx="2275255" cy="665480"/>
          </a:xfrm>
          <a:prstGeom prst="rect">
            <a:avLst/>
          </a:prstGeom>
          <a:noFill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1E856C"/>
                </a:solidFill>
                <a:latin typeface="Hiragino Sans GB"/>
                <a:ea typeface="Hiragino Sans GB"/>
              </a:rPr>
              <a:t>1.0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1023" y="2779877"/>
            <a:ext cx="2275255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15 句标注样本 · 六类意图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83751" y="1602333"/>
            <a:ext cx="2641015" cy="1517904"/>
          </a:xfrm>
          <a:prstGeom prst="roundRect">
            <a:avLst>
              <a:gd name="adj" fmla="val 4337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4919" y="1785213"/>
            <a:ext cx="1543735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B45"/>
                </a:solidFill>
                <a:latin typeface="Hiragino Sans GB"/>
                <a:ea typeface="Hiragino Sans GB"/>
              </a:rPr>
              <a:t>占位实现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66631" y="2059533"/>
            <a:ext cx="2275255" cy="665480"/>
          </a:xfrm>
          <a:prstGeom prst="rect">
            <a:avLst/>
          </a:prstGeom>
          <a:noFill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A67C0C"/>
                </a:solidFill>
                <a:latin typeface="Hiragino Sans GB"/>
                <a:ea typeface="Hiragino Sans GB"/>
              </a:rPr>
              <a:t>0</a:t>
            </a:r>
            <a:r>
              <a:rPr sz="1900" b="1" i="0">
                <a:solidFill>
                  <a:srgbClr val="A67C0C"/>
                </a:solidFill>
                <a:latin typeface="Hiragino Sans GB"/>
                <a:ea typeface="Hiragino Sans GB"/>
              </a:rPr>
              <a:t> 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66631" y="2779877"/>
            <a:ext cx="2275255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全仓无 TODO / 空壳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321405"/>
            <a:ext cx="45720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四层洋葱：依赖只朝内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3522573"/>
            <a:ext cx="5029200" cy="420624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3522573"/>
            <a:ext cx="45720" cy="420624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3568293"/>
            <a:ext cx="173736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F8A70"/>
                </a:solidFill>
                <a:latin typeface="Hiragino Sans GB"/>
                <a:ea typeface="Hiragino Sans GB"/>
              </a:rPr>
              <a:t>interfaces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" y="3742029"/>
            <a:ext cx="4572000" cy="16459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FastAPI + SSE · CLI（组合根）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3979773"/>
            <a:ext cx="5029200" cy="420624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3979773"/>
            <a:ext cx="45720" cy="420624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" y="4025493"/>
            <a:ext cx="173736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application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" y="4199229"/>
            <a:ext cx="4572000" cy="16459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用例编排 · 端口 Protocol · LangGraph 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436973"/>
            <a:ext cx="5029200" cy="420624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436973"/>
            <a:ext cx="45720" cy="420624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" y="4482693"/>
            <a:ext cx="173736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A67C0C"/>
                </a:solidFill>
                <a:latin typeface="Hiragino Sans GB"/>
                <a:ea typeface="Hiragino Sans GB"/>
              </a:rPr>
              <a:t>infrastructure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" y="4656429"/>
            <a:ext cx="4572000" cy="16459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SQLite · Embedding · LLM · MCP · 文件解析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4894173"/>
            <a:ext cx="5029200" cy="420624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6928" y="4894173"/>
            <a:ext cx="45720" cy="420624"/>
          </a:xfrm>
          <a:prstGeom prst="rect">
            <a:avLst/>
          </a:prstGeom>
          <a:solidFill>
            <a:srgbClr val="5866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6384" y="4939893"/>
            <a:ext cx="173736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58667C"/>
                </a:solidFill>
                <a:latin typeface="Hiragino Sans GB"/>
                <a:ea typeface="Hiragino Sans GB"/>
              </a:rPr>
              <a:t>domain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6384" y="5113629"/>
            <a:ext cx="4572000" cy="16459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纯函数：排期 / 出题 / 检索融合 / 护栏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25312" y="3321405"/>
            <a:ext cx="5699455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为什么这能测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925312" y="3522573"/>
            <a:ext cx="5699455" cy="1005840"/>
          </a:xfrm>
          <a:prstGeom prst="roundRect">
            <a:avLst>
              <a:gd name="adj" fmla="val 5818"/>
            </a:avLst>
          </a:prstGeom>
          <a:solidFill>
            <a:srgbClr val="F8FAFC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63056" y="3650589"/>
            <a:ext cx="5223967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E856C"/>
                </a:solidFill>
                <a:latin typeface="Hiragino Sans GB"/>
                <a:ea typeface="Hiragino Sans GB"/>
              </a:rPr>
              <a:t>domain 层全是纯函数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63056" y="3906621"/>
            <a:ext cx="5223967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复习排期、四档自评、检索融合、护栏，测它们不用起数据库、不联网、不花一分钱额度。回归测试跑一次只要十几秒。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25312" y="4601565"/>
            <a:ext cx="5699455" cy="658368"/>
          </a:xfrm>
          <a:prstGeom prst="roundRect">
            <a:avLst>
              <a:gd name="adj" fmla="val 7777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925312" y="4601565"/>
            <a:ext cx="45720" cy="658368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44768" y="4674717"/>
            <a:ext cx="5242255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1A2B45"/>
                </a:solidFill>
                <a:latin typeface="Hiragino Sans GB"/>
                <a:ea typeface="Hiragino Sans GB"/>
              </a:rPr>
              <a:t>消融对照：关掉词面精排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44768" y="4894173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A67C0C"/>
                </a:solidFill>
                <a:latin typeface="Hiragino Sans GB"/>
                <a:ea typeface="Hiragino Sans GB"/>
              </a:rPr>
              <a:t>0.9571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62672" y="4949037"/>
            <a:ext cx="3779215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0.9714 → 0.9571　当场可见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66928" y="6035040"/>
            <a:ext cx="11057839" cy="365760"/>
          </a:xfrm>
          <a:prstGeom prst="roundRect">
            <a:avLst>
              <a:gd name="adj" fmla="val 10000"/>
            </a:avLst>
          </a:prstGeom>
          <a:solidFill>
            <a:srgbClr val="F3F7F5"/>
          </a:solidFill>
          <a:ln w="10160">
            <a:solidFill>
              <a:srgbClr val="CEDE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66928" y="6035040"/>
            <a:ext cx="41148" cy="3657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8096" y="6131052"/>
            <a:ext cx="155448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E6E5C"/>
                </a:solidFill>
                <a:latin typeface="Hiragino Sans GB"/>
                <a:ea typeface="Hiragino Sans GB"/>
              </a:rPr>
              <a:t>亮点 ②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67712" y="6126479"/>
            <a:ext cx="9137599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6342E"/>
                </a:solidFill>
                <a:latin typeface="Hiragino Sans GB"/>
                <a:ea typeface="Hiragino Sans GB"/>
              </a:rPr>
              <a:t>写在提示词里模型可以忘，写在 interrupt() 里它跑不掉。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" y="6437376"/>
            <a:ext cx="11057839" cy="10972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6510528"/>
            <a:ext cx="6634703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知迹 · 赛道十三 · 智慧教育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27487" y="6510528"/>
            <a:ext cx="10972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8A70"/>
                </a:solidFill>
                <a:latin typeface="Hiragino Sans GB"/>
                <a:ea typeface="Hiragino Sans GB"/>
              </a:rPr>
              <a:t>07</a:t>
            </a: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客观认知 · 我的体检报告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六项能力：两项达标，三项一半，一项没做 —— 说清楚比多做一点更有用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565757"/>
            <a:ext cx="11057839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565757"/>
            <a:ext cx="45720" cy="43891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666341"/>
            <a:ext cx="27432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中断可恢复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84448" y="1648053"/>
            <a:ext cx="658368" cy="256032"/>
          </a:xfrm>
          <a:prstGeom prst="roundRect">
            <a:avLst>
              <a:gd name="adj" fmla="val 11428"/>
            </a:avLst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1689201"/>
            <a:ext cx="65836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Hiragino Sans GB"/>
                <a:ea typeface="Hiragino Sans GB"/>
              </a:rPr>
              <a:t>达标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1675485"/>
            <a:ext cx="699790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状态图 + 检查点 + 中断恢复，孤儿线程级联清理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077821"/>
            <a:ext cx="11057839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2077821"/>
            <a:ext cx="45720" cy="43891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2178405"/>
            <a:ext cx="27432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检索准确可追溯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84448" y="2160117"/>
            <a:ext cx="658368" cy="256032"/>
          </a:xfrm>
          <a:prstGeom prst="roundRect">
            <a:avLst>
              <a:gd name="adj" fmla="val 11428"/>
            </a:avLst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448" y="2201265"/>
            <a:ext cx="65836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Hiragino Sans GB"/>
                <a:ea typeface="Hiragino Sans GB"/>
              </a:rPr>
              <a:t>达标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2187549"/>
            <a:ext cx="699790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35 题考卷，真实向量 35/35，引用精确到页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2589885"/>
            <a:ext cx="11057839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2589885"/>
            <a:ext cx="45720" cy="438912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2690469"/>
            <a:ext cx="27432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工具执行治理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84448" y="2672181"/>
            <a:ext cx="658368" cy="256032"/>
          </a:xfrm>
          <a:prstGeom prst="roundRect">
            <a:avLst>
              <a:gd name="adj" fmla="val 11428"/>
            </a:avLst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448" y="2713329"/>
            <a:ext cx="65836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Hiragino Sans GB"/>
                <a:ea typeface="Hiragino Sans GB"/>
              </a:rPr>
              <a:t>一半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2699613"/>
            <a:ext cx="699790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有双层权限、超时退避、并发与失败转消息；缺参数级约束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3101949"/>
            <a:ext cx="11057839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3101949"/>
            <a:ext cx="45720" cy="438912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3202533"/>
            <a:ext cx="27432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长上下文管理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584448" y="3184245"/>
            <a:ext cx="658368" cy="256032"/>
          </a:xfrm>
          <a:prstGeom prst="roundRect">
            <a:avLst>
              <a:gd name="adj" fmla="val 11428"/>
            </a:avLst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448" y="3225393"/>
            <a:ext cx="65836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Hiragino Sans GB"/>
                <a:ea typeface="Hiragino Sans GB"/>
              </a:rPr>
              <a:t>一半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25696" y="3211677"/>
            <a:ext cx="699790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有抽取式摘要与预算控制；缺关键事实外置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3614013"/>
            <a:ext cx="11057839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3614013"/>
            <a:ext cx="45720" cy="438912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" y="3714597"/>
            <a:ext cx="27432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长期记忆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584448" y="3696309"/>
            <a:ext cx="658368" cy="256032"/>
          </a:xfrm>
          <a:prstGeom prst="roundRect">
            <a:avLst>
              <a:gd name="adj" fmla="val 11428"/>
            </a:avLst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448" y="3737457"/>
            <a:ext cx="65836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Hiragino Sans GB"/>
                <a:ea typeface="Hiragino Sans GB"/>
              </a:rPr>
              <a:t>一半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25696" y="3723741"/>
            <a:ext cx="699790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按课程隔离、写入前确认；缺过期、替换与删除机制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4126077"/>
            <a:ext cx="11057839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66928" y="4126077"/>
            <a:ext cx="45720" cy="438912"/>
          </a:xfrm>
          <a:prstGeom prst="rect">
            <a:avLst/>
          </a:prstGeom>
          <a:solidFill>
            <a:srgbClr val="C049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4226661"/>
            <a:ext cx="27432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任务级成功率评测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584448" y="4208373"/>
            <a:ext cx="658368" cy="256032"/>
          </a:xfrm>
          <a:prstGeom prst="roundRect">
            <a:avLst>
              <a:gd name="adj" fmla="val 11428"/>
            </a:avLst>
          </a:prstGeom>
          <a:solidFill>
            <a:srgbClr val="C049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84448" y="4249521"/>
            <a:ext cx="65836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Hiragino Sans GB"/>
                <a:ea typeface="Hiragino Sans GB"/>
              </a:rPr>
              <a:t>没做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25696" y="4235805"/>
            <a:ext cx="699790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考卷只测「找到没」，不测「复习有没有用」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4656429"/>
            <a:ext cx="457200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C0492E"/>
                </a:solidFill>
                <a:latin typeface="Hiragino Sans GB"/>
                <a:ea typeface="Hiragino Sans GB"/>
              </a:rPr>
              <a:t>最该先补的三个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4912461"/>
            <a:ext cx="3576218" cy="694944"/>
          </a:xfrm>
          <a:prstGeom prst="roundRect">
            <a:avLst>
              <a:gd name="adj" fmla="val 6315"/>
            </a:avLst>
          </a:prstGeom>
          <a:solidFill>
            <a:srgbClr val="FDF6F5"/>
          </a:solidFill>
          <a:ln w="11430">
            <a:solidFill>
              <a:srgbClr val="DEC4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9808" y="4985613"/>
            <a:ext cx="321045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C0492E"/>
                </a:solidFill>
                <a:latin typeface="Hiragino Sans GB"/>
                <a:ea typeface="Hiragino Sans GB"/>
              </a:rPr>
              <a:t>trace 是事后猜的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9808" y="5186781"/>
            <a:ext cx="3210458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从消息历史反推责任层，没有运行时耗时与 token 归因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07738" y="4912461"/>
            <a:ext cx="3576218" cy="694944"/>
          </a:xfrm>
          <a:prstGeom prst="roundRect">
            <a:avLst>
              <a:gd name="adj" fmla="val 6315"/>
            </a:avLst>
          </a:prstGeom>
          <a:solidFill>
            <a:srgbClr val="FDF6F5"/>
          </a:solidFill>
          <a:ln w="11430">
            <a:solidFill>
              <a:srgbClr val="DEC4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90618" y="4985613"/>
            <a:ext cx="321045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C0492E"/>
                </a:solidFill>
                <a:latin typeface="Hiragino Sans GB"/>
                <a:ea typeface="Hiragino Sans GB"/>
              </a:rPr>
              <a:t>没有连续失败熔断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90618" y="5186781"/>
            <a:ext cx="3210458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工具持续报错时会烧满 6 轮真实 API 调用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48548" y="4912461"/>
            <a:ext cx="3576218" cy="694944"/>
          </a:xfrm>
          <a:prstGeom prst="roundRect">
            <a:avLst>
              <a:gd name="adj" fmla="val 6315"/>
            </a:avLst>
          </a:prstGeom>
          <a:solidFill>
            <a:srgbClr val="FDF6F5"/>
          </a:solidFill>
          <a:ln w="11430">
            <a:solidFill>
              <a:srgbClr val="DEC4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31428" y="4985613"/>
            <a:ext cx="321045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C0492E"/>
                </a:solidFill>
                <a:latin typeface="Hiragino Sans GB"/>
                <a:ea typeface="Hiragino Sans GB"/>
              </a:rPr>
              <a:t>记忆没有生命周期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31428" y="5186781"/>
            <a:ext cx="3210458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「准备四级」和「准备考研」会同时注入，模型两件都当真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6035040"/>
            <a:ext cx="11057839" cy="365760"/>
          </a:xfrm>
          <a:prstGeom prst="roundRect">
            <a:avLst>
              <a:gd name="adj" fmla="val 10000"/>
            </a:avLst>
          </a:prstGeom>
          <a:solidFill>
            <a:srgbClr val="F3F7F5"/>
          </a:solidFill>
          <a:ln w="10160">
            <a:solidFill>
              <a:srgbClr val="CEDE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66928" y="6035040"/>
            <a:ext cx="41148" cy="3657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68096" y="6131052"/>
            <a:ext cx="155448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E6E5C"/>
                </a:solidFill>
                <a:latin typeface="Hiragino Sans GB"/>
                <a:ea typeface="Hiragino Sans GB"/>
              </a:rPr>
              <a:t>工程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67712" y="6126479"/>
            <a:ext cx="9137599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6342E"/>
                </a:solidFill>
                <a:latin typeface="Hiragino Sans GB"/>
                <a:ea typeface="Hiragino Sans GB"/>
              </a:rPr>
              <a:t>domain 层不碰 I/O，回归测试跑一次十几秒，零 API 消耗。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6437376"/>
            <a:ext cx="11057839" cy="10972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6510528"/>
            <a:ext cx="6634703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知迹 · 赛道十三 · 智慧教育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27487" y="6510528"/>
            <a:ext cx="10972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8A70"/>
                </a:solidFill>
                <a:latin typeface="Hiragino Sans GB"/>
                <a:ea typeface="Hiragino Sans GB"/>
              </a:rPr>
              <a:t>08</a:t>
            </a: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未来展望 · 有依据的排序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接下来三件事：都在现有门禁里能验证，不需要换架构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38909"/>
            <a:ext cx="3551834" cy="2651760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86384" y="1858365"/>
            <a:ext cx="384048" cy="384048"/>
          </a:xfrm>
          <a:prstGeom prst="roundRect">
            <a:avLst>
              <a:gd name="adj" fmla="val 11428"/>
            </a:avLst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1926945"/>
            <a:ext cx="384048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388717"/>
            <a:ext cx="3112922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任务级成功率评测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699613"/>
            <a:ext cx="3112922" cy="42062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E856C"/>
                </a:solidFill>
                <a:latin typeface="Hiragino Sans GB"/>
                <a:ea typeface="Hiragino Sans GB"/>
              </a:rPr>
              <a:t>从「找到没」升到「这次复习到底有没有用」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193389"/>
            <a:ext cx="3112922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用确定性状态校验，不用 LLM 判分；引入 pass^k 看稳定性 —— 只报 pass@1 会把「偶尔能成」包装成「稳定可用」。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9930" y="1638909"/>
            <a:ext cx="3551834" cy="2651760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39386" y="1858365"/>
            <a:ext cx="384048" cy="384048"/>
          </a:xfrm>
          <a:prstGeom prst="roundRect">
            <a:avLst>
              <a:gd name="adj" fmla="val 11428"/>
            </a:avLst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9386" y="1926945"/>
            <a:ext cx="384048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9386" y="2388717"/>
            <a:ext cx="3112922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记忆的过期与删除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9386" y="2699613"/>
            <a:ext cx="3112922" cy="42062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A67C0C"/>
                </a:solidFill>
                <a:latin typeface="Hiragino Sans GB"/>
                <a:ea typeface="Hiragino Sans GB"/>
              </a:rPr>
              <a:t>给记忆加状态：有效 / 被替代 / 失效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9386" y="3193389"/>
            <a:ext cx="3112922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写入前做冲突检测，注入时按需检索而非全量拼接 —— 直接对上 LongMemEval 指出的「时间推理」短板。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638909"/>
            <a:ext cx="3551834" cy="2651760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92388" y="1858365"/>
            <a:ext cx="384048" cy="384048"/>
          </a:xfrm>
          <a:prstGeom prst="roundRect">
            <a:avLst>
              <a:gd name="adj" fmla="val 11428"/>
            </a:avLst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2388" y="1926945"/>
            <a:ext cx="384048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2388" y="2388717"/>
            <a:ext cx="3112922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更难的检索考卷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2388" y="2699613"/>
            <a:ext cx="3112922" cy="42062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F8A70"/>
                </a:solidFill>
                <a:latin typeface="Hiragino Sans GB"/>
                <a:ea typeface="Hiragino Sans GB"/>
              </a:rPr>
              <a:t>现在的 35 题已经饱和，测不出差别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2388" y="3193389"/>
            <a:ext cx="3112922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加长文档、强干扰项、跨库同名 —— 有难例才谈得上「比昨天更准」。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4491837"/>
            <a:ext cx="11057839" cy="1060704"/>
          </a:xfrm>
          <a:prstGeom prst="roundRect">
            <a:avLst>
              <a:gd name="adj" fmla="val 5517"/>
            </a:avLst>
          </a:prstGeom>
          <a:solidFill>
            <a:srgbClr val="F8FAFC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656429"/>
            <a:ext cx="329184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再往后：让它能交付给别人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967325"/>
            <a:ext cx="10545775" cy="7461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多用户隔离（数据层已按 user_id 隔离，缺的是入口鉴权）、Reranker 重排、OpenTelemetry 全链路追踪。技术选型上，SQLite 是主动选型 —— 单机演示不需要服务端库的并发写优势，而换库会重创检索层（FTS5 trigram → ngram，四路召回与全部评测基线作废）。真要多机部署时，会先看 Postgres 的 pg_trgm + pg_vector。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6035040"/>
            <a:ext cx="11057839" cy="365760"/>
          </a:xfrm>
          <a:prstGeom prst="roundRect">
            <a:avLst>
              <a:gd name="adj" fmla="val 10000"/>
            </a:avLst>
          </a:prstGeom>
          <a:solidFill>
            <a:srgbClr val="F3F7F5"/>
          </a:solidFill>
          <a:ln w="10160">
            <a:solidFill>
              <a:srgbClr val="CEDE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6035040"/>
            <a:ext cx="41148" cy="3657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" y="6131052"/>
            <a:ext cx="155448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E6E5C"/>
                </a:solidFill>
                <a:latin typeface="Hiragino Sans GB"/>
                <a:ea typeface="Hiragino Sans GB"/>
              </a:rPr>
              <a:t>边界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67712" y="6126479"/>
            <a:ext cx="9137599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6342E"/>
                </a:solidFill>
                <a:latin typeface="Hiragino Sans GB"/>
                <a:ea typeface="Hiragino Sans GB"/>
              </a:rPr>
              <a:t>六项能力每一项都有代码依据 —— 说清楚比多做一点更有用。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437376"/>
            <a:ext cx="11057839" cy="10972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510528"/>
            <a:ext cx="6634703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知迹 · 赛道十三 · 智慧教育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7487" y="6510528"/>
            <a:ext cx="10972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8A70"/>
                </a:solidFill>
                <a:latin typeface="Hiragino Sans GB"/>
                <a:ea typeface="Hiragino Sans GB"/>
              </a:rPr>
              <a:t>09</a:t>
            </a: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感谢聆听 · 欢迎追问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565757"/>
            <a:ext cx="11057839" cy="896112"/>
          </a:xfrm>
          <a:prstGeom prst="roundRect">
            <a:avLst>
              <a:gd name="adj" fmla="val 5714"/>
            </a:avLst>
          </a:prstGeom>
          <a:solidFill>
            <a:srgbClr val="FAFBFC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565757"/>
            <a:ext cx="45720" cy="89611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75485"/>
            <a:ext cx="10545775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A2B45"/>
                </a:solidFill>
                <a:latin typeface="Hiragino Sans GB"/>
                <a:ea typeface="Hiragino Sans GB"/>
              </a:rPr>
              <a:t>「我直接用 ChatGPT 不行吗？」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931517"/>
            <a:ext cx="10545775" cy="43891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ChatGPT 是一问一答，它没有状态，也不会管你明天记不记得。知迹是有状态的 Agent 系统：把错题和知识库变成上下文，用 LangGraph 跑流程。更关键的是，ChatGPT 可能会编造页码，而知迹的每个出处都能精确跳回你上传的第 12 页。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553309"/>
            <a:ext cx="11057839" cy="896112"/>
          </a:xfrm>
          <a:prstGeom prst="roundRect">
            <a:avLst>
              <a:gd name="adj" fmla="val 5714"/>
            </a:avLst>
          </a:prstGeom>
          <a:solidFill>
            <a:srgbClr val="FAFBFC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2553309"/>
            <a:ext cx="45720" cy="89611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663037"/>
            <a:ext cx="10545775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A2B45"/>
                </a:solidFill>
                <a:latin typeface="Hiragino Sans GB"/>
                <a:ea typeface="Hiragino Sans GB"/>
              </a:rPr>
              <a:t>「你连登录都没有，是不是没做完？」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919069"/>
            <a:ext cx="10545775" cy="43891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您看得很准，这确实是我们当前最大的短板。我们把精力全放在了最难的「Agent 核心链路与防幻觉检索」上，目前它是单机自用的产品。体检报告里已把它列为 P0，数据库的 user_id 隔离也做好了，接入多租户是接口层的工作。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540861"/>
            <a:ext cx="11057839" cy="896112"/>
          </a:xfrm>
          <a:prstGeom prst="roundRect">
            <a:avLst>
              <a:gd name="adj" fmla="val 5714"/>
            </a:avLst>
          </a:prstGeom>
          <a:solidFill>
            <a:srgbClr val="FAFBFC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540861"/>
            <a:ext cx="45720" cy="89611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50589"/>
            <a:ext cx="10545775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A2B45"/>
                </a:solidFill>
                <a:latin typeface="Hiragino Sans GB"/>
                <a:ea typeface="Hiragino Sans GB"/>
              </a:rPr>
              <a:t>「这个项目有什么了不起的？」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906621"/>
            <a:ext cx="10545775" cy="43891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它不比多数 Demo 功能多，但它的每一个结论都能被复现：284 项测试全绿、检索 35 题考卷 0.9714、关掉精排立刻掉到 0.9571。我们敢把没做的部分也摆出来 —— 那份体检报告和这份 PPT 一样重要。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583277"/>
            <a:ext cx="11057839" cy="1024128"/>
          </a:xfrm>
          <a:prstGeom prst="roundRect">
            <a:avLst>
              <a:gd name="adj" fmla="val 5714"/>
            </a:avLst>
          </a:prstGeom>
          <a:solidFill>
            <a:srgbClr val="0E20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4729581"/>
            <a:ext cx="4572000" cy="34747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Hiragino Sans GB"/>
                <a:ea typeface="Hiragino Sans GB"/>
              </a:rPr>
              <a:t>知迹 ZhiJi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5113629"/>
            <a:ext cx="54864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96CDB6"/>
                </a:solidFill>
                <a:latin typeface="Hiragino Sans GB"/>
                <a:ea typeface="Hiragino Sans GB"/>
              </a:rPr>
              <a:t>一个不乱编的个人学习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8527" y="4766157"/>
            <a:ext cx="3895344" cy="6949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4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CDDCF0"/>
                </a:solidFill>
                <a:latin typeface="Hiragino Sans GB"/>
                <a:ea typeface="Hiragino Sans GB"/>
              </a:rPr>
              <a:t>284 项测试全绿　·　检索 35 题 Hit@3 = MRR = 0.9714</a:t>
            </a:r>
          </a:p>
          <a:p>
            <a:pPr algn="r">
              <a:lnSpc>
                <a:spcPct val="14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A5B9D4"/>
                </a:solidFill>
                <a:latin typeface="Hiragino Sans GB"/>
                <a:ea typeface="Hiragino Sans GB"/>
              </a:rPr>
              <a:t>知迹 · 赛道十三 · 智慧教育　·　欢迎指正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